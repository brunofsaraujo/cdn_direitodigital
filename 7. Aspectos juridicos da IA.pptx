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Masters/slideMaster1.xml" ContentType="application/vnd.openxmlformats-officedocument.presentationml.slideMaster+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slideLayouts/slideLayout1.xml" ContentType="application/vnd.openxmlformats-officedocument.presentationml.slideLayout+xml"/>
  <Override PartName="/ppt/notesSlides/notesSlide37.xml" ContentType="application/vnd.openxmlformats-officedocument.presentationml.notesSlide+xml"/>
  <Override PartName="/ppt/notesSlides/notesSlide1.xml" ContentType="application/vnd.openxmlformats-officedocument.presentationml.notesSlide+xml"/>
  <Override PartName="/ppt/notesSlides/notesSlide39.xml" ContentType="application/vnd.openxmlformats-officedocument.presentationml.notesSlide+xml"/>
  <Override PartName="/ppt/notesSlides/notesSlide2.xml" ContentType="application/vnd.openxmlformats-officedocument.presentationml.notesSlide+xml"/>
  <Override PartName="/ppt/notesSlides/notesSlide40.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38.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307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Perguntar em sala: quais decisões automatizadas os alunos já enfrentaram no dia a dia (score de crédito, recomendação de vaga, seguro)? Isso ajuda a tornar concreto o 'vazio normativo'.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Reforçar que a data de votação é sempre 'prevista' — a tramitação já sofreu atrasos sucessivos (era esperada em maio/2026, depois adiada). Bom gancho para falar de tramitação legislativa real x cronogramas anunciados.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pirâmide combina a terminologia dos dois diplomas para fins didáticos — no PL são só duas categorias (risco excessivo e alto risco); no EU AI Act são quatro. O próximo slide detalha cada um separadamente.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para alto risco, o PL exige documentação do ciclo de vida, gestão de dados contra vieses, explicabilidade, testes de confiabilidade e supervisão humana (arts. 19-20).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Comparar com o slide anterior: o EU AI Act tem 4 categorias e é mais prescritivo tecnicamente; o PL brasileiro tem 2 categorias de risco regulado mas compensa com um regime de responsabilidade civil mais robusto (próximos slides).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Comparar com o art. 20 da LGPD, que já previa direito à explicação e revisão — o PL amplia isso mesmo quando não há tratamento de dados pessoais em sentido estrito.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o ponto de virada da aula: a partir daqui, mostrar como o PL tenta resolver exatamente essas perguntas nos arts. 27 e 28.</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 central da aula. Verificado contra o texto oficial do Senado — a citação do art. 27 é literal. Perguntar: essa solidariedade 'na medida da participação' é operacionalizável na prática, com cadeias de desenvolvimento complexas (modelo-base, fine-tuner, integrador, operador)?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de multa conferidos no texto oficial (art. 36, II). Boa transição para discutir enforcement: lei sem autoridade estruturada tende a ficar no papel.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7D4F"/>
        </a:solidFill>
        <a:effectLst/>
      </p:bgPr>
    </p:bg>
    <p:spTree>
      <p:nvGrpSpPr>
        <p:cNvPr id="1" name=""/>
        <p:cNvGrpSpPr/>
        <p:nvPr/>
      </p:nvGrpSpPr>
      <p:grpSpPr>
        <a:xfrm>
          <a:off x="0" y="0"/>
          <a:ext cx="0" cy="0"/>
          <a:chOff x="0" y="0"/>
          <a:chExt cx="0" cy="0"/>
        </a:xfrm>
      </p:grpSpPr>
      <p:sp>
        <p:nvSpPr>
          <p:cNvPr id="2" name="Text 0"/>
          <p:cNvSpPr/>
          <p:nvPr/>
        </p:nvSpPr>
        <p:spPr>
          <a:xfrm>
            <a:off x="812800" y="812800"/>
            <a:ext cx="5598668" cy="274320"/>
          </a:xfrm>
          <a:prstGeom prst="rect">
            <a:avLst/>
          </a:prstGeom>
          <a:noFill/>
          <a:ln/>
        </p:spPr>
        <p:txBody>
          <a:bodyPr wrap="square" lIns="0" tIns="0" rIns="0" bIns="0" rtlCol="0" anchor="t">
            <a:normAutofit/>
          </a:bodyPr>
          <a:lstStyle/>
          <a:p>
            <a:pPr marL="0" indent="0" algn="l">
              <a:lnSpc>
                <a:spcPts val="1960"/>
              </a:lnSpc>
              <a:buNone/>
            </a:pPr>
            <a:r>
              <a:rPr lang="en-US" sz="1400" b="1" kern="0" spc="250" dirty="0">
                <a:solidFill>
                  <a:srgbClr val="E6F3EC"/>
                </a:solidFill>
                <a:latin typeface="Arial" pitchFamily="34" charset="0"/>
                <a:ea typeface="Arial" pitchFamily="34" charset="-122"/>
                <a:cs typeface="Arial" pitchFamily="34" charset="-120"/>
              </a:rPr>
              <a:t>FATEC VOTORANTIM - DIREITO CIBERNÉTICO</a:t>
            </a:r>
            <a:endParaRPr lang="en-US" sz="1400" dirty="0"/>
          </a:p>
        </p:txBody>
      </p:sp>
      <p:sp>
        <p:nvSpPr>
          <p:cNvPr id="3" name="Text 1"/>
          <p:cNvSpPr/>
          <p:nvPr/>
        </p:nvSpPr>
        <p:spPr>
          <a:xfrm>
            <a:off x="812800" y="2241550"/>
            <a:ext cx="5598668" cy="203708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FFFFF"/>
                </a:solidFill>
                <a:latin typeface="Arial" pitchFamily="34" charset="0"/>
                <a:ea typeface="Arial" pitchFamily="34" charset="-122"/>
                <a:cs typeface="Arial" pitchFamily="34" charset="-120"/>
              </a:rPr>
              <a:t>Aspectos Jurídicos da Inteligência Artificial e dos Algoritmos</a:t>
            </a:r>
            <a:endParaRPr lang="en-US" sz="3600" dirty="0"/>
          </a:p>
        </p:txBody>
      </p:sp>
      <p:sp>
        <p:nvSpPr>
          <p:cNvPr id="4" name="Shape 2"/>
          <p:cNvSpPr/>
          <p:nvPr/>
        </p:nvSpPr>
        <p:spPr>
          <a:xfrm>
            <a:off x="812800" y="4481830"/>
            <a:ext cx="889000" cy="63500"/>
          </a:xfrm>
          <a:prstGeom prst="rect">
            <a:avLst/>
          </a:prstGeom>
          <a:solidFill>
            <a:srgbClr val="FFFFFF"/>
          </a:solidFill>
          <a:ln/>
        </p:spPr>
        <p:txBody>
          <a:bodyPr/>
          <a:lstStyle/>
          <a:p>
            <a:endParaRPr lang="pt-BR"/>
          </a:p>
        </p:txBody>
      </p:sp>
      <p:sp>
        <p:nvSpPr>
          <p:cNvPr id="5" name="Text 3"/>
          <p:cNvSpPr/>
          <p:nvPr/>
        </p:nvSpPr>
        <p:spPr>
          <a:xfrm>
            <a:off x="812800" y="5725160"/>
            <a:ext cx="5598668"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0F7F3"/>
                </a:solidFill>
                <a:latin typeface="Arial" pitchFamily="34" charset="0"/>
                <a:ea typeface="Arial" pitchFamily="34" charset="-122"/>
                <a:cs typeface="Arial" pitchFamily="34" charset="-120"/>
              </a:rPr>
              <a:t>Prof. Dra. Evelyn S.</a:t>
            </a:r>
            <a:endParaRPr lang="en-US" sz="1800" dirty="0"/>
          </a:p>
        </p:txBody>
      </p:sp>
      <p:pic>
        <p:nvPicPr>
          <p:cNvPr id="6" name="Image 0" descr="Ilustração de rede neural"/>
          <p:cNvPicPr>
            <a:picLocks noChangeAspect="1"/>
          </p:cNvPicPr>
          <p:nvPr/>
        </p:nvPicPr>
        <p:blipFill>
          <a:blip r:embed="rId3"/>
          <a:srcRect/>
          <a:stretch/>
        </p:blipFill>
        <p:spPr>
          <a:xfrm>
            <a:off x="6553200" y="1016000"/>
            <a:ext cx="4826000" cy="482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O que interessa ao Direito quando falamos em IA</a:t>
            </a:r>
            <a:endParaRPr lang="en-US" sz="2800" dirty="0"/>
          </a:p>
        </p:txBody>
      </p:sp>
      <p:sp>
        <p:nvSpPr>
          <p:cNvPr id="4" name="Shape 2"/>
          <p:cNvSpPr/>
          <p:nvPr/>
        </p:nvSpPr>
        <p:spPr>
          <a:xfrm>
            <a:off x="812800" y="1076960"/>
            <a:ext cx="609600" cy="50800"/>
          </a:xfrm>
          <a:prstGeom prst="rect">
            <a:avLst/>
          </a:prstGeom>
          <a:solidFill>
            <a:srgbClr val="2F7D4F"/>
          </a:solidFill>
          <a:ln/>
        </p:spPr>
        <p:txBody>
          <a:bodyPr/>
          <a:lstStyle/>
          <a:p>
            <a:endParaRPr lang="pt-BR"/>
          </a:p>
        </p:txBody>
      </p:sp>
      <p:sp>
        <p:nvSpPr>
          <p:cNvPr id="5" name="Text 3"/>
          <p:cNvSpPr/>
          <p:nvPr/>
        </p:nvSpPr>
        <p:spPr>
          <a:xfrm>
            <a:off x="812800" y="135636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A4147"/>
                </a:solidFill>
                <a:latin typeface="Arial" pitchFamily="34" charset="0"/>
                <a:ea typeface="Arial" pitchFamily="34" charset="-122"/>
                <a:cs typeface="Arial" pitchFamily="34" charset="-120"/>
              </a:rPr>
              <a:t>Para fins jurídicos, importa menos a definição técnica de inteligência artificial e mais a forma como o sistema participa de uma decisão que afeta alguém.</a:t>
            </a:r>
            <a:endParaRPr lang="en-US" sz="1600" dirty="0"/>
          </a:p>
        </p:txBody>
      </p:sp>
      <p:sp>
        <p:nvSpPr>
          <p:cNvPr id="6" name="Shape 4"/>
          <p:cNvSpPr/>
          <p:nvPr/>
        </p:nvSpPr>
        <p:spPr>
          <a:xfrm>
            <a:off x="737818" y="2160270"/>
            <a:ext cx="3455246" cy="2062480"/>
          </a:xfrm>
          <a:prstGeom prst="rect">
            <a:avLst/>
          </a:prstGeom>
          <a:solidFill>
            <a:srgbClr val="FFFFFF"/>
          </a:solidFill>
          <a:ln w="12700">
            <a:solidFill>
              <a:srgbClr val="D5D9DC"/>
            </a:solidFill>
            <a:prstDash val="solid"/>
          </a:ln>
        </p:spPr>
        <p:txBody>
          <a:bodyPr/>
          <a:lstStyle/>
          <a:p>
            <a:endParaRPr lang="pt-BR"/>
          </a:p>
        </p:txBody>
      </p:sp>
      <p:sp>
        <p:nvSpPr>
          <p:cNvPr id="7" name="Shape 5"/>
          <p:cNvSpPr/>
          <p:nvPr/>
        </p:nvSpPr>
        <p:spPr>
          <a:xfrm>
            <a:off x="862295" y="2195830"/>
            <a:ext cx="660400" cy="660400"/>
          </a:xfrm>
          <a:prstGeom prst="roundRect">
            <a:avLst>
              <a:gd name="adj" fmla="val 50000"/>
            </a:avLst>
          </a:prstGeom>
          <a:solidFill>
            <a:srgbClr val="2F7D4F"/>
          </a:solidFill>
          <a:ln/>
        </p:spPr>
        <p:txBody>
          <a:bodyPr/>
          <a:lstStyle/>
          <a:p>
            <a:endParaRPr lang="pt-BR" dirty="0"/>
          </a:p>
        </p:txBody>
      </p:sp>
      <p:pic>
        <p:nvPicPr>
          <p:cNvPr id="8" name="Image 0" descr="Settings"/>
          <p:cNvPicPr>
            <a:picLocks noChangeAspect="1"/>
          </p:cNvPicPr>
          <p:nvPr/>
        </p:nvPicPr>
        <p:blipFill>
          <a:blip r:embed="rId3"/>
          <a:srcRect/>
          <a:stretch/>
        </p:blipFill>
        <p:spPr>
          <a:xfrm>
            <a:off x="1027395" y="2367176"/>
            <a:ext cx="330200" cy="330200"/>
          </a:xfrm>
          <a:prstGeom prst="rect">
            <a:avLst/>
          </a:prstGeom>
        </p:spPr>
      </p:pic>
      <p:sp>
        <p:nvSpPr>
          <p:cNvPr id="9" name="Text 6"/>
          <p:cNvSpPr/>
          <p:nvPr/>
        </p:nvSpPr>
        <p:spPr>
          <a:xfrm>
            <a:off x="862296" y="2983230"/>
            <a:ext cx="3158708" cy="260350"/>
          </a:xfrm>
          <a:prstGeom prst="rect">
            <a:avLst/>
          </a:prstGeom>
          <a:noFill/>
          <a:ln/>
        </p:spPr>
        <p:txBody>
          <a:bodyPr wrap="square" lIns="0" tIns="0" rIns="0" bIns="0" rtlCol="0" anchor="t">
            <a:normAutofit/>
          </a:bodyPr>
          <a:lstStyle/>
          <a:p>
            <a:pPr marL="0" indent="0" algn="l">
              <a:lnSpc>
                <a:spcPts val="1242"/>
              </a:lnSpc>
              <a:buNone/>
            </a:pPr>
            <a:r>
              <a:rPr lang="en-US" sz="1080" b="1" dirty="0">
                <a:solidFill>
                  <a:srgbClr val="2B3035"/>
                </a:solidFill>
                <a:latin typeface="Arial" pitchFamily="34" charset="0"/>
                <a:ea typeface="Arial" pitchFamily="34" charset="-122"/>
                <a:cs typeface="Arial" pitchFamily="34" charset="-120"/>
              </a:rPr>
              <a:t>Sistemas baseados em regras</a:t>
            </a:r>
            <a:endParaRPr lang="en-US" sz="1080" dirty="0"/>
          </a:p>
        </p:txBody>
      </p:sp>
      <p:sp>
        <p:nvSpPr>
          <p:cNvPr id="10" name="Text 7"/>
          <p:cNvSpPr/>
          <p:nvPr/>
        </p:nvSpPr>
        <p:spPr>
          <a:xfrm>
            <a:off x="1034356" y="3446146"/>
            <a:ext cx="3158708" cy="336550"/>
          </a:xfrm>
          <a:prstGeom prst="rect">
            <a:avLst/>
          </a:prstGeom>
          <a:noFill/>
          <a:ln/>
        </p:spPr>
        <p:txBody>
          <a:bodyPr wrap="square" lIns="0" tIns="0" rIns="0" bIns="0" rtlCol="0" anchor="t">
            <a:normAutofit/>
          </a:bodyPr>
          <a:lstStyle/>
          <a:p>
            <a:pPr marL="0" indent="0" algn="l">
              <a:lnSpc>
                <a:spcPts val="1134"/>
              </a:lnSpc>
              <a:buNone/>
            </a:pPr>
            <a:r>
              <a:rPr lang="en-US" sz="840" dirty="0">
                <a:solidFill>
                  <a:srgbClr val="3A4147"/>
                </a:solidFill>
                <a:latin typeface="Arial" pitchFamily="34" charset="0"/>
                <a:ea typeface="Arial" pitchFamily="34" charset="-122"/>
                <a:cs typeface="Arial" pitchFamily="34" charset="-120"/>
              </a:rPr>
              <a:t>Regras explícitas, do tipo "se isso, então aquilo". A decisão é rastreável até uma norma escrita por quem programou o sistema.</a:t>
            </a:r>
            <a:endParaRPr lang="en-US" sz="840" dirty="0"/>
          </a:p>
        </p:txBody>
      </p:sp>
      <p:sp>
        <p:nvSpPr>
          <p:cNvPr id="11" name="Shape 8"/>
          <p:cNvSpPr/>
          <p:nvPr/>
        </p:nvSpPr>
        <p:spPr>
          <a:xfrm>
            <a:off x="4261699" y="2160270"/>
            <a:ext cx="3455246" cy="2062480"/>
          </a:xfrm>
          <a:prstGeom prst="rect">
            <a:avLst/>
          </a:prstGeom>
          <a:solidFill>
            <a:srgbClr val="FFFFFF"/>
          </a:solidFill>
          <a:ln w="12700">
            <a:solidFill>
              <a:srgbClr val="D5D9DC"/>
            </a:solidFill>
            <a:prstDash val="solid"/>
          </a:ln>
        </p:spPr>
        <p:txBody>
          <a:bodyPr/>
          <a:lstStyle/>
          <a:p>
            <a:endParaRPr lang="pt-BR"/>
          </a:p>
        </p:txBody>
      </p:sp>
      <p:sp>
        <p:nvSpPr>
          <p:cNvPr id="12" name="Shape 9"/>
          <p:cNvSpPr/>
          <p:nvPr/>
        </p:nvSpPr>
        <p:spPr>
          <a:xfrm>
            <a:off x="4441611" y="2241550"/>
            <a:ext cx="660400" cy="660400"/>
          </a:xfrm>
          <a:prstGeom prst="roundRect">
            <a:avLst>
              <a:gd name="adj" fmla="val 50000"/>
            </a:avLst>
          </a:prstGeom>
          <a:solidFill>
            <a:srgbClr val="2F7D4F"/>
          </a:solidFill>
          <a:ln/>
        </p:spPr>
        <p:txBody>
          <a:bodyPr/>
          <a:lstStyle/>
          <a:p>
            <a:endParaRPr lang="pt-BR"/>
          </a:p>
        </p:txBody>
      </p:sp>
      <p:pic>
        <p:nvPicPr>
          <p:cNvPr id="13" name="Image 1" descr="Chart"/>
          <p:cNvPicPr>
            <a:picLocks noChangeAspect="1"/>
          </p:cNvPicPr>
          <p:nvPr/>
        </p:nvPicPr>
        <p:blipFill>
          <a:blip r:embed="rId4"/>
          <a:srcRect/>
          <a:stretch/>
        </p:blipFill>
        <p:spPr>
          <a:xfrm>
            <a:off x="4553424" y="2418080"/>
            <a:ext cx="330200" cy="330200"/>
          </a:xfrm>
          <a:prstGeom prst="rect">
            <a:avLst/>
          </a:prstGeom>
        </p:spPr>
      </p:pic>
      <p:sp>
        <p:nvSpPr>
          <p:cNvPr id="14" name="Text 10"/>
          <p:cNvSpPr/>
          <p:nvPr/>
        </p:nvSpPr>
        <p:spPr>
          <a:xfrm>
            <a:off x="4666774" y="3218180"/>
            <a:ext cx="2944124" cy="25400"/>
          </a:xfrm>
          <a:prstGeom prst="rect">
            <a:avLst/>
          </a:prstGeom>
          <a:noFill/>
          <a:ln/>
        </p:spPr>
        <p:txBody>
          <a:bodyPr wrap="square" lIns="0" tIns="0" rIns="0" bIns="0" rtlCol="0" anchor="t">
            <a:normAutofit/>
          </a:bodyPr>
          <a:lstStyle/>
          <a:p>
            <a:pPr marL="0" indent="0" algn="l">
              <a:lnSpc>
                <a:spcPts val="1242"/>
              </a:lnSpc>
              <a:buNone/>
            </a:pPr>
            <a:r>
              <a:rPr lang="en-US" sz="1080" b="1" dirty="0">
                <a:solidFill>
                  <a:srgbClr val="2B3035"/>
                </a:solidFill>
                <a:latin typeface="Arial" pitchFamily="34" charset="0"/>
                <a:ea typeface="Arial" pitchFamily="34" charset="-122"/>
                <a:cs typeface="Arial" pitchFamily="34" charset="-120"/>
              </a:rPr>
              <a:t>Machine learning clássico</a:t>
            </a:r>
            <a:endParaRPr lang="en-US" sz="1080" dirty="0"/>
          </a:p>
        </p:txBody>
      </p:sp>
      <p:sp>
        <p:nvSpPr>
          <p:cNvPr id="15" name="Text 11"/>
          <p:cNvSpPr/>
          <p:nvPr/>
        </p:nvSpPr>
        <p:spPr>
          <a:xfrm>
            <a:off x="4450873" y="3557905"/>
            <a:ext cx="3196781" cy="548640"/>
          </a:xfrm>
          <a:prstGeom prst="rect">
            <a:avLst/>
          </a:prstGeom>
          <a:noFill/>
          <a:ln/>
        </p:spPr>
        <p:txBody>
          <a:bodyPr wrap="square" lIns="0" tIns="0" rIns="0" bIns="0" rtlCol="0" anchor="t">
            <a:normAutofit/>
          </a:bodyPr>
          <a:lstStyle/>
          <a:p>
            <a:pPr marL="0" indent="0" algn="l">
              <a:lnSpc>
                <a:spcPts val="1134"/>
              </a:lnSpc>
              <a:buNone/>
            </a:pPr>
            <a:r>
              <a:rPr lang="en-US" sz="840" dirty="0">
                <a:solidFill>
                  <a:srgbClr val="3A4147"/>
                </a:solidFill>
                <a:latin typeface="Arial" pitchFamily="34" charset="0"/>
                <a:ea typeface="Arial" pitchFamily="34" charset="-122"/>
                <a:cs typeface="Arial" pitchFamily="34" charset="-120"/>
              </a:rPr>
              <a:t>Árvores de decisão, regressões e modelos estatísticos que aprendem padrões dos dados. Em geral, ainda parcialmente interpretáveis.</a:t>
            </a:r>
            <a:endParaRPr lang="en-US" sz="840" dirty="0"/>
          </a:p>
        </p:txBody>
      </p:sp>
      <p:sp>
        <p:nvSpPr>
          <p:cNvPr id="16" name="Shape 12"/>
          <p:cNvSpPr/>
          <p:nvPr/>
        </p:nvSpPr>
        <p:spPr>
          <a:xfrm>
            <a:off x="7998857" y="2160270"/>
            <a:ext cx="3521259" cy="1889216"/>
          </a:xfrm>
          <a:prstGeom prst="rect">
            <a:avLst/>
          </a:prstGeom>
          <a:solidFill>
            <a:srgbClr val="2F7D4F"/>
          </a:solidFill>
          <a:ln w="12700">
            <a:solidFill>
              <a:srgbClr val="2F7D4F"/>
            </a:solidFill>
            <a:prstDash val="solid"/>
          </a:ln>
        </p:spPr>
        <p:txBody>
          <a:bodyPr/>
          <a:lstStyle/>
          <a:p>
            <a:endParaRPr lang="pt-BR"/>
          </a:p>
        </p:txBody>
      </p:sp>
      <p:sp>
        <p:nvSpPr>
          <p:cNvPr id="17" name="Shape 13"/>
          <p:cNvSpPr/>
          <p:nvPr/>
        </p:nvSpPr>
        <p:spPr>
          <a:xfrm>
            <a:off x="8057497" y="2214077"/>
            <a:ext cx="660400" cy="660400"/>
          </a:xfrm>
          <a:prstGeom prst="roundRect">
            <a:avLst>
              <a:gd name="adj" fmla="val 50000"/>
            </a:avLst>
          </a:prstGeom>
          <a:solidFill>
            <a:srgbClr val="FFFFFF"/>
          </a:solidFill>
          <a:ln/>
        </p:spPr>
        <p:txBody>
          <a:bodyPr/>
          <a:lstStyle/>
          <a:p>
            <a:endParaRPr lang="pt-BR"/>
          </a:p>
        </p:txBody>
      </p:sp>
      <p:pic>
        <p:nvPicPr>
          <p:cNvPr id="18" name="Image 2" descr="Lightning"/>
          <p:cNvPicPr>
            <a:picLocks noChangeAspect="1"/>
          </p:cNvPicPr>
          <p:nvPr/>
        </p:nvPicPr>
        <p:blipFill>
          <a:blip r:embed="rId5"/>
          <a:srcRect/>
          <a:stretch/>
        </p:blipFill>
        <p:spPr>
          <a:xfrm>
            <a:off x="8222597" y="2341880"/>
            <a:ext cx="330200" cy="330200"/>
          </a:xfrm>
          <a:prstGeom prst="rect">
            <a:avLst/>
          </a:prstGeom>
        </p:spPr>
      </p:pic>
      <p:sp>
        <p:nvSpPr>
          <p:cNvPr id="19" name="Text 14"/>
          <p:cNvSpPr/>
          <p:nvPr/>
        </p:nvSpPr>
        <p:spPr>
          <a:xfrm>
            <a:off x="8256667" y="3218180"/>
            <a:ext cx="2944124" cy="25400"/>
          </a:xfrm>
          <a:prstGeom prst="rect">
            <a:avLst/>
          </a:prstGeom>
          <a:noFill/>
          <a:ln/>
        </p:spPr>
        <p:txBody>
          <a:bodyPr wrap="square" lIns="0" tIns="0" rIns="0" bIns="0" rtlCol="0" anchor="t">
            <a:normAutofit/>
          </a:bodyPr>
          <a:lstStyle/>
          <a:p>
            <a:pPr marL="0" indent="0" algn="l">
              <a:lnSpc>
                <a:spcPts val="1242"/>
              </a:lnSpc>
              <a:buNone/>
            </a:pPr>
            <a:r>
              <a:rPr lang="en-US" sz="1080" b="1" dirty="0">
                <a:solidFill>
                  <a:srgbClr val="FFFFFF"/>
                </a:solidFill>
                <a:latin typeface="Arial" pitchFamily="34" charset="0"/>
                <a:ea typeface="Arial" pitchFamily="34" charset="-122"/>
                <a:cs typeface="Arial" pitchFamily="34" charset="-120"/>
              </a:rPr>
              <a:t>Redes neurais profundas</a:t>
            </a:r>
            <a:endParaRPr lang="en-US" sz="1080" dirty="0"/>
          </a:p>
        </p:txBody>
      </p:sp>
      <p:sp>
        <p:nvSpPr>
          <p:cNvPr id="20" name="Text 15"/>
          <p:cNvSpPr/>
          <p:nvPr/>
        </p:nvSpPr>
        <p:spPr>
          <a:xfrm>
            <a:off x="8256666" y="3482469"/>
            <a:ext cx="2981537" cy="379602"/>
          </a:xfrm>
          <a:prstGeom prst="rect">
            <a:avLst/>
          </a:prstGeom>
          <a:noFill/>
          <a:ln/>
        </p:spPr>
        <p:txBody>
          <a:bodyPr wrap="square" lIns="0" tIns="0" rIns="0" bIns="0" rtlCol="0" anchor="t">
            <a:normAutofit/>
          </a:bodyPr>
          <a:lstStyle/>
          <a:p>
            <a:pPr marL="0" indent="0" algn="l">
              <a:lnSpc>
                <a:spcPts val="1134"/>
              </a:lnSpc>
              <a:buNone/>
            </a:pPr>
            <a:r>
              <a:rPr lang="en-US" sz="840" dirty="0">
                <a:solidFill>
                  <a:srgbClr val="E6F3EC"/>
                </a:solidFill>
                <a:latin typeface="Arial" pitchFamily="34" charset="0"/>
                <a:ea typeface="Arial" pitchFamily="34" charset="-122"/>
                <a:cs typeface="Arial" pitchFamily="34" charset="-120"/>
              </a:rPr>
              <a:t>Milhões de parâmetros ajustados estatisticamente durante o treinamento. A decisão não se reduz a uma regra única..</a:t>
            </a:r>
            <a:endParaRPr lang="en-US" sz="840" dirty="0"/>
          </a:p>
        </p:txBody>
      </p:sp>
      <p:sp>
        <p:nvSpPr>
          <p:cNvPr id="21" name="Shape 16"/>
          <p:cNvSpPr/>
          <p:nvPr/>
        </p:nvSpPr>
        <p:spPr>
          <a:xfrm>
            <a:off x="671804" y="4222750"/>
            <a:ext cx="10566400" cy="889000"/>
          </a:xfrm>
          <a:prstGeom prst="rect">
            <a:avLst/>
          </a:prstGeom>
          <a:solidFill>
            <a:srgbClr val="E6E9EB"/>
          </a:solidFill>
          <a:ln/>
        </p:spPr>
        <p:txBody>
          <a:bodyPr/>
          <a:lstStyle/>
          <a:p>
            <a:endParaRPr lang="pt-BR"/>
          </a:p>
        </p:txBody>
      </p:sp>
      <p:sp>
        <p:nvSpPr>
          <p:cNvPr id="22" name="Shape 17"/>
          <p:cNvSpPr/>
          <p:nvPr/>
        </p:nvSpPr>
        <p:spPr>
          <a:xfrm>
            <a:off x="372706" y="4336091"/>
            <a:ext cx="76200" cy="889000"/>
          </a:xfrm>
          <a:prstGeom prst="rect">
            <a:avLst/>
          </a:prstGeom>
          <a:solidFill>
            <a:srgbClr val="2F7D4F"/>
          </a:solidFill>
          <a:ln/>
        </p:spPr>
        <p:txBody>
          <a:bodyPr/>
          <a:lstStyle/>
          <a:p>
            <a:endParaRPr lang="pt-BR"/>
          </a:p>
        </p:txBody>
      </p:sp>
      <p:sp>
        <p:nvSpPr>
          <p:cNvPr id="23" name="Text 18"/>
          <p:cNvSpPr/>
          <p:nvPr/>
        </p:nvSpPr>
        <p:spPr>
          <a:xfrm>
            <a:off x="904214" y="4464050"/>
            <a:ext cx="1033399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3035"/>
                </a:solidFill>
                <a:latin typeface="Arial" pitchFamily="34" charset="0"/>
                <a:ea typeface="Arial" pitchFamily="34" charset="-122"/>
                <a:cs typeface="Arial" pitchFamily="34" charset="-120"/>
              </a:rPr>
              <a:t>Quanto mais complexo o modelo, maior tende a ser o ganho de acurácia e maior a perda de explicabilidade, O QUE PODE LEVAR A PROBLEMAS JURÍDICOS.</a:t>
            </a:r>
            <a:endParaRPr lang="en-US" sz="1500" dirty="0"/>
          </a:p>
        </p:txBody>
      </p:sp>
      <p:sp>
        <p:nvSpPr>
          <p:cNvPr id="24" name="Text 19"/>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Decisões algorítmicas afetam direitos concretos</a:t>
            </a:r>
            <a:endParaRPr lang="en-US" sz="2800" dirty="0"/>
          </a:p>
        </p:txBody>
      </p:sp>
      <p:sp>
        <p:nvSpPr>
          <p:cNvPr id="4" name="Shape 2"/>
          <p:cNvSpPr/>
          <p:nvPr/>
        </p:nvSpPr>
        <p:spPr>
          <a:xfrm>
            <a:off x="812800" y="1076961"/>
            <a:ext cx="609600" cy="50800"/>
          </a:xfrm>
          <a:prstGeom prst="rect">
            <a:avLst/>
          </a:prstGeom>
          <a:solidFill>
            <a:srgbClr val="2F7D4F"/>
          </a:solidFill>
          <a:ln/>
        </p:spPr>
        <p:txBody>
          <a:bodyPr/>
          <a:lstStyle/>
          <a:p>
            <a:endParaRPr lang="pt-BR"/>
          </a:p>
        </p:txBody>
      </p:sp>
      <p:sp>
        <p:nvSpPr>
          <p:cNvPr id="5" name="Shape 3"/>
          <p:cNvSpPr/>
          <p:nvPr/>
        </p:nvSpPr>
        <p:spPr>
          <a:xfrm>
            <a:off x="819150" y="1337311"/>
            <a:ext cx="3390900" cy="1626235"/>
          </a:xfrm>
          <a:prstGeom prst="rect">
            <a:avLst/>
          </a:prstGeom>
          <a:solidFill>
            <a:srgbClr val="FFFFFF"/>
          </a:solidFill>
          <a:ln w="12700">
            <a:solidFill>
              <a:srgbClr val="D5D9DC"/>
            </a:solidFill>
            <a:prstDash val="solid"/>
          </a:ln>
        </p:spPr>
        <p:txBody>
          <a:bodyPr/>
          <a:lstStyle/>
          <a:p>
            <a:endParaRPr lang="pt-BR"/>
          </a:p>
        </p:txBody>
      </p:sp>
      <p:sp>
        <p:nvSpPr>
          <p:cNvPr id="6" name="Shape 4"/>
          <p:cNvSpPr/>
          <p:nvPr/>
        </p:nvSpPr>
        <p:spPr>
          <a:xfrm>
            <a:off x="1026160" y="1544320"/>
            <a:ext cx="533400" cy="533400"/>
          </a:xfrm>
          <a:prstGeom prst="roundRect">
            <a:avLst>
              <a:gd name="adj" fmla="val 50000"/>
            </a:avLst>
          </a:prstGeom>
          <a:solidFill>
            <a:srgbClr val="2F7D4F"/>
          </a:solidFill>
          <a:ln/>
        </p:spPr>
        <p:txBody>
          <a:bodyPr/>
          <a:lstStyle/>
          <a:p>
            <a:endParaRPr lang="pt-BR"/>
          </a:p>
        </p:txBody>
      </p:sp>
      <p:pic>
        <p:nvPicPr>
          <p:cNvPr id="7" name="Image 0" descr="Database"/>
          <p:cNvPicPr>
            <a:picLocks noChangeAspect="1"/>
          </p:cNvPicPr>
          <p:nvPr/>
        </p:nvPicPr>
        <p:blipFill>
          <a:blip r:embed="rId3"/>
          <a:srcRect/>
          <a:stretch/>
        </p:blipFill>
        <p:spPr>
          <a:xfrm>
            <a:off x="1159510" y="1677670"/>
            <a:ext cx="266700" cy="266700"/>
          </a:xfrm>
          <a:prstGeom prst="rect">
            <a:avLst/>
          </a:prstGeom>
        </p:spPr>
      </p:pic>
      <p:sp>
        <p:nvSpPr>
          <p:cNvPr id="8" name="Text 5"/>
          <p:cNvSpPr/>
          <p:nvPr/>
        </p:nvSpPr>
        <p:spPr>
          <a:xfrm>
            <a:off x="1737360" y="1544320"/>
            <a:ext cx="233365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B3035"/>
                </a:solidFill>
                <a:latin typeface="Arial" pitchFamily="34" charset="0"/>
                <a:ea typeface="Arial" pitchFamily="34" charset="-122"/>
                <a:cs typeface="Arial" pitchFamily="34" charset="-120"/>
              </a:rPr>
              <a:t>Crédito e consumo</a:t>
            </a:r>
            <a:endParaRPr lang="en-US" sz="1600" dirty="0"/>
          </a:p>
        </p:txBody>
      </p:sp>
      <p:sp>
        <p:nvSpPr>
          <p:cNvPr id="9" name="Text 6"/>
          <p:cNvSpPr/>
          <p:nvPr/>
        </p:nvSpPr>
        <p:spPr>
          <a:xfrm>
            <a:off x="1737360" y="1854200"/>
            <a:ext cx="2333651"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Concessão ou negativa de crédito com base em escore estatístico.</a:t>
            </a:r>
            <a:endParaRPr lang="en-US" sz="1300" dirty="0"/>
          </a:p>
        </p:txBody>
      </p:sp>
      <p:sp>
        <p:nvSpPr>
          <p:cNvPr id="10" name="Shape 7"/>
          <p:cNvSpPr/>
          <p:nvPr/>
        </p:nvSpPr>
        <p:spPr>
          <a:xfrm>
            <a:off x="4400550" y="1337311"/>
            <a:ext cx="3390900" cy="1626235"/>
          </a:xfrm>
          <a:prstGeom prst="rect">
            <a:avLst/>
          </a:prstGeom>
          <a:solidFill>
            <a:srgbClr val="E6E9EB"/>
          </a:solidFill>
          <a:ln w="12700">
            <a:solidFill>
              <a:srgbClr val="E6E9EB"/>
            </a:solidFill>
            <a:prstDash val="solid"/>
          </a:ln>
        </p:spPr>
        <p:txBody>
          <a:bodyPr/>
          <a:lstStyle/>
          <a:p>
            <a:endParaRPr lang="pt-BR"/>
          </a:p>
        </p:txBody>
      </p:sp>
      <p:sp>
        <p:nvSpPr>
          <p:cNvPr id="11" name="Shape 8"/>
          <p:cNvSpPr/>
          <p:nvPr/>
        </p:nvSpPr>
        <p:spPr>
          <a:xfrm>
            <a:off x="4607560" y="1544320"/>
            <a:ext cx="533400" cy="533400"/>
          </a:xfrm>
          <a:prstGeom prst="roundRect">
            <a:avLst>
              <a:gd name="adj" fmla="val 50000"/>
            </a:avLst>
          </a:prstGeom>
          <a:solidFill>
            <a:srgbClr val="2F7D4F"/>
          </a:solidFill>
          <a:ln/>
        </p:spPr>
        <p:txBody>
          <a:bodyPr/>
          <a:lstStyle/>
          <a:p>
            <a:endParaRPr lang="pt-BR"/>
          </a:p>
        </p:txBody>
      </p:sp>
      <p:pic>
        <p:nvPicPr>
          <p:cNvPr id="12" name="Image 1" descr="Users"/>
          <p:cNvPicPr>
            <a:picLocks noChangeAspect="1"/>
          </p:cNvPicPr>
          <p:nvPr/>
        </p:nvPicPr>
        <p:blipFill>
          <a:blip r:embed="rId4"/>
          <a:srcRect/>
          <a:stretch/>
        </p:blipFill>
        <p:spPr>
          <a:xfrm>
            <a:off x="4740910" y="1677670"/>
            <a:ext cx="266700" cy="266700"/>
          </a:xfrm>
          <a:prstGeom prst="rect">
            <a:avLst/>
          </a:prstGeom>
        </p:spPr>
      </p:pic>
      <p:sp>
        <p:nvSpPr>
          <p:cNvPr id="13" name="Text 9"/>
          <p:cNvSpPr/>
          <p:nvPr/>
        </p:nvSpPr>
        <p:spPr>
          <a:xfrm>
            <a:off x="5318760" y="1544320"/>
            <a:ext cx="2333651" cy="49276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B3035"/>
                </a:solidFill>
                <a:latin typeface="Arial" pitchFamily="34" charset="0"/>
                <a:ea typeface="Arial" pitchFamily="34" charset="-122"/>
                <a:cs typeface="Arial" pitchFamily="34" charset="-120"/>
              </a:rPr>
              <a:t>Trabalho em plataforma</a:t>
            </a:r>
            <a:endParaRPr lang="en-US" sz="1600" dirty="0"/>
          </a:p>
        </p:txBody>
      </p:sp>
      <p:sp>
        <p:nvSpPr>
          <p:cNvPr id="14" name="Text 10"/>
          <p:cNvSpPr/>
          <p:nvPr/>
        </p:nvSpPr>
        <p:spPr>
          <a:xfrm>
            <a:off x="5318760" y="2087880"/>
            <a:ext cx="2333651"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Distribuição de turnos, avaliação e desligamento por algoritmo de gestão.</a:t>
            </a:r>
            <a:endParaRPr lang="en-US" sz="1300" dirty="0"/>
          </a:p>
        </p:txBody>
      </p:sp>
      <p:sp>
        <p:nvSpPr>
          <p:cNvPr id="15" name="Shape 11"/>
          <p:cNvSpPr/>
          <p:nvPr/>
        </p:nvSpPr>
        <p:spPr>
          <a:xfrm>
            <a:off x="7981950" y="1337311"/>
            <a:ext cx="3390900" cy="1626235"/>
          </a:xfrm>
          <a:prstGeom prst="rect">
            <a:avLst/>
          </a:prstGeom>
          <a:solidFill>
            <a:srgbClr val="FFFFFF"/>
          </a:solidFill>
          <a:ln w="12700">
            <a:solidFill>
              <a:srgbClr val="D5D9DC"/>
            </a:solidFill>
            <a:prstDash val="solid"/>
          </a:ln>
        </p:spPr>
        <p:txBody>
          <a:bodyPr/>
          <a:lstStyle/>
          <a:p>
            <a:endParaRPr lang="pt-BR"/>
          </a:p>
        </p:txBody>
      </p:sp>
      <p:sp>
        <p:nvSpPr>
          <p:cNvPr id="16" name="Shape 12"/>
          <p:cNvSpPr/>
          <p:nvPr/>
        </p:nvSpPr>
        <p:spPr>
          <a:xfrm>
            <a:off x="8188960" y="1544320"/>
            <a:ext cx="533400" cy="533400"/>
          </a:xfrm>
          <a:prstGeom prst="roundRect">
            <a:avLst>
              <a:gd name="adj" fmla="val 50000"/>
            </a:avLst>
          </a:prstGeom>
          <a:solidFill>
            <a:srgbClr val="2F7D4F"/>
          </a:solidFill>
          <a:ln/>
        </p:spPr>
        <p:txBody>
          <a:bodyPr/>
          <a:lstStyle/>
          <a:p>
            <a:endParaRPr lang="pt-BR"/>
          </a:p>
        </p:txBody>
      </p:sp>
      <p:pic>
        <p:nvPicPr>
          <p:cNvPr id="17" name="Image 2" descr="Home"/>
          <p:cNvPicPr>
            <a:picLocks noChangeAspect="1"/>
          </p:cNvPicPr>
          <p:nvPr/>
        </p:nvPicPr>
        <p:blipFill>
          <a:blip r:embed="rId5"/>
          <a:srcRect/>
          <a:stretch/>
        </p:blipFill>
        <p:spPr>
          <a:xfrm>
            <a:off x="8322310" y="1677670"/>
            <a:ext cx="266700" cy="266700"/>
          </a:xfrm>
          <a:prstGeom prst="rect">
            <a:avLst/>
          </a:prstGeom>
        </p:spPr>
      </p:pic>
      <p:sp>
        <p:nvSpPr>
          <p:cNvPr id="18" name="Text 13"/>
          <p:cNvSpPr/>
          <p:nvPr/>
        </p:nvSpPr>
        <p:spPr>
          <a:xfrm>
            <a:off x="8900160" y="1544320"/>
            <a:ext cx="233365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B3035"/>
                </a:solidFill>
                <a:latin typeface="Arial" pitchFamily="34" charset="0"/>
                <a:ea typeface="Arial" pitchFamily="34" charset="-122"/>
                <a:cs typeface="Arial" pitchFamily="34" charset="-120"/>
              </a:rPr>
              <a:t>Benefícios sociais</a:t>
            </a:r>
            <a:endParaRPr lang="en-US" sz="1600" dirty="0"/>
          </a:p>
        </p:txBody>
      </p:sp>
      <p:sp>
        <p:nvSpPr>
          <p:cNvPr id="19" name="Text 14"/>
          <p:cNvSpPr/>
          <p:nvPr/>
        </p:nvSpPr>
        <p:spPr>
          <a:xfrm>
            <a:off x="8900160" y="1854200"/>
            <a:ext cx="2333651"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Detecção automatizada de fraude em programas de transferência de renda.</a:t>
            </a:r>
            <a:endParaRPr lang="en-US" sz="1300" dirty="0"/>
          </a:p>
        </p:txBody>
      </p:sp>
      <p:sp>
        <p:nvSpPr>
          <p:cNvPr id="20" name="Shape 15"/>
          <p:cNvSpPr/>
          <p:nvPr/>
        </p:nvSpPr>
        <p:spPr>
          <a:xfrm>
            <a:off x="819150" y="3154045"/>
            <a:ext cx="3390900" cy="1615440"/>
          </a:xfrm>
          <a:prstGeom prst="rect">
            <a:avLst/>
          </a:prstGeom>
          <a:solidFill>
            <a:srgbClr val="FFFFFF"/>
          </a:solidFill>
          <a:ln w="12700">
            <a:solidFill>
              <a:srgbClr val="D5D9DC"/>
            </a:solidFill>
            <a:prstDash val="solid"/>
          </a:ln>
        </p:spPr>
        <p:txBody>
          <a:bodyPr/>
          <a:lstStyle/>
          <a:p>
            <a:endParaRPr lang="pt-BR"/>
          </a:p>
        </p:txBody>
      </p:sp>
      <p:sp>
        <p:nvSpPr>
          <p:cNvPr id="21" name="Shape 16"/>
          <p:cNvSpPr/>
          <p:nvPr/>
        </p:nvSpPr>
        <p:spPr>
          <a:xfrm>
            <a:off x="1026160" y="3361055"/>
            <a:ext cx="533400" cy="533400"/>
          </a:xfrm>
          <a:prstGeom prst="roundRect">
            <a:avLst>
              <a:gd name="adj" fmla="val 50000"/>
            </a:avLst>
          </a:prstGeom>
          <a:solidFill>
            <a:srgbClr val="2F7D4F"/>
          </a:solidFill>
          <a:ln/>
        </p:spPr>
        <p:txBody>
          <a:bodyPr/>
          <a:lstStyle/>
          <a:p>
            <a:endParaRPr lang="pt-BR"/>
          </a:p>
        </p:txBody>
      </p:sp>
      <p:pic>
        <p:nvPicPr>
          <p:cNvPr id="22" name="Image 3" descr="Search"/>
          <p:cNvPicPr>
            <a:picLocks noChangeAspect="1"/>
          </p:cNvPicPr>
          <p:nvPr/>
        </p:nvPicPr>
        <p:blipFill>
          <a:blip r:embed="rId6"/>
          <a:srcRect/>
          <a:stretch/>
        </p:blipFill>
        <p:spPr>
          <a:xfrm>
            <a:off x="1159510" y="3494405"/>
            <a:ext cx="266700" cy="266700"/>
          </a:xfrm>
          <a:prstGeom prst="rect">
            <a:avLst/>
          </a:prstGeom>
        </p:spPr>
      </p:pic>
      <p:sp>
        <p:nvSpPr>
          <p:cNvPr id="23" name="Text 17"/>
          <p:cNvSpPr/>
          <p:nvPr/>
        </p:nvSpPr>
        <p:spPr>
          <a:xfrm>
            <a:off x="1737360" y="3361055"/>
            <a:ext cx="233365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B3035"/>
                </a:solidFill>
                <a:latin typeface="Arial" pitchFamily="34" charset="0"/>
                <a:ea typeface="Arial" pitchFamily="34" charset="-122"/>
                <a:cs typeface="Arial" pitchFamily="34" charset="-120"/>
              </a:rPr>
              <a:t>Segurança pública</a:t>
            </a:r>
            <a:endParaRPr lang="en-US" sz="1600" dirty="0"/>
          </a:p>
        </p:txBody>
      </p:sp>
      <p:sp>
        <p:nvSpPr>
          <p:cNvPr id="24" name="Text 18"/>
          <p:cNvSpPr/>
          <p:nvPr/>
        </p:nvSpPr>
        <p:spPr>
          <a:xfrm>
            <a:off x="1737360" y="3670936"/>
            <a:ext cx="2333651"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Reconhecimento facial em espaços públicos e sistemas de vigilância.</a:t>
            </a:r>
            <a:endParaRPr lang="en-US" sz="1300" dirty="0"/>
          </a:p>
        </p:txBody>
      </p:sp>
      <p:sp>
        <p:nvSpPr>
          <p:cNvPr id="25" name="Shape 19"/>
          <p:cNvSpPr/>
          <p:nvPr/>
        </p:nvSpPr>
        <p:spPr>
          <a:xfrm>
            <a:off x="4400550" y="3154045"/>
            <a:ext cx="3390900" cy="1615440"/>
          </a:xfrm>
          <a:prstGeom prst="rect">
            <a:avLst/>
          </a:prstGeom>
          <a:solidFill>
            <a:srgbClr val="E6E9EB"/>
          </a:solidFill>
          <a:ln w="12700">
            <a:solidFill>
              <a:srgbClr val="E6E9EB"/>
            </a:solidFill>
            <a:prstDash val="solid"/>
          </a:ln>
        </p:spPr>
        <p:txBody>
          <a:bodyPr/>
          <a:lstStyle/>
          <a:p>
            <a:endParaRPr lang="pt-BR"/>
          </a:p>
        </p:txBody>
      </p:sp>
      <p:sp>
        <p:nvSpPr>
          <p:cNvPr id="26" name="Shape 20"/>
          <p:cNvSpPr/>
          <p:nvPr/>
        </p:nvSpPr>
        <p:spPr>
          <a:xfrm>
            <a:off x="4607560" y="3361055"/>
            <a:ext cx="533400" cy="533400"/>
          </a:xfrm>
          <a:prstGeom prst="roundRect">
            <a:avLst>
              <a:gd name="adj" fmla="val 50000"/>
            </a:avLst>
          </a:prstGeom>
          <a:solidFill>
            <a:srgbClr val="2F7D4F"/>
          </a:solidFill>
          <a:ln/>
        </p:spPr>
        <p:txBody>
          <a:bodyPr/>
          <a:lstStyle/>
          <a:p>
            <a:endParaRPr lang="pt-BR"/>
          </a:p>
        </p:txBody>
      </p:sp>
      <p:pic>
        <p:nvPicPr>
          <p:cNvPr id="27" name="Image 4" descr="Verified"/>
          <p:cNvPicPr>
            <a:picLocks noChangeAspect="1"/>
          </p:cNvPicPr>
          <p:nvPr/>
        </p:nvPicPr>
        <p:blipFill>
          <a:blip r:embed="rId7"/>
          <a:srcRect/>
          <a:stretch/>
        </p:blipFill>
        <p:spPr>
          <a:xfrm>
            <a:off x="4740910" y="3494405"/>
            <a:ext cx="266700" cy="266700"/>
          </a:xfrm>
          <a:prstGeom prst="rect">
            <a:avLst/>
          </a:prstGeom>
        </p:spPr>
      </p:pic>
      <p:sp>
        <p:nvSpPr>
          <p:cNvPr id="28" name="Text 21"/>
          <p:cNvSpPr/>
          <p:nvPr/>
        </p:nvSpPr>
        <p:spPr>
          <a:xfrm>
            <a:off x="5318760" y="3361055"/>
            <a:ext cx="233365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B3035"/>
                </a:solidFill>
                <a:latin typeface="Arial" pitchFamily="34" charset="0"/>
                <a:ea typeface="Arial" pitchFamily="34" charset="-122"/>
                <a:cs typeface="Arial" pitchFamily="34" charset="-120"/>
              </a:rPr>
              <a:t>Justiça criminal</a:t>
            </a:r>
            <a:endParaRPr lang="en-US" sz="1600" dirty="0"/>
          </a:p>
        </p:txBody>
      </p:sp>
      <p:sp>
        <p:nvSpPr>
          <p:cNvPr id="29" name="Text 22"/>
          <p:cNvSpPr/>
          <p:nvPr/>
        </p:nvSpPr>
        <p:spPr>
          <a:xfrm>
            <a:off x="5318760" y="3670936"/>
            <a:ext cx="2333651"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Avaliação de risco de reincidência usada em sentenças e liberdade condicional.</a:t>
            </a:r>
            <a:endParaRPr lang="en-US" sz="1300" dirty="0"/>
          </a:p>
        </p:txBody>
      </p:sp>
      <p:sp>
        <p:nvSpPr>
          <p:cNvPr id="30" name="Shape 23"/>
          <p:cNvSpPr/>
          <p:nvPr/>
        </p:nvSpPr>
        <p:spPr>
          <a:xfrm>
            <a:off x="7981950" y="3154045"/>
            <a:ext cx="3390900" cy="1615440"/>
          </a:xfrm>
          <a:prstGeom prst="rect">
            <a:avLst/>
          </a:prstGeom>
          <a:solidFill>
            <a:srgbClr val="FFFFFF"/>
          </a:solidFill>
          <a:ln w="12700">
            <a:solidFill>
              <a:srgbClr val="D5D9DC"/>
            </a:solidFill>
            <a:prstDash val="solid"/>
          </a:ln>
        </p:spPr>
        <p:txBody>
          <a:bodyPr/>
          <a:lstStyle/>
          <a:p>
            <a:endParaRPr lang="pt-BR"/>
          </a:p>
        </p:txBody>
      </p:sp>
      <p:sp>
        <p:nvSpPr>
          <p:cNvPr id="31" name="Shape 24"/>
          <p:cNvSpPr/>
          <p:nvPr/>
        </p:nvSpPr>
        <p:spPr>
          <a:xfrm>
            <a:off x="8188960" y="3361055"/>
            <a:ext cx="533400" cy="533400"/>
          </a:xfrm>
          <a:prstGeom prst="roundRect">
            <a:avLst>
              <a:gd name="adj" fmla="val 50000"/>
            </a:avLst>
          </a:prstGeom>
          <a:solidFill>
            <a:srgbClr val="2F7D4F"/>
          </a:solidFill>
          <a:ln/>
        </p:spPr>
        <p:txBody>
          <a:bodyPr/>
          <a:lstStyle/>
          <a:p>
            <a:endParaRPr lang="pt-BR"/>
          </a:p>
        </p:txBody>
      </p:sp>
      <p:pic>
        <p:nvPicPr>
          <p:cNvPr id="32" name="Image 5" descr="GraduationCap"/>
          <p:cNvPicPr>
            <a:picLocks noChangeAspect="1"/>
          </p:cNvPicPr>
          <p:nvPr/>
        </p:nvPicPr>
        <p:blipFill>
          <a:blip r:embed="rId8"/>
          <a:srcRect/>
          <a:stretch/>
        </p:blipFill>
        <p:spPr>
          <a:xfrm>
            <a:off x="8322310" y="3494405"/>
            <a:ext cx="266700" cy="266700"/>
          </a:xfrm>
          <a:prstGeom prst="rect">
            <a:avLst/>
          </a:prstGeom>
        </p:spPr>
      </p:pic>
      <p:sp>
        <p:nvSpPr>
          <p:cNvPr id="33" name="Text 25"/>
          <p:cNvSpPr/>
          <p:nvPr/>
        </p:nvSpPr>
        <p:spPr>
          <a:xfrm>
            <a:off x="8900160" y="3361055"/>
            <a:ext cx="233365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B3035"/>
                </a:solidFill>
                <a:latin typeface="Arial" pitchFamily="34" charset="0"/>
                <a:ea typeface="Arial" pitchFamily="34" charset="-122"/>
                <a:cs typeface="Arial" pitchFamily="34" charset="-120"/>
              </a:rPr>
              <a:t>Educação</a:t>
            </a:r>
            <a:endParaRPr lang="en-US" sz="1600" dirty="0"/>
          </a:p>
        </p:txBody>
      </p:sp>
      <p:sp>
        <p:nvSpPr>
          <p:cNvPr id="34" name="Text 26"/>
          <p:cNvSpPr/>
          <p:nvPr/>
        </p:nvSpPr>
        <p:spPr>
          <a:xfrm>
            <a:off x="8900160" y="3670936"/>
            <a:ext cx="2333651"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Seleção e admissão de estudantes ao ensino superior por plataformas nacionais.</a:t>
            </a:r>
            <a:endParaRPr lang="en-US" sz="1300" dirty="0"/>
          </a:p>
        </p:txBody>
      </p:sp>
      <p:sp>
        <p:nvSpPr>
          <p:cNvPr id="35" name="Shape 27"/>
          <p:cNvSpPr/>
          <p:nvPr/>
        </p:nvSpPr>
        <p:spPr>
          <a:xfrm>
            <a:off x="812800" y="4979036"/>
            <a:ext cx="10566400" cy="640080"/>
          </a:xfrm>
          <a:prstGeom prst="rect">
            <a:avLst/>
          </a:prstGeom>
          <a:solidFill>
            <a:srgbClr val="2F7D4F"/>
          </a:solidFill>
          <a:ln/>
        </p:spPr>
        <p:txBody>
          <a:bodyPr/>
          <a:lstStyle/>
          <a:p>
            <a:endParaRPr lang="pt-BR"/>
          </a:p>
        </p:txBody>
      </p:sp>
      <p:sp>
        <p:nvSpPr>
          <p:cNvPr id="36" name="Text 28"/>
          <p:cNvSpPr/>
          <p:nvPr/>
        </p:nvSpPr>
        <p:spPr>
          <a:xfrm>
            <a:off x="1066800" y="5156836"/>
            <a:ext cx="1036015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5F5"/>
                </a:solidFill>
                <a:latin typeface="Arial" pitchFamily="34" charset="0"/>
                <a:ea typeface="Arial" pitchFamily="34" charset="-122"/>
                <a:cs typeface="Arial" pitchFamily="34" charset="-120"/>
              </a:rPr>
              <a:t>Cada um desses seis setores já gerou pelo menos uma decisão judicial real.</a:t>
            </a:r>
            <a:endParaRPr lang="en-US" sz="1600" dirty="0"/>
          </a:p>
        </p:txBody>
      </p:sp>
      <p:sp>
        <p:nvSpPr>
          <p:cNvPr id="37" name="Text 29"/>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Como a regulação de IA foi se formando, ano a ano</a:t>
            </a:r>
            <a:endParaRPr lang="en-US" sz="2800" dirty="0"/>
          </a:p>
        </p:txBody>
      </p:sp>
      <p:sp>
        <p:nvSpPr>
          <p:cNvPr id="4" name="Shape 2"/>
          <p:cNvSpPr/>
          <p:nvPr/>
        </p:nvSpPr>
        <p:spPr>
          <a:xfrm>
            <a:off x="812800" y="1076961"/>
            <a:ext cx="609600" cy="50800"/>
          </a:xfrm>
          <a:prstGeom prst="rect">
            <a:avLst/>
          </a:prstGeom>
          <a:solidFill>
            <a:srgbClr val="2F7D4F"/>
          </a:solidFill>
          <a:ln/>
        </p:spPr>
        <p:txBody>
          <a:bodyPr/>
          <a:lstStyle/>
          <a:p>
            <a:endParaRPr lang="pt-BR"/>
          </a:p>
        </p:txBody>
      </p:sp>
      <p:sp>
        <p:nvSpPr>
          <p:cNvPr id="5" name="Shape 3"/>
          <p:cNvSpPr/>
          <p:nvPr/>
        </p:nvSpPr>
        <p:spPr>
          <a:xfrm>
            <a:off x="812800" y="1356361"/>
            <a:ext cx="2451100" cy="0"/>
          </a:xfrm>
          <a:prstGeom prst="line">
            <a:avLst/>
          </a:prstGeom>
          <a:noFill/>
          <a:ln w="50800">
            <a:solidFill>
              <a:srgbClr val="2F7D4F"/>
            </a:solidFill>
            <a:prstDash val="solid"/>
          </a:ln>
        </p:spPr>
        <p:txBody>
          <a:bodyPr/>
          <a:lstStyle/>
          <a:p>
            <a:endParaRPr lang="pt-BR"/>
          </a:p>
        </p:txBody>
      </p:sp>
      <p:sp>
        <p:nvSpPr>
          <p:cNvPr id="6" name="Text 4"/>
          <p:cNvSpPr/>
          <p:nvPr/>
        </p:nvSpPr>
        <p:spPr>
          <a:xfrm>
            <a:off x="812800" y="1496061"/>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2016</a:t>
            </a:r>
            <a:endParaRPr lang="en-US" sz="2600" dirty="0"/>
          </a:p>
        </p:txBody>
      </p:sp>
      <p:sp>
        <p:nvSpPr>
          <p:cNvPr id="7" name="Text 5"/>
          <p:cNvSpPr/>
          <p:nvPr/>
        </p:nvSpPr>
        <p:spPr>
          <a:xfrm>
            <a:off x="812800" y="2021841"/>
            <a:ext cx="2367661"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GDPR é aprovado na UE, art. 22 trata de decisões automatizadas</a:t>
            </a:r>
            <a:endParaRPr lang="en-US" sz="1300" dirty="0"/>
          </a:p>
        </p:txBody>
      </p:sp>
      <p:sp>
        <p:nvSpPr>
          <p:cNvPr id="8" name="Shape 6"/>
          <p:cNvSpPr/>
          <p:nvPr/>
        </p:nvSpPr>
        <p:spPr>
          <a:xfrm>
            <a:off x="3517900" y="1356361"/>
            <a:ext cx="2451100" cy="0"/>
          </a:xfrm>
          <a:prstGeom prst="line">
            <a:avLst/>
          </a:prstGeom>
          <a:noFill/>
          <a:ln w="50800">
            <a:solidFill>
              <a:srgbClr val="2F7D4F"/>
            </a:solidFill>
            <a:prstDash val="solid"/>
          </a:ln>
        </p:spPr>
        <p:txBody>
          <a:bodyPr/>
          <a:lstStyle/>
          <a:p>
            <a:endParaRPr lang="pt-BR"/>
          </a:p>
        </p:txBody>
      </p:sp>
      <p:sp>
        <p:nvSpPr>
          <p:cNvPr id="9" name="Text 7"/>
          <p:cNvSpPr/>
          <p:nvPr/>
        </p:nvSpPr>
        <p:spPr>
          <a:xfrm>
            <a:off x="3517900" y="1496061"/>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2018</a:t>
            </a:r>
            <a:endParaRPr lang="en-US" sz="2600" dirty="0"/>
          </a:p>
        </p:txBody>
      </p:sp>
      <p:sp>
        <p:nvSpPr>
          <p:cNvPr id="10" name="Text 8"/>
          <p:cNvSpPr/>
          <p:nvPr/>
        </p:nvSpPr>
        <p:spPr>
          <a:xfrm>
            <a:off x="3517900" y="2021841"/>
            <a:ext cx="236766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LGPD é sancionada no Brasil (Lei nº 13.709/2018)</a:t>
            </a:r>
            <a:endParaRPr lang="en-US" sz="1300" dirty="0"/>
          </a:p>
        </p:txBody>
      </p:sp>
      <p:sp>
        <p:nvSpPr>
          <p:cNvPr id="11" name="Shape 9"/>
          <p:cNvSpPr/>
          <p:nvPr/>
        </p:nvSpPr>
        <p:spPr>
          <a:xfrm>
            <a:off x="6223000" y="1356361"/>
            <a:ext cx="2451100" cy="0"/>
          </a:xfrm>
          <a:prstGeom prst="line">
            <a:avLst/>
          </a:prstGeom>
          <a:noFill/>
          <a:ln w="50800">
            <a:solidFill>
              <a:srgbClr val="2F7D4F"/>
            </a:solidFill>
            <a:prstDash val="solid"/>
          </a:ln>
        </p:spPr>
        <p:txBody>
          <a:bodyPr/>
          <a:lstStyle/>
          <a:p>
            <a:endParaRPr lang="pt-BR"/>
          </a:p>
        </p:txBody>
      </p:sp>
      <p:sp>
        <p:nvSpPr>
          <p:cNvPr id="12" name="Text 10"/>
          <p:cNvSpPr/>
          <p:nvPr/>
        </p:nvSpPr>
        <p:spPr>
          <a:xfrm>
            <a:off x="6223000" y="1496061"/>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2019</a:t>
            </a:r>
            <a:endParaRPr lang="en-US" sz="2600" dirty="0"/>
          </a:p>
        </p:txBody>
      </p:sp>
      <p:sp>
        <p:nvSpPr>
          <p:cNvPr id="13" name="Text 11"/>
          <p:cNvSpPr/>
          <p:nvPr/>
        </p:nvSpPr>
        <p:spPr>
          <a:xfrm>
            <a:off x="6223000" y="2021841"/>
            <a:ext cx="236766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Princípios de IA da OCDE (revisados em 2024)</a:t>
            </a:r>
            <a:endParaRPr lang="en-US" sz="1300" dirty="0"/>
          </a:p>
        </p:txBody>
      </p:sp>
      <p:sp>
        <p:nvSpPr>
          <p:cNvPr id="14" name="Shape 12"/>
          <p:cNvSpPr/>
          <p:nvPr/>
        </p:nvSpPr>
        <p:spPr>
          <a:xfrm>
            <a:off x="8928100" y="1356361"/>
            <a:ext cx="2451100" cy="0"/>
          </a:xfrm>
          <a:prstGeom prst="line">
            <a:avLst/>
          </a:prstGeom>
          <a:noFill/>
          <a:ln w="50800">
            <a:solidFill>
              <a:srgbClr val="2F7D4F"/>
            </a:solidFill>
            <a:prstDash val="solid"/>
          </a:ln>
        </p:spPr>
        <p:txBody>
          <a:bodyPr/>
          <a:lstStyle/>
          <a:p>
            <a:endParaRPr lang="pt-BR"/>
          </a:p>
        </p:txBody>
      </p:sp>
      <p:sp>
        <p:nvSpPr>
          <p:cNvPr id="15" name="Text 13"/>
          <p:cNvSpPr/>
          <p:nvPr/>
        </p:nvSpPr>
        <p:spPr>
          <a:xfrm>
            <a:off x="8928100" y="1496061"/>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2021</a:t>
            </a:r>
            <a:endParaRPr lang="en-US" sz="2600" dirty="0"/>
          </a:p>
        </p:txBody>
      </p:sp>
      <p:sp>
        <p:nvSpPr>
          <p:cNvPr id="16" name="Text 14"/>
          <p:cNvSpPr/>
          <p:nvPr/>
        </p:nvSpPr>
        <p:spPr>
          <a:xfrm>
            <a:off x="8928100" y="2021841"/>
            <a:ext cx="236766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Recomendação da UNESCO sobre Ética da IA</a:t>
            </a:r>
            <a:endParaRPr lang="en-US" sz="1300" dirty="0"/>
          </a:p>
        </p:txBody>
      </p:sp>
      <p:sp>
        <p:nvSpPr>
          <p:cNvPr id="17" name="Shape 15"/>
          <p:cNvSpPr/>
          <p:nvPr/>
        </p:nvSpPr>
        <p:spPr>
          <a:xfrm>
            <a:off x="812800" y="2969895"/>
            <a:ext cx="2451100" cy="0"/>
          </a:xfrm>
          <a:prstGeom prst="line">
            <a:avLst/>
          </a:prstGeom>
          <a:noFill/>
          <a:ln w="50800">
            <a:solidFill>
              <a:srgbClr val="2F7D4F"/>
            </a:solidFill>
            <a:prstDash val="solid"/>
          </a:ln>
        </p:spPr>
        <p:txBody>
          <a:bodyPr/>
          <a:lstStyle/>
          <a:p>
            <a:endParaRPr lang="pt-BR"/>
          </a:p>
        </p:txBody>
      </p:sp>
      <p:sp>
        <p:nvSpPr>
          <p:cNvPr id="18" name="Text 16"/>
          <p:cNvSpPr/>
          <p:nvPr/>
        </p:nvSpPr>
        <p:spPr>
          <a:xfrm>
            <a:off x="812800" y="3109595"/>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2023</a:t>
            </a:r>
            <a:endParaRPr lang="en-US" sz="2600" dirty="0"/>
          </a:p>
        </p:txBody>
      </p:sp>
      <p:sp>
        <p:nvSpPr>
          <p:cNvPr id="19" name="Text 17"/>
          <p:cNvSpPr/>
          <p:nvPr/>
        </p:nvSpPr>
        <p:spPr>
          <a:xfrm>
            <a:off x="812800" y="3635375"/>
            <a:ext cx="236766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PL 2338/2023 é apresentado no Senado Federal</a:t>
            </a:r>
            <a:endParaRPr lang="en-US" sz="1300" dirty="0"/>
          </a:p>
        </p:txBody>
      </p:sp>
      <p:sp>
        <p:nvSpPr>
          <p:cNvPr id="20" name="Shape 18"/>
          <p:cNvSpPr/>
          <p:nvPr/>
        </p:nvSpPr>
        <p:spPr>
          <a:xfrm>
            <a:off x="3517900" y="2969895"/>
            <a:ext cx="2451100" cy="0"/>
          </a:xfrm>
          <a:prstGeom prst="line">
            <a:avLst/>
          </a:prstGeom>
          <a:noFill/>
          <a:ln w="50800">
            <a:solidFill>
              <a:srgbClr val="2F7D4F"/>
            </a:solidFill>
            <a:prstDash val="solid"/>
          </a:ln>
        </p:spPr>
        <p:txBody>
          <a:bodyPr/>
          <a:lstStyle/>
          <a:p>
            <a:endParaRPr lang="pt-BR"/>
          </a:p>
        </p:txBody>
      </p:sp>
      <p:sp>
        <p:nvSpPr>
          <p:cNvPr id="21" name="Text 19"/>
          <p:cNvSpPr/>
          <p:nvPr/>
        </p:nvSpPr>
        <p:spPr>
          <a:xfrm>
            <a:off x="3517900" y="3109595"/>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2024</a:t>
            </a:r>
            <a:endParaRPr lang="en-US" sz="2600" dirty="0"/>
          </a:p>
        </p:txBody>
      </p:sp>
      <p:sp>
        <p:nvSpPr>
          <p:cNvPr id="22" name="Text 20"/>
          <p:cNvSpPr/>
          <p:nvPr/>
        </p:nvSpPr>
        <p:spPr>
          <a:xfrm>
            <a:off x="3517900" y="3635375"/>
            <a:ext cx="236766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EU AI Act entra em vigor (Regulamento 2024/1689)</a:t>
            </a:r>
            <a:endParaRPr lang="en-US" sz="1300" dirty="0"/>
          </a:p>
        </p:txBody>
      </p:sp>
      <p:sp>
        <p:nvSpPr>
          <p:cNvPr id="23" name="Shape 21"/>
          <p:cNvSpPr/>
          <p:nvPr/>
        </p:nvSpPr>
        <p:spPr>
          <a:xfrm>
            <a:off x="6223000" y="2969895"/>
            <a:ext cx="2451100" cy="0"/>
          </a:xfrm>
          <a:prstGeom prst="line">
            <a:avLst/>
          </a:prstGeom>
          <a:noFill/>
          <a:ln w="50800">
            <a:solidFill>
              <a:srgbClr val="2F7D4F"/>
            </a:solidFill>
            <a:prstDash val="solid"/>
          </a:ln>
        </p:spPr>
        <p:txBody>
          <a:bodyPr/>
          <a:lstStyle/>
          <a:p>
            <a:endParaRPr lang="pt-BR"/>
          </a:p>
        </p:txBody>
      </p:sp>
      <p:sp>
        <p:nvSpPr>
          <p:cNvPr id="24" name="Text 22"/>
          <p:cNvSpPr/>
          <p:nvPr/>
        </p:nvSpPr>
        <p:spPr>
          <a:xfrm>
            <a:off x="6223000" y="3109595"/>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2025</a:t>
            </a:r>
            <a:endParaRPr lang="en-US" sz="2600" dirty="0"/>
          </a:p>
        </p:txBody>
      </p:sp>
      <p:sp>
        <p:nvSpPr>
          <p:cNvPr id="25" name="Text 23"/>
          <p:cNvSpPr/>
          <p:nvPr/>
        </p:nvSpPr>
        <p:spPr>
          <a:xfrm>
            <a:off x="6223000" y="3635375"/>
            <a:ext cx="236766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CNJ atualiza as regras de uso de IA no Judiciário</a:t>
            </a:r>
            <a:endParaRPr lang="en-US" sz="1300" dirty="0"/>
          </a:p>
        </p:txBody>
      </p:sp>
      <p:sp>
        <p:nvSpPr>
          <p:cNvPr id="26" name="Shape 24"/>
          <p:cNvSpPr/>
          <p:nvPr/>
        </p:nvSpPr>
        <p:spPr>
          <a:xfrm>
            <a:off x="8928100" y="2969895"/>
            <a:ext cx="2451100" cy="0"/>
          </a:xfrm>
          <a:prstGeom prst="line">
            <a:avLst/>
          </a:prstGeom>
          <a:noFill/>
          <a:ln w="50800">
            <a:solidFill>
              <a:srgbClr val="4A9468"/>
            </a:solidFill>
            <a:prstDash val="solid"/>
          </a:ln>
        </p:spPr>
        <p:txBody>
          <a:bodyPr/>
          <a:lstStyle/>
          <a:p>
            <a:endParaRPr lang="pt-BR"/>
          </a:p>
        </p:txBody>
      </p:sp>
      <p:sp>
        <p:nvSpPr>
          <p:cNvPr id="27" name="Text 25"/>
          <p:cNvSpPr/>
          <p:nvPr/>
        </p:nvSpPr>
        <p:spPr>
          <a:xfrm>
            <a:off x="8928100" y="3109595"/>
            <a:ext cx="2367661" cy="48768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2B3035"/>
                </a:solidFill>
                <a:latin typeface="Arial" pitchFamily="34" charset="0"/>
                <a:ea typeface="Arial" pitchFamily="34" charset="-122"/>
                <a:cs typeface="Arial" pitchFamily="34" charset="-120"/>
              </a:rPr>
              <a:t>2026</a:t>
            </a:r>
            <a:endParaRPr lang="en-US" sz="2600" dirty="0"/>
          </a:p>
        </p:txBody>
      </p:sp>
      <p:sp>
        <p:nvSpPr>
          <p:cNvPr id="28" name="Text 26"/>
          <p:cNvSpPr/>
          <p:nvPr/>
        </p:nvSpPr>
        <p:spPr>
          <a:xfrm>
            <a:off x="8928100" y="3635375"/>
            <a:ext cx="2367661"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PL 2338 aguarda votação final na Câmara dos Deputados</a:t>
            </a:r>
            <a:endParaRPr lang="en-US" sz="1300" dirty="0"/>
          </a:p>
        </p:txBody>
      </p:sp>
      <p:sp>
        <p:nvSpPr>
          <p:cNvPr id="29" name="Shape 27"/>
          <p:cNvSpPr/>
          <p:nvPr/>
        </p:nvSpPr>
        <p:spPr>
          <a:xfrm>
            <a:off x="812800" y="4284345"/>
            <a:ext cx="10566400" cy="817880"/>
          </a:xfrm>
          <a:prstGeom prst="rect">
            <a:avLst/>
          </a:prstGeom>
          <a:solidFill>
            <a:srgbClr val="2F7D4F"/>
          </a:solidFill>
          <a:ln/>
        </p:spPr>
        <p:txBody>
          <a:bodyPr/>
          <a:lstStyle/>
          <a:p>
            <a:endParaRPr lang="pt-BR"/>
          </a:p>
        </p:txBody>
      </p:sp>
      <p:sp>
        <p:nvSpPr>
          <p:cNvPr id="30" name="Text 28"/>
          <p:cNvSpPr/>
          <p:nvPr/>
        </p:nvSpPr>
        <p:spPr>
          <a:xfrm>
            <a:off x="1066800" y="4462145"/>
            <a:ext cx="1036015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5F5"/>
                </a:solidFill>
                <a:latin typeface="Arial" pitchFamily="34" charset="0"/>
                <a:ea typeface="Arial" pitchFamily="34" charset="-122"/>
                <a:cs typeface="Arial" pitchFamily="34" charset="-120"/>
              </a:rPr>
              <a:t>Note o intervalo: entre a assinatura do GDPR (2016) e a votação final do Marco Legal da IA no Brasil (ainda em 2026) são dez anos de amadurecimento regulatório, e o texto brasileiro segue em tramitação.</a:t>
            </a:r>
            <a:endParaRPr lang="en-US" sz="1300" dirty="0"/>
          </a:p>
        </p:txBody>
      </p:sp>
      <p:sp>
        <p:nvSpPr>
          <p:cNvPr id="31" name="Text 29"/>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Por que regular a inteligência artificial?</a:t>
            </a:r>
            <a:endParaRPr lang="en-US" sz="2800" dirty="0"/>
          </a:p>
        </p:txBody>
      </p:sp>
      <p:sp>
        <p:nvSpPr>
          <p:cNvPr id="4" name="Shape 2"/>
          <p:cNvSpPr/>
          <p:nvPr/>
        </p:nvSpPr>
        <p:spPr>
          <a:xfrm>
            <a:off x="812800" y="1076961"/>
            <a:ext cx="609600" cy="50800"/>
          </a:xfrm>
          <a:prstGeom prst="rect">
            <a:avLst/>
          </a:prstGeom>
          <a:solidFill>
            <a:srgbClr val="2F7D4F"/>
          </a:solidFill>
          <a:ln/>
        </p:spPr>
        <p:txBody>
          <a:bodyPr/>
          <a:lstStyle/>
          <a:p>
            <a:endParaRPr lang="pt-BR"/>
          </a:p>
        </p:txBody>
      </p:sp>
      <p:sp>
        <p:nvSpPr>
          <p:cNvPr id="5" name="Text 3"/>
          <p:cNvSpPr/>
          <p:nvPr/>
        </p:nvSpPr>
        <p:spPr>
          <a:xfrm>
            <a:off x="812800" y="1330961"/>
            <a:ext cx="10883392" cy="9093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A4147"/>
                </a:solidFill>
                <a:latin typeface="Arial" pitchFamily="34" charset="0"/>
                <a:ea typeface="Arial" pitchFamily="34" charset="-122"/>
                <a:cs typeface="Arial" pitchFamily="34" charset="-120"/>
              </a:rPr>
              <a:t>Sistemas de IA já tomam decisões com efeitos diretos sobre pessoas como crédito, emprego, saúde, justiça, mobilidade muitas vezes de forma opaca e com vieses herdados dos dados de treinamento. A autonomia dessas decisões desafia os institutos tradicionais de imputação de responsabilidade.</a:t>
            </a:r>
            <a:endParaRPr lang="en-US" sz="1600" dirty="0"/>
          </a:p>
        </p:txBody>
      </p:sp>
      <p:sp>
        <p:nvSpPr>
          <p:cNvPr id="6" name="Shape 4"/>
          <p:cNvSpPr/>
          <p:nvPr/>
        </p:nvSpPr>
        <p:spPr>
          <a:xfrm>
            <a:off x="812800" y="2980689"/>
            <a:ext cx="3285014" cy="0"/>
          </a:xfrm>
          <a:prstGeom prst="line">
            <a:avLst/>
          </a:prstGeom>
          <a:noFill/>
          <a:ln w="50800">
            <a:solidFill>
              <a:srgbClr val="2F7D4F"/>
            </a:solidFill>
            <a:prstDash val="solid"/>
          </a:ln>
        </p:spPr>
        <p:txBody>
          <a:bodyPr/>
          <a:lstStyle/>
          <a:p>
            <a:endParaRPr lang="pt-BR"/>
          </a:p>
        </p:txBody>
      </p:sp>
      <p:sp>
        <p:nvSpPr>
          <p:cNvPr id="7" name="Text 5"/>
          <p:cNvSpPr/>
          <p:nvPr/>
        </p:nvSpPr>
        <p:spPr>
          <a:xfrm>
            <a:off x="812800" y="3133089"/>
            <a:ext cx="3383564" cy="914400"/>
          </a:xfrm>
          <a:prstGeom prst="rect">
            <a:avLst/>
          </a:prstGeom>
          <a:noFill/>
          <a:ln/>
        </p:spPr>
        <p:txBody>
          <a:bodyPr wrap="square" lIns="0" tIns="0" rIns="0" bIns="0" rtlCol="0" anchor="t">
            <a:normAutofit/>
          </a:bodyPr>
          <a:lstStyle/>
          <a:p>
            <a:pPr marL="0" indent="0" algn="l">
              <a:lnSpc>
                <a:spcPts val="7000"/>
              </a:lnSpc>
              <a:buNone/>
            </a:pPr>
            <a:r>
              <a:rPr lang="en-US" sz="7000" b="1" dirty="0">
                <a:solidFill>
                  <a:srgbClr val="BFD0DC"/>
                </a:solidFill>
                <a:latin typeface="Arial" pitchFamily="34" charset="0"/>
                <a:ea typeface="Arial" pitchFamily="34" charset="-122"/>
                <a:cs typeface="Arial" pitchFamily="34" charset="-120"/>
              </a:rPr>
              <a:t>1</a:t>
            </a:r>
            <a:endParaRPr lang="en-US" sz="7000" dirty="0"/>
          </a:p>
        </p:txBody>
      </p:sp>
      <p:sp>
        <p:nvSpPr>
          <p:cNvPr id="8" name="Text 6"/>
          <p:cNvSpPr/>
          <p:nvPr/>
        </p:nvSpPr>
        <p:spPr>
          <a:xfrm>
            <a:off x="812800" y="4110989"/>
            <a:ext cx="338356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3035"/>
                </a:solidFill>
                <a:latin typeface="Arial" pitchFamily="34" charset="0"/>
                <a:ea typeface="Arial" pitchFamily="34" charset="-122"/>
                <a:cs typeface="Arial" pitchFamily="34" charset="-120"/>
              </a:rPr>
              <a:t>Sem lei geral</a:t>
            </a:r>
            <a:endParaRPr lang="en-US" sz="2000" dirty="0"/>
          </a:p>
        </p:txBody>
      </p:sp>
      <p:sp>
        <p:nvSpPr>
          <p:cNvPr id="9" name="Text 7"/>
          <p:cNvSpPr/>
          <p:nvPr/>
        </p:nvSpPr>
        <p:spPr>
          <a:xfrm>
            <a:off x="812800" y="4555489"/>
            <a:ext cx="338356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O Brasil ainda não tem uma legislação horizontal específica para IA.</a:t>
            </a:r>
            <a:endParaRPr lang="en-US" sz="1500" dirty="0"/>
          </a:p>
        </p:txBody>
      </p:sp>
      <p:sp>
        <p:nvSpPr>
          <p:cNvPr id="10" name="Shape 8"/>
          <p:cNvSpPr/>
          <p:nvPr/>
        </p:nvSpPr>
        <p:spPr>
          <a:xfrm>
            <a:off x="4453414" y="2980689"/>
            <a:ext cx="3285093" cy="0"/>
          </a:xfrm>
          <a:prstGeom prst="line">
            <a:avLst/>
          </a:prstGeom>
          <a:noFill/>
          <a:ln w="50800">
            <a:solidFill>
              <a:srgbClr val="2F7D4F"/>
            </a:solidFill>
            <a:prstDash val="solid"/>
          </a:ln>
        </p:spPr>
        <p:txBody>
          <a:bodyPr/>
          <a:lstStyle/>
          <a:p>
            <a:endParaRPr lang="pt-BR"/>
          </a:p>
        </p:txBody>
      </p:sp>
      <p:sp>
        <p:nvSpPr>
          <p:cNvPr id="11" name="Text 9"/>
          <p:cNvSpPr/>
          <p:nvPr/>
        </p:nvSpPr>
        <p:spPr>
          <a:xfrm>
            <a:off x="4453414" y="3133089"/>
            <a:ext cx="3383646" cy="914400"/>
          </a:xfrm>
          <a:prstGeom prst="rect">
            <a:avLst/>
          </a:prstGeom>
          <a:noFill/>
          <a:ln/>
        </p:spPr>
        <p:txBody>
          <a:bodyPr wrap="square" lIns="0" tIns="0" rIns="0" bIns="0" rtlCol="0" anchor="t">
            <a:normAutofit/>
          </a:bodyPr>
          <a:lstStyle/>
          <a:p>
            <a:pPr marL="0" indent="0" algn="l">
              <a:lnSpc>
                <a:spcPts val="7000"/>
              </a:lnSpc>
              <a:buNone/>
            </a:pPr>
            <a:r>
              <a:rPr lang="en-US" sz="7000" b="1" dirty="0">
                <a:solidFill>
                  <a:srgbClr val="BFD0DC"/>
                </a:solidFill>
                <a:latin typeface="Arial" pitchFamily="34" charset="0"/>
                <a:ea typeface="Arial" pitchFamily="34" charset="-122"/>
                <a:cs typeface="Arial" pitchFamily="34" charset="-120"/>
              </a:rPr>
              <a:t>2</a:t>
            </a:r>
            <a:endParaRPr lang="en-US" sz="7000" dirty="0"/>
          </a:p>
        </p:txBody>
      </p:sp>
      <p:sp>
        <p:nvSpPr>
          <p:cNvPr id="12" name="Text 10"/>
          <p:cNvSpPr/>
          <p:nvPr/>
        </p:nvSpPr>
        <p:spPr>
          <a:xfrm>
            <a:off x="4453414" y="4110989"/>
            <a:ext cx="338364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3035"/>
                </a:solidFill>
                <a:latin typeface="Arial" pitchFamily="34" charset="0"/>
                <a:ea typeface="Arial" pitchFamily="34" charset="-122"/>
                <a:cs typeface="Arial" pitchFamily="34" charset="-120"/>
              </a:rPr>
              <a:t>LGPD é parcial</a:t>
            </a:r>
            <a:endParaRPr lang="en-US" sz="2000" dirty="0"/>
          </a:p>
        </p:txBody>
      </p:sp>
      <p:sp>
        <p:nvSpPr>
          <p:cNvPr id="13" name="Text 11"/>
          <p:cNvSpPr/>
          <p:nvPr/>
        </p:nvSpPr>
        <p:spPr>
          <a:xfrm>
            <a:off x="4453414" y="4555489"/>
            <a:ext cx="33836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O art. 20 da LGPD só protege quando há tratamento de dados pessoais.</a:t>
            </a:r>
            <a:endParaRPr lang="en-US" sz="1500" dirty="0"/>
          </a:p>
        </p:txBody>
      </p:sp>
      <p:sp>
        <p:nvSpPr>
          <p:cNvPr id="14" name="Shape 12"/>
          <p:cNvSpPr/>
          <p:nvPr/>
        </p:nvSpPr>
        <p:spPr>
          <a:xfrm>
            <a:off x="8094107" y="2980689"/>
            <a:ext cx="3285093" cy="0"/>
          </a:xfrm>
          <a:prstGeom prst="line">
            <a:avLst/>
          </a:prstGeom>
          <a:noFill/>
          <a:ln w="50800">
            <a:solidFill>
              <a:srgbClr val="2F7D4F"/>
            </a:solidFill>
            <a:prstDash val="solid"/>
          </a:ln>
        </p:spPr>
        <p:txBody>
          <a:bodyPr/>
          <a:lstStyle/>
          <a:p>
            <a:endParaRPr lang="pt-BR"/>
          </a:p>
        </p:txBody>
      </p:sp>
      <p:sp>
        <p:nvSpPr>
          <p:cNvPr id="15" name="Text 13"/>
          <p:cNvSpPr/>
          <p:nvPr/>
        </p:nvSpPr>
        <p:spPr>
          <a:xfrm>
            <a:off x="8094107" y="3133089"/>
            <a:ext cx="3383646" cy="914400"/>
          </a:xfrm>
          <a:prstGeom prst="rect">
            <a:avLst/>
          </a:prstGeom>
          <a:noFill/>
          <a:ln/>
        </p:spPr>
        <p:txBody>
          <a:bodyPr wrap="square" lIns="0" tIns="0" rIns="0" bIns="0" rtlCol="0" anchor="t">
            <a:normAutofit/>
          </a:bodyPr>
          <a:lstStyle/>
          <a:p>
            <a:pPr marL="0" indent="0" algn="l">
              <a:lnSpc>
                <a:spcPts val="7000"/>
              </a:lnSpc>
              <a:buNone/>
            </a:pPr>
            <a:r>
              <a:rPr lang="en-US" sz="7000" b="1" dirty="0">
                <a:solidFill>
                  <a:srgbClr val="BFD0DC"/>
                </a:solidFill>
                <a:latin typeface="Arial" pitchFamily="34" charset="0"/>
                <a:ea typeface="Arial" pitchFamily="34" charset="-122"/>
                <a:cs typeface="Arial" pitchFamily="34" charset="-120"/>
              </a:rPr>
              <a:t>3</a:t>
            </a:r>
            <a:endParaRPr lang="en-US" sz="7000" dirty="0"/>
          </a:p>
        </p:txBody>
      </p:sp>
      <p:sp>
        <p:nvSpPr>
          <p:cNvPr id="16" name="Text 14"/>
          <p:cNvSpPr/>
          <p:nvPr/>
        </p:nvSpPr>
        <p:spPr>
          <a:xfrm>
            <a:off x="8094107" y="4110989"/>
            <a:ext cx="338364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3035"/>
                </a:solidFill>
                <a:latin typeface="Arial" pitchFamily="34" charset="0"/>
                <a:ea typeface="Arial" pitchFamily="34" charset="-122"/>
                <a:cs typeface="Arial" pitchFamily="34" charset="-120"/>
              </a:rPr>
              <a:t>CC e CDC insuficientes</a:t>
            </a:r>
            <a:endParaRPr lang="en-US" sz="2000" dirty="0"/>
          </a:p>
        </p:txBody>
      </p:sp>
      <p:sp>
        <p:nvSpPr>
          <p:cNvPr id="17" name="Text 15"/>
          <p:cNvSpPr/>
          <p:nvPr/>
        </p:nvSpPr>
        <p:spPr>
          <a:xfrm>
            <a:off x="8094107" y="4555489"/>
            <a:ext cx="338364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Regras gerais de culpa e de defeito do produto não foram pensadas para sistemas autônomos e opacos.</a:t>
            </a:r>
            <a:endParaRPr lang="en-US" sz="15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75184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2B3035"/>
                </a:solidFill>
                <a:latin typeface="Arial" pitchFamily="34" charset="0"/>
                <a:ea typeface="Arial" pitchFamily="34" charset="-122"/>
                <a:cs typeface="Arial" pitchFamily="34" charset="-120"/>
              </a:rPr>
              <a:t>Princípios de transparência, explicabilidade e responsabilidade</a:t>
            </a:r>
            <a:endParaRPr lang="en-US" sz="2600" dirty="0"/>
          </a:p>
        </p:txBody>
      </p:sp>
      <p:sp>
        <p:nvSpPr>
          <p:cNvPr id="4" name="Shape 2"/>
          <p:cNvSpPr/>
          <p:nvPr/>
        </p:nvSpPr>
        <p:spPr>
          <a:xfrm>
            <a:off x="812800" y="1412239"/>
            <a:ext cx="609600" cy="50800"/>
          </a:xfrm>
          <a:prstGeom prst="rect">
            <a:avLst/>
          </a:prstGeom>
          <a:solidFill>
            <a:srgbClr val="2F7D4F"/>
          </a:solidFill>
          <a:ln/>
        </p:spPr>
        <p:txBody>
          <a:bodyPr/>
          <a:lstStyle/>
          <a:p>
            <a:endParaRPr lang="pt-BR"/>
          </a:p>
        </p:txBody>
      </p:sp>
      <p:sp>
        <p:nvSpPr>
          <p:cNvPr id="5" name="Shape 3"/>
          <p:cNvSpPr/>
          <p:nvPr/>
        </p:nvSpPr>
        <p:spPr>
          <a:xfrm>
            <a:off x="853033" y="1672589"/>
            <a:ext cx="3390831" cy="3132676"/>
          </a:xfrm>
          <a:prstGeom prst="rect">
            <a:avLst/>
          </a:prstGeom>
          <a:solidFill>
            <a:srgbClr val="FFFFFF"/>
          </a:solidFill>
          <a:ln w="12700">
            <a:solidFill>
              <a:srgbClr val="D5D9DC"/>
            </a:solidFill>
            <a:prstDash val="solid"/>
          </a:ln>
        </p:spPr>
        <p:txBody>
          <a:bodyPr/>
          <a:lstStyle/>
          <a:p>
            <a:endParaRPr lang="pt-BR"/>
          </a:p>
        </p:txBody>
      </p:sp>
      <p:sp>
        <p:nvSpPr>
          <p:cNvPr id="6" name="Shape 4"/>
          <p:cNvSpPr/>
          <p:nvPr/>
        </p:nvSpPr>
        <p:spPr>
          <a:xfrm>
            <a:off x="1102360" y="1955800"/>
            <a:ext cx="660400" cy="660400"/>
          </a:xfrm>
          <a:prstGeom prst="roundRect">
            <a:avLst>
              <a:gd name="adj" fmla="val 50000"/>
            </a:avLst>
          </a:prstGeom>
          <a:solidFill>
            <a:srgbClr val="2F7D4F"/>
          </a:solidFill>
          <a:ln/>
        </p:spPr>
        <p:txBody>
          <a:bodyPr/>
          <a:lstStyle/>
          <a:p>
            <a:endParaRPr lang="pt-BR"/>
          </a:p>
        </p:txBody>
      </p:sp>
      <p:pic>
        <p:nvPicPr>
          <p:cNvPr id="7" name="Image 0" descr="Search"/>
          <p:cNvPicPr>
            <a:picLocks noChangeAspect="1"/>
          </p:cNvPicPr>
          <p:nvPr/>
        </p:nvPicPr>
        <p:blipFill>
          <a:blip r:embed="rId3"/>
          <a:srcRect/>
          <a:stretch/>
        </p:blipFill>
        <p:spPr>
          <a:xfrm>
            <a:off x="1267460" y="2120900"/>
            <a:ext cx="330200" cy="330200"/>
          </a:xfrm>
          <a:prstGeom prst="rect">
            <a:avLst/>
          </a:prstGeom>
        </p:spPr>
      </p:pic>
      <p:sp>
        <p:nvSpPr>
          <p:cNvPr id="8" name="Text 5"/>
          <p:cNvSpPr/>
          <p:nvPr/>
        </p:nvSpPr>
        <p:spPr>
          <a:xfrm>
            <a:off x="1102360" y="2755900"/>
            <a:ext cx="2891719" cy="25400"/>
          </a:xfrm>
          <a:prstGeom prst="rect">
            <a:avLst/>
          </a:prstGeom>
          <a:noFill/>
          <a:ln/>
        </p:spPr>
        <p:txBody>
          <a:bodyPr wrap="square" lIns="0" tIns="0" rIns="0" bIns="0" rtlCol="0" anchor="t">
            <a:normAutofit/>
          </a:bodyPr>
          <a:lstStyle/>
          <a:p>
            <a:pPr marL="0" indent="0" algn="l">
              <a:lnSpc>
                <a:spcPts val="1311"/>
              </a:lnSpc>
              <a:buNone/>
            </a:pPr>
            <a:r>
              <a:rPr lang="en-US" sz="1140" b="1" dirty="0">
                <a:solidFill>
                  <a:srgbClr val="2B3035"/>
                </a:solidFill>
                <a:latin typeface="Arial" pitchFamily="34" charset="0"/>
                <a:ea typeface="Arial" pitchFamily="34" charset="-122"/>
                <a:cs typeface="Arial" pitchFamily="34" charset="-120"/>
              </a:rPr>
              <a:t>Transparência</a:t>
            </a:r>
            <a:endParaRPr lang="en-US" sz="1140" dirty="0"/>
          </a:p>
        </p:txBody>
      </p:sp>
      <p:sp>
        <p:nvSpPr>
          <p:cNvPr id="9" name="Text 6"/>
          <p:cNvSpPr/>
          <p:nvPr/>
        </p:nvSpPr>
        <p:spPr>
          <a:xfrm>
            <a:off x="1102360" y="2971283"/>
            <a:ext cx="2891719" cy="1105418"/>
          </a:xfrm>
          <a:prstGeom prst="rect">
            <a:avLst/>
          </a:prstGeom>
          <a:noFill/>
          <a:ln/>
        </p:spPr>
        <p:txBody>
          <a:bodyPr wrap="square" lIns="0" tIns="0" rIns="0" bIns="0" rtlCol="0" anchor="t">
            <a:normAutofit/>
          </a:bodyPr>
          <a:lstStyle/>
          <a:p>
            <a:pPr marL="0" indent="0" algn="l">
              <a:lnSpc>
                <a:spcPts val="1053"/>
              </a:lnSpc>
              <a:buNone/>
            </a:pPr>
            <a:r>
              <a:rPr lang="en-US" sz="1400" dirty="0">
                <a:solidFill>
                  <a:srgbClr val="3A4147"/>
                </a:solidFill>
                <a:latin typeface="Arial" pitchFamily="34" charset="0"/>
                <a:ea typeface="Arial" pitchFamily="34" charset="-122"/>
                <a:cs typeface="Arial" pitchFamily="34" charset="-120"/>
              </a:rPr>
              <a:t>O titular deve poder saber que uma decisão foi tomada por um sistema automatizado, e não apenas presumir isso. Princípio de transparência da Recomendação da OCDE sobre IA (2019, rev. 2024).</a:t>
            </a:r>
            <a:endParaRPr lang="en-US" sz="1400" dirty="0"/>
          </a:p>
        </p:txBody>
      </p:sp>
      <p:sp>
        <p:nvSpPr>
          <p:cNvPr id="10" name="Shape 7"/>
          <p:cNvSpPr/>
          <p:nvPr/>
        </p:nvSpPr>
        <p:spPr>
          <a:xfrm>
            <a:off x="4408964" y="1672589"/>
            <a:ext cx="3573058" cy="3132676"/>
          </a:xfrm>
          <a:prstGeom prst="rect">
            <a:avLst/>
          </a:prstGeom>
          <a:solidFill>
            <a:srgbClr val="E6E9EB"/>
          </a:solidFill>
          <a:ln w="12700">
            <a:solidFill>
              <a:srgbClr val="E6E9EB"/>
            </a:solidFill>
            <a:prstDash val="solid"/>
          </a:ln>
        </p:spPr>
        <p:txBody>
          <a:bodyPr/>
          <a:lstStyle/>
          <a:p>
            <a:endParaRPr lang="pt-BR"/>
          </a:p>
        </p:txBody>
      </p:sp>
      <p:sp>
        <p:nvSpPr>
          <p:cNvPr id="11" name="Shape 8"/>
          <p:cNvSpPr/>
          <p:nvPr/>
        </p:nvSpPr>
        <p:spPr>
          <a:xfrm>
            <a:off x="4692174" y="1955800"/>
            <a:ext cx="660400" cy="660400"/>
          </a:xfrm>
          <a:prstGeom prst="roundRect">
            <a:avLst>
              <a:gd name="adj" fmla="val 50000"/>
            </a:avLst>
          </a:prstGeom>
          <a:solidFill>
            <a:srgbClr val="2F7D4F"/>
          </a:solidFill>
          <a:ln/>
        </p:spPr>
        <p:txBody>
          <a:bodyPr/>
          <a:lstStyle/>
          <a:p>
            <a:endParaRPr lang="pt-BR"/>
          </a:p>
        </p:txBody>
      </p:sp>
      <p:pic>
        <p:nvPicPr>
          <p:cNvPr id="12" name="Image 1" descr="Lightbulb"/>
          <p:cNvPicPr>
            <a:picLocks noChangeAspect="1"/>
          </p:cNvPicPr>
          <p:nvPr/>
        </p:nvPicPr>
        <p:blipFill>
          <a:blip r:embed="rId4"/>
          <a:srcRect/>
          <a:stretch/>
        </p:blipFill>
        <p:spPr>
          <a:xfrm>
            <a:off x="4857274" y="2120900"/>
            <a:ext cx="330200" cy="330200"/>
          </a:xfrm>
          <a:prstGeom prst="rect">
            <a:avLst/>
          </a:prstGeom>
        </p:spPr>
      </p:pic>
      <p:sp>
        <p:nvSpPr>
          <p:cNvPr id="13" name="Text 9"/>
          <p:cNvSpPr/>
          <p:nvPr/>
        </p:nvSpPr>
        <p:spPr>
          <a:xfrm>
            <a:off x="4692174" y="2755900"/>
            <a:ext cx="2891800" cy="25400"/>
          </a:xfrm>
          <a:prstGeom prst="rect">
            <a:avLst/>
          </a:prstGeom>
          <a:noFill/>
          <a:ln/>
        </p:spPr>
        <p:txBody>
          <a:bodyPr wrap="square" lIns="0" tIns="0" rIns="0" bIns="0" rtlCol="0" anchor="t">
            <a:normAutofit/>
          </a:bodyPr>
          <a:lstStyle/>
          <a:p>
            <a:pPr marL="0" indent="0" algn="l">
              <a:lnSpc>
                <a:spcPts val="1311"/>
              </a:lnSpc>
              <a:buNone/>
            </a:pPr>
            <a:r>
              <a:rPr lang="en-US" sz="1140" b="1" dirty="0">
                <a:solidFill>
                  <a:srgbClr val="2B3035"/>
                </a:solidFill>
                <a:latin typeface="Arial" pitchFamily="34" charset="0"/>
                <a:ea typeface="Arial" pitchFamily="34" charset="-122"/>
                <a:cs typeface="Arial" pitchFamily="34" charset="-120"/>
              </a:rPr>
              <a:t>Explicabilidade</a:t>
            </a:r>
            <a:endParaRPr lang="en-US" sz="1140" dirty="0"/>
          </a:p>
        </p:txBody>
      </p:sp>
      <p:sp>
        <p:nvSpPr>
          <p:cNvPr id="14" name="Text 10"/>
          <p:cNvSpPr/>
          <p:nvPr/>
        </p:nvSpPr>
        <p:spPr>
          <a:xfrm>
            <a:off x="4692174" y="3278257"/>
            <a:ext cx="2891800" cy="932440"/>
          </a:xfrm>
          <a:prstGeom prst="rect">
            <a:avLst/>
          </a:prstGeom>
          <a:noFill/>
          <a:ln/>
        </p:spPr>
        <p:txBody>
          <a:bodyPr wrap="square" lIns="0" tIns="0" rIns="0" bIns="0" rtlCol="0" anchor="t">
            <a:normAutofit/>
          </a:bodyPr>
          <a:lstStyle/>
          <a:p>
            <a:pPr marL="0" indent="0" algn="l">
              <a:lnSpc>
                <a:spcPts val="1053"/>
              </a:lnSpc>
              <a:buNone/>
            </a:pPr>
            <a:r>
              <a:rPr lang="en-US" sz="1100" dirty="0">
                <a:solidFill>
                  <a:srgbClr val="3A4147"/>
                </a:solidFill>
                <a:latin typeface="Arial" pitchFamily="34" charset="0"/>
                <a:ea typeface="Arial" pitchFamily="34" charset="-122"/>
                <a:cs typeface="Arial" pitchFamily="34" charset="-120"/>
              </a:rPr>
              <a:t>Capacidade de traduzir em linguagem compreensível os critérios e a lógica geral de um resultado, mesmo quando o modelo técnico não é totalmente interpretável. Também consta na Recomendação da UNESCO sobre a Ética da IA (2021).</a:t>
            </a:r>
            <a:endParaRPr lang="en-US" sz="1100" dirty="0"/>
          </a:p>
        </p:txBody>
      </p:sp>
      <p:sp>
        <p:nvSpPr>
          <p:cNvPr id="15" name="Shape 11"/>
          <p:cNvSpPr/>
          <p:nvPr/>
        </p:nvSpPr>
        <p:spPr>
          <a:xfrm>
            <a:off x="7998857" y="1672589"/>
            <a:ext cx="3373993" cy="3132676"/>
          </a:xfrm>
          <a:prstGeom prst="rect">
            <a:avLst/>
          </a:prstGeom>
          <a:solidFill>
            <a:srgbClr val="2F7D4F"/>
          </a:solidFill>
          <a:ln w="12700">
            <a:solidFill>
              <a:srgbClr val="2F7D4F"/>
            </a:solidFill>
            <a:prstDash val="solid"/>
          </a:ln>
        </p:spPr>
        <p:txBody>
          <a:bodyPr/>
          <a:lstStyle/>
          <a:p>
            <a:endParaRPr lang="pt-BR"/>
          </a:p>
        </p:txBody>
      </p:sp>
      <p:sp>
        <p:nvSpPr>
          <p:cNvPr id="16" name="Shape 12"/>
          <p:cNvSpPr/>
          <p:nvPr/>
        </p:nvSpPr>
        <p:spPr>
          <a:xfrm>
            <a:off x="8282067" y="1955800"/>
            <a:ext cx="660400" cy="660400"/>
          </a:xfrm>
          <a:prstGeom prst="roundRect">
            <a:avLst>
              <a:gd name="adj" fmla="val 50000"/>
            </a:avLst>
          </a:prstGeom>
          <a:solidFill>
            <a:srgbClr val="FFFFFF"/>
          </a:solidFill>
          <a:ln/>
        </p:spPr>
        <p:txBody>
          <a:bodyPr/>
          <a:lstStyle/>
          <a:p>
            <a:endParaRPr lang="pt-BR"/>
          </a:p>
        </p:txBody>
      </p:sp>
      <p:pic>
        <p:nvPicPr>
          <p:cNvPr id="17" name="Image 2" descr="Trust"/>
          <p:cNvPicPr>
            <a:picLocks noChangeAspect="1"/>
          </p:cNvPicPr>
          <p:nvPr/>
        </p:nvPicPr>
        <p:blipFill>
          <a:blip r:embed="rId5"/>
          <a:srcRect/>
          <a:stretch/>
        </p:blipFill>
        <p:spPr>
          <a:xfrm>
            <a:off x="8447167" y="2120900"/>
            <a:ext cx="330200" cy="330200"/>
          </a:xfrm>
          <a:prstGeom prst="rect">
            <a:avLst/>
          </a:prstGeom>
        </p:spPr>
      </p:pic>
      <p:sp>
        <p:nvSpPr>
          <p:cNvPr id="18" name="Text 13"/>
          <p:cNvSpPr/>
          <p:nvPr/>
        </p:nvSpPr>
        <p:spPr>
          <a:xfrm>
            <a:off x="8282067" y="2755900"/>
            <a:ext cx="2891800" cy="25400"/>
          </a:xfrm>
          <a:prstGeom prst="rect">
            <a:avLst/>
          </a:prstGeom>
          <a:noFill/>
          <a:ln/>
        </p:spPr>
        <p:txBody>
          <a:bodyPr wrap="square" lIns="0" tIns="0" rIns="0" bIns="0" rtlCol="0" anchor="t">
            <a:normAutofit/>
          </a:bodyPr>
          <a:lstStyle/>
          <a:p>
            <a:pPr marL="0" indent="0" algn="l">
              <a:lnSpc>
                <a:spcPts val="1311"/>
              </a:lnSpc>
              <a:buNone/>
            </a:pPr>
            <a:r>
              <a:rPr lang="en-US" sz="1140" b="1" dirty="0">
                <a:solidFill>
                  <a:srgbClr val="FFFFFF"/>
                </a:solidFill>
                <a:latin typeface="Arial" pitchFamily="34" charset="0"/>
                <a:ea typeface="Arial" pitchFamily="34" charset="-122"/>
                <a:cs typeface="Arial" pitchFamily="34" charset="-120"/>
              </a:rPr>
              <a:t>Responsabilidade</a:t>
            </a:r>
            <a:endParaRPr lang="en-US" sz="1140" dirty="0"/>
          </a:p>
        </p:txBody>
      </p:sp>
      <p:sp>
        <p:nvSpPr>
          <p:cNvPr id="19" name="Text 14"/>
          <p:cNvSpPr/>
          <p:nvPr/>
        </p:nvSpPr>
        <p:spPr>
          <a:xfrm>
            <a:off x="8282066" y="3319986"/>
            <a:ext cx="3090783" cy="1093393"/>
          </a:xfrm>
          <a:prstGeom prst="rect">
            <a:avLst/>
          </a:prstGeom>
          <a:noFill/>
          <a:ln/>
        </p:spPr>
        <p:txBody>
          <a:bodyPr wrap="square" lIns="0" tIns="0" rIns="0" bIns="0" rtlCol="0" anchor="t">
            <a:normAutofit/>
          </a:bodyPr>
          <a:lstStyle/>
          <a:p>
            <a:pPr marL="0" indent="0" algn="l">
              <a:lnSpc>
                <a:spcPts val="1053"/>
              </a:lnSpc>
              <a:buNone/>
            </a:pPr>
            <a:r>
              <a:rPr lang="en-US" sz="1050" dirty="0">
                <a:solidFill>
                  <a:srgbClr val="E6F3EC"/>
                </a:solidFill>
                <a:latin typeface="Arial" pitchFamily="34" charset="0"/>
                <a:ea typeface="Arial" pitchFamily="34" charset="-122"/>
                <a:cs typeface="Arial" pitchFamily="34" charset="-120"/>
              </a:rPr>
              <a:t>Existência de mecanismos que permitam identificar quem responde pelo funcionamento do sistema e reparar eventuais danos. Corresponde ao princípio de accountability da OCDE.</a:t>
            </a:r>
            <a:endParaRPr lang="en-US" sz="1050" dirty="0"/>
          </a:p>
        </p:txBody>
      </p:sp>
      <p:sp>
        <p:nvSpPr>
          <p:cNvPr id="20" name="Text 15"/>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A porta de entrada: princípios da LGPD</a:t>
            </a:r>
            <a:endParaRPr lang="en-US" sz="2800" dirty="0"/>
          </a:p>
        </p:txBody>
      </p:sp>
      <p:sp>
        <p:nvSpPr>
          <p:cNvPr id="4" name="Shape 2"/>
          <p:cNvSpPr/>
          <p:nvPr/>
        </p:nvSpPr>
        <p:spPr>
          <a:xfrm>
            <a:off x="812800" y="1076961"/>
            <a:ext cx="609600" cy="50800"/>
          </a:xfrm>
          <a:prstGeom prst="rect">
            <a:avLst/>
          </a:prstGeom>
          <a:solidFill>
            <a:srgbClr val="2F7D4F"/>
          </a:solidFill>
          <a:ln/>
        </p:spPr>
        <p:txBody>
          <a:bodyPr/>
          <a:lstStyle/>
          <a:p>
            <a:endParaRPr lang="pt-BR"/>
          </a:p>
        </p:txBody>
      </p:sp>
      <p:sp>
        <p:nvSpPr>
          <p:cNvPr id="5" name="Shape 3"/>
          <p:cNvSpPr/>
          <p:nvPr/>
        </p:nvSpPr>
        <p:spPr>
          <a:xfrm>
            <a:off x="812800" y="1330961"/>
            <a:ext cx="2540000" cy="2766060"/>
          </a:xfrm>
          <a:prstGeom prst="rect">
            <a:avLst/>
          </a:prstGeom>
          <a:solidFill>
            <a:srgbClr val="2F7D4F"/>
          </a:solidFill>
          <a:ln/>
        </p:spPr>
        <p:txBody>
          <a:bodyPr/>
          <a:lstStyle/>
          <a:p>
            <a:endParaRPr lang="pt-BR"/>
          </a:p>
        </p:txBody>
      </p:sp>
      <p:pic>
        <p:nvPicPr>
          <p:cNvPr id="6" name="Image 0" descr="Balança da justiça"/>
          <p:cNvPicPr>
            <a:picLocks noChangeAspect="1"/>
          </p:cNvPicPr>
          <p:nvPr/>
        </p:nvPicPr>
        <p:blipFill>
          <a:blip r:embed="rId3"/>
          <a:srcRect/>
          <a:stretch/>
        </p:blipFill>
        <p:spPr>
          <a:xfrm>
            <a:off x="1257300" y="1888489"/>
            <a:ext cx="1651000" cy="1651000"/>
          </a:xfrm>
          <a:prstGeom prst="rect">
            <a:avLst/>
          </a:prstGeom>
        </p:spPr>
      </p:pic>
      <p:sp>
        <p:nvSpPr>
          <p:cNvPr id="7" name="Shape 4"/>
          <p:cNvSpPr/>
          <p:nvPr/>
        </p:nvSpPr>
        <p:spPr>
          <a:xfrm>
            <a:off x="3359150" y="1337311"/>
            <a:ext cx="8013700" cy="2753360"/>
          </a:xfrm>
          <a:prstGeom prst="rect">
            <a:avLst/>
          </a:prstGeom>
          <a:solidFill>
            <a:srgbClr val="FFFFFF"/>
          </a:solidFill>
          <a:ln w="12700">
            <a:solidFill>
              <a:srgbClr val="D5D9DC"/>
            </a:solidFill>
            <a:prstDash val="solid"/>
          </a:ln>
        </p:spPr>
        <p:txBody>
          <a:bodyPr/>
          <a:lstStyle/>
          <a:p>
            <a:endParaRPr lang="pt-BR"/>
          </a:p>
        </p:txBody>
      </p:sp>
      <p:sp>
        <p:nvSpPr>
          <p:cNvPr id="8" name="Text 5"/>
          <p:cNvSpPr/>
          <p:nvPr/>
        </p:nvSpPr>
        <p:spPr>
          <a:xfrm>
            <a:off x="3667760" y="1620521"/>
            <a:ext cx="7618375"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3035"/>
                </a:solidFill>
                <a:latin typeface="Arial" pitchFamily="34" charset="0"/>
                <a:ea typeface="Arial" pitchFamily="34" charset="-122"/>
                <a:cs typeface="Arial" pitchFamily="34" charset="-120"/>
              </a:rPr>
              <a:t>LEI Nº 13.709/2018 (LGPD) · ART. 6º, INCISOS VI E IX</a:t>
            </a:r>
            <a:endParaRPr lang="en-US" sz="1300" dirty="0"/>
          </a:p>
        </p:txBody>
      </p:sp>
      <p:sp>
        <p:nvSpPr>
          <p:cNvPr id="9" name="Shape 6"/>
          <p:cNvSpPr/>
          <p:nvPr/>
        </p:nvSpPr>
        <p:spPr>
          <a:xfrm>
            <a:off x="3667760" y="2004061"/>
            <a:ext cx="7396480" cy="25400"/>
          </a:xfrm>
          <a:prstGeom prst="rect">
            <a:avLst/>
          </a:prstGeom>
          <a:solidFill>
            <a:srgbClr val="2F7D4F"/>
          </a:solidFill>
          <a:ln/>
        </p:spPr>
        <p:txBody>
          <a:bodyPr/>
          <a:lstStyle/>
          <a:p>
            <a:endParaRPr lang="pt-BR"/>
          </a:p>
        </p:txBody>
      </p:sp>
      <p:sp>
        <p:nvSpPr>
          <p:cNvPr id="10" name="Text 7"/>
          <p:cNvSpPr/>
          <p:nvPr/>
        </p:nvSpPr>
        <p:spPr>
          <a:xfrm>
            <a:off x="3667760" y="2181861"/>
            <a:ext cx="7618375" cy="909320"/>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3A4147"/>
                </a:solidFill>
                <a:latin typeface="Arial" pitchFamily="34" charset="0"/>
                <a:ea typeface="Arial" pitchFamily="34" charset="-122"/>
                <a:cs typeface="Arial" pitchFamily="34" charset="-120"/>
              </a:rPr>
              <a:t>VI.</a:t>
            </a:r>
            <a:r>
              <a:rPr lang="en-US" sz="1600" dirty="0">
                <a:solidFill>
                  <a:srgbClr val="3A4147"/>
                </a:solidFill>
                <a:latin typeface="Arial" pitchFamily="34" charset="0"/>
                <a:ea typeface="Arial" pitchFamily="34" charset="-122"/>
                <a:cs typeface="Arial" pitchFamily="34" charset="-120"/>
              </a:rPr>
              <a:t>  transparência: garantia, aos titulares, de informações claras, precisas e facilmente acessíveis sobre a realização do tratamento e os respectivos agentes de tratamento [...];</a:t>
            </a:r>
            <a:endParaRPr lang="en-US" sz="1600" dirty="0"/>
          </a:p>
        </p:txBody>
      </p:sp>
      <p:sp>
        <p:nvSpPr>
          <p:cNvPr id="11" name="Text 8"/>
          <p:cNvSpPr/>
          <p:nvPr/>
        </p:nvSpPr>
        <p:spPr>
          <a:xfrm>
            <a:off x="3667760" y="3218182"/>
            <a:ext cx="7618375" cy="614680"/>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3A4147"/>
                </a:solidFill>
                <a:latin typeface="Arial" pitchFamily="34" charset="0"/>
                <a:ea typeface="Arial" pitchFamily="34" charset="-122"/>
                <a:cs typeface="Arial" pitchFamily="34" charset="-120"/>
              </a:rPr>
              <a:t>IX.</a:t>
            </a:r>
            <a:r>
              <a:rPr lang="en-US" sz="1600" dirty="0">
                <a:solidFill>
                  <a:srgbClr val="3A4147"/>
                </a:solidFill>
                <a:latin typeface="Arial" pitchFamily="34" charset="0"/>
                <a:ea typeface="Arial" pitchFamily="34" charset="-122"/>
                <a:cs typeface="Arial" pitchFamily="34" charset="-120"/>
              </a:rPr>
              <a:t>  não discriminação: impossibilidade de realização do tratamento para fins discriminatórios ilícitos ou abusivos.</a:t>
            </a:r>
            <a:endParaRPr lang="en-US" sz="1600" dirty="0"/>
          </a:p>
        </p:txBody>
      </p:sp>
      <p:sp>
        <p:nvSpPr>
          <p:cNvPr id="12" name="Shape 9"/>
          <p:cNvSpPr/>
          <p:nvPr/>
        </p:nvSpPr>
        <p:spPr>
          <a:xfrm>
            <a:off x="838200" y="4300221"/>
            <a:ext cx="0" cy="574040"/>
          </a:xfrm>
          <a:prstGeom prst="line">
            <a:avLst/>
          </a:prstGeom>
          <a:noFill/>
          <a:ln w="50800">
            <a:solidFill>
              <a:srgbClr val="2F7D4F"/>
            </a:solidFill>
            <a:prstDash val="solid"/>
          </a:ln>
        </p:spPr>
        <p:txBody>
          <a:bodyPr/>
          <a:lstStyle/>
          <a:p>
            <a:endParaRPr lang="pt-BR"/>
          </a:p>
        </p:txBody>
      </p:sp>
      <p:sp>
        <p:nvSpPr>
          <p:cNvPr id="13" name="Text 10"/>
          <p:cNvSpPr/>
          <p:nvPr/>
        </p:nvSpPr>
        <p:spPr>
          <a:xfrm>
            <a:off x="1016000" y="4338321"/>
            <a:ext cx="10674096" cy="52324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A4147"/>
                </a:solidFill>
                <a:latin typeface="Arial" pitchFamily="34" charset="0"/>
                <a:ea typeface="Arial" pitchFamily="34" charset="-122"/>
                <a:cs typeface="Arial" pitchFamily="34" charset="-120"/>
              </a:rPr>
              <a:t>Esses dois incisos do art. 6º da LGPD são a porta de entrada para discutir juridicamente qualquer sistema de IA que trate dados pessoais no Brasil, antes mesmo de chegar ao art. 20.</a:t>
            </a:r>
            <a:endParaRPr lang="en-US" sz="1400" dirty="0"/>
          </a:p>
        </p:txBody>
      </p:sp>
      <p:sp>
        <p:nvSpPr>
          <p:cNvPr id="14" name="Text 11"/>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O direito de revisão de decisões automatizadas</a:t>
            </a:r>
            <a:endParaRPr lang="en-US" sz="2800" dirty="0"/>
          </a:p>
        </p:txBody>
      </p:sp>
      <p:sp>
        <p:nvSpPr>
          <p:cNvPr id="4" name="Shape 2"/>
          <p:cNvSpPr/>
          <p:nvPr/>
        </p:nvSpPr>
        <p:spPr>
          <a:xfrm>
            <a:off x="812800" y="1076961"/>
            <a:ext cx="609600" cy="50800"/>
          </a:xfrm>
          <a:prstGeom prst="rect">
            <a:avLst/>
          </a:prstGeom>
          <a:solidFill>
            <a:srgbClr val="2F7D4F"/>
          </a:solidFill>
          <a:ln/>
        </p:spPr>
        <p:txBody>
          <a:bodyPr/>
          <a:lstStyle/>
          <a:p>
            <a:endParaRPr lang="pt-BR"/>
          </a:p>
        </p:txBody>
      </p:sp>
      <p:sp>
        <p:nvSpPr>
          <p:cNvPr id="5" name="Shape 3"/>
          <p:cNvSpPr/>
          <p:nvPr/>
        </p:nvSpPr>
        <p:spPr>
          <a:xfrm>
            <a:off x="812800" y="1330961"/>
            <a:ext cx="2540000" cy="3457575"/>
          </a:xfrm>
          <a:prstGeom prst="rect">
            <a:avLst/>
          </a:prstGeom>
          <a:solidFill>
            <a:srgbClr val="2F7D4F"/>
          </a:solidFill>
          <a:ln/>
        </p:spPr>
        <p:txBody>
          <a:bodyPr/>
          <a:lstStyle/>
          <a:p>
            <a:endParaRPr lang="pt-BR"/>
          </a:p>
        </p:txBody>
      </p:sp>
      <p:pic>
        <p:nvPicPr>
          <p:cNvPr id="6" name="Image 0" descr="Search"/>
          <p:cNvPicPr>
            <a:picLocks noChangeAspect="1"/>
          </p:cNvPicPr>
          <p:nvPr/>
        </p:nvPicPr>
        <p:blipFill>
          <a:blip r:embed="rId3"/>
          <a:srcRect/>
          <a:stretch/>
        </p:blipFill>
        <p:spPr>
          <a:xfrm>
            <a:off x="1447800" y="2424748"/>
            <a:ext cx="1270000" cy="1270000"/>
          </a:xfrm>
          <a:prstGeom prst="rect">
            <a:avLst/>
          </a:prstGeom>
        </p:spPr>
      </p:pic>
      <p:sp>
        <p:nvSpPr>
          <p:cNvPr id="7" name="Shape 4"/>
          <p:cNvSpPr/>
          <p:nvPr/>
        </p:nvSpPr>
        <p:spPr>
          <a:xfrm>
            <a:off x="3359150" y="1337311"/>
            <a:ext cx="8013700" cy="3444875"/>
          </a:xfrm>
          <a:prstGeom prst="rect">
            <a:avLst/>
          </a:prstGeom>
          <a:solidFill>
            <a:srgbClr val="FFFFFF"/>
          </a:solidFill>
          <a:ln w="12700">
            <a:solidFill>
              <a:srgbClr val="D5D9DC"/>
            </a:solidFill>
            <a:prstDash val="solid"/>
          </a:ln>
        </p:spPr>
        <p:txBody>
          <a:bodyPr/>
          <a:lstStyle/>
          <a:p>
            <a:endParaRPr lang="pt-BR"/>
          </a:p>
        </p:txBody>
      </p:sp>
      <p:sp>
        <p:nvSpPr>
          <p:cNvPr id="8" name="Text 5"/>
          <p:cNvSpPr/>
          <p:nvPr/>
        </p:nvSpPr>
        <p:spPr>
          <a:xfrm>
            <a:off x="3667760" y="1620521"/>
            <a:ext cx="7618375" cy="4876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3035"/>
                </a:solidFill>
                <a:latin typeface="Arial" pitchFamily="34" charset="0"/>
                <a:ea typeface="Arial" pitchFamily="34" charset="-122"/>
                <a:cs typeface="Arial" pitchFamily="34" charset="-120"/>
              </a:rPr>
              <a:t>LEI Nº 13.709/2018 (LGPD) · ART. 20, CAPUT E § 1º (redação da Lei nº 13.853/2019)</a:t>
            </a:r>
            <a:endParaRPr lang="en-US" sz="1300" dirty="0"/>
          </a:p>
        </p:txBody>
      </p:sp>
      <p:sp>
        <p:nvSpPr>
          <p:cNvPr id="9" name="Shape 6"/>
          <p:cNvSpPr/>
          <p:nvPr/>
        </p:nvSpPr>
        <p:spPr>
          <a:xfrm>
            <a:off x="3667760" y="2235200"/>
            <a:ext cx="7396480" cy="25400"/>
          </a:xfrm>
          <a:prstGeom prst="rect">
            <a:avLst/>
          </a:prstGeom>
          <a:solidFill>
            <a:srgbClr val="2F7D4F"/>
          </a:solidFill>
          <a:ln/>
        </p:spPr>
        <p:txBody>
          <a:bodyPr/>
          <a:lstStyle/>
          <a:p>
            <a:endParaRPr lang="pt-BR"/>
          </a:p>
        </p:txBody>
      </p:sp>
      <p:sp>
        <p:nvSpPr>
          <p:cNvPr id="10" name="Text 7"/>
          <p:cNvSpPr/>
          <p:nvPr/>
        </p:nvSpPr>
        <p:spPr>
          <a:xfrm>
            <a:off x="3667760" y="2413000"/>
            <a:ext cx="7618375" cy="113030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3A4147"/>
                </a:solidFill>
                <a:latin typeface="Arial" pitchFamily="34" charset="0"/>
                <a:ea typeface="Arial" pitchFamily="34" charset="-122"/>
                <a:cs typeface="Arial" pitchFamily="34" charset="-120"/>
              </a:rPr>
              <a:t>Caput.</a:t>
            </a:r>
            <a:r>
              <a:rPr lang="en-US" sz="1500" dirty="0">
                <a:solidFill>
                  <a:srgbClr val="3A4147"/>
                </a:solidFill>
                <a:latin typeface="Arial" pitchFamily="34" charset="0"/>
                <a:ea typeface="Arial" pitchFamily="34" charset="-122"/>
                <a:cs typeface="Arial" pitchFamily="34" charset="-120"/>
              </a:rPr>
              <a:t>  O titular dos dados tem direito a solicitar a revisão de decisões tomadas unicamente com base em tratamento automatizado de dados pessoais que afetem seus interesses, incluídas as decisões destinadas a definir o seu perfil pessoal, profissional, de consumo e de crédito ou os aspectos de sua personalidade.</a:t>
            </a:r>
            <a:endParaRPr lang="en-US" sz="1500" dirty="0"/>
          </a:p>
        </p:txBody>
      </p:sp>
      <p:sp>
        <p:nvSpPr>
          <p:cNvPr id="11" name="Text 8"/>
          <p:cNvSpPr/>
          <p:nvPr/>
        </p:nvSpPr>
        <p:spPr>
          <a:xfrm>
            <a:off x="3667760" y="3670300"/>
            <a:ext cx="7618375"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A4147"/>
                </a:solidFill>
                <a:latin typeface="Arial" pitchFamily="34" charset="0"/>
                <a:ea typeface="Arial" pitchFamily="34" charset="-122"/>
                <a:cs typeface="Arial" pitchFamily="34" charset="-120"/>
              </a:rPr>
              <a:t>§ 1º. O controlador deverá fornecer, sempre que solicitadas, informações claras e adequadas a respeito dos critérios e dos procedimentos utilizados para a decisão automatizada, observados os segredos comercial e industrial.</a:t>
            </a:r>
            <a:endParaRPr lang="en-US" sz="1500" dirty="0"/>
          </a:p>
        </p:txBody>
      </p:sp>
      <p:sp>
        <p:nvSpPr>
          <p:cNvPr id="12" name="Shape 9"/>
          <p:cNvSpPr/>
          <p:nvPr/>
        </p:nvSpPr>
        <p:spPr>
          <a:xfrm>
            <a:off x="838200" y="4991739"/>
            <a:ext cx="0" cy="574040"/>
          </a:xfrm>
          <a:prstGeom prst="line">
            <a:avLst/>
          </a:prstGeom>
          <a:noFill/>
          <a:ln w="50800">
            <a:solidFill>
              <a:srgbClr val="2F7D4F"/>
            </a:solidFill>
            <a:prstDash val="solid"/>
          </a:ln>
        </p:spPr>
        <p:txBody>
          <a:bodyPr/>
          <a:lstStyle/>
          <a:p>
            <a:endParaRPr lang="pt-BR"/>
          </a:p>
        </p:txBody>
      </p:sp>
      <p:sp>
        <p:nvSpPr>
          <p:cNvPr id="13" name="Text 10"/>
          <p:cNvSpPr/>
          <p:nvPr/>
        </p:nvSpPr>
        <p:spPr>
          <a:xfrm>
            <a:off x="1016000" y="5029839"/>
            <a:ext cx="10674096" cy="52324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A4147"/>
                </a:solidFill>
                <a:latin typeface="Arial" pitchFamily="34" charset="0"/>
                <a:ea typeface="Arial" pitchFamily="34" charset="-122"/>
                <a:cs typeface="Arial" pitchFamily="34" charset="-120"/>
              </a:rPr>
              <a:t>O próprio § 1º já embute a tensão que vamos explorar no Bloco 2: o direito à explicação convive, na mesma frase, com a proteção ao segredo comercial e industrial.</a:t>
            </a:r>
            <a:endParaRPr lang="en-US" sz="1400" dirty="0"/>
          </a:p>
        </p:txBody>
      </p:sp>
      <p:sp>
        <p:nvSpPr>
          <p:cNvPr id="14" name="Text 1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Direito comparado: decisão automatizada</a:t>
            </a:r>
            <a:endParaRPr lang="en-US" sz="2800" dirty="0"/>
          </a:p>
        </p:txBody>
      </p:sp>
      <p:sp>
        <p:nvSpPr>
          <p:cNvPr id="4" name="Shape 2"/>
          <p:cNvSpPr/>
          <p:nvPr/>
        </p:nvSpPr>
        <p:spPr>
          <a:xfrm>
            <a:off x="812800" y="1076964"/>
            <a:ext cx="609600" cy="50800"/>
          </a:xfrm>
          <a:prstGeom prst="rect">
            <a:avLst/>
          </a:prstGeom>
          <a:solidFill>
            <a:srgbClr val="2F7D4F"/>
          </a:solidFill>
          <a:ln/>
        </p:spPr>
        <p:txBody>
          <a:bodyPr/>
          <a:lstStyle/>
          <a:p>
            <a:endParaRPr lang="pt-BR"/>
          </a:p>
        </p:txBody>
      </p:sp>
      <p:sp>
        <p:nvSpPr>
          <p:cNvPr id="5" name="Shape 3"/>
          <p:cNvSpPr/>
          <p:nvPr/>
        </p:nvSpPr>
        <p:spPr>
          <a:xfrm>
            <a:off x="819150" y="1337314"/>
            <a:ext cx="5143500" cy="3359785"/>
          </a:xfrm>
          <a:prstGeom prst="rect">
            <a:avLst/>
          </a:prstGeom>
          <a:solidFill>
            <a:srgbClr val="FFFFFF"/>
          </a:solidFill>
          <a:ln w="12700">
            <a:solidFill>
              <a:srgbClr val="D5D9DC"/>
            </a:solidFill>
            <a:prstDash val="solid"/>
          </a:ln>
        </p:spPr>
        <p:txBody>
          <a:bodyPr/>
          <a:lstStyle/>
          <a:p>
            <a:endParaRPr lang="pt-BR"/>
          </a:p>
        </p:txBody>
      </p:sp>
      <p:sp>
        <p:nvSpPr>
          <p:cNvPr id="6" name="Shape 4"/>
          <p:cNvSpPr/>
          <p:nvPr/>
        </p:nvSpPr>
        <p:spPr>
          <a:xfrm>
            <a:off x="1102360" y="1638300"/>
            <a:ext cx="533400" cy="533400"/>
          </a:xfrm>
          <a:prstGeom prst="roundRect">
            <a:avLst>
              <a:gd name="adj" fmla="val 50000"/>
            </a:avLst>
          </a:prstGeom>
          <a:solidFill>
            <a:srgbClr val="2F7D4F"/>
          </a:solidFill>
          <a:ln/>
        </p:spPr>
        <p:txBody>
          <a:bodyPr/>
          <a:lstStyle/>
          <a:p>
            <a:endParaRPr lang="pt-BR"/>
          </a:p>
        </p:txBody>
      </p:sp>
      <p:pic>
        <p:nvPicPr>
          <p:cNvPr id="7" name="Image 0" descr="Globe"/>
          <p:cNvPicPr>
            <a:picLocks noChangeAspect="1"/>
          </p:cNvPicPr>
          <p:nvPr/>
        </p:nvPicPr>
        <p:blipFill>
          <a:blip r:embed="rId3"/>
          <a:srcRect/>
          <a:stretch/>
        </p:blipFill>
        <p:spPr>
          <a:xfrm>
            <a:off x="1235710" y="1771650"/>
            <a:ext cx="266700" cy="266700"/>
          </a:xfrm>
          <a:prstGeom prst="rect">
            <a:avLst/>
          </a:prstGeom>
        </p:spPr>
      </p:pic>
      <p:sp>
        <p:nvSpPr>
          <p:cNvPr id="8" name="Text 5"/>
          <p:cNvSpPr/>
          <p:nvPr/>
        </p:nvSpPr>
        <p:spPr>
          <a:xfrm>
            <a:off x="1788160" y="1620521"/>
            <a:ext cx="400801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3035"/>
                </a:solidFill>
                <a:latin typeface="Arial" pitchFamily="34" charset="0"/>
                <a:ea typeface="Arial" pitchFamily="34" charset="-122"/>
                <a:cs typeface="Arial" pitchFamily="34" charset="-120"/>
              </a:rPr>
              <a:t>GDPR (União Europeia) · Art. 22, § 1º</a:t>
            </a:r>
            <a:endParaRPr lang="en-US" sz="1600" dirty="0"/>
          </a:p>
        </p:txBody>
      </p:sp>
      <p:sp>
        <p:nvSpPr>
          <p:cNvPr id="9" name="Text 6"/>
          <p:cNvSpPr/>
          <p:nvPr/>
        </p:nvSpPr>
        <p:spPr>
          <a:xfrm>
            <a:off x="1102360" y="2354579"/>
            <a:ext cx="4714392" cy="1406525"/>
          </a:xfrm>
          <a:prstGeom prst="rect">
            <a:avLst/>
          </a:prstGeom>
          <a:noFill/>
          <a:ln/>
        </p:spPr>
        <p:txBody>
          <a:bodyPr wrap="square" lIns="0" tIns="0" rIns="0" bIns="0" rtlCol="0" anchor="t">
            <a:normAutofit/>
          </a:bodyPr>
          <a:lstStyle/>
          <a:p>
            <a:pPr marL="0" indent="0" algn="l">
              <a:lnSpc>
                <a:spcPts val="2175"/>
              </a:lnSpc>
              <a:buNone/>
            </a:pPr>
            <a:r>
              <a:rPr lang="en-US" sz="1500" i="1" dirty="0">
                <a:solidFill>
                  <a:srgbClr val="3A4147"/>
                </a:solidFill>
                <a:latin typeface="Arial" pitchFamily="34" charset="0"/>
                <a:ea typeface="Arial" pitchFamily="34" charset="-122"/>
                <a:cs typeface="Arial" pitchFamily="34" charset="-120"/>
              </a:rPr>
              <a:t>"O titular tem o direito de não ficar sujeito a nenhuma decisão tomada exclusivamente com base no tratamento automatizado [...] que produza efeitos jurídicos que lhe digam respeito ou que o afete significativamente de forma similar."</a:t>
            </a:r>
            <a:endParaRPr lang="en-US" sz="1500" dirty="0"/>
          </a:p>
        </p:txBody>
      </p:sp>
      <p:sp>
        <p:nvSpPr>
          <p:cNvPr id="10" name="Shape 7"/>
          <p:cNvSpPr/>
          <p:nvPr/>
        </p:nvSpPr>
        <p:spPr>
          <a:xfrm>
            <a:off x="1102360" y="4075429"/>
            <a:ext cx="4577080" cy="0"/>
          </a:xfrm>
          <a:prstGeom prst="line">
            <a:avLst/>
          </a:prstGeom>
          <a:noFill/>
          <a:ln w="19050">
            <a:solidFill>
              <a:srgbClr val="2B3035"/>
            </a:solidFill>
            <a:prstDash val="solid"/>
          </a:ln>
        </p:spPr>
        <p:txBody>
          <a:bodyPr/>
          <a:lstStyle/>
          <a:p>
            <a:endParaRPr lang="pt-BR"/>
          </a:p>
        </p:txBody>
      </p:sp>
      <p:sp>
        <p:nvSpPr>
          <p:cNvPr id="11" name="Text 8"/>
          <p:cNvSpPr/>
          <p:nvPr/>
        </p:nvSpPr>
        <p:spPr>
          <a:xfrm>
            <a:off x="1102360" y="4182744"/>
            <a:ext cx="4714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MODELO DE OPOSIÇÃO PRÉVIA</a:t>
            </a:r>
            <a:endParaRPr lang="en-US" sz="1300" dirty="0"/>
          </a:p>
        </p:txBody>
      </p:sp>
      <p:sp>
        <p:nvSpPr>
          <p:cNvPr id="12" name="Shape 9"/>
          <p:cNvSpPr/>
          <p:nvPr/>
        </p:nvSpPr>
        <p:spPr>
          <a:xfrm>
            <a:off x="6229350" y="1337314"/>
            <a:ext cx="5143500" cy="3359785"/>
          </a:xfrm>
          <a:prstGeom prst="rect">
            <a:avLst/>
          </a:prstGeom>
          <a:solidFill>
            <a:srgbClr val="2F7D4F"/>
          </a:solidFill>
          <a:ln w="12700">
            <a:solidFill>
              <a:srgbClr val="D5D9DC"/>
            </a:solidFill>
            <a:prstDash val="solid"/>
          </a:ln>
        </p:spPr>
        <p:txBody>
          <a:bodyPr/>
          <a:lstStyle/>
          <a:p>
            <a:endParaRPr lang="pt-BR"/>
          </a:p>
        </p:txBody>
      </p:sp>
      <p:sp>
        <p:nvSpPr>
          <p:cNvPr id="13" name="Shape 10"/>
          <p:cNvSpPr/>
          <p:nvPr/>
        </p:nvSpPr>
        <p:spPr>
          <a:xfrm>
            <a:off x="6512560" y="1620521"/>
            <a:ext cx="533400" cy="533400"/>
          </a:xfrm>
          <a:prstGeom prst="roundRect">
            <a:avLst>
              <a:gd name="adj" fmla="val 50000"/>
            </a:avLst>
          </a:prstGeom>
          <a:solidFill>
            <a:srgbClr val="FFFFFF"/>
          </a:solidFill>
          <a:ln/>
        </p:spPr>
        <p:txBody>
          <a:bodyPr/>
          <a:lstStyle/>
          <a:p>
            <a:endParaRPr lang="pt-BR"/>
          </a:p>
        </p:txBody>
      </p:sp>
      <p:pic>
        <p:nvPicPr>
          <p:cNvPr id="14" name="Image 1" descr="Home"/>
          <p:cNvPicPr>
            <a:picLocks noChangeAspect="1"/>
          </p:cNvPicPr>
          <p:nvPr/>
        </p:nvPicPr>
        <p:blipFill>
          <a:blip r:embed="rId4"/>
          <a:srcRect/>
          <a:stretch/>
        </p:blipFill>
        <p:spPr>
          <a:xfrm>
            <a:off x="6645910" y="1753871"/>
            <a:ext cx="266700" cy="266700"/>
          </a:xfrm>
          <a:prstGeom prst="rect">
            <a:avLst/>
          </a:prstGeom>
        </p:spPr>
      </p:pic>
      <p:sp>
        <p:nvSpPr>
          <p:cNvPr id="15" name="Text 11"/>
          <p:cNvSpPr/>
          <p:nvPr/>
        </p:nvSpPr>
        <p:spPr>
          <a:xfrm>
            <a:off x="7198360" y="1744979"/>
            <a:ext cx="400801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FFFF"/>
                </a:solidFill>
                <a:latin typeface="Arial" pitchFamily="34" charset="0"/>
                <a:ea typeface="Arial" pitchFamily="34" charset="-122"/>
                <a:cs typeface="Arial" pitchFamily="34" charset="-120"/>
              </a:rPr>
              <a:t>LGPD (Brasil) · Art. 20, caput</a:t>
            </a:r>
            <a:endParaRPr lang="en-US" sz="1600" dirty="0"/>
          </a:p>
        </p:txBody>
      </p:sp>
      <p:sp>
        <p:nvSpPr>
          <p:cNvPr id="16" name="Text 12"/>
          <p:cNvSpPr/>
          <p:nvPr/>
        </p:nvSpPr>
        <p:spPr>
          <a:xfrm>
            <a:off x="6512560" y="2319021"/>
            <a:ext cx="4714392" cy="1130300"/>
          </a:xfrm>
          <a:prstGeom prst="rect">
            <a:avLst/>
          </a:prstGeom>
          <a:noFill/>
          <a:ln/>
        </p:spPr>
        <p:txBody>
          <a:bodyPr wrap="square" lIns="0" tIns="0" rIns="0" bIns="0" rtlCol="0" anchor="t">
            <a:normAutofit/>
          </a:bodyPr>
          <a:lstStyle/>
          <a:p>
            <a:pPr marL="0" indent="0" algn="l">
              <a:lnSpc>
                <a:spcPts val="2175"/>
              </a:lnSpc>
              <a:buNone/>
            </a:pPr>
            <a:r>
              <a:rPr lang="en-US" sz="1500" i="1" dirty="0">
                <a:solidFill>
                  <a:srgbClr val="E6F3EC"/>
                </a:solidFill>
                <a:latin typeface="Arial" pitchFamily="34" charset="0"/>
                <a:ea typeface="Arial" pitchFamily="34" charset="-122"/>
                <a:cs typeface="Arial" pitchFamily="34" charset="-120"/>
              </a:rPr>
              <a:t>"O titular dos dados tem direito a solicitar a revisão de decisões tomadas unicamente com base em tratamento automatizado de dados pessoais que afetem seus interesses [...]."</a:t>
            </a:r>
            <a:endParaRPr lang="en-US" sz="1500" dirty="0"/>
          </a:p>
        </p:txBody>
      </p:sp>
      <p:sp>
        <p:nvSpPr>
          <p:cNvPr id="17" name="Shape 13"/>
          <p:cNvSpPr/>
          <p:nvPr/>
        </p:nvSpPr>
        <p:spPr>
          <a:xfrm>
            <a:off x="6512560" y="4075429"/>
            <a:ext cx="4577080" cy="0"/>
          </a:xfrm>
          <a:prstGeom prst="line">
            <a:avLst/>
          </a:prstGeom>
          <a:noFill/>
          <a:ln w="19050">
            <a:solidFill>
              <a:srgbClr val="FFFFFF"/>
            </a:solidFill>
            <a:prstDash val="solid"/>
          </a:ln>
        </p:spPr>
        <p:txBody>
          <a:bodyPr/>
          <a:lstStyle/>
          <a:p>
            <a:endParaRPr lang="pt-BR"/>
          </a:p>
        </p:txBody>
      </p:sp>
      <p:sp>
        <p:nvSpPr>
          <p:cNvPr id="18" name="Text 14"/>
          <p:cNvSpPr/>
          <p:nvPr/>
        </p:nvSpPr>
        <p:spPr>
          <a:xfrm>
            <a:off x="6512560" y="4182744"/>
            <a:ext cx="4714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FFFFF"/>
                </a:solidFill>
                <a:latin typeface="Arial" pitchFamily="34" charset="0"/>
                <a:ea typeface="Arial" pitchFamily="34" charset="-122"/>
                <a:cs typeface="Arial" pitchFamily="34" charset="-120"/>
              </a:rPr>
              <a:t>MODELO DE REVISÃO POSTERIOR</a:t>
            </a:r>
            <a:endParaRPr lang="en-US" sz="1300" dirty="0"/>
          </a:p>
        </p:txBody>
      </p:sp>
      <p:sp>
        <p:nvSpPr>
          <p:cNvPr id="19" name="Text 15"/>
          <p:cNvSpPr/>
          <p:nvPr/>
        </p:nvSpPr>
        <p:spPr>
          <a:xfrm>
            <a:off x="812800" y="4906646"/>
            <a:ext cx="10883392"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A4147"/>
                </a:solidFill>
                <a:latin typeface="Arial" pitchFamily="34" charset="0"/>
                <a:ea typeface="Arial" pitchFamily="34" charset="-122"/>
                <a:cs typeface="Arial" pitchFamily="34" charset="-120"/>
              </a:rPr>
              <a:t>O modelo europeu autoriza, em regra, que a pessoa se oponha previamente à decisão automatizada. O modelo brasileiro permite pedir a revisão depois de a decisão já ter sido tomada. É uma diferença de desenho jurídico com efeitos práticos relevantes para quem constrói esses sistemas.</a:t>
            </a:r>
            <a:endParaRPr lang="en-US" sz="1400" dirty="0"/>
          </a:p>
        </p:txBody>
      </p:sp>
      <p:sp>
        <p:nvSpPr>
          <p:cNvPr id="20" name="Text 1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PL 2338/2023: o Marco Legal da IA no Brasil</a:t>
            </a:r>
            <a:endParaRPr lang="en-US" sz="2800" dirty="0"/>
          </a:p>
        </p:txBody>
      </p:sp>
      <p:sp>
        <p:nvSpPr>
          <p:cNvPr id="4" name="Shape 2"/>
          <p:cNvSpPr/>
          <p:nvPr/>
        </p:nvSpPr>
        <p:spPr>
          <a:xfrm>
            <a:off x="812800" y="1076964"/>
            <a:ext cx="609600" cy="50800"/>
          </a:xfrm>
          <a:prstGeom prst="rect">
            <a:avLst/>
          </a:prstGeom>
          <a:solidFill>
            <a:srgbClr val="2F7D4F"/>
          </a:solidFill>
          <a:ln/>
        </p:spPr>
        <p:txBody>
          <a:bodyPr/>
          <a:lstStyle/>
          <a:p>
            <a:endParaRPr lang="pt-BR"/>
          </a:p>
        </p:txBody>
      </p:sp>
      <p:sp>
        <p:nvSpPr>
          <p:cNvPr id="5" name="Shape 3"/>
          <p:cNvSpPr/>
          <p:nvPr/>
        </p:nvSpPr>
        <p:spPr>
          <a:xfrm>
            <a:off x="812800" y="1280164"/>
            <a:ext cx="10566400" cy="741680"/>
          </a:xfrm>
          <a:prstGeom prst="rect">
            <a:avLst/>
          </a:prstGeom>
          <a:solidFill>
            <a:srgbClr val="E6E9EB"/>
          </a:solidFill>
          <a:ln/>
        </p:spPr>
        <p:txBody>
          <a:bodyPr/>
          <a:lstStyle/>
          <a:p>
            <a:endParaRPr lang="pt-BR"/>
          </a:p>
        </p:txBody>
      </p:sp>
      <p:sp>
        <p:nvSpPr>
          <p:cNvPr id="6" name="Shape 4"/>
          <p:cNvSpPr/>
          <p:nvPr/>
        </p:nvSpPr>
        <p:spPr>
          <a:xfrm>
            <a:off x="838200" y="1280164"/>
            <a:ext cx="0" cy="741680"/>
          </a:xfrm>
          <a:prstGeom prst="line">
            <a:avLst/>
          </a:prstGeom>
          <a:noFill/>
          <a:ln w="50800">
            <a:solidFill>
              <a:srgbClr val="2F7D4F"/>
            </a:solidFill>
            <a:prstDash val="solid"/>
          </a:ln>
        </p:spPr>
        <p:txBody>
          <a:bodyPr/>
          <a:lstStyle/>
          <a:p>
            <a:endParaRPr lang="pt-BR"/>
          </a:p>
        </p:txBody>
      </p:sp>
      <p:sp>
        <p:nvSpPr>
          <p:cNvPr id="7" name="Text 5"/>
          <p:cNvSpPr/>
          <p:nvPr/>
        </p:nvSpPr>
        <p:spPr>
          <a:xfrm>
            <a:off x="1066800" y="1419864"/>
            <a:ext cx="10412476" cy="48768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2B3035"/>
                </a:solidFill>
                <a:latin typeface="Arial" pitchFamily="34" charset="0"/>
                <a:ea typeface="Arial" pitchFamily="34" charset="-122"/>
                <a:cs typeface="Arial" pitchFamily="34" charset="-120"/>
              </a:rPr>
              <a:t>Status em agosto de 2026: aprovado pelo Senado Federal em 2024; em análise na Comissão Especial da Câmara dos Deputados; votação final do plenário prevista para o decorrer de 2026.</a:t>
            </a:r>
            <a:endParaRPr lang="en-US" sz="1300" dirty="0"/>
          </a:p>
        </p:txBody>
      </p:sp>
      <p:sp>
        <p:nvSpPr>
          <p:cNvPr id="8" name="Shape 6"/>
          <p:cNvSpPr/>
          <p:nvPr/>
        </p:nvSpPr>
        <p:spPr>
          <a:xfrm>
            <a:off x="812800" y="2174242"/>
            <a:ext cx="558800" cy="558800"/>
          </a:xfrm>
          <a:prstGeom prst="roundRect">
            <a:avLst>
              <a:gd name="adj" fmla="val 50000"/>
            </a:avLst>
          </a:prstGeom>
          <a:solidFill>
            <a:srgbClr val="2F7D4F"/>
          </a:solidFill>
          <a:ln/>
        </p:spPr>
        <p:txBody>
          <a:bodyPr/>
          <a:lstStyle/>
          <a:p>
            <a:endParaRPr lang="pt-BR"/>
          </a:p>
        </p:txBody>
      </p:sp>
      <p:pic>
        <p:nvPicPr>
          <p:cNvPr id="9" name="Image 0" descr="Warning"/>
          <p:cNvPicPr>
            <a:picLocks noChangeAspect="1"/>
          </p:cNvPicPr>
          <p:nvPr/>
        </p:nvPicPr>
        <p:blipFill>
          <a:blip r:embed="rId3"/>
          <a:srcRect/>
          <a:stretch/>
        </p:blipFill>
        <p:spPr>
          <a:xfrm>
            <a:off x="952500" y="2313942"/>
            <a:ext cx="279400" cy="279400"/>
          </a:xfrm>
          <a:prstGeom prst="rect">
            <a:avLst/>
          </a:prstGeom>
        </p:spPr>
      </p:pic>
      <p:sp>
        <p:nvSpPr>
          <p:cNvPr id="10" name="Text 7"/>
          <p:cNvSpPr/>
          <p:nvPr/>
        </p:nvSpPr>
        <p:spPr>
          <a:xfrm>
            <a:off x="1549400" y="2178366"/>
            <a:ext cx="10124694"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Risco excessivo: sistemas proibidos</a:t>
            </a:r>
            <a:endParaRPr lang="en-US" sz="1700" dirty="0"/>
          </a:p>
        </p:txBody>
      </p:sp>
      <p:sp>
        <p:nvSpPr>
          <p:cNvPr id="11" name="Text 8"/>
          <p:cNvSpPr/>
          <p:nvPr/>
        </p:nvSpPr>
        <p:spPr>
          <a:xfrm>
            <a:off x="1549400" y="2506030"/>
            <a:ext cx="10124694"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Ex.: manipulação comportamental prejudicial e pontuação social generalizada por autoridades públicas.</a:t>
            </a:r>
            <a:endParaRPr lang="en-US" sz="1300" dirty="0"/>
          </a:p>
        </p:txBody>
      </p:sp>
      <p:sp>
        <p:nvSpPr>
          <p:cNvPr id="12" name="Shape 9"/>
          <p:cNvSpPr/>
          <p:nvPr/>
        </p:nvSpPr>
        <p:spPr>
          <a:xfrm>
            <a:off x="812800" y="2872742"/>
            <a:ext cx="558800" cy="558800"/>
          </a:xfrm>
          <a:prstGeom prst="roundRect">
            <a:avLst>
              <a:gd name="adj" fmla="val 50000"/>
            </a:avLst>
          </a:prstGeom>
          <a:solidFill>
            <a:srgbClr val="4A9468"/>
          </a:solidFill>
          <a:ln/>
        </p:spPr>
        <p:txBody>
          <a:bodyPr/>
          <a:lstStyle/>
          <a:p>
            <a:endParaRPr lang="pt-BR"/>
          </a:p>
        </p:txBody>
      </p:sp>
      <p:pic>
        <p:nvPicPr>
          <p:cNvPr id="13" name="Image 1" descr="Lock"/>
          <p:cNvPicPr>
            <a:picLocks noChangeAspect="1"/>
          </p:cNvPicPr>
          <p:nvPr/>
        </p:nvPicPr>
        <p:blipFill>
          <a:blip r:embed="rId4"/>
          <a:srcRect/>
          <a:stretch/>
        </p:blipFill>
        <p:spPr>
          <a:xfrm>
            <a:off x="952500" y="3012442"/>
            <a:ext cx="279400" cy="279400"/>
          </a:xfrm>
          <a:prstGeom prst="rect">
            <a:avLst/>
          </a:prstGeom>
        </p:spPr>
      </p:pic>
      <p:sp>
        <p:nvSpPr>
          <p:cNvPr id="14" name="Text 10"/>
          <p:cNvSpPr/>
          <p:nvPr/>
        </p:nvSpPr>
        <p:spPr>
          <a:xfrm>
            <a:off x="1549400" y="2876866"/>
            <a:ext cx="10124694"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Alto risco: permitidos com governança reforçada</a:t>
            </a:r>
            <a:endParaRPr lang="en-US" sz="1700" dirty="0"/>
          </a:p>
        </p:txBody>
      </p:sp>
      <p:sp>
        <p:nvSpPr>
          <p:cNvPr id="15" name="Text 11"/>
          <p:cNvSpPr/>
          <p:nvPr/>
        </p:nvSpPr>
        <p:spPr>
          <a:xfrm>
            <a:off x="1549400" y="3204530"/>
            <a:ext cx="10124694"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Ex.: crédito, emprego, saúde, segurança pública e justiça, com documentação e auditoria obrigatórias.</a:t>
            </a:r>
            <a:endParaRPr lang="en-US" sz="1300" dirty="0"/>
          </a:p>
        </p:txBody>
      </p:sp>
      <p:sp>
        <p:nvSpPr>
          <p:cNvPr id="16" name="Shape 12"/>
          <p:cNvSpPr/>
          <p:nvPr/>
        </p:nvSpPr>
        <p:spPr>
          <a:xfrm>
            <a:off x="812800" y="3571242"/>
            <a:ext cx="558800" cy="558800"/>
          </a:xfrm>
          <a:prstGeom prst="roundRect">
            <a:avLst>
              <a:gd name="adj" fmla="val 50000"/>
            </a:avLst>
          </a:prstGeom>
          <a:solidFill>
            <a:srgbClr val="BFE0CC"/>
          </a:solidFill>
          <a:ln/>
        </p:spPr>
        <p:txBody>
          <a:bodyPr/>
          <a:lstStyle/>
          <a:p>
            <a:endParaRPr lang="pt-BR"/>
          </a:p>
        </p:txBody>
      </p:sp>
      <p:pic>
        <p:nvPicPr>
          <p:cNvPr id="17" name="Image 2" descr="Check"/>
          <p:cNvPicPr>
            <a:picLocks noChangeAspect="1"/>
          </p:cNvPicPr>
          <p:nvPr/>
        </p:nvPicPr>
        <p:blipFill>
          <a:blip r:embed="rId5"/>
          <a:srcRect/>
          <a:stretch/>
        </p:blipFill>
        <p:spPr>
          <a:xfrm>
            <a:off x="952500" y="3710942"/>
            <a:ext cx="279400" cy="279400"/>
          </a:xfrm>
          <a:prstGeom prst="rect">
            <a:avLst/>
          </a:prstGeom>
        </p:spPr>
      </p:pic>
      <p:sp>
        <p:nvSpPr>
          <p:cNvPr id="18" name="Text 13"/>
          <p:cNvSpPr/>
          <p:nvPr/>
        </p:nvSpPr>
        <p:spPr>
          <a:xfrm>
            <a:off x="1549400" y="3575366"/>
            <a:ext cx="10124694"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Demais sistemas: obrigações gerais</a:t>
            </a:r>
            <a:endParaRPr lang="en-US" sz="1700" dirty="0"/>
          </a:p>
        </p:txBody>
      </p:sp>
      <p:sp>
        <p:nvSpPr>
          <p:cNvPr id="19" name="Text 14"/>
          <p:cNvSpPr/>
          <p:nvPr/>
        </p:nvSpPr>
        <p:spPr>
          <a:xfrm>
            <a:off x="1549400" y="3903030"/>
            <a:ext cx="10124694"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Transparência básica e boas práticas de desenvolvimento, sem o mesmo nível de exigência documental.</a:t>
            </a:r>
            <a:endParaRPr lang="en-US" sz="1300" dirty="0"/>
          </a:p>
        </p:txBody>
      </p:sp>
      <p:sp>
        <p:nvSpPr>
          <p:cNvPr id="20" name="Text 15"/>
          <p:cNvSpPr/>
          <p:nvPr/>
        </p:nvSpPr>
        <p:spPr>
          <a:xfrm>
            <a:off x="812800" y="4282442"/>
            <a:ext cx="1088339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3035"/>
                </a:solidFill>
                <a:latin typeface="Arial" pitchFamily="34" charset="0"/>
                <a:ea typeface="Arial" pitchFamily="34" charset="-122"/>
                <a:cs typeface="Arial" pitchFamily="34" charset="-120"/>
              </a:rPr>
              <a:t>Direitos previstos no texto em tramitação: explicação sobre decisões automatizadas, contestação e revisão humana, e vedação a sistemas integralmente opacos em contextos de alto risco.</a:t>
            </a:r>
            <a:endParaRPr lang="en-US" sz="1400" dirty="0"/>
          </a:p>
        </p:txBody>
      </p:sp>
      <p:sp>
        <p:nvSpPr>
          <p:cNvPr id="21" name="Text 16"/>
          <p:cNvSpPr/>
          <p:nvPr/>
        </p:nvSpPr>
        <p:spPr>
          <a:xfrm>
            <a:off x="812800" y="493267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D656C"/>
                </a:solidFill>
                <a:latin typeface="Arial" pitchFamily="34" charset="0"/>
                <a:ea typeface="Arial" pitchFamily="34" charset="-122"/>
                <a:cs typeface="Arial" pitchFamily="34" charset="-120"/>
              </a:rPr>
              <a:t>Como o texto ainda pode ser alterado até a votação final, o conteúdo aqui descrito reflete a versão em tramitação, não uma lei em vigor.</a:t>
            </a:r>
            <a:endParaRPr lang="en-US" sz="1200" dirty="0"/>
          </a:p>
        </p:txBody>
      </p:sp>
      <p:sp>
        <p:nvSpPr>
          <p:cNvPr id="22" name="Text 1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O que é, tecnicamente, uma caixa-preta algorítmica</a:t>
            </a:r>
            <a:endParaRPr lang="en-US" sz="2800" dirty="0"/>
          </a:p>
        </p:txBody>
      </p:sp>
      <p:sp>
        <p:nvSpPr>
          <p:cNvPr id="4" name="Shape 2"/>
          <p:cNvSpPr/>
          <p:nvPr/>
        </p:nvSpPr>
        <p:spPr>
          <a:xfrm>
            <a:off x="812800" y="1076964"/>
            <a:ext cx="609600" cy="50800"/>
          </a:xfrm>
          <a:prstGeom prst="rect">
            <a:avLst/>
          </a:prstGeom>
          <a:solidFill>
            <a:srgbClr val="2F7D4F"/>
          </a:solidFill>
          <a:ln/>
        </p:spPr>
        <p:txBody>
          <a:bodyPr/>
          <a:lstStyle/>
          <a:p>
            <a:endParaRPr lang="pt-BR"/>
          </a:p>
        </p:txBody>
      </p:sp>
      <p:sp>
        <p:nvSpPr>
          <p:cNvPr id="5" name="Text 3"/>
          <p:cNvSpPr/>
          <p:nvPr/>
        </p:nvSpPr>
        <p:spPr>
          <a:xfrm>
            <a:off x="812800" y="1280164"/>
            <a:ext cx="10883392" cy="52324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A4147"/>
                </a:solidFill>
                <a:latin typeface="Arial" pitchFamily="34" charset="0"/>
                <a:ea typeface="Arial" pitchFamily="34" charset="-122"/>
                <a:cs typeface="Arial" pitchFamily="34" charset="-120"/>
              </a:rPr>
              <a:t>Chama-se “caixa-preta” o sistema cujas entradas e saídas são observáveis, mas cujo caminho interno de decisão não pode ser reconstruído em uma explicação simples e verdadeira.</a:t>
            </a:r>
            <a:endParaRPr lang="en-US" sz="1400" dirty="0"/>
          </a:p>
        </p:txBody>
      </p:sp>
      <p:sp>
        <p:nvSpPr>
          <p:cNvPr id="6" name="Shape 4"/>
          <p:cNvSpPr/>
          <p:nvPr/>
        </p:nvSpPr>
        <p:spPr>
          <a:xfrm>
            <a:off x="819150" y="1936750"/>
            <a:ext cx="5143500" cy="3277870"/>
          </a:xfrm>
          <a:prstGeom prst="rect">
            <a:avLst/>
          </a:prstGeom>
          <a:solidFill>
            <a:srgbClr val="FFFFFF"/>
          </a:solidFill>
          <a:ln w="12700">
            <a:solidFill>
              <a:srgbClr val="D5D9DC"/>
            </a:solidFill>
            <a:prstDash val="solid"/>
          </a:ln>
        </p:spPr>
        <p:txBody>
          <a:bodyPr/>
          <a:lstStyle/>
          <a:p>
            <a:endParaRPr lang="pt-BR"/>
          </a:p>
        </p:txBody>
      </p:sp>
      <p:pic>
        <p:nvPicPr>
          <p:cNvPr id="7" name="Image 0" descr="Fluxograma de regras se-então"/>
          <p:cNvPicPr>
            <a:picLocks noChangeAspect="1"/>
          </p:cNvPicPr>
          <p:nvPr/>
        </p:nvPicPr>
        <p:blipFill>
          <a:blip r:embed="rId3"/>
          <a:srcRect/>
          <a:stretch/>
        </p:blipFill>
        <p:spPr>
          <a:xfrm>
            <a:off x="2057400" y="2143764"/>
            <a:ext cx="2667000" cy="1492250"/>
          </a:xfrm>
          <a:prstGeom prst="rect">
            <a:avLst/>
          </a:prstGeom>
        </p:spPr>
      </p:pic>
      <p:sp>
        <p:nvSpPr>
          <p:cNvPr id="8" name="Text 5"/>
          <p:cNvSpPr/>
          <p:nvPr/>
        </p:nvSpPr>
        <p:spPr>
          <a:xfrm>
            <a:off x="1076960" y="3724914"/>
            <a:ext cx="4766716"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Sistema de regras explícitas</a:t>
            </a:r>
            <a:endParaRPr lang="en-US" sz="1700" dirty="0"/>
          </a:p>
        </p:txBody>
      </p:sp>
      <p:sp>
        <p:nvSpPr>
          <p:cNvPr id="9" name="Text 6"/>
          <p:cNvSpPr/>
          <p:nvPr/>
        </p:nvSpPr>
        <p:spPr>
          <a:xfrm>
            <a:off x="1076960" y="4116071"/>
            <a:ext cx="4766716"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Ex.: “negar crédito se renda &lt; X e dívida &gt; Y”. É auditável por leitura direta do código, artigo por artigo, regra por regra.</a:t>
            </a:r>
            <a:endParaRPr lang="en-US" sz="1300" dirty="0"/>
          </a:p>
        </p:txBody>
      </p:sp>
      <p:sp>
        <p:nvSpPr>
          <p:cNvPr id="10" name="Shape 7"/>
          <p:cNvSpPr/>
          <p:nvPr/>
        </p:nvSpPr>
        <p:spPr>
          <a:xfrm>
            <a:off x="6229350" y="1936750"/>
            <a:ext cx="5143500" cy="3277870"/>
          </a:xfrm>
          <a:prstGeom prst="rect">
            <a:avLst/>
          </a:prstGeom>
          <a:solidFill>
            <a:srgbClr val="2F7D4F"/>
          </a:solidFill>
          <a:ln w="12700">
            <a:solidFill>
              <a:srgbClr val="D5D9DC"/>
            </a:solidFill>
            <a:prstDash val="solid"/>
          </a:ln>
        </p:spPr>
        <p:txBody>
          <a:bodyPr/>
          <a:lstStyle/>
          <a:p>
            <a:endParaRPr lang="pt-BR"/>
          </a:p>
        </p:txBody>
      </p:sp>
      <p:pic>
        <p:nvPicPr>
          <p:cNvPr id="11" name="Image 1" descr="Rede neural profunda"/>
          <p:cNvPicPr>
            <a:picLocks noChangeAspect="1"/>
          </p:cNvPicPr>
          <p:nvPr/>
        </p:nvPicPr>
        <p:blipFill>
          <a:blip r:embed="rId4"/>
          <a:srcRect/>
          <a:stretch/>
        </p:blipFill>
        <p:spPr>
          <a:xfrm>
            <a:off x="7467600" y="2143764"/>
            <a:ext cx="2667000" cy="1492250"/>
          </a:xfrm>
          <a:prstGeom prst="rect">
            <a:avLst/>
          </a:prstGeom>
        </p:spPr>
      </p:pic>
      <p:sp>
        <p:nvSpPr>
          <p:cNvPr id="12" name="Text 8"/>
          <p:cNvSpPr/>
          <p:nvPr/>
        </p:nvSpPr>
        <p:spPr>
          <a:xfrm>
            <a:off x="6487160" y="3724914"/>
            <a:ext cx="4766716"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FFFFF"/>
                </a:solidFill>
                <a:latin typeface="Arial" pitchFamily="34" charset="0"/>
                <a:ea typeface="Arial" pitchFamily="34" charset="-122"/>
                <a:cs typeface="Arial" pitchFamily="34" charset="-120"/>
              </a:rPr>
              <a:t>Rede neural profunda</a:t>
            </a:r>
            <a:endParaRPr lang="en-US" sz="1700" dirty="0"/>
          </a:p>
        </p:txBody>
      </p:sp>
      <p:sp>
        <p:nvSpPr>
          <p:cNvPr id="13" name="Text 9"/>
          <p:cNvSpPr/>
          <p:nvPr/>
        </p:nvSpPr>
        <p:spPr>
          <a:xfrm>
            <a:off x="6487160" y="4116071"/>
            <a:ext cx="4766716"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E6F3EC"/>
                </a:solidFill>
                <a:latin typeface="Arial" pitchFamily="34" charset="0"/>
                <a:ea typeface="Arial" pitchFamily="34" charset="-122"/>
                <a:cs typeface="Arial" pitchFamily="34" charset="-120"/>
              </a:rPr>
              <a:t>Milhões de parâmetros ajustados estatisticamente no treinamento. A “regra” que gerou uma decisão não existe como frase: está distribuída, de forma não linear, entre esses parâmetros.</a:t>
            </a:r>
            <a:endParaRPr lang="en-US" sz="1300" dirty="0"/>
          </a:p>
        </p:txBody>
      </p:sp>
      <p:sp>
        <p:nvSpPr>
          <p:cNvPr id="14" name="Shape 10"/>
          <p:cNvSpPr/>
          <p:nvPr/>
        </p:nvSpPr>
        <p:spPr>
          <a:xfrm>
            <a:off x="838200" y="5373371"/>
            <a:ext cx="0" cy="307340"/>
          </a:xfrm>
          <a:prstGeom prst="line">
            <a:avLst/>
          </a:prstGeom>
          <a:noFill/>
          <a:ln w="50800">
            <a:solidFill>
              <a:srgbClr val="2F7D4F"/>
            </a:solidFill>
            <a:prstDash val="solid"/>
          </a:ln>
        </p:spPr>
        <p:txBody>
          <a:bodyPr/>
          <a:lstStyle/>
          <a:p>
            <a:endParaRPr lang="pt-BR"/>
          </a:p>
        </p:txBody>
      </p:sp>
      <p:sp>
        <p:nvSpPr>
          <p:cNvPr id="15" name="Text 11"/>
          <p:cNvSpPr/>
          <p:nvPr/>
        </p:nvSpPr>
        <p:spPr>
          <a:xfrm>
            <a:off x="1016000" y="5411471"/>
            <a:ext cx="10674096" cy="25654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3A4147"/>
                </a:solidFill>
                <a:latin typeface="Arial" pitchFamily="34" charset="0"/>
                <a:ea typeface="Arial" pitchFamily="34" charset="-122"/>
                <a:cs typeface="Arial" pitchFamily="34" charset="-120"/>
              </a:rPr>
              <a:t>Caixa-preta não é sinônimo de sistema ruim. Frequentemente é o modelo mais opaco que apresenta a melhor performance estatística.</a:t>
            </a:r>
            <a:endParaRPr lang="en-US" sz="1300" dirty="0"/>
          </a:p>
        </p:txBody>
      </p:sp>
      <p:sp>
        <p:nvSpPr>
          <p:cNvPr id="16"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Problema jurídico</a:t>
            </a:r>
            <a:endParaRPr lang="en-US" sz="2800" dirty="0"/>
          </a:p>
        </p:txBody>
      </p:sp>
      <p:sp>
        <p:nvSpPr>
          <p:cNvPr id="4" name="Shape 2"/>
          <p:cNvSpPr/>
          <p:nvPr/>
        </p:nvSpPr>
        <p:spPr>
          <a:xfrm>
            <a:off x="812800" y="1076964"/>
            <a:ext cx="609600" cy="50800"/>
          </a:xfrm>
          <a:prstGeom prst="rect">
            <a:avLst/>
          </a:prstGeom>
          <a:solidFill>
            <a:srgbClr val="2F7D4F"/>
          </a:solidFill>
          <a:ln/>
        </p:spPr>
        <p:txBody>
          <a:bodyPr/>
          <a:lstStyle/>
          <a:p>
            <a:endParaRPr lang="pt-BR"/>
          </a:p>
        </p:txBody>
      </p:sp>
      <p:sp>
        <p:nvSpPr>
          <p:cNvPr id="5" name="Shape 3"/>
          <p:cNvSpPr/>
          <p:nvPr/>
        </p:nvSpPr>
        <p:spPr>
          <a:xfrm>
            <a:off x="819150" y="1337314"/>
            <a:ext cx="5168900" cy="1715135"/>
          </a:xfrm>
          <a:prstGeom prst="rect">
            <a:avLst/>
          </a:prstGeom>
          <a:solidFill>
            <a:srgbClr val="2F7D4F"/>
          </a:solidFill>
          <a:ln w="12700">
            <a:solidFill>
              <a:srgbClr val="2F7D4F"/>
            </a:solidFill>
            <a:prstDash val="solid"/>
          </a:ln>
        </p:spPr>
        <p:txBody>
          <a:bodyPr/>
          <a:lstStyle/>
          <a:p>
            <a:endParaRPr lang="pt-BR"/>
          </a:p>
        </p:txBody>
      </p:sp>
      <p:sp>
        <p:nvSpPr>
          <p:cNvPr id="6" name="Shape 4"/>
          <p:cNvSpPr/>
          <p:nvPr/>
        </p:nvSpPr>
        <p:spPr>
          <a:xfrm>
            <a:off x="1051560" y="1569721"/>
            <a:ext cx="584200" cy="584200"/>
          </a:xfrm>
          <a:prstGeom prst="roundRect">
            <a:avLst>
              <a:gd name="adj" fmla="val 50000"/>
            </a:avLst>
          </a:prstGeom>
          <a:solidFill>
            <a:srgbClr val="FFFFFF"/>
          </a:solidFill>
          <a:ln/>
        </p:spPr>
        <p:txBody>
          <a:bodyPr/>
          <a:lstStyle/>
          <a:p>
            <a:endParaRPr lang="pt-BR"/>
          </a:p>
        </p:txBody>
      </p:sp>
      <p:pic>
        <p:nvPicPr>
          <p:cNvPr id="7" name="Image 0" descr="Lock"/>
          <p:cNvPicPr>
            <a:picLocks noChangeAspect="1"/>
          </p:cNvPicPr>
          <p:nvPr/>
        </p:nvPicPr>
        <p:blipFill>
          <a:blip r:embed="rId3"/>
          <a:srcRect/>
          <a:stretch/>
        </p:blipFill>
        <p:spPr>
          <a:xfrm>
            <a:off x="1197610" y="1715771"/>
            <a:ext cx="292100" cy="292100"/>
          </a:xfrm>
          <a:prstGeom prst="rect">
            <a:avLst/>
          </a:prstGeom>
        </p:spPr>
      </p:pic>
      <p:sp>
        <p:nvSpPr>
          <p:cNvPr id="8" name="Text 5"/>
          <p:cNvSpPr/>
          <p:nvPr/>
        </p:nvSpPr>
        <p:spPr>
          <a:xfrm>
            <a:off x="1813560" y="1569721"/>
            <a:ext cx="4060342" cy="521970"/>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FFFFF"/>
                </a:solidFill>
                <a:latin typeface="Arial" pitchFamily="34" charset="0"/>
                <a:ea typeface="Arial" pitchFamily="34" charset="-122"/>
                <a:cs typeface="Arial" pitchFamily="34" charset="-120"/>
              </a:rPr>
              <a:t>Devido processo e direito de defesa</a:t>
            </a:r>
            <a:endParaRPr lang="en-US" sz="1700" dirty="0"/>
          </a:p>
        </p:txBody>
      </p:sp>
      <p:sp>
        <p:nvSpPr>
          <p:cNvPr id="9" name="Text 6"/>
          <p:cNvSpPr/>
          <p:nvPr/>
        </p:nvSpPr>
        <p:spPr>
          <a:xfrm>
            <a:off x="1813560" y="2142492"/>
            <a:ext cx="4060342"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E6F3EC"/>
                </a:solidFill>
                <a:latin typeface="Arial" pitchFamily="34" charset="0"/>
                <a:ea typeface="Arial" pitchFamily="34" charset="-122"/>
                <a:cs typeface="Arial" pitchFamily="34" charset="-120"/>
              </a:rPr>
              <a:t>Como contestar uma decisão cujo critério não se conhece?</a:t>
            </a:r>
            <a:endParaRPr lang="en-US" sz="1350" dirty="0"/>
          </a:p>
        </p:txBody>
      </p:sp>
      <p:sp>
        <p:nvSpPr>
          <p:cNvPr id="10" name="Shape 7"/>
          <p:cNvSpPr/>
          <p:nvPr/>
        </p:nvSpPr>
        <p:spPr>
          <a:xfrm>
            <a:off x="6203950" y="1337314"/>
            <a:ext cx="5168900" cy="1715135"/>
          </a:xfrm>
          <a:prstGeom prst="rect">
            <a:avLst/>
          </a:prstGeom>
          <a:solidFill>
            <a:srgbClr val="FFFFFF"/>
          </a:solidFill>
          <a:ln w="12700">
            <a:solidFill>
              <a:srgbClr val="D5D9DC"/>
            </a:solidFill>
            <a:prstDash val="solid"/>
          </a:ln>
        </p:spPr>
        <p:txBody>
          <a:bodyPr/>
          <a:lstStyle/>
          <a:p>
            <a:endParaRPr lang="pt-BR"/>
          </a:p>
        </p:txBody>
      </p:sp>
      <p:sp>
        <p:nvSpPr>
          <p:cNvPr id="11" name="Shape 8"/>
          <p:cNvSpPr/>
          <p:nvPr/>
        </p:nvSpPr>
        <p:spPr>
          <a:xfrm>
            <a:off x="6436360" y="1569721"/>
            <a:ext cx="584200" cy="584200"/>
          </a:xfrm>
          <a:prstGeom prst="roundRect">
            <a:avLst>
              <a:gd name="adj" fmla="val 50000"/>
            </a:avLst>
          </a:prstGeom>
          <a:solidFill>
            <a:srgbClr val="2F7D4F"/>
          </a:solidFill>
          <a:ln/>
        </p:spPr>
        <p:txBody>
          <a:bodyPr/>
          <a:lstStyle/>
          <a:p>
            <a:endParaRPr lang="pt-BR"/>
          </a:p>
        </p:txBody>
      </p:sp>
      <p:pic>
        <p:nvPicPr>
          <p:cNvPr id="12" name="Image 1" descr="Verified"/>
          <p:cNvPicPr>
            <a:picLocks noChangeAspect="1"/>
          </p:cNvPicPr>
          <p:nvPr/>
        </p:nvPicPr>
        <p:blipFill>
          <a:blip r:embed="rId4"/>
          <a:srcRect/>
          <a:stretch/>
        </p:blipFill>
        <p:spPr>
          <a:xfrm>
            <a:off x="6582410" y="1715771"/>
            <a:ext cx="292100" cy="292100"/>
          </a:xfrm>
          <a:prstGeom prst="rect">
            <a:avLst/>
          </a:prstGeom>
        </p:spPr>
      </p:pic>
      <p:sp>
        <p:nvSpPr>
          <p:cNvPr id="13" name="Text 9"/>
          <p:cNvSpPr/>
          <p:nvPr/>
        </p:nvSpPr>
        <p:spPr>
          <a:xfrm>
            <a:off x="7198360" y="1569721"/>
            <a:ext cx="4060342" cy="27368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2B3035"/>
                </a:solidFill>
                <a:latin typeface="Arial" pitchFamily="34" charset="0"/>
                <a:ea typeface="Arial" pitchFamily="34" charset="-122"/>
                <a:cs typeface="Arial" pitchFamily="34" charset="-120"/>
              </a:rPr>
              <a:t>Ônus da prova</a:t>
            </a:r>
            <a:endParaRPr lang="en-US" sz="1700" dirty="0"/>
          </a:p>
        </p:txBody>
      </p:sp>
      <p:sp>
        <p:nvSpPr>
          <p:cNvPr id="14" name="Text 10"/>
          <p:cNvSpPr/>
          <p:nvPr/>
        </p:nvSpPr>
        <p:spPr>
          <a:xfrm>
            <a:off x="7198360" y="1894204"/>
            <a:ext cx="4060342" cy="951230"/>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Como provar discriminação algorítmica sem acesso ao funcionamento do sistema? A LGPD (art. 20, § 2º) responde em parte, prevendo auditoria pela ANPD.</a:t>
            </a:r>
            <a:endParaRPr lang="en-US" sz="1350" dirty="0"/>
          </a:p>
        </p:txBody>
      </p:sp>
      <p:sp>
        <p:nvSpPr>
          <p:cNvPr id="15" name="Shape 11"/>
          <p:cNvSpPr/>
          <p:nvPr/>
        </p:nvSpPr>
        <p:spPr>
          <a:xfrm>
            <a:off x="819150" y="3268346"/>
            <a:ext cx="5168900" cy="1483678"/>
          </a:xfrm>
          <a:prstGeom prst="rect">
            <a:avLst/>
          </a:prstGeom>
          <a:solidFill>
            <a:srgbClr val="FFFFFF"/>
          </a:solidFill>
          <a:ln w="12700">
            <a:solidFill>
              <a:srgbClr val="D5D9DC"/>
            </a:solidFill>
            <a:prstDash val="solid"/>
          </a:ln>
        </p:spPr>
        <p:txBody>
          <a:bodyPr/>
          <a:lstStyle/>
          <a:p>
            <a:endParaRPr lang="pt-BR"/>
          </a:p>
        </p:txBody>
      </p:sp>
      <p:sp>
        <p:nvSpPr>
          <p:cNvPr id="16" name="Shape 12"/>
          <p:cNvSpPr/>
          <p:nvPr/>
        </p:nvSpPr>
        <p:spPr>
          <a:xfrm>
            <a:off x="1051560" y="3500754"/>
            <a:ext cx="584200" cy="584200"/>
          </a:xfrm>
          <a:prstGeom prst="roundRect">
            <a:avLst>
              <a:gd name="adj" fmla="val 50000"/>
            </a:avLst>
          </a:prstGeom>
          <a:solidFill>
            <a:srgbClr val="2F7D4F"/>
          </a:solidFill>
          <a:ln/>
        </p:spPr>
        <p:txBody>
          <a:bodyPr/>
          <a:lstStyle/>
          <a:p>
            <a:endParaRPr lang="pt-BR"/>
          </a:p>
        </p:txBody>
      </p:sp>
      <p:pic>
        <p:nvPicPr>
          <p:cNvPr id="17" name="Image 2" descr="Search"/>
          <p:cNvPicPr>
            <a:picLocks noChangeAspect="1"/>
          </p:cNvPicPr>
          <p:nvPr/>
        </p:nvPicPr>
        <p:blipFill>
          <a:blip r:embed="rId5"/>
          <a:srcRect/>
          <a:stretch/>
        </p:blipFill>
        <p:spPr>
          <a:xfrm>
            <a:off x="1197610" y="3646804"/>
            <a:ext cx="292100" cy="292100"/>
          </a:xfrm>
          <a:prstGeom prst="rect">
            <a:avLst/>
          </a:prstGeom>
        </p:spPr>
      </p:pic>
      <p:sp>
        <p:nvSpPr>
          <p:cNvPr id="18" name="Text 13"/>
          <p:cNvSpPr/>
          <p:nvPr/>
        </p:nvSpPr>
        <p:spPr>
          <a:xfrm>
            <a:off x="1813560" y="3500754"/>
            <a:ext cx="4060342" cy="27368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2B3035"/>
                </a:solidFill>
                <a:latin typeface="Arial" pitchFamily="34" charset="0"/>
                <a:ea typeface="Arial" pitchFamily="34" charset="-122"/>
                <a:cs typeface="Arial" pitchFamily="34" charset="-120"/>
              </a:rPr>
              <a:t>Explicação x segredo comercial</a:t>
            </a:r>
            <a:endParaRPr lang="en-US" sz="1700" dirty="0"/>
          </a:p>
        </p:txBody>
      </p:sp>
      <p:sp>
        <p:nvSpPr>
          <p:cNvPr id="19" name="Text 14"/>
          <p:cNvSpPr/>
          <p:nvPr/>
        </p:nvSpPr>
        <p:spPr>
          <a:xfrm>
            <a:off x="1813560" y="3825242"/>
            <a:ext cx="4060342" cy="719772"/>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Até onde vai a proteção da propriedade intelectual do algoritmo (Aula 2) antes de esbarrar no direito do titular de dados?</a:t>
            </a:r>
            <a:endParaRPr lang="en-US" sz="1350" dirty="0"/>
          </a:p>
        </p:txBody>
      </p:sp>
      <p:sp>
        <p:nvSpPr>
          <p:cNvPr id="20" name="Shape 15"/>
          <p:cNvSpPr/>
          <p:nvPr/>
        </p:nvSpPr>
        <p:spPr>
          <a:xfrm>
            <a:off x="6203950" y="3268346"/>
            <a:ext cx="5168900" cy="1483678"/>
          </a:xfrm>
          <a:prstGeom prst="rect">
            <a:avLst/>
          </a:prstGeom>
          <a:solidFill>
            <a:srgbClr val="E6E9EB"/>
          </a:solidFill>
          <a:ln w="12700">
            <a:solidFill>
              <a:srgbClr val="E6E9EB"/>
            </a:solidFill>
            <a:prstDash val="solid"/>
          </a:ln>
        </p:spPr>
        <p:txBody>
          <a:bodyPr/>
          <a:lstStyle/>
          <a:p>
            <a:endParaRPr lang="pt-BR"/>
          </a:p>
        </p:txBody>
      </p:sp>
      <p:sp>
        <p:nvSpPr>
          <p:cNvPr id="21" name="Shape 16"/>
          <p:cNvSpPr/>
          <p:nvPr/>
        </p:nvSpPr>
        <p:spPr>
          <a:xfrm>
            <a:off x="6436360" y="3500754"/>
            <a:ext cx="584200" cy="584200"/>
          </a:xfrm>
          <a:prstGeom prst="roundRect">
            <a:avLst>
              <a:gd name="adj" fmla="val 50000"/>
            </a:avLst>
          </a:prstGeom>
          <a:solidFill>
            <a:srgbClr val="2F7D4F"/>
          </a:solidFill>
          <a:ln/>
        </p:spPr>
        <p:txBody>
          <a:bodyPr/>
          <a:lstStyle/>
          <a:p>
            <a:endParaRPr lang="pt-BR"/>
          </a:p>
        </p:txBody>
      </p:sp>
      <p:pic>
        <p:nvPicPr>
          <p:cNvPr id="22" name="Image 3" descr="Settings"/>
          <p:cNvPicPr>
            <a:picLocks noChangeAspect="1"/>
          </p:cNvPicPr>
          <p:nvPr/>
        </p:nvPicPr>
        <p:blipFill>
          <a:blip r:embed="rId6"/>
          <a:srcRect/>
          <a:stretch/>
        </p:blipFill>
        <p:spPr>
          <a:xfrm>
            <a:off x="6582410" y="3646804"/>
            <a:ext cx="292100" cy="292100"/>
          </a:xfrm>
          <a:prstGeom prst="rect">
            <a:avLst/>
          </a:prstGeom>
        </p:spPr>
      </p:pic>
      <p:sp>
        <p:nvSpPr>
          <p:cNvPr id="23" name="Text 17"/>
          <p:cNvSpPr/>
          <p:nvPr/>
        </p:nvSpPr>
        <p:spPr>
          <a:xfrm>
            <a:off x="7198360" y="3500754"/>
            <a:ext cx="4060342" cy="27368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2B3035"/>
                </a:solidFill>
                <a:latin typeface="Arial" pitchFamily="34" charset="0"/>
                <a:ea typeface="Arial" pitchFamily="34" charset="-122"/>
                <a:cs typeface="Arial" pitchFamily="34" charset="-120"/>
              </a:rPr>
              <a:t>Fiscalização e auditabilidade</a:t>
            </a:r>
            <a:endParaRPr lang="en-US" sz="1700" dirty="0"/>
          </a:p>
        </p:txBody>
      </p:sp>
      <p:sp>
        <p:nvSpPr>
          <p:cNvPr id="24" name="Text 18"/>
          <p:cNvSpPr/>
          <p:nvPr/>
        </p:nvSpPr>
        <p:spPr>
          <a:xfrm>
            <a:off x="7198360" y="3825242"/>
            <a:ext cx="4060342" cy="719772"/>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Reguladores setoriais têm meios técnicos e legais para auditar sistemas que nem seus próprios criadores conseguem explicar totalmente?</a:t>
            </a:r>
            <a:endParaRPr lang="en-US" sz="1350" dirty="0"/>
          </a:p>
        </p:txBody>
      </p:sp>
      <p:sp>
        <p:nvSpPr>
          <p:cNvPr id="25" name="Text 1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O segredo comercial x O direito à explicação</a:t>
            </a:r>
            <a:endParaRPr lang="en-US" sz="2800" dirty="0"/>
          </a:p>
        </p:txBody>
      </p:sp>
      <p:sp>
        <p:nvSpPr>
          <p:cNvPr id="4" name="Shape 2"/>
          <p:cNvSpPr/>
          <p:nvPr/>
        </p:nvSpPr>
        <p:spPr>
          <a:xfrm>
            <a:off x="812800" y="1076964"/>
            <a:ext cx="609600" cy="50800"/>
          </a:xfrm>
          <a:prstGeom prst="rect">
            <a:avLst/>
          </a:prstGeom>
          <a:solidFill>
            <a:srgbClr val="2F7D4F"/>
          </a:solidFill>
          <a:ln/>
        </p:spPr>
        <p:txBody>
          <a:bodyPr/>
          <a:lstStyle/>
          <a:p>
            <a:endParaRPr lang="pt-BR"/>
          </a:p>
        </p:txBody>
      </p:sp>
      <p:sp>
        <p:nvSpPr>
          <p:cNvPr id="5" name="Shape 3"/>
          <p:cNvSpPr/>
          <p:nvPr/>
        </p:nvSpPr>
        <p:spPr>
          <a:xfrm>
            <a:off x="819150" y="1337314"/>
            <a:ext cx="5270500" cy="2540000"/>
          </a:xfrm>
          <a:prstGeom prst="rect">
            <a:avLst/>
          </a:prstGeom>
          <a:solidFill>
            <a:srgbClr val="2F7D4F"/>
          </a:solidFill>
          <a:ln w="12700">
            <a:solidFill>
              <a:srgbClr val="D5D9DC"/>
            </a:solidFill>
            <a:prstDash val="solid"/>
          </a:ln>
        </p:spPr>
        <p:txBody>
          <a:bodyPr/>
          <a:lstStyle/>
          <a:p>
            <a:endParaRPr lang="pt-BR"/>
          </a:p>
        </p:txBody>
      </p:sp>
      <p:sp>
        <p:nvSpPr>
          <p:cNvPr id="6" name="Shape 4"/>
          <p:cNvSpPr/>
          <p:nvPr/>
        </p:nvSpPr>
        <p:spPr>
          <a:xfrm>
            <a:off x="1127760" y="1645921"/>
            <a:ext cx="711200" cy="711200"/>
          </a:xfrm>
          <a:prstGeom prst="roundRect">
            <a:avLst>
              <a:gd name="adj" fmla="val 50000"/>
            </a:avLst>
          </a:prstGeom>
          <a:solidFill>
            <a:srgbClr val="FFFFFF"/>
          </a:solidFill>
          <a:ln/>
        </p:spPr>
        <p:txBody>
          <a:bodyPr/>
          <a:lstStyle/>
          <a:p>
            <a:endParaRPr lang="pt-BR"/>
          </a:p>
        </p:txBody>
      </p:sp>
      <p:pic>
        <p:nvPicPr>
          <p:cNvPr id="7" name="Image 0" descr="Key"/>
          <p:cNvPicPr>
            <a:picLocks noChangeAspect="1"/>
          </p:cNvPicPr>
          <p:nvPr/>
        </p:nvPicPr>
        <p:blipFill>
          <a:blip r:embed="rId3"/>
          <a:srcRect/>
          <a:stretch/>
        </p:blipFill>
        <p:spPr>
          <a:xfrm>
            <a:off x="1305560" y="1823721"/>
            <a:ext cx="355600" cy="355600"/>
          </a:xfrm>
          <a:prstGeom prst="rect">
            <a:avLst/>
          </a:prstGeom>
        </p:spPr>
      </p:pic>
      <p:sp>
        <p:nvSpPr>
          <p:cNvPr id="8" name="Text 5"/>
          <p:cNvSpPr/>
          <p:nvPr/>
        </p:nvSpPr>
        <p:spPr>
          <a:xfrm>
            <a:off x="1127760" y="2509521"/>
            <a:ext cx="4792878" cy="398780"/>
          </a:xfrm>
          <a:prstGeom prst="rect">
            <a:avLst/>
          </a:prstGeom>
          <a:noFill/>
          <a:ln/>
        </p:spPr>
        <p:txBody>
          <a:bodyPr wrap="square" lIns="0" tIns="0" rIns="0" bIns="0" rtlCol="0" anchor="t">
            <a:normAutofit/>
          </a:bodyPr>
          <a:lstStyle/>
          <a:p>
            <a:pPr marL="0" indent="0" algn="l">
              <a:lnSpc>
                <a:spcPts val="2940"/>
              </a:lnSpc>
              <a:buNone/>
            </a:pPr>
            <a:r>
              <a:rPr lang="en-US" sz="2100" b="1" dirty="0">
                <a:solidFill>
                  <a:srgbClr val="FFFFFF"/>
                </a:solidFill>
                <a:latin typeface="Arial" pitchFamily="34" charset="0"/>
                <a:ea typeface="Arial" pitchFamily="34" charset="-122"/>
                <a:cs typeface="Arial" pitchFamily="34" charset="-120"/>
              </a:rPr>
              <a:t>Segredo comercial e industrial</a:t>
            </a:r>
            <a:endParaRPr lang="en-US" sz="2100" dirty="0"/>
          </a:p>
        </p:txBody>
      </p:sp>
      <p:sp>
        <p:nvSpPr>
          <p:cNvPr id="9" name="Text 6"/>
          <p:cNvSpPr/>
          <p:nvPr/>
        </p:nvSpPr>
        <p:spPr>
          <a:xfrm>
            <a:off x="1127760" y="3035300"/>
            <a:ext cx="479287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6F3EC"/>
                </a:solidFill>
                <a:latin typeface="Arial" pitchFamily="34" charset="0"/>
                <a:ea typeface="Arial" pitchFamily="34" charset="-122"/>
                <a:cs typeface="Arial" pitchFamily="34" charset="-120"/>
              </a:rPr>
              <a:t>Art. 195 da Lei nº 9.279/96. Protege o algoritmo como ativo competitivo.</a:t>
            </a:r>
            <a:endParaRPr lang="en-US" sz="1500" dirty="0"/>
          </a:p>
        </p:txBody>
      </p:sp>
      <p:sp>
        <p:nvSpPr>
          <p:cNvPr id="10" name="Shape 7"/>
          <p:cNvSpPr/>
          <p:nvPr/>
        </p:nvSpPr>
        <p:spPr>
          <a:xfrm>
            <a:off x="6102350" y="1337314"/>
            <a:ext cx="5270500" cy="2540000"/>
          </a:xfrm>
          <a:prstGeom prst="rect">
            <a:avLst/>
          </a:prstGeom>
          <a:solidFill>
            <a:srgbClr val="FFFFFF"/>
          </a:solidFill>
          <a:ln w="12700">
            <a:solidFill>
              <a:srgbClr val="D5D9DC"/>
            </a:solidFill>
            <a:prstDash val="solid"/>
          </a:ln>
        </p:spPr>
        <p:txBody>
          <a:bodyPr/>
          <a:lstStyle/>
          <a:p>
            <a:endParaRPr lang="pt-BR"/>
          </a:p>
        </p:txBody>
      </p:sp>
      <p:sp>
        <p:nvSpPr>
          <p:cNvPr id="11" name="Shape 8"/>
          <p:cNvSpPr/>
          <p:nvPr/>
        </p:nvSpPr>
        <p:spPr>
          <a:xfrm>
            <a:off x="6410960" y="1645921"/>
            <a:ext cx="711200" cy="711200"/>
          </a:xfrm>
          <a:prstGeom prst="roundRect">
            <a:avLst>
              <a:gd name="adj" fmla="val 50000"/>
            </a:avLst>
          </a:prstGeom>
          <a:solidFill>
            <a:srgbClr val="2F7D4F"/>
          </a:solidFill>
          <a:ln/>
        </p:spPr>
        <p:txBody>
          <a:bodyPr/>
          <a:lstStyle/>
          <a:p>
            <a:endParaRPr lang="pt-BR"/>
          </a:p>
        </p:txBody>
      </p:sp>
      <p:pic>
        <p:nvPicPr>
          <p:cNvPr id="12" name="Image 1" descr="Users"/>
          <p:cNvPicPr>
            <a:picLocks noChangeAspect="1"/>
          </p:cNvPicPr>
          <p:nvPr/>
        </p:nvPicPr>
        <p:blipFill>
          <a:blip r:embed="rId4"/>
          <a:srcRect/>
          <a:stretch/>
        </p:blipFill>
        <p:spPr>
          <a:xfrm>
            <a:off x="6588760" y="1823721"/>
            <a:ext cx="355600" cy="355600"/>
          </a:xfrm>
          <a:prstGeom prst="rect">
            <a:avLst/>
          </a:prstGeom>
        </p:spPr>
      </p:pic>
      <p:sp>
        <p:nvSpPr>
          <p:cNvPr id="13" name="Text 9"/>
          <p:cNvSpPr/>
          <p:nvPr/>
        </p:nvSpPr>
        <p:spPr>
          <a:xfrm>
            <a:off x="6410960" y="2509521"/>
            <a:ext cx="4792878" cy="398780"/>
          </a:xfrm>
          <a:prstGeom prst="rect">
            <a:avLst/>
          </a:prstGeom>
          <a:noFill/>
          <a:ln/>
        </p:spPr>
        <p:txBody>
          <a:bodyPr wrap="square" lIns="0" tIns="0" rIns="0" bIns="0" rtlCol="0" anchor="t">
            <a:normAutofit/>
          </a:bodyPr>
          <a:lstStyle/>
          <a:p>
            <a:pPr marL="0" indent="0" algn="l">
              <a:lnSpc>
                <a:spcPts val="2940"/>
              </a:lnSpc>
              <a:buNone/>
            </a:pPr>
            <a:r>
              <a:rPr lang="en-US" sz="2100" b="1" dirty="0">
                <a:solidFill>
                  <a:srgbClr val="2B3035"/>
                </a:solidFill>
                <a:latin typeface="Arial" pitchFamily="34" charset="0"/>
                <a:ea typeface="Arial" pitchFamily="34" charset="-122"/>
                <a:cs typeface="Arial" pitchFamily="34" charset="-120"/>
              </a:rPr>
              <a:t>Direito à explicação</a:t>
            </a:r>
            <a:endParaRPr lang="en-US" sz="2100" dirty="0"/>
          </a:p>
        </p:txBody>
      </p:sp>
      <p:sp>
        <p:nvSpPr>
          <p:cNvPr id="14" name="Text 10"/>
          <p:cNvSpPr/>
          <p:nvPr/>
        </p:nvSpPr>
        <p:spPr>
          <a:xfrm>
            <a:off x="6410960" y="3035300"/>
            <a:ext cx="479287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LGPD art. 20, § 1º; GDPR art. 22; PL 2338/2023. Protege a pessoa afetada pela decisão.</a:t>
            </a:r>
            <a:endParaRPr lang="en-US" sz="1500" dirty="0"/>
          </a:p>
        </p:txBody>
      </p:sp>
      <p:sp>
        <p:nvSpPr>
          <p:cNvPr id="15" name="Text 11"/>
          <p:cNvSpPr/>
          <p:nvPr/>
        </p:nvSpPr>
        <p:spPr>
          <a:xfrm>
            <a:off x="812800" y="4086864"/>
            <a:ext cx="10883392" cy="854075"/>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2B3035"/>
                </a:solidFill>
                <a:latin typeface="Arial" pitchFamily="34" charset="0"/>
                <a:ea typeface="Arial" pitchFamily="34" charset="-122"/>
                <a:cs typeface="Arial" pitchFamily="34" charset="-120"/>
              </a:rPr>
              <a:t>Nenhuma das duas normas anula a outra. A própria LGPD resolve parcialmente o impasse no art. 20, § 2º: quando a explicação for insuficiente por causa do segredo comercial, a ANPD pode realizar auditoria para verificar aspectos discriminatórios, sem que o algoritmo em si precise ser publicado.</a:t>
            </a:r>
            <a:endParaRPr lang="en-US" sz="1500" dirty="0"/>
          </a:p>
        </p:txBody>
      </p:sp>
      <p:sp>
        <p:nvSpPr>
          <p:cNvPr id="16"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01</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Balança da justiça"/>
          <p:cNvPicPr>
            <a:picLocks noChangeAspect="1"/>
          </p:cNvPicPr>
          <p:nvPr/>
        </p:nvPicPr>
        <p:blipFill>
          <a:blip r:embed="rId3"/>
          <a:srcRect/>
          <a:stretch/>
        </p:blipFill>
        <p:spPr>
          <a:xfrm>
            <a:off x="869950" y="5035550"/>
            <a:ext cx="952500" cy="9525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1 · JUSTIÇA CRIMINAL</a:t>
            </a:r>
            <a:endParaRPr lang="en-US" sz="1300" dirty="0"/>
          </a:p>
        </p:txBody>
      </p:sp>
      <p:sp>
        <p:nvSpPr>
          <p:cNvPr id="7" name="Text 4"/>
          <p:cNvSpPr/>
          <p:nvPr/>
        </p:nvSpPr>
        <p:spPr>
          <a:xfrm>
            <a:off x="4165600" y="929642"/>
            <a:ext cx="7430008" cy="464264"/>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State v. Loomis</a:t>
            </a:r>
            <a:endParaRPr lang="en-US" sz="3200" dirty="0"/>
          </a:p>
        </p:txBody>
      </p:sp>
      <p:sp>
        <p:nvSpPr>
          <p:cNvPr id="8" name="Text 5"/>
          <p:cNvSpPr/>
          <p:nvPr/>
        </p:nvSpPr>
        <p:spPr>
          <a:xfrm>
            <a:off x="4165600" y="1508206"/>
            <a:ext cx="7430008"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Suprema Corte de Wisconsin (EUA) · 881 N.W.2d 749 · decidido em 13 de julho de 2016</a:t>
            </a:r>
            <a:endParaRPr lang="en-US" sz="1300" dirty="0"/>
          </a:p>
        </p:txBody>
      </p:sp>
      <p:sp>
        <p:nvSpPr>
          <p:cNvPr id="9" name="Shape 6"/>
          <p:cNvSpPr/>
          <p:nvPr/>
        </p:nvSpPr>
        <p:spPr>
          <a:xfrm>
            <a:off x="4165600" y="1883488"/>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1985088"/>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OS FATOS</a:t>
            </a:r>
            <a:endParaRPr lang="en-US" sz="1300" dirty="0"/>
          </a:p>
        </p:txBody>
      </p:sp>
      <p:sp>
        <p:nvSpPr>
          <p:cNvPr id="11" name="Text 8"/>
          <p:cNvSpPr/>
          <p:nvPr/>
        </p:nvSpPr>
        <p:spPr>
          <a:xfrm>
            <a:off x="4165600" y="2279731"/>
            <a:ext cx="7430008"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Em fevereiro de 2013, Eric Loomis foi associado a um veículo usado em um tiroteio e confessou dois crimes menos graves (fuga de policial e uso de veículo sem autorização do dono). Na sentença, o juiz consultou o COMPAS, sistema privado de avaliação de risco de reincidência, que classificou Loomis como “alto risco”. A pena foi fixada em 6 anos de prisão.</a:t>
            </a:r>
            <a:endParaRPr lang="en-US" sz="1300" dirty="0"/>
          </a:p>
        </p:txBody>
      </p:sp>
      <p:sp>
        <p:nvSpPr>
          <p:cNvPr id="12" name="Shape 9"/>
          <p:cNvSpPr/>
          <p:nvPr/>
        </p:nvSpPr>
        <p:spPr>
          <a:xfrm>
            <a:off x="4165600" y="3323673"/>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3425273"/>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ARGUMENTO DA DEFESA</a:t>
            </a:r>
            <a:endParaRPr lang="en-US" sz="1300" dirty="0"/>
          </a:p>
        </p:txBody>
      </p:sp>
      <p:sp>
        <p:nvSpPr>
          <p:cNvPr id="14" name="Text 11"/>
          <p:cNvSpPr/>
          <p:nvPr/>
        </p:nvSpPr>
        <p:spPr>
          <a:xfrm>
            <a:off x="4165600" y="3719909"/>
            <a:ext cx="7430008"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Usar um algoritmo proprietário, cujo funcionamento interno é segredo comercial, para fundamentar uma pena viola o devido processo, porque impede o réu de contestar a cientificidade e a precisão do instrumento.</a:t>
            </a:r>
            <a:endParaRPr lang="en-US" sz="13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01</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Balança da justiça"/>
          <p:cNvPicPr>
            <a:picLocks noChangeAspect="1"/>
          </p:cNvPicPr>
          <p:nvPr/>
        </p:nvPicPr>
        <p:blipFill>
          <a:blip r:embed="rId3"/>
          <a:srcRect/>
          <a:stretch/>
        </p:blipFill>
        <p:spPr>
          <a:xfrm>
            <a:off x="869950" y="5035550"/>
            <a:ext cx="952500" cy="9525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1 · JUSTIÇA CRIMINAL</a:t>
            </a:r>
            <a:endParaRPr lang="en-US" sz="1300" dirty="0"/>
          </a:p>
        </p:txBody>
      </p:sp>
      <p:sp>
        <p:nvSpPr>
          <p:cNvPr id="7" name="Text 4"/>
          <p:cNvSpPr/>
          <p:nvPr/>
        </p:nvSpPr>
        <p:spPr>
          <a:xfrm>
            <a:off x="4165600" y="929642"/>
            <a:ext cx="7430008" cy="464264"/>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State v. Loomis: a decisão</a:t>
            </a:r>
            <a:endParaRPr lang="en-US" sz="3200" dirty="0"/>
          </a:p>
        </p:txBody>
      </p:sp>
      <p:sp>
        <p:nvSpPr>
          <p:cNvPr id="8" name="Text 5"/>
          <p:cNvSpPr/>
          <p:nvPr/>
        </p:nvSpPr>
        <p:spPr>
          <a:xfrm>
            <a:off x="4165600" y="1508206"/>
            <a:ext cx="7430008" cy="471170"/>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Suprema Corte de Wisconsin (EUA) · cert. negado pela Suprema Corte dos EUA em 26 de junho de 2017</a:t>
            </a:r>
            <a:endParaRPr lang="en-US" sz="1300" dirty="0"/>
          </a:p>
        </p:txBody>
      </p:sp>
      <p:sp>
        <p:nvSpPr>
          <p:cNvPr id="9" name="Shape 6"/>
          <p:cNvSpPr/>
          <p:nvPr/>
        </p:nvSpPr>
        <p:spPr>
          <a:xfrm>
            <a:off x="4165600" y="2106377"/>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2207977"/>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QUE O TRIBUNAL DECIDIU</a:t>
            </a:r>
            <a:endParaRPr lang="en-US" sz="1300" dirty="0"/>
          </a:p>
        </p:txBody>
      </p:sp>
      <p:sp>
        <p:nvSpPr>
          <p:cNvPr id="11" name="Text 8"/>
          <p:cNvSpPr/>
          <p:nvPr/>
        </p:nvSpPr>
        <p:spPr>
          <a:xfrm>
            <a:off x="4165600" y="2502613"/>
            <a:ext cx="7430008"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A Suprema Corte de Wisconsin manteve a condenação. Autorizou o uso do COMPAS como um entre vários fatores da sentença, desde que o juiz seja advertido sobre as limitações do instrumento (inclusive seu caráter proprietário e a impossibilidade de auditoria plena) e desde que o escore não seja o único nem o fator determinante da pena.</a:t>
            </a:r>
            <a:endParaRPr lang="en-US" sz="1300" dirty="0"/>
          </a:p>
        </p:txBody>
      </p:sp>
      <p:sp>
        <p:nvSpPr>
          <p:cNvPr id="12" name="Shape 9"/>
          <p:cNvSpPr/>
          <p:nvPr/>
        </p:nvSpPr>
        <p:spPr>
          <a:xfrm>
            <a:off x="4165600" y="3546556"/>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3648156"/>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DESFECHO</a:t>
            </a:r>
            <a:endParaRPr lang="en-US" sz="1300" dirty="0"/>
          </a:p>
        </p:txBody>
      </p:sp>
      <p:sp>
        <p:nvSpPr>
          <p:cNvPr id="14" name="Text 11"/>
          <p:cNvSpPr/>
          <p:nvPr/>
        </p:nvSpPr>
        <p:spPr>
          <a:xfrm>
            <a:off x="4165600" y="3942798"/>
            <a:ext cx="7430008"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A Suprema Corte dos Estados Unidos recusou o recurso (certiorari negado), o que manteve a decisão de Wisconsin como palavra final do caso. É a decisão mais citada no mundo sobre uso de IA opaca em decisão que priva alguém de liberdade, mas não resolveu a tensão entre segredo comercial e devido processo, apenas administrou o risco.</a:t>
            </a:r>
            <a:endParaRPr lang="en-US" sz="13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02</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Database"/>
          <p:cNvPicPr>
            <a:picLocks noChangeAspect="1"/>
          </p:cNvPicPr>
          <p:nvPr/>
        </p:nvPicPr>
        <p:blipFill>
          <a:blip r:embed="rId3"/>
          <a:srcRect/>
          <a:stretch/>
        </p:blipFill>
        <p:spPr>
          <a:xfrm>
            <a:off x="901700" y="5067300"/>
            <a:ext cx="889000" cy="8890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2 · BENEFÍCIOS SOCIAIS</a:t>
            </a:r>
            <a:endParaRPr lang="en-US" sz="1300" dirty="0"/>
          </a:p>
        </p:txBody>
      </p:sp>
      <p:sp>
        <p:nvSpPr>
          <p:cNvPr id="7" name="Text 4"/>
          <p:cNvSpPr/>
          <p:nvPr/>
        </p:nvSpPr>
        <p:spPr>
          <a:xfrm>
            <a:off x="4165600" y="929642"/>
            <a:ext cx="7430008" cy="464264"/>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O caso SyRI</a:t>
            </a:r>
            <a:endParaRPr lang="en-US" sz="3200" dirty="0"/>
          </a:p>
        </p:txBody>
      </p:sp>
      <p:sp>
        <p:nvSpPr>
          <p:cNvPr id="8" name="Text 5"/>
          <p:cNvSpPr/>
          <p:nvPr/>
        </p:nvSpPr>
        <p:spPr>
          <a:xfrm>
            <a:off x="4165600" y="1508212"/>
            <a:ext cx="7430008" cy="471170"/>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Rechtbank Den Haag (Tribunal Distrital de Haia, Países Baixos) · proc. C/09/550982/HA ZA 18-388 · 5 de fevereiro de 2020</a:t>
            </a:r>
            <a:endParaRPr lang="en-US" sz="1300" dirty="0"/>
          </a:p>
        </p:txBody>
      </p:sp>
      <p:sp>
        <p:nvSpPr>
          <p:cNvPr id="9" name="Shape 6"/>
          <p:cNvSpPr/>
          <p:nvPr/>
        </p:nvSpPr>
        <p:spPr>
          <a:xfrm>
            <a:off x="4165600" y="2106377"/>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2207977"/>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SISTEMA</a:t>
            </a:r>
            <a:endParaRPr lang="en-US" sz="1300" dirty="0"/>
          </a:p>
        </p:txBody>
      </p:sp>
      <p:sp>
        <p:nvSpPr>
          <p:cNvPr id="11" name="Text 8"/>
          <p:cNvSpPr/>
          <p:nvPr/>
        </p:nvSpPr>
        <p:spPr>
          <a:xfrm>
            <a:off x="4165600" y="2502619"/>
            <a:ext cx="7430008"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O SyRI (System Risk Indication) cruzava, de forma automatizada, dados de diferentes órgãos públicos (receita, previdência, imigração) para calcular um escore de risco de fraude em benefícios sociais, usando um modelo cujo funcionamento interno o próprio governo se recusou a divulgar publicamente.</a:t>
            </a:r>
            <a:endParaRPr lang="en-US" sz="1300" dirty="0"/>
          </a:p>
        </p:txBody>
      </p:sp>
      <p:sp>
        <p:nvSpPr>
          <p:cNvPr id="12" name="Shape 9"/>
          <p:cNvSpPr/>
          <p:nvPr/>
        </p:nvSpPr>
        <p:spPr>
          <a:xfrm>
            <a:off x="4165600" y="3546562"/>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3648162"/>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QUEM PROCESSOU O ESTADO</a:t>
            </a:r>
            <a:endParaRPr lang="en-US" sz="1300" dirty="0"/>
          </a:p>
        </p:txBody>
      </p:sp>
      <p:sp>
        <p:nvSpPr>
          <p:cNvPr id="14" name="Text 11"/>
          <p:cNvSpPr/>
          <p:nvPr/>
        </p:nvSpPr>
        <p:spPr>
          <a:xfrm>
            <a:off x="4165600" y="3942792"/>
            <a:ext cx="743000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Uma coalizão de sindicatos e organizações de direitos civis holandesas, sustentando violação do direito à privacidade previsto no art. 8º da Convenção Europeia de Direitos Humanos.</a:t>
            </a:r>
            <a:endParaRPr lang="en-US" sz="13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02</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Database"/>
          <p:cNvPicPr>
            <a:picLocks noChangeAspect="1"/>
          </p:cNvPicPr>
          <p:nvPr/>
        </p:nvPicPr>
        <p:blipFill>
          <a:blip r:embed="rId3"/>
          <a:srcRect/>
          <a:stretch/>
        </p:blipFill>
        <p:spPr>
          <a:xfrm>
            <a:off x="901700" y="5067300"/>
            <a:ext cx="889000" cy="8890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2 · BENEFÍCIOS SOCIAIS</a:t>
            </a:r>
            <a:endParaRPr lang="en-US" sz="1300" dirty="0"/>
          </a:p>
        </p:txBody>
      </p:sp>
      <p:sp>
        <p:nvSpPr>
          <p:cNvPr id="7" name="Text 4"/>
          <p:cNvSpPr/>
          <p:nvPr/>
        </p:nvSpPr>
        <p:spPr>
          <a:xfrm>
            <a:off x="4165600" y="929642"/>
            <a:ext cx="7430008" cy="464264"/>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O caso SyRI: a decisão</a:t>
            </a:r>
            <a:endParaRPr lang="en-US" sz="3200" dirty="0"/>
          </a:p>
        </p:txBody>
      </p:sp>
      <p:sp>
        <p:nvSpPr>
          <p:cNvPr id="8" name="Text 5"/>
          <p:cNvSpPr/>
          <p:nvPr/>
        </p:nvSpPr>
        <p:spPr>
          <a:xfrm>
            <a:off x="4165600" y="1508212"/>
            <a:ext cx="7430008"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Rechtbank Den Haag · decisão de primeira instância, sem recurso do governo holandês</a:t>
            </a:r>
            <a:endParaRPr lang="en-US" sz="1300" dirty="0"/>
          </a:p>
        </p:txBody>
      </p:sp>
      <p:sp>
        <p:nvSpPr>
          <p:cNvPr id="9" name="Shape 6"/>
          <p:cNvSpPr/>
          <p:nvPr/>
        </p:nvSpPr>
        <p:spPr>
          <a:xfrm>
            <a:off x="4165600" y="1883494"/>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1985094"/>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QUE O TRIBUNAL DECIDIU</a:t>
            </a:r>
            <a:endParaRPr lang="en-US" sz="1300" dirty="0"/>
          </a:p>
        </p:txBody>
      </p:sp>
      <p:sp>
        <p:nvSpPr>
          <p:cNvPr id="11" name="Text 8"/>
          <p:cNvSpPr/>
          <p:nvPr/>
        </p:nvSpPr>
        <p:spPr>
          <a:xfrm>
            <a:off x="4165600" y="2279737"/>
            <a:ext cx="743000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Declarou a legislação que autorizava o SyRI incompatível com o art. 8º da Convenção Europeia de Direitos Humanos, determinando a suspensão imediata do sistema.</a:t>
            </a:r>
            <a:endParaRPr lang="en-US" sz="1300" dirty="0"/>
          </a:p>
        </p:txBody>
      </p:sp>
      <p:sp>
        <p:nvSpPr>
          <p:cNvPr id="12" name="Shape 9"/>
          <p:cNvSpPr/>
          <p:nvPr/>
        </p:nvSpPr>
        <p:spPr>
          <a:xfrm>
            <a:off x="4165600" y="2877902"/>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2979502"/>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FUNDAMENTO CENTRAL</a:t>
            </a:r>
            <a:endParaRPr lang="en-US" sz="1300" dirty="0"/>
          </a:p>
        </p:txBody>
      </p:sp>
      <p:sp>
        <p:nvSpPr>
          <p:cNvPr id="14" name="Text 11"/>
          <p:cNvSpPr/>
          <p:nvPr/>
        </p:nvSpPr>
        <p:spPr>
          <a:xfrm>
            <a:off x="4165600" y="3274144"/>
            <a:ext cx="7430008"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A opacidade do modelo impedia qualquer pessoa, inclusive os próprios juízes, de verificar quais critérios levavam alguém a ser marcado como suspeito. O sistema era aplicado de forma concentrada em bairros de baixa renda, o que a decisão tratou como fator agravante de desproporcionalidade.</a:t>
            </a:r>
            <a:endParaRPr lang="en-US" sz="1300" dirty="0"/>
          </a:p>
        </p:txBody>
      </p:sp>
      <p:sp>
        <p:nvSpPr>
          <p:cNvPr id="15" name="Shape 12"/>
          <p:cNvSpPr/>
          <p:nvPr/>
        </p:nvSpPr>
        <p:spPr>
          <a:xfrm>
            <a:off x="4165600" y="4318087"/>
            <a:ext cx="7213600" cy="0"/>
          </a:xfrm>
          <a:prstGeom prst="line">
            <a:avLst/>
          </a:prstGeom>
          <a:noFill/>
          <a:ln w="25400">
            <a:solidFill>
              <a:srgbClr val="2F7D4F"/>
            </a:solidFill>
            <a:prstDash val="solid"/>
          </a:ln>
        </p:spPr>
        <p:txBody>
          <a:bodyPr/>
          <a:lstStyle/>
          <a:p>
            <a:endParaRPr lang="pt-BR"/>
          </a:p>
        </p:txBody>
      </p:sp>
      <p:sp>
        <p:nvSpPr>
          <p:cNvPr id="16" name="Text 13"/>
          <p:cNvSpPr/>
          <p:nvPr/>
        </p:nvSpPr>
        <p:spPr>
          <a:xfrm>
            <a:off x="4165600" y="4419687"/>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POR QUE IMPORTA</a:t>
            </a:r>
            <a:endParaRPr lang="en-US" sz="1300" dirty="0"/>
          </a:p>
        </p:txBody>
      </p:sp>
      <p:sp>
        <p:nvSpPr>
          <p:cNvPr id="17" name="Text 14"/>
          <p:cNvSpPr/>
          <p:nvPr/>
        </p:nvSpPr>
        <p:spPr>
          <a:xfrm>
            <a:off x="4165600" y="4714317"/>
            <a:ext cx="7430008"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É a primeira decisão judicial de um tribunal europeu a suspender integralmente um sistema estatal de IA por falta de transparência, e tornou-se referência para o debate sobre uso de IA pelo poder público em qualquer país, inclusive o Brasil.</a:t>
            </a:r>
            <a:endParaRPr lang="en-US" sz="1300" dirty="0"/>
          </a:p>
        </p:txBody>
      </p:sp>
      <p:sp>
        <p:nvSpPr>
          <p:cNvPr id="18"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03</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Users"/>
          <p:cNvPicPr>
            <a:picLocks noChangeAspect="1"/>
          </p:cNvPicPr>
          <p:nvPr/>
        </p:nvPicPr>
        <p:blipFill>
          <a:blip r:embed="rId3"/>
          <a:srcRect/>
          <a:stretch/>
        </p:blipFill>
        <p:spPr>
          <a:xfrm>
            <a:off x="901700" y="5067300"/>
            <a:ext cx="889000" cy="8890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3 · TRABALHO EM PLATAFORMA</a:t>
            </a:r>
            <a:endParaRPr lang="en-US" sz="1300" dirty="0"/>
          </a:p>
        </p:txBody>
      </p:sp>
      <p:sp>
        <p:nvSpPr>
          <p:cNvPr id="7" name="Text 4"/>
          <p:cNvSpPr/>
          <p:nvPr/>
        </p:nvSpPr>
        <p:spPr>
          <a:xfrm>
            <a:off x="4165600" y="929642"/>
            <a:ext cx="7430008" cy="464264"/>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O algoritmo Frank, da Deliveroo</a:t>
            </a:r>
            <a:endParaRPr lang="en-US" sz="3200" dirty="0"/>
          </a:p>
        </p:txBody>
      </p:sp>
      <p:sp>
        <p:nvSpPr>
          <p:cNvPr id="8" name="Text 5"/>
          <p:cNvSpPr/>
          <p:nvPr/>
        </p:nvSpPr>
        <p:spPr>
          <a:xfrm>
            <a:off x="4165600" y="1508212"/>
            <a:ext cx="7430008"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Tribunale di Bologna (Itália), Seção Trabalhista · ordinanza de 31 de dezembro de 2020</a:t>
            </a:r>
            <a:endParaRPr lang="en-US" sz="1300" dirty="0"/>
          </a:p>
        </p:txBody>
      </p:sp>
      <p:sp>
        <p:nvSpPr>
          <p:cNvPr id="9" name="Shape 6"/>
          <p:cNvSpPr/>
          <p:nvPr/>
        </p:nvSpPr>
        <p:spPr>
          <a:xfrm>
            <a:off x="4165600" y="1883494"/>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1985094"/>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SISTEMA</a:t>
            </a:r>
            <a:endParaRPr lang="en-US" sz="1300" dirty="0"/>
          </a:p>
        </p:txBody>
      </p:sp>
      <p:sp>
        <p:nvSpPr>
          <p:cNvPr id="11" name="Text 8"/>
          <p:cNvSpPr/>
          <p:nvPr/>
        </p:nvSpPr>
        <p:spPr>
          <a:xfrm>
            <a:off x="4165600" y="2279737"/>
            <a:ext cx="7430008"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O algoritmo Frank calculava dois índices (confiabilidade e participação) para priorizar o acesso dos entregadores aos melhores turnos. Quem cancelava um turno com menos de 24 horas de antecedência perdia pontos, sem distinção do motivo: doença, cuidado de filho ou participação em greve recebiam o mesmo tratamento.</a:t>
            </a:r>
            <a:endParaRPr lang="en-US" sz="1300" dirty="0"/>
          </a:p>
        </p:txBody>
      </p:sp>
      <p:sp>
        <p:nvSpPr>
          <p:cNvPr id="12" name="Shape 9"/>
          <p:cNvSpPr/>
          <p:nvPr/>
        </p:nvSpPr>
        <p:spPr>
          <a:xfrm>
            <a:off x="4165600" y="3323667"/>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3425267"/>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A DECISÃO</a:t>
            </a:r>
            <a:endParaRPr lang="en-US" sz="1300" dirty="0"/>
          </a:p>
        </p:txBody>
      </p:sp>
      <p:sp>
        <p:nvSpPr>
          <p:cNvPr id="14" name="Text 11"/>
          <p:cNvSpPr/>
          <p:nvPr/>
        </p:nvSpPr>
        <p:spPr>
          <a:xfrm>
            <a:off x="4165600" y="3719909"/>
            <a:ext cx="7430008" cy="11398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O tribunal reconheceu discriminação indireta, porque o algoritmo tratava de forma idêntica situações objetivamente diferentes, penalizando igualmente quem faltava sem justificativa e quem exercia um direito, como o direito de greve. Sugeriu que empresas que usam algoritmos de gestão de trabalho adotem “ethics by design”: avaliação dos riscos éticos e discriminatórios já na fase de desenho do sistema.</a:t>
            </a:r>
            <a:endParaRPr lang="en-US" sz="13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04</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GraduationCap"/>
          <p:cNvPicPr>
            <a:picLocks noChangeAspect="1"/>
          </p:cNvPicPr>
          <p:nvPr/>
        </p:nvPicPr>
        <p:blipFill>
          <a:blip r:embed="rId3"/>
          <a:srcRect/>
          <a:stretch/>
        </p:blipFill>
        <p:spPr>
          <a:xfrm>
            <a:off x="901700" y="5067300"/>
            <a:ext cx="889000" cy="8890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4 · EDUCAÇÃO</a:t>
            </a:r>
            <a:endParaRPr lang="en-US" sz="1300" dirty="0"/>
          </a:p>
        </p:txBody>
      </p:sp>
      <p:sp>
        <p:nvSpPr>
          <p:cNvPr id="7" name="Text 4"/>
          <p:cNvSpPr/>
          <p:nvPr/>
        </p:nvSpPr>
        <p:spPr>
          <a:xfrm>
            <a:off x="4165600" y="929642"/>
            <a:ext cx="7430008" cy="464264"/>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O caso Parcoursup</a:t>
            </a:r>
            <a:endParaRPr lang="en-US" sz="3200" dirty="0"/>
          </a:p>
        </p:txBody>
      </p:sp>
      <p:sp>
        <p:nvSpPr>
          <p:cNvPr id="8" name="Text 5"/>
          <p:cNvSpPr/>
          <p:nvPr/>
        </p:nvSpPr>
        <p:spPr>
          <a:xfrm>
            <a:off x="4165600" y="1508212"/>
            <a:ext cx="7430008"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Conseil Constitutionnel (França) · Décision nº 2020-834 QPC · 3 de abril de 2020</a:t>
            </a:r>
            <a:endParaRPr lang="en-US" sz="1300" dirty="0"/>
          </a:p>
        </p:txBody>
      </p:sp>
      <p:sp>
        <p:nvSpPr>
          <p:cNvPr id="9" name="Shape 6"/>
          <p:cNvSpPr/>
          <p:nvPr/>
        </p:nvSpPr>
        <p:spPr>
          <a:xfrm>
            <a:off x="4165600" y="1883494"/>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1985094"/>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SISTEMA</a:t>
            </a:r>
            <a:endParaRPr lang="en-US" sz="1300" dirty="0"/>
          </a:p>
        </p:txBody>
      </p:sp>
      <p:sp>
        <p:nvSpPr>
          <p:cNvPr id="11" name="Text 8"/>
          <p:cNvSpPr/>
          <p:nvPr/>
        </p:nvSpPr>
        <p:spPr>
          <a:xfrm>
            <a:off x="4165600" y="2279737"/>
            <a:ext cx="743000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Parcoursup é a plataforma nacional francesa que usa algoritmos locais, definidos por cada instituição de ensino, para processar a candidatura de estudantes ao ensino superior.</a:t>
            </a:r>
            <a:endParaRPr lang="en-US" sz="1300" dirty="0"/>
          </a:p>
        </p:txBody>
      </p:sp>
      <p:sp>
        <p:nvSpPr>
          <p:cNvPr id="12" name="Shape 9"/>
          <p:cNvSpPr/>
          <p:nvPr/>
        </p:nvSpPr>
        <p:spPr>
          <a:xfrm>
            <a:off x="4165600" y="2877902"/>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2979502"/>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A DECISÃO</a:t>
            </a:r>
            <a:endParaRPr lang="en-US" sz="1300" dirty="0"/>
          </a:p>
        </p:txBody>
      </p:sp>
      <p:sp>
        <p:nvSpPr>
          <p:cNvPr id="14" name="Text 11"/>
          <p:cNvSpPr/>
          <p:nvPr/>
        </p:nvSpPr>
        <p:spPr>
          <a:xfrm>
            <a:off x="4165600" y="3274144"/>
            <a:ext cx="7430008"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O Conselho validou o uso do sistema, mas impôs que os candidatos não selecionados tenham direito a conhecer os critérios que fundamentaram a decisão e a extensão em que o processamento algorítmico foi utilizado, preservando um responsável humano para revisar o resultado.</a:t>
            </a:r>
            <a:endParaRPr lang="en-US" sz="1300" dirty="0"/>
          </a:p>
        </p:txBody>
      </p:sp>
      <p:sp>
        <p:nvSpPr>
          <p:cNvPr id="15" name="Shape 12"/>
          <p:cNvSpPr/>
          <p:nvPr/>
        </p:nvSpPr>
        <p:spPr>
          <a:xfrm>
            <a:off x="4165600" y="4318087"/>
            <a:ext cx="7213600" cy="0"/>
          </a:xfrm>
          <a:prstGeom prst="line">
            <a:avLst/>
          </a:prstGeom>
          <a:noFill/>
          <a:ln w="25400">
            <a:solidFill>
              <a:srgbClr val="2F7D4F"/>
            </a:solidFill>
            <a:prstDash val="solid"/>
          </a:ln>
        </p:spPr>
        <p:txBody>
          <a:bodyPr/>
          <a:lstStyle/>
          <a:p>
            <a:endParaRPr lang="pt-BR"/>
          </a:p>
        </p:txBody>
      </p:sp>
      <p:sp>
        <p:nvSpPr>
          <p:cNvPr id="16" name="Text 13"/>
          <p:cNvSpPr/>
          <p:nvPr/>
        </p:nvSpPr>
        <p:spPr>
          <a:xfrm>
            <a:off x="4165600" y="4419687"/>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A DIFERENÇA EM RELAÇÃO A LOOMIS E SYRI</a:t>
            </a:r>
            <a:endParaRPr lang="en-US" sz="1300" dirty="0"/>
          </a:p>
        </p:txBody>
      </p:sp>
      <p:sp>
        <p:nvSpPr>
          <p:cNvPr id="17" name="Text 14"/>
          <p:cNvSpPr/>
          <p:nvPr/>
        </p:nvSpPr>
        <p:spPr>
          <a:xfrm>
            <a:off x="4165600" y="4714317"/>
            <a:ext cx="7430008"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Aqui o tribunal não exigiu a divulgação do funcionamento técnico do algoritmo em si, apenas dos critérios gerais de decisão: o que a doutrina chama de “transparência de resultado” em vez de “transparência de código”.</a:t>
            </a:r>
            <a:endParaRPr lang="en-US" sz="1300" dirty="0"/>
          </a:p>
        </p:txBody>
      </p:sp>
      <p:sp>
        <p:nvSpPr>
          <p:cNvPr id="18"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05</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Search"/>
          <p:cNvPicPr>
            <a:picLocks noChangeAspect="1"/>
          </p:cNvPicPr>
          <p:nvPr/>
        </p:nvPicPr>
        <p:blipFill>
          <a:blip r:embed="rId3"/>
          <a:srcRect/>
          <a:stretch/>
        </p:blipFill>
        <p:spPr>
          <a:xfrm>
            <a:off x="901700" y="5067300"/>
            <a:ext cx="889000" cy="8890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5 · SEGURANÇA E TRANSPORTE (BRASIL)</a:t>
            </a:r>
            <a:endParaRPr lang="en-US" sz="1300" dirty="0"/>
          </a:p>
        </p:txBody>
      </p:sp>
      <p:sp>
        <p:nvSpPr>
          <p:cNvPr id="7" name="Text 4"/>
          <p:cNvSpPr/>
          <p:nvPr/>
        </p:nvSpPr>
        <p:spPr>
          <a:xfrm>
            <a:off x="4165600" y="929642"/>
            <a:ext cx="7430008" cy="903129"/>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Reconhecimento facial no Metrô de São Paulo</a:t>
            </a:r>
            <a:endParaRPr lang="en-US" sz="3200" dirty="0"/>
          </a:p>
        </p:txBody>
      </p:sp>
      <p:sp>
        <p:nvSpPr>
          <p:cNvPr id="8" name="Text 5"/>
          <p:cNvSpPr/>
          <p:nvPr/>
        </p:nvSpPr>
        <p:spPr>
          <a:xfrm>
            <a:off x="4165600" y="1947069"/>
            <a:ext cx="7430008" cy="471170"/>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TJSP, 5ª e 8ª Câmaras de Direito Público · liminar em 22/03/2022, mantida em 18/04/2022, sentença de mérito em 12/05/2023</a:t>
            </a:r>
            <a:endParaRPr lang="en-US" sz="1300" dirty="0"/>
          </a:p>
        </p:txBody>
      </p:sp>
      <p:sp>
        <p:nvSpPr>
          <p:cNvPr id="9" name="Shape 6"/>
          <p:cNvSpPr/>
          <p:nvPr/>
        </p:nvSpPr>
        <p:spPr>
          <a:xfrm>
            <a:off x="4165600" y="2545246"/>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2646846"/>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AS PARTES</a:t>
            </a:r>
            <a:endParaRPr lang="en-US" sz="1300" dirty="0"/>
          </a:p>
        </p:txBody>
      </p:sp>
      <p:sp>
        <p:nvSpPr>
          <p:cNvPr id="11" name="Text 8"/>
          <p:cNvSpPr/>
          <p:nvPr/>
        </p:nvSpPr>
        <p:spPr>
          <a:xfrm>
            <a:off x="4165600" y="2941476"/>
            <a:ext cx="7430008"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Ação civil pública movida por Idec, Defensorias Públicas do Estado e da União, Intervozes, Artigo 19 e outras entidades, contra a concessionária da Linha 4 Amarela do Metrô de São Paulo.</a:t>
            </a:r>
            <a:endParaRPr lang="en-US" sz="1300" dirty="0"/>
          </a:p>
        </p:txBody>
      </p:sp>
      <p:sp>
        <p:nvSpPr>
          <p:cNvPr id="12" name="Shape 9"/>
          <p:cNvSpPr/>
          <p:nvPr/>
        </p:nvSpPr>
        <p:spPr>
          <a:xfrm>
            <a:off x="4165600" y="3539654"/>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3641254"/>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A DECISÃO</a:t>
            </a:r>
            <a:endParaRPr lang="en-US" sz="1300" dirty="0"/>
          </a:p>
        </p:txBody>
      </p:sp>
      <p:sp>
        <p:nvSpPr>
          <p:cNvPr id="14" name="Text 11"/>
          <p:cNvSpPr/>
          <p:nvPr/>
        </p:nvSpPr>
        <p:spPr>
          <a:xfrm>
            <a:off x="4165600" y="3935896"/>
            <a:ext cx="7430008" cy="11398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Suspensão do sistema de captação de dados biométricos faciais dos usuários (cerca de 4 milhões de passageiros por dia), por ausência de informação clara e de consentimento válido para tratar dado biométrico, categoria de dado sensível pela LGPD. A sentença de 2023 condenou a concessionária a pagar R$ 500 mil por dano moral coletivo, revertidos ao Fundo de Defesa dos Direitos Difusos.</a:t>
            </a:r>
            <a:endParaRPr lang="en-US" sz="13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3556000" cy="6858000"/>
          </a:xfrm>
          <a:prstGeom prst="rect">
            <a:avLst/>
          </a:prstGeom>
          <a:solidFill>
            <a:srgbClr val="2F7D4F"/>
          </a:solidFill>
          <a:ln/>
        </p:spPr>
        <p:txBody>
          <a:bodyPr/>
          <a:lstStyle/>
          <a:p>
            <a:endParaRPr lang="pt-BR"/>
          </a:p>
        </p:txBody>
      </p:sp>
      <p:sp>
        <p:nvSpPr>
          <p:cNvPr id="3" name="Text 1"/>
          <p:cNvSpPr/>
          <p:nvPr/>
        </p:nvSpPr>
        <p:spPr>
          <a:xfrm>
            <a:off x="457200" y="457200"/>
            <a:ext cx="1745006"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FFFF"/>
                </a:solidFill>
                <a:latin typeface="Arial" pitchFamily="34" charset="0"/>
                <a:ea typeface="Arial" pitchFamily="34" charset="-122"/>
                <a:cs typeface="Arial" pitchFamily="34" charset="-120"/>
              </a:rPr>
              <a:t>06</a:t>
            </a:r>
            <a:endParaRPr lang="en-US" sz="10000" dirty="0"/>
          </a:p>
        </p:txBody>
      </p:sp>
      <p:sp>
        <p:nvSpPr>
          <p:cNvPr id="4" name="Shape 2"/>
          <p:cNvSpPr/>
          <p:nvPr/>
        </p:nvSpPr>
        <p:spPr>
          <a:xfrm>
            <a:off x="469900" y="4635500"/>
            <a:ext cx="1752600" cy="1752600"/>
          </a:xfrm>
          <a:prstGeom prst="roundRect">
            <a:avLst>
              <a:gd name="adj" fmla="val 50000"/>
            </a:avLst>
          </a:prstGeom>
          <a:noFill/>
          <a:ln w="25400">
            <a:solidFill>
              <a:srgbClr val="FFFFFF"/>
            </a:solidFill>
            <a:prstDash val="solid"/>
          </a:ln>
        </p:spPr>
        <p:txBody>
          <a:bodyPr/>
          <a:lstStyle/>
          <a:p>
            <a:endParaRPr lang="pt-BR"/>
          </a:p>
        </p:txBody>
      </p:sp>
      <p:pic>
        <p:nvPicPr>
          <p:cNvPr id="5" name="Image 0" descr="Chart"/>
          <p:cNvPicPr>
            <a:picLocks noChangeAspect="1"/>
          </p:cNvPicPr>
          <p:nvPr/>
        </p:nvPicPr>
        <p:blipFill>
          <a:blip r:embed="rId3"/>
          <a:srcRect/>
          <a:stretch/>
        </p:blipFill>
        <p:spPr>
          <a:xfrm>
            <a:off x="901700" y="5067300"/>
            <a:ext cx="889000" cy="889000"/>
          </a:xfrm>
          <a:prstGeom prst="rect">
            <a:avLst/>
          </a:prstGeom>
        </p:spPr>
      </p:pic>
      <p:sp>
        <p:nvSpPr>
          <p:cNvPr id="6" name="Text 3"/>
          <p:cNvSpPr/>
          <p:nvPr/>
        </p:nvSpPr>
        <p:spPr>
          <a:xfrm>
            <a:off x="4165600" y="558800"/>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5D656C"/>
                </a:solidFill>
                <a:latin typeface="Arial" pitchFamily="34" charset="0"/>
                <a:ea typeface="Arial" pitchFamily="34" charset="-122"/>
                <a:cs typeface="Arial" pitchFamily="34" charset="-120"/>
              </a:rPr>
              <a:t>CASO 6 · CRÉDITO E CONSUMO (BRASIL)</a:t>
            </a:r>
            <a:endParaRPr lang="en-US" sz="1300" dirty="0"/>
          </a:p>
        </p:txBody>
      </p:sp>
      <p:sp>
        <p:nvSpPr>
          <p:cNvPr id="7" name="Text 4"/>
          <p:cNvSpPr/>
          <p:nvPr/>
        </p:nvSpPr>
        <p:spPr>
          <a:xfrm>
            <a:off x="4165600" y="929642"/>
            <a:ext cx="7430008" cy="464264"/>
          </a:xfrm>
          <a:prstGeom prst="rect">
            <a:avLst/>
          </a:prstGeom>
          <a:noFill/>
          <a:ln/>
        </p:spPr>
        <p:txBody>
          <a:bodyPr wrap="square" lIns="0" tIns="0" rIns="0" bIns="0" rtlCol="0" anchor="t">
            <a:normAutofit/>
          </a:bodyPr>
          <a:lstStyle/>
          <a:p>
            <a:pPr marL="0" indent="0" algn="l">
              <a:lnSpc>
                <a:spcPts val="3456"/>
              </a:lnSpc>
              <a:buNone/>
            </a:pPr>
            <a:r>
              <a:rPr lang="en-US" sz="3200" b="1" dirty="0">
                <a:solidFill>
                  <a:srgbClr val="2B3035"/>
                </a:solidFill>
                <a:latin typeface="Arial" pitchFamily="34" charset="0"/>
                <a:ea typeface="Arial" pitchFamily="34" charset="-122"/>
                <a:cs typeface="Arial" pitchFamily="34" charset="-120"/>
              </a:rPr>
              <a:t>STJ, Súmula nº 550</a:t>
            </a:r>
            <a:endParaRPr lang="en-US" sz="3200" dirty="0"/>
          </a:p>
        </p:txBody>
      </p:sp>
      <p:sp>
        <p:nvSpPr>
          <p:cNvPr id="8" name="Text 5"/>
          <p:cNvSpPr/>
          <p:nvPr/>
        </p:nvSpPr>
        <p:spPr>
          <a:xfrm>
            <a:off x="4165600" y="1508212"/>
            <a:ext cx="7430008" cy="471170"/>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D656C"/>
                </a:solidFill>
                <a:latin typeface="Arial" pitchFamily="34" charset="0"/>
                <a:ea typeface="Arial" pitchFamily="34" charset="-122"/>
                <a:cs typeface="Arial" pitchFamily="34" charset="-120"/>
              </a:rPr>
              <a:t>Superior Tribunal de Justiça, Segunda Seção · aprovada em 14/10/2015 (anterior à LGPD), com base em recursos repetitivos como o REsp 1.419.697/RS</a:t>
            </a:r>
            <a:endParaRPr lang="en-US" sz="1300" dirty="0"/>
          </a:p>
        </p:txBody>
      </p:sp>
      <p:sp>
        <p:nvSpPr>
          <p:cNvPr id="9" name="Shape 6"/>
          <p:cNvSpPr/>
          <p:nvPr/>
        </p:nvSpPr>
        <p:spPr>
          <a:xfrm>
            <a:off x="4165600" y="2106377"/>
            <a:ext cx="7213600" cy="0"/>
          </a:xfrm>
          <a:prstGeom prst="line">
            <a:avLst/>
          </a:prstGeom>
          <a:noFill/>
          <a:ln w="25400">
            <a:solidFill>
              <a:srgbClr val="2F7D4F"/>
            </a:solidFill>
            <a:prstDash val="solid"/>
          </a:ln>
        </p:spPr>
        <p:txBody>
          <a:bodyPr/>
          <a:lstStyle/>
          <a:p>
            <a:endParaRPr lang="pt-BR"/>
          </a:p>
        </p:txBody>
      </p:sp>
      <p:sp>
        <p:nvSpPr>
          <p:cNvPr id="10" name="Text 7"/>
          <p:cNvSpPr/>
          <p:nvPr/>
        </p:nvSpPr>
        <p:spPr>
          <a:xfrm>
            <a:off x="4165600" y="2207977"/>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TEXTO DA SÚMULA</a:t>
            </a:r>
            <a:endParaRPr lang="en-US" sz="1300" dirty="0"/>
          </a:p>
        </p:txBody>
      </p:sp>
      <p:sp>
        <p:nvSpPr>
          <p:cNvPr id="11" name="Text 8"/>
          <p:cNvSpPr/>
          <p:nvPr/>
        </p:nvSpPr>
        <p:spPr>
          <a:xfrm>
            <a:off x="4165600" y="2502619"/>
            <a:ext cx="7430008"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“A utilização de escore de crédito, método estatístico de avaliação de risco, não constitui prática comercial abusiva, sendo desnecessário o consentimento do consumidor previamente à formação do respectivo banco de dados.”</a:t>
            </a:r>
            <a:endParaRPr lang="en-US" sz="1300" dirty="0"/>
          </a:p>
        </p:txBody>
      </p:sp>
      <p:sp>
        <p:nvSpPr>
          <p:cNvPr id="12" name="Shape 9"/>
          <p:cNvSpPr/>
          <p:nvPr/>
        </p:nvSpPr>
        <p:spPr>
          <a:xfrm>
            <a:off x="4165600" y="3323667"/>
            <a:ext cx="7213600" cy="0"/>
          </a:xfrm>
          <a:prstGeom prst="line">
            <a:avLst/>
          </a:prstGeom>
          <a:noFill/>
          <a:ln w="25400">
            <a:solidFill>
              <a:srgbClr val="2F7D4F"/>
            </a:solidFill>
            <a:prstDash val="solid"/>
          </a:ln>
        </p:spPr>
        <p:txBody>
          <a:bodyPr/>
          <a:lstStyle/>
          <a:p>
            <a:endParaRPr lang="pt-BR"/>
          </a:p>
        </p:txBody>
      </p:sp>
      <p:sp>
        <p:nvSpPr>
          <p:cNvPr id="13" name="Text 10"/>
          <p:cNvSpPr/>
          <p:nvPr/>
        </p:nvSpPr>
        <p:spPr>
          <a:xfrm>
            <a:off x="4165600" y="3425267"/>
            <a:ext cx="7430008"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AS CONDIÇÕES IMPOSTAS PELO PRÓPRIO STJ</a:t>
            </a:r>
            <a:endParaRPr lang="en-US" sz="1300" dirty="0"/>
          </a:p>
        </p:txBody>
      </p:sp>
      <p:sp>
        <p:nvSpPr>
          <p:cNvPr id="14" name="Text 11"/>
          <p:cNvSpPr/>
          <p:nvPr/>
        </p:nvSpPr>
        <p:spPr>
          <a:xfrm>
            <a:off x="4165600" y="3719909"/>
            <a:ext cx="7430008"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Respeito aos limites do art. 43 do Código de Defesa do Consumidor, vedação ao uso de informações excessivas ou sensíveis, e direito do consumidor a solicitar esclarecimentos sobre as informações usadas em seu desfavor.</a:t>
            </a:r>
            <a:endParaRPr lang="en-US" sz="13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338058"/>
          </a:xfrm>
          <a:prstGeom prst="rect">
            <a:avLst/>
          </a:prstGeom>
          <a:noFill/>
          <a:ln/>
        </p:spPr>
        <p:txBody>
          <a:bodyPr wrap="square" lIns="0" tIns="0" rIns="0" bIns="0" rtlCol="0" anchor="t">
            <a:normAutofit/>
          </a:bodyPr>
          <a:lstStyle/>
          <a:p>
            <a:pPr marL="0" indent="0" algn="l">
              <a:lnSpc>
                <a:spcPts val="2467"/>
              </a:lnSpc>
              <a:buNone/>
            </a:pPr>
            <a:r>
              <a:rPr lang="en-US" sz="2243" b="1" dirty="0">
                <a:solidFill>
                  <a:srgbClr val="2B3035"/>
                </a:solidFill>
                <a:latin typeface="Arial" pitchFamily="34" charset="0"/>
                <a:ea typeface="Arial" pitchFamily="34" charset="-122"/>
                <a:cs typeface="Arial" pitchFamily="34" charset="-120"/>
              </a:rPr>
              <a:t>Três implicações éticas que atravessam os seis casos</a:t>
            </a:r>
            <a:endParaRPr lang="en-US" sz="2243" dirty="0"/>
          </a:p>
        </p:txBody>
      </p:sp>
      <p:sp>
        <p:nvSpPr>
          <p:cNvPr id="4" name="Shape 2"/>
          <p:cNvSpPr/>
          <p:nvPr/>
        </p:nvSpPr>
        <p:spPr>
          <a:xfrm>
            <a:off x="812800" y="998463"/>
            <a:ext cx="609600" cy="50800"/>
          </a:xfrm>
          <a:prstGeom prst="rect">
            <a:avLst/>
          </a:prstGeom>
          <a:solidFill>
            <a:srgbClr val="2F7D4F"/>
          </a:solidFill>
          <a:ln/>
        </p:spPr>
        <p:txBody>
          <a:bodyPr/>
          <a:lstStyle/>
          <a:p>
            <a:endParaRPr lang="pt-BR"/>
          </a:p>
        </p:txBody>
      </p:sp>
      <p:sp>
        <p:nvSpPr>
          <p:cNvPr id="5" name="Shape 3"/>
          <p:cNvSpPr/>
          <p:nvPr/>
        </p:nvSpPr>
        <p:spPr>
          <a:xfrm>
            <a:off x="819150" y="1233413"/>
            <a:ext cx="10553700" cy="1121251"/>
          </a:xfrm>
          <a:prstGeom prst="rect">
            <a:avLst/>
          </a:prstGeom>
          <a:solidFill>
            <a:srgbClr val="FFFFFF"/>
          </a:solidFill>
          <a:ln w="12700">
            <a:solidFill>
              <a:srgbClr val="D5D9DC"/>
            </a:solidFill>
            <a:prstDash val="solid"/>
          </a:ln>
        </p:spPr>
        <p:txBody>
          <a:bodyPr/>
          <a:lstStyle/>
          <a:p>
            <a:endParaRPr lang="pt-BR"/>
          </a:p>
        </p:txBody>
      </p:sp>
      <p:sp>
        <p:nvSpPr>
          <p:cNvPr id="6" name="Shape 4"/>
          <p:cNvSpPr/>
          <p:nvPr/>
        </p:nvSpPr>
        <p:spPr>
          <a:xfrm>
            <a:off x="1076960" y="1438436"/>
            <a:ext cx="711200" cy="711200"/>
          </a:xfrm>
          <a:prstGeom prst="roundRect">
            <a:avLst>
              <a:gd name="adj" fmla="val 50000"/>
            </a:avLst>
          </a:prstGeom>
          <a:solidFill>
            <a:srgbClr val="2F7D4F"/>
          </a:solidFill>
          <a:ln/>
        </p:spPr>
        <p:txBody>
          <a:bodyPr/>
          <a:lstStyle/>
          <a:p>
            <a:endParaRPr lang="pt-BR"/>
          </a:p>
        </p:txBody>
      </p:sp>
      <p:pic>
        <p:nvPicPr>
          <p:cNvPr id="7" name="Image 0" descr="Warning"/>
          <p:cNvPicPr>
            <a:picLocks noChangeAspect="1"/>
          </p:cNvPicPr>
          <p:nvPr/>
        </p:nvPicPr>
        <p:blipFill>
          <a:blip r:embed="rId3"/>
          <a:srcRect/>
          <a:stretch/>
        </p:blipFill>
        <p:spPr>
          <a:xfrm>
            <a:off x="1254760" y="1616236"/>
            <a:ext cx="355600" cy="355600"/>
          </a:xfrm>
          <a:prstGeom prst="rect">
            <a:avLst/>
          </a:prstGeom>
        </p:spPr>
      </p:pic>
      <p:sp>
        <p:nvSpPr>
          <p:cNvPr id="8" name="Text 5"/>
          <p:cNvSpPr/>
          <p:nvPr/>
        </p:nvSpPr>
        <p:spPr>
          <a:xfrm>
            <a:off x="2016760" y="1377156"/>
            <a:ext cx="9371229"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3035"/>
                </a:solidFill>
                <a:latin typeface="Arial" pitchFamily="34" charset="0"/>
                <a:ea typeface="Arial" pitchFamily="34" charset="-122"/>
                <a:cs typeface="Arial" pitchFamily="34" charset="-120"/>
              </a:rPr>
              <a:t>Viés algorítmico</a:t>
            </a:r>
            <a:endParaRPr lang="en-US" sz="1800" dirty="0"/>
          </a:p>
        </p:txBody>
      </p:sp>
      <p:sp>
        <p:nvSpPr>
          <p:cNvPr id="9" name="Text 6"/>
          <p:cNvSpPr/>
          <p:nvPr/>
        </p:nvSpPr>
        <p:spPr>
          <a:xfrm>
            <a:off x="2016760" y="1747999"/>
            <a:ext cx="9371229"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Modelos aprendem com dados históricos. Se esses dados carregam desigualdades passadas (crédito, contratação, policiamento), o modelo tende a reproduzir, e em escala amplificar, essas desigualdades.</a:t>
            </a:r>
            <a:endParaRPr lang="en-US" sz="1350" dirty="0"/>
          </a:p>
        </p:txBody>
      </p:sp>
      <p:sp>
        <p:nvSpPr>
          <p:cNvPr id="10" name="Shape 7"/>
          <p:cNvSpPr/>
          <p:nvPr/>
        </p:nvSpPr>
        <p:spPr>
          <a:xfrm>
            <a:off x="819150" y="2507059"/>
            <a:ext cx="10553700" cy="1121172"/>
          </a:xfrm>
          <a:prstGeom prst="rect">
            <a:avLst/>
          </a:prstGeom>
          <a:solidFill>
            <a:srgbClr val="E6E9EB"/>
          </a:solidFill>
          <a:ln w="12700">
            <a:solidFill>
              <a:srgbClr val="D5D9DC"/>
            </a:solidFill>
            <a:prstDash val="solid"/>
          </a:ln>
        </p:spPr>
        <p:txBody>
          <a:bodyPr/>
          <a:lstStyle/>
          <a:p>
            <a:endParaRPr lang="pt-BR"/>
          </a:p>
        </p:txBody>
      </p:sp>
      <p:sp>
        <p:nvSpPr>
          <p:cNvPr id="11" name="Shape 8"/>
          <p:cNvSpPr/>
          <p:nvPr/>
        </p:nvSpPr>
        <p:spPr>
          <a:xfrm>
            <a:off x="1076960" y="2712083"/>
            <a:ext cx="711200" cy="711200"/>
          </a:xfrm>
          <a:prstGeom prst="roundRect">
            <a:avLst>
              <a:gd name="adj" fmla="val 50000"/>
            </a:avLst>
          </a:prstGeom>
          <a:solidFill>
            <a:srgbClr val="2F7D4F"/>
          </a:solidFill>
          <a:ln/>
        </p:spPr>
        <p:txBody>
          <a:bodyPr/>
          <a:lstStyle/>
          <a:p>
            <a:endParaRPr lang="pt-BR"/>
          </a:p>
        </p:txBody>
      </p:sp>
      <p:pic>
        <p:nvPicPr>
          <p:cNvPr id="12" name="Image 1" descr="Users"/>
          <p:cNvPicPr>
            <a:picLocks noChangeAspect="1"/>
          </p:cNvPicPr>
          <p:nvPr/>
        </p:nvPicPr>
        <p:blipFill>
          <a:blip r:embed="rId4"/>
          <a:srcRect/>
          <a:stretch/>
        </p:blipFill>
        <p:spPr>
          <a:xfrm>
            <a:off x="1254760" y="2889883"/>
            <a:ext cx="355600" cy="355600"/>
          </a:xfrm>
          <a:prstGeom prst="rect">
            <a:avLst/>
          </a:prstGeom>
        </p:spPr>
      </p:pic>
      <p:sp>
        <p:nvSpPr>
          <p:cNvPr id="13" name="Text 9"/>
          <p:cNvSpPr/>
          <p:nvPr/>
        </p:nvSpPr>
        <p:spPr>
          <a:xfrm>
            <a:off x="2016760" y="2650815"/>
            <a:ext cx="9371229"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3035"/>
                </a:solidFill>
                <a:latin typeface="Arial" pitchFamily="34" charset="0"/>
                <a:ea typeface="Arial" pitchFamily="34" charset="-122"/>
                <a:cs typeface="Arial" pitchFamily="34" charset="-120"/>
              </a:rPr>
              <a:t>Assimetria de poder e de informação</a:t>
            </a:r>
            <a:endParaRPr lang="en-US" sz="1800" dirty="0"/>
          </a:p>
        </p:txBody>
      </p:sp>
      <p:sp>
        <p:nvSpPr>
          <p:cNvPr id="14" name="Text 10"/>
          <p:cNvSpPr/>
          <p:nvPr/>
        </p:nvSpPr>
        <p:spPr>
          <a:xfrm>
            <a:off x="2016760" y="3021645"/>
            <a:ext cx="9371229"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Quem constrói e opera o sistema entende como ele funciona. Quem é avaliado por ele, não. Essa assimetria é o pano de fundo comum aos seis casos do Bloco 2.</a:t>
            </a:r>
            <a:endParaRPr lang="en-US" sz="1350" dirty="0"/>
          </a:p>
        </p:txBody>
      </p:sp>
      <p:sp>
        <p:nvSpPr>
          <p:cNvPr id="15" name="Shape 11"/>
          <p:cNvSpPr/>
          <p:nvPr/>
        </p:nvSpPr>
        <p:spPr>
          <a:xfrm>
            <a:off x="819150" y="3780631"/>
            <a:ext cx="10553700" cy="1121172"/>
          </a:xfrm>
          <a:prstGeom prst="rect">
            <a:avLst/>
          </a:prstGeom>
          <a:solidFill>
            <a:srgbClr val="FFFFFF"/>
          </a:solidFill>
          <a:ln w="12700">
            <a:solidFill>
              <a:srgbClr val="D5D9DC"/>
            </a:solidFill>
            <a:prstDash val="solid"/>
          </a:ln>
        </p:spPr>
        <p:txBody>
          <a:bodyPr/>
          <a:lstStyle/>
          <a:p>
            <a:endParaRPr lang="pt-BR"/>
          </a:p>
        </p:txBody>
      </p:sp>
      <p:sp>
        <p:nvSpPr>
          <p:cNvPr id="16" name="Shape 12"/>
          <p:cNvSpPr/>
          <p:nvPr/>
        </p:nvSpPr>
        <p:spPr>
          <a:xfrm>
            <a:off x="1076960" y="3985654"/>
            <a:ext cx="711200" cy="711200"/>
          </a:xfrm>
          <a:prstGeom prst="roundRect">
            <a:avLst>
              <a:gd name="adj" fmla="val 50000"/>
            </a:avLst>
          </a:prstGeom>
          <a:solidFill>
            <a:srgbClr val="2F7D4F"/>
          </a:solidFill>
          <a:ln/>
        </p:spPr>
        <p:txBody>
          <a:bodyPr/>
          <a:lstStyle/>
          <a:p>
            <a:endParaRPr lang="pt-BR"/>
          </a:p>
        </p:txBody>
      </p:sp>
      <p:pic>
        <p:nvPicPr>
          <p:cNvPr id="17" name="Image 2" descr="Activity"/>
          <p:cNvPicPr>
            <a:picLocks noChangeAspect="1"/>
          </p:cNvPicPr>
          <p:nvPr/>
        </p:nvPicPr>
        <p:blipFill>
          <a:blip r:embed="rId5"/>
          <a:srcRect/>
          <a:stretch/>
        </p:blipFill>
        <p:spPr>
          <a:xfrm>
            <a:off x="1254760" y="4163454"/>
            <a:ext cx="355600" cy="355600"/>
          </a:xfrm>
          <a:prstGeom prst="rect">
            <a:avLst/>
          </a:prstGeom>
        </p:spPr>
      </p:pic>
      <p:sp>
        <p:nvSpPr>
          <p:cNvPr id="18" name="Text 13"/>
          <p:cNvSpPr/>
          <p:nvPr/>
        </p:nvSpPr>
        <p:spPr>
          <a:xfrm>
            <a:off x="2016760" y="3924387"/>
            <a:ext cx="9371229"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3035"/>
                </a:solidFill>
                <a:latin typeface="Arial" pitchFamily="34" charset="0"/>
                <a:ea typeface="Arial" pitchFamily="34" charset="-122"/>
                <a:cs typeface="Arial" pitchFamily="34" charset="-120"/>
              </a:rPr>
              <a:t>“Automation bias”</a:t>
            </a:r>
            <a:endParaRPr lang="en-US" sz="1800" dirty="0"/>
          </a:p>
        </p:txBody>
      </p:sp>
      <p:sp>
        <p:nvSpPr>
          <p:cNvPr id="19" name="Text 14"/>
          <p:cNvSpPr/>
          <p:nvPr/>
        </p:nvSpPr>
        <p:spPr>
          <a:xfrm>
            <a:off x="2016760" y="4295217"/>
            <a:ext cx="9371229"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Tendência humana a confiar excessivamente em uma recomendação por ela vir de um sistema automatizado, mesmo quando um julgamento humano razoável identificaria o erro.</a:t>
            </a:r>
            <a:endParaRPr lang="en-US" sz="1350" dirty="0"/>
          </a:p>
        </p:txBody>
      </p:sp>
      <p:sp>
        <p:nvSpPr>
          <p:cNvPr id="20" name="Shape 15"/>
          <p:cNvSpPr/>
          <p:nvPr/>
        </p:nvSpPr>
        <p:spPr>
          <a:xfrm>
            <a:off x="812800" y="5085953"/>
            <a:ext cx="10566400" cy="806847"/>
          </a:xfrm>
          <a:prstGeom prst="rect">
            <a:avLst/>
          </a:prstGeom>
          <a:solidFill>
            <a:srgbClr val="2F7D4F"/>
          </a:solidFill>
          <a:ln/>
        </p:spPr>
        <p:txBody>
          <a:bodyPr/>
          <a:lstStyle/>
          <a:p>
            <a:endParaRPr lang="pt-BR"/>
          </a:p>
        </p:txBody>
      </p:sp>
      <p:sp>
        <p:nvSpPr>
          <p:cNvPr id="21" name="Text 16"/>
          <p:cNvSpPr/>
          <p:nvPr/>
        </p:nvSpPr>
        <p:spPr>
          <a:xfrm>
            <a:off x="1066800" y="5240499"/>
            <a:ext cx="1036015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5F5"/>
                </a:solidFill>
                <a:latin typeface="Arial" pitchFamily="34" charset="0"/>
                <a:ea typeface="Arial" pitchFamily="34" charset="-122"/>
                <a:cs typeface="Arial" pitchFamily="34" charset="-120"/>
              </a:rPr>
              <a:t>É um dos riscos que a Resolução do CNJ tenta neutralizar ao exigir supervisão humana efetiva sobre o uso de IA no Judiciário</a:t>
            </a:r>
            <a:endParaRPr lang="en-US" sz="1400" dirty="0"/>
          </a:p>
        </p:txBody>
      </p:sp>
      <p:sp>
        <p:nvSpPr>
          <p:cNvPr id="22" name="Text 1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723900"/>
          </a:xfrm>
          <a:prstGeom prst="rect">
            <a:avLst/>
          </a:prstGeom>
          <a:noFill/>
          <a:ln/>
        </p:spPr>
        <p:txBody>
          <a:bodyPr wrap="square" lIns="0" tIns="0" rIns="0" bIns="0" rtlCol="0" anchor="t">
            <a:normAutofit/>
          </a:bodyPr>
          <a:lstStyle/>
          <a:p>
            <a:pPr marL="0" indent="0" algn="l">
              <a:lnSpc>
                <a:spcPts val="2750"/>
              </a:lnSpc>
              <a:buNone/>
            </a:pPr>
            <a:r>
              <a:rPr lang="en-US" sz="2500" b="1" dirty="0">
                <a:solidFill>
                  <a:srgbClr val="2B3035"/>
                </a:solidFill>
                <a:latin typeface="Arial" pitchFamily="34" charset="0"/>
                <a:ea typeface="Arial" pitchFamily="34" charset="-122"/>
                <a:cs typeface="Arial" pitchFamily="34" charset="-120"/>
              </a:rPr>
              <a:t>Responsabilidade civil: sistema de IA causa dano, quem responde?</a:t>
            </a:r>
            <a:endParaRPr lang="en-US" sz="2500" dirty="0"/>
          </a:p>
        </p:txBody>
      </p:sp>
      <p:sp>
        <p:nvSpPr>
          <p:cNvPr id="4" name="Shape 2"/>
          <p:cNvSpPr/>
          <p:nvPr/>
        </p:nvSpPr>
        <p:spPr>
          <a:xfrm>
            <a:off x="812800" y="1384300"/>
            <a:ext cx="609600" cy="50800"/>
          </a:xfrm>
          <a:prstGeom prst="rect">
            <a:avLst/>
          </a:prstGeom>
          <a:solidFill>
            <a:srgbClr val="2F7D4F"/>
          </a:solidFill>
          <a:ln/>
        </p:spPr>
        <p:txBody>
          <a:bodyPr/>
          <a:lstStyle/>
          <a:p>
            <a:endParaRPr lang="pt-BR"/>
          </a:p>
        </p:txBody>
      </p:sp>
      <p:sp>
        <p:nvSpPr>
          <p:cNvPr id="5" name="Text 3"/>
          <p:cNvSpPr/>
          <p:nvPr/>
        </p:nvSpPr>
        <p:spPr>
          <a:xfrm>
            <a:off x="812800" y="1574800"/>
            <a:ext cx="10883392" cy="52324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A4147"/>
                </a:solidFill>
                <a:latin typeface="Arial" pitchFamily="34" charset="0"/>
                <a:ea typeface="Arial" pitchFamily="34" charset="-122"/>
                <a:cs typeface="Arial" pitchFamily="34" charset="-120"/>
              </a:rPr>
              <a:t>Se um sistema de IA nega crédito indevidamente, recomenda uma demissão discriminatória ou gera um diagnóstico errado. Quem responde civilmente?</a:t>
            </a:r>
            <a:endParaRPr lang="en-US" sz="1400" dirty="0"/>
          </a:p>
        </p:txBody>
      </p:sp>
      <p:sp>
        <p:nvSpPr>
          <p:cNvPr id="6" name="Shape 4"/>
          <p:cNvSpPr/>
          <p:nvPr/>
        </p:nvSpPr>
        <p:spPr>
          <a:xfrm>
            <a:off x="819150" y="2218692"/>
            <a:ext cx="2533650" cy="881380"/>
          </a:xfrm>
          <a:prstGeom prst="rect">
            <a:avLst/>
          </a:prstGeom>
          <a:solidFill>
            <a:srgbClr val="2F7D4F"/>
          </a:solidFill>
          <a:ln w="12700">
            <a:solidFill>
              <a:srgbClr val="D5D9DC"/>
            </a:solidFill>
            <a:prstDash val="solid"/>
          </a:ln>
        </p:spPr>
        <p:txBody>
          <a:bodyPr/>
          <a:lstStyle/>
          <a:p>
            <a:endParaRPr lang="pt-BR"/>
          </a:p>
        </p:txBody>
      </p:sp>
      <p:sp>
        <p:nvSpPr>
          <p:cNvPr id="7" name="Shape 5"/>
          <p:cNvSpPr/>
          <p:nvPr/>
        </p:nvSpPr>
        <p:spPr>
          <a:xfrm>
            <a:off x="975360" y="2456185"/>
            <a:ext cx="406400" cy="406400"/>
          </a:xfrm>
          <a:prstGeom prst="roundRect">
            <a:avLst>
              <a:gd name="adj" fmla="val 50000"/>
            </a:avLst>
          </a:prstGeom>
          <a:solidFill>
            <a:srgbClr val="FFFFFF"/>
          </a:solidFill>
          <a:ln/>
        </p:spPr>
        <p:txBody>
          <a:bodyPr/>
          <a:lstStyle/>
          <a:p>
            <a:endParaRPr lang="pt-BR"/>
          </a:p>
        </p:txBody>
      </p:sp>
      <p:pic>
        <p:nvPicPr>
          <p:cNvPr id="8" name="Image 0" descr="Code"/>
          <p:cNvPicPr>
            <a:picLocks noChangeAspect="1"/>
          </p:cNvPicPr>
          <p:nvPr/>
        </p:nvPicPr>
        <p:blipFill>
          <a:blip r:embed="rId3"/>
          <a:srcRect/>
          <a:stretch/>
        </p:blipFill>
        <p:spPr>
          <a:xfrm>
            <a:off x="1076960" y="2557785"/>
            <a:ext cx="203200" cy="203200"/>
          </a:xfrm>
          <a:prstGeom prst="rect">
            <a:avLst/>
          </a:prstGeom>
        </p:spPr>
      </p:pic>
      <p:sp>
        <p:nvSpPr>
          <p:cNvPr id="9" name="Text 6"/>
          <p:cNvSpPr/>
          <p:nvPr/>
        </p:nvSpPr>
        <p:spPr>
          <a:xfrm>
            <a:off x="1496060" y="2461258"/>
            <a:ext cx="1751546" cy="42164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Quem desenvolveu o modelo-base</a:t>
            </a:r>
            <a:endParaRPr lang="en-US" sz="1300" dirty="0"/>
          </a:p>
        </p:txBody>
      </p:sp>
      <p:sp>
        <p:nvSpPr>
          <p:cNvPr id="10" name="Shape 7"/>
          <p:cNvSpPr/>
          <p:nvPr/>
        </p:nvSpPr>
        <p:spPr>
          <a:xfrm>
            <a:off x="3492500" y="2218692"/>
            <a:ext cx="2533650" cy="881380"/>
          </a:xfrm>
          <a:prstGeom prst="rect">
            <a:avLst/>
          </a:prstGeom>
          <a:solidFill>
            <a:srgbClr val="FFFFFF"/>
          </a:solidFill>
          <a:ln w="12700">
            <a:solidFill>
              <a:srgbClr val="D5D9DC"/>
            </a:solidFill>
            <a:prstDash val="solid"/>
          </a:ln>
        </p:spPr>
        <p:txBody>
          <a:bodyPr/>
          <a:lstStyle/>
          <a:p>
            <a:endParaRPr lang="pt-BR"/>
          </a:p>
        </p:txBody>
      </p:sp>
      <p:sp>
        <p:nvSpPr>
          <p:cNvPr id="11" name="Shape 8"/>
          <p:cNvSpPr/>
          <p:nvPr/>
        </p:nvSpPr>
        <p:spPr>
          <a:xfrm>
            <a:off x="3648710" y="2456185"/>
            <a:ext cx="406400" cy="406400"/>
          </a:xfrm>
          <a:prstGeom prst="roundRect">
            <a:avLst>
              <a:gd name="adj" fmla="val 50000"/>
            </a:avLst>
          </a:prstGeom>
          <a:solidFill>
            <a:srgbClr val="2F7D4F"/>
          </a:solidFill>
          <a:ln/>
        </p:spPr>
        <p:txBody>
          <a:bodyPr/>
          <a:lstStyle/>
          <a:p>
            <a:endParaRPr lang="pt-BR"/>
          </a:p>
        </p:txBody>
      </p:sp>
      <p:pic>
        <p:nvPicPr>
          <p:cNvPr id="12" name="Image 1" descr="Settings"/>
          <p:cNvPicPr>
            <a:picLocks noChangeAspect="1"/>
          </p:cNvPicPr>
          <p:nvPr/>
        </p:nvPicPr>
        <p:blipFill>
          <a:blip r:embed="rId4"/>
          <a:srcRect/>
          <a:stretch/>
        </p:blipFill>
        <p:spPr>
          <a:xfrm>
            <a:off x="3750310" y="2557785"/>
            <a:ext cx="203200" cy="203200"/>
          </a:xfrm>
          <a:prstGeom prst="rect">
            <a:avLst/>
          </a:prstGeom>
        </p:spPr>
      </p:pic>
      <p:sp>
        <p:nvSpPr>
          <p:cNvPr id="13" name="Text 9"/>
          <p:cNvSpPr/>
          <p:nvPr/>
        </p:nvSpPr>
        <p:spPr>
          <a:xfrm>
            <a:off x="4169410" y="2362200"/>
            <a:ext cx="1751546" cy="61976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B3035"/>
                </a:solidFill>
                <a:latin typeface="Arial" pitchFamily="34" charset="0"/>
                <a:ea typeface="Arial" pitchFamily="34" charset="-122"/>
                <a:cs typeface="Arial" pitchFamily="34" charset="-120"/>
              </a:rPr>
              <a:t>Quem o adaptou ou treinou com dados próprios</a:t>
            </a:r>
            <a:endParaRPr lang="en-US" sz="1300" dirty="0"/>
          </a:p>
        </p:txBody>
      </p:sp>
      <p:sp>
        <p:nvSpPr>
          <p:cNvPr id="14" name="Shape 10"/>
          <p:cNvSpPr/>
          <p:nvPr/>
        </p:nvSpPr>
        <p:spPr>
          <a:xfrm>
            <a:off x="6165850" y="2218692"/>
            <a:ext cx="2533650" cy="881380"/>
          </a:xfrm>
          <a:prstGeom prst="rect">
            <a:avLst/>
          </a:prstGeom>
          <a:solidFill>
            <a:srgbClr val="FFFFFF"/>
          </a:solidFill>
          <a:ln w="12700">
            <a:solidFill>
              <a:srgbClr val="D5D9DC"/>
            </a:solidFill>
            <a:prstDash val="solid"/>
          </a:ln>
        </p:spPr>
        <p:txBody>
          <a:bodyPr/>
          <a:lstStyle/>
          <a:p>
            <a:endParaRPr lang="pt-BR"/>
          </a:p>
        </p:txBody>
      </p:sp>
      <p:sp>
        <p:nvSpPr>
          <p:cNvPr id="15" name="Shape 11"/>
          <p:cNvSpPr/>
          <p:nvPr/>
        </p:nvSpPr>
        <p:spPr>
          <a:xfrm>
            <a:off x="6322060" y="2456185"/>
            <a:ext cx="406400" cy="406400"/>
          </a:xfrm>
          <a:prstGeom prst="roundRect">
            <a:avLst>
              <a:gd name="adj" fmla="val 50000"/>
            </a:avLst>
          </a:prstGeom>
          <a:solidFill>
            <a:srgbClr val="2F7D4F"/>
          </a:solidFill>
          <a:ln/>
        </p:spPr>
        <p:txBody>
          <a:bodyPr/>
          <a:lstStyle/>
          <a:p>
            <a:endParaRPr lang="pt-BR"/>
          </a:p>
        </p:txBody>
      </p:sp>
      <p:pic>
        <p:nvPicPr>
          <p:cNvPr id="16" name="Image 2" descr="Cloud"/>
          <p:cNvPicPr>
            <a:picLocks noChangeAspect="1"/>
          </p:cNvPicPr>
          <p:nvPr/>
        </p:nvPicPr>
        <p:blipFill>
          <a:blip r:embed="rId5"/>
          <a:srcRect/>
          <a:stretch/>
        </p:blipFill>
        <p:spPr>
          <a:xfrm>
            <a:off x="6423660" y="2557785"/>
            <a:ext cx="203200" cy="203200"/>
          </a:xfrm>
          <a:prstGeom prst="rect">
            <a:avLst/>
          </a:prstGeom>
        </p:spPr>
      </p:pic>
      <p:sp>
        <p:nvSpPr>
          <p:cNvPr id="17" name="Text 12"/>
          <p:cNvSpPr/>
          <p:nvPr/>
        </p:nvSpPr>
        <p:spPr>
          <a:xfrm>
            <a:off x="6842760" y="2362200"/>
            <a:ext cx="1751546" cy="61976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B3035"/>
                </a:solidFill>
                <a:latin typeface="Arial" pitchFamily="34" charset="0"/>
                <a:ea typeface="Arial" pitchFamily="34" charset="-122"/>
                <a:cs typeface="Arial" pitchFamily="34" charset="-120"/>
              </a:rPr>
              <a:t>Quem o implantou e o usa em produção</a:t>
            </a:r>
            <a:endParaRPr lang="en-US" sz="1300" dirty="0"/>
          </a:p>
        </p:txBody>
      </p:sp>
      <p:sp>
        <p:nvSpPr>
          <p:cNvPr id="18" name="Shape 13"/>
          <p:cNvSpPr/>
          <p:nvPr/>
        </p:nvSpPr>
        <p:spPr>
          <a:xfrm>
            <a:off x="8839200" y="2218692"/>
            <a:ext cx="2533650" cy="881380"/>
          </a:xfrm>
          <a:prstGeom prst="rect">
            <a:avLst/>
          </a:prstGeom>
          <a:solidFill>
            <a:srgbClr val="FFFFFF"/>
          </a:solidFill>
          <a:ln w="12700">
            <a:solidFill>
              <a:srgbClr val="D5D9DC"/>
            </a:solidFill>
            <a:prstDash val="solid"/>
          </a:ln>
        </p:spPr>
        <p:txBody>
          <a:bodyPr/>
          <a:lstStyle/>
          <a:p>
            <a:endParaRPr lang="pt-BR"/>
          </a:p>
        </p:txBody>
      </p:sp>
      <p:sp>
        <p:nvSpPr>
          <p:cNvPr id="19" name="Shape 14"/>
          <p:cNvSpPr/>
          <p:nvPr/>
        </p:nvSpPr>
        <p:spPr>
          <a:xfrm>
            <a:off x="8995410" y="2456185"/>
            <a:ext cx="406400" cy="406400"/>
          </a:xfrm>
          <a:prstGeom prst="roundRect">
            <a:avLst>
              <a:gd name="adj" fmla="val 50000"/>
            </a:avLst>
          </a:prstGeom>
          <a:solidFill>
            <a:srgbClr val="2F7D4F"/>
          </a:solidFill>
          <a:ln/>
        </p:spPr>
        <p:txBody>
          <a:bodyPr/>
          <a:lstStyle/>
          <a:p>
            <a:endParaRPr lang="pt-BR"/>
          </a:p>
        </p:txBody>
      </p:sp>
      <p:pic>
        <p:nvPicPr>
          <p:cNvPr id="20" name="Image 3" descr="Users"/>
          <p:cNvPicPr>
            <a:picLocks noChangeAspect="1"/>
          </p:cNvPicPr>
          <p:nvPr/>
        </p:nvPicPr>
        <p:blipFill>
          <a:blip r:embed="rId6"/>
          <a:srcRect/>
          <a:stretch/>
        </p:blipFill>
        <p:spPr>
          <a:xfrm>
            <a:off x="9097010" y="2557785"/>
            <a:ext cx="203200" cy="203200"/>
          </a:xfrm>
          <a:prstGeom prst="rect">
            <a:avLst/>
          </a:prstGeom>
        </p:spPr>
      </p:pic>
      <p:sp>
        <p:nvSpPr>
          <p:cNvPr id="21" name="Text 15"/>
          <p:cNvSpPr/>
          <p:nvPr/>
        </p:nvSpPr>
        <p:spPr>
          <a:xfrm>
            <a:off x="9516110" y="2362200"/>
            <a:ext cx="1751546" cy="61976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B3035"/>
                </a:solidFill>
                <a:latin typeface="Arial" pitchFamily="34" charset="0"/>
                <a:ea typeface="Arial" pitchFamily="34" charset="-122"/>
                <a:cs typeface="Arial" pitchFamily="34" charset="-120"/>
              </a:rPr>
              <a:t>Quem operou o sistema no caso concreto</a:t>
            </a:r>
            <a:endParaRPr lang="en-US" sz="1300" dirty="0"/>
          </a:p>
        </p:txBody>
      </p:sp>
      <p:sp>
        <p:nvSpPr>
          <p:cNvPr id="22" name="Text 16"/>
          <p:cNvSpPr/>
          <p:nvPr/>
        </p:nvSpPr>
        <p:spPr>
          <a:xfrm>
            <a:off x="812800" y="3246127"/>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3035"/>
                </a:solidFill>
                <a:latin typeface="Arial" pitchFamily="34" charset="0"/>
                <a:ea typeface="Arial" pitchFamily="34" charset="-122"/>
                <a:cs typeface="Arial" pitchFamily="34" charset="-120"/>
              </a:rPr>
              <a:t>Nenhum desses quatro candidatos tem, hoje, uma resposta legal específica no Brasil.</a:t>
            </a:r>
            <a:endParaRPr lang="en-US" sz="1500" dirty="0"/>
          </a:p>
        </p:txBody>
      </p:sp>
      <p:sp>
        <p:nvSpPr>
          <p:cNvPr id="23" name="Shape 17"/>
          <p:cNvSpPr/>
          <p:nvPr/>
        </p:nvSpPr>
        <p:spPr>
          <a:xfrm>
            <a:off x="819150" y="3658877"/>
            <a:ext cx="5168900" cy="1549400"/>
          </a:xfrm>
          <a:prstGeom prst="rect">
            <a:avLst/>
          </a:prstGeom>
          <a:solidFill>
            <a:srgbClr val="FFFFFF"/>
          </a:solidFill>
          <a:ln w="12700">
            <a:solidFill>
              <a:srgbClr val="D5D9DC"/>
            </a:solidFill>
            <a:prstDash val="solid"/>
          </a:ln>
        </p:spPr>
        <p:txBody>
          <a:bodyPr/>
          <a:lstStyle/>
          <a:p>
            <a:endParaRPr lang="pt-BR"/>
          </a:p>
        </p:txBody>
      </p:sp>
      <p:sp>
        <p:nvSpPr>
          <p:cNvPr id="24" name="Text 18"/>
          <p:cNvSpPr/>
          <p:nvPr/>
        </p:nvSpPr>
        <p:spPr>
          <a:xfrm>
            <a:off x="1051560" y="3840485"/>
            <a:ext cx="484520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QUE JÁ EXISTE</a:t>
            </a:r>
            <a:endParaRPr lang="en-US" sz="1300" dirty="0"/>
          </a:p>
        </p:txBody>
      </p:sp>
      <p:sp>
        <p:nvSpPr>
          <p:cNvPr id="25" name="Text 19"/>
          <p:cNvSpPr/>
          <p:nvPr/>
        </p:nvSpPr>
        <p:spPr>
          <a:xfrm>
            <a:off x="1051560" y="4135127"/>
            <a:ext cx="4845202"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Responsabilidade objetiva do controlador e do operador pelo tratamento de dados pessoais (LGPD, arts. 42 a 45, vistos na Aula 1) e o regime geral do Código Civil e do Código de Defesa do Consumidor.</a:t>
            </a:r>
            <a:endParaRPr lang="en-US" sz="1300" dirty="0"/>
          </a:p>
        </p:txBody>
      </p:sp>
      <p:sp>
        <p:nvSpPr>
          <p:cNvPr id="26" name="Shape 20"/>
          <p:cNvSpPr/>
          <p:nvPr/>
        </p:nvSpPr>
        <p:spPr>
          <a:xfrm>
            <a:off x="6203950" y="3658877"/>
            <a:ext cx="5168900" cy="1549400"/>
          </a:xfrm>
          <a:prstGeom prst="rect">
            <a:avLst/>
          </a:prstGeom>
          <a:solidFill>
            <a:srgbClr val="E6E9EB"/>
          </a:solidFill>
          <a:ln w="12700">
            <a:solidFill>
              <a:srgbClr val="D5D9DC"/>
            </a:solidFill>
            <a:prstDash val="solid"/>
          </a:ln>
        </p:spPr>
        <p:txBody>
          <a:bodyPr/>
          <a:lstStyle/>
          <a:p>
            <a:endParaRPr lang="pt-BR"/>
          </a:p>
        </p:txBody>
      </p:sp>
      <p:sp>
        <p:nvSpPr>
          <p:cNvPr id="27" name="Text 21"/>
          <p:cNvSpPr/>
          <p:nvPr/>
        </p:nvSpPr>
        <p:spPr>
          <a:xfrm>
            <a:off x="6436360" y="3840485"/>
            <a:ext cx="484520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B3035"/>
                </a:solidFill>
                <a:latin typeface="Arial" pitchFamily="34" charset="0"/>
                <a:ea typeface="Arial" pitchFamily="34" charset="-122"/>
                <a:cs typeface="Arial" pitchFamily="34" charset="-120"/>
              </a:rPr>
              <a:t>O QUE FALTA</a:t>
            </a:r>
            <a:endParaRPr lang="en-US" sz="1300" dirty="0"/>
          </a:p>
        </p:txBody>
      </p:sp>
      <p:sp>
        <p:nvSpPr>
          <p:cNvPr id="28" name="Text 22"/>
          <p:cNvSpPr/>
          <p:nvPr/>
        </p:nvSpPr>
        <p:spPr>
          <a:xfrm>
            <a:off x="6436360" y="4135127"/>
            <a:ext cx="4845202"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147"/>
                </a:solidFill>
                <a:latin typeface="Arial" pitchFamily="34" charset="0"/>
                <a:ea typeface="Arial" pitchFamily="34" charset="-122"/>
                <a:cs typeface="Arial" pitchFamily="34" charset="-120"/>
              </a:rPr>
              <a:t>Um regime específico para a cadeia de responsabilidade em sistemas de IA com múltiplos agentes técnicos: exatamente o ponto que o PL 2338/2023 tenta, e ainda não conseguiu, equacionar.</a:t>
            </a:r>
            <a:endParaRPr lang="en-US" sz="1300" dirty="0"/>
          </a:p>
        </p:txBody>
      </p:sp>
      <p:sp>
        <p:nvSpPr>
          <p:cNvPr id="29" name="Text 2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IA no Judiciário: uma exceção que já virou norma</a:t>
            </a:r>
            <a:endParaRPr lang="en-US" sz="2800" dirty="0"/>
          </a:p>
        </p:txBody>
      </p:sp>
      <p:sp>
        <p:nvSpPr>
          <p:cNvPr id="4" name="Shape 2"/>
          <p:cNvSpPr/>
          <p:nvPr/>
        </p:nvSpPr>
        <p:spPr>
          <a:xfrm>
            <a:off x="812800" y="1076958"/>
            <a:ext cx="609600" cy="50800"/>
          </a:xfrm>
          <a:prstGeom prst="rect">
            <a:avLst/>
          </a:prstGeom>
          <a:solidFill>
            <a:srgbClr val="2F7D4F"/>
          </a:solidFill>
          <a:ln/>
        </p:spPr>
        <p:txBody>
          <a:bodyPr/>
          <a:lstStyle/>
          <a:p>
            <a:endParaRPr lang="pt-BR"/>
          </a:p>
        </p:txBody>
      </p:sp>
      <p:sp>
        <p:nvSpPr>
          <p:cNvPr id="5" name="Text 3"/>
          <p:cNvSpPr/>
          <p:nvPr/>
        </p:nvSpPr>
        <p:spPr>
          <a:xfrm>
            <a:off x="812800" y="1330958"/>
            <a:ext cx="7508494" cy="71882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5D656C"/>
                </a:solidFill>
                <a:latin typeface="Arial" pitchFamily="34" charset="0"/>
                <a:ea typeface="Arial" pitchFamily="34" charset="-122"/>
                <a:cs typeface="Arial" pitchFamily="34" charset="-120"/>
              </a:rPr>
              <a:t>Resolução CNJ nº 615, de 11 de março de 2025 (atualiza a Resolução CNJ nº 332/2020), aprovada pelo Plenário do CNJ em fevereiro de 2025, com participação da OAB na construção do texto.</a:t>
            </a:r>
            <a:endParaRPr lang="en-US" sz="1300" dirty="0"/>
          </a:p>
        </p:txBody>
      </p:sp>
      <p:sp>
        <p:nvSpPr>
          <p:cNvPr id="6" name="Shape 4"/>
          <p:cNvSpPr/>
          <p:nvPr/>
        </p:nvSpPr>
        <p:spPr>
          <a:xfrm>
            <a:off x="812800" y="2853695"/>
            <a:ext cx="7289800" cy="0"/>
          </a:xfrm>
          <a:prstGeom prst="line">
            <a:avLst/>
          </a:prstGeom>
          <a:noFill/>
          <a:ln w="12700">
            <a:solidFill>
              <a:srgbClr val="CFCFCF"/>
            </a:solidFill>
            <a:prstDash val="solid"/>
          </a:ln>
        </p:spPr>
        <p:txBody>
          <a:bodyPr/>
          <a:lstStyle/>
          <a:p>
            <a:endParaRPr lang="pt-BR"/>
          </a:p>
        </p:txBody>
      </p:sp>
      <p:sp>
        <p:nvSpPr>
          <p:cNvPr id="7" name="Shape 5"/>
          <p:cNvSpPr/>
          <p:nvPr/>
        </p:nvSpPr>
        <p:spPr>
          <a:xfrm>
            <a:off x="812800" y="2322835"/>
            <a:ext cx="355600" cy="355600"/>
          </a:xfrm>
          <a:prstGeom prst="roundRect">
            <a:avLst>
              <a:gd name="adj" fmla="val 50000"/>
            </a:avLst>
          </a:prstGeom>
          <a:solidFill>
            <a:srgbClr val="2F7D4F"/>
          </a:solidFill>
          <a:ln/>
        </p:spPr>
        <p:txBody>
          <a:bodyPr/>
          <a:lstStyle/>
          <a:p>
            <a:endParaRPr lang="pt-BR"/>
          </a:p>
        </p:txBody>
      </p:sp>
      <p:pic>
        <p:nvPicPr>
          <p:cNvPr id="8" name="Image 0" descr="Check"/>
          <p:cNvPicPr>
            <a:picLocks noChangeAspect="1"/>
          </p:cNvPicPr>
          <p:nvPr/>
        </p:nvPicPr>
        <p:blipFill>
          <a:blip r:embed="rId3"/>
          <a:srcRect/>
          <a:stretch/>
        </p:blipFill>
        <p:spPr>
          <a:xfrm>
            <a:off x="901700" y="2411735"/>
            <a:ext cx="177800" cy="177800"/>
          </a:xfrm>
          <a:prstGeom prst="rect">
            <a:avLst/>
          </a:prstGeom>
        </p:spPr>
      </p:pic>
      <p:sp>
        <p:nvSpPr>
          <p:cNvPr id="9" name="Text 6"/>
          <p:cNvSpPr/>
          <p:nvPr/>
        </p:nvSpPr>
        <p:spPr>
          <a:xfrm>
            <a:off x="1320800" y="2252985"/>
            <a:ext cx="6985254"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2B3035"/>
                </a:solidFill>
                <a:latin typeface="Arial" pitchFamily="34" charset="0"/>
                <a:ea typeface="Arial" pitchFamily="34" charset="-122"/>
                <a:cs typeface="Arial" pitchFamily="34" charset="-120"/>
              </a:rPr>
              <a:t>Exigência de supervisão humana efetiva sobre qualquer uso de IA no processo judicial</a:t>
            </a:r>
            <a:endParaRPr lang="en-US" sz="1500" dirty="0"/>
          </a:p>
        </p:txBody>
      </p:sp>
      <p:sp>
        <p:nvSpPr>
          <p:cNvPr id="10" name="Shape 7"/>
          <p:cNvSpPr/>
          <p:nvPr/>
        </p:nvSpPr>
        <p:spPr>
          <a:xfrm>
            <a:off x="812800" y="3562352"/>
            <a:ext cx="7289800" cy="0"/>
          </a:xfrm>
          <a:prstGeom prst="line">
            <a:avLst/>
          </a:prstGeom>
          <a:noFill/>
          <a:ln w="12700">
            <a:solidFill>
              <a:srgbClr val="CFCFCF"/>
            </a:solidFill>
            <a:prstDash val="solid"/>
          </a:ln>
        </p:spPr>
        <p:txBody>
          <a:bodyPr/>
          <a:lstStyle/>
          <a:p>
            <a:endParaRPr lang="pt-BR"/>
          </a:p>
        </p:txBody>
      </p:sp>
      <p:sp>
        <p:nvSpPr>
          <p:cNvPr id="11" name="Shape 8"/>
          <p:cNvSpPr/>
          <p:nvPr/>
        </p:nvSpPr>
        <p:spPr>
          <a:xfrm>
            <a:off x="812800" y="3031492"/>
            <a:ext cx="355600" cy="355600"/>
          </a:xfrm>
          <a:prstGeom prst="roundRect">
            <a:avLst>
              <a:gd name="adj" fmla="val 50000"/>
            </a:avLst>
          </a:prstGeom>
          <a:solidFill>
            <a:srgbClr val="2F7D4F"/>
          </a:solidFill>
          <a:ln/>
        </p:spPr>
        <p:txBody>
          <a:bodyPr/>
          <a:lstStyle/>
          <a:p>
            <a:endParaRPr lang="pt-BR"/>
          </a:p>
        </p:txBody>
      </p:sp>
      <p:pic>
        <p:nvPicPr>
          <p:cNvPr id="12" name="Image 1" descr="Check"/>
          <p:cNvPicPr>
            <a:picLocks noChangeAspect="1"/>
          </p:cNvPicPr>
          <p:nvPr/>
        </p:nvPicPr>
        <p:blipFill>
          <a:blip r:embed="rId3"/>
          <a:srcRect/>
          <a:stretch/>
        </p:blipFill>
        <p:spPr>
          <a:xfrm>
            <a:off x="901700" y="3120392"/>
            <a:ext cx="177800" cy="177800"/>
          </a:xfrm>
          <a:prstGeom prst="rect">
            <a:avLst/>
          </a:prstGeom>
        </p:spPr>
      </p:pic>
      <p:sp>
        <p:nvSpPr>
          <p:cNvPr id="13" name="Text 9"/>
          <p:cNvSpPr/>
          <p:nvPr/>
        </p:nvSpPr>
        <p:spPr>
          <a:xfrm>
            <a:off x="1320800" y="2961642"/>
            <a:ext cx="6985254"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2B3035"/>
                </a:solidFill>
                <a:latin typeface="Arial" pitchFamily="34" charset="0"/>
                <a:ea typeface="Arial" pitchFamily="34" charset="-122"/>
                <a:cs typeface="Arial" pitchFamily="34" charset="-120"/>
              </a:rPr>
              <a:t>Vedação a sistemas que classifiquem pessoas por características pessoais para prever comportamento criminal</a:t>
            </a:r>
            <a:endParaRPr lang="en-US" sz="1500" dirty="0"/>
          </a:p>
        </p:txBody>
      </p:sp>
      <p:sp>
        <p:nvSpPr>
          <p:cNvPr id="14" name="Shape 10"/>
          <p:cNvSpPr/>
          <p:nvPr/>
        </p:nvSpPr>
        <p:spPr>
          <a:xfrm>
            <a:off x="812800" y="4131310"/>
            <a:ext cx="7289800" cy="0"/>
          </a:xfrm>
          <a:prstGeom prst="line">
            <a:avLst/>
          </a:prstGeom>
          <a:noFill/>
          <a:ln w="12700">
            <a:solidFill>
              <a:srgbClr val="CFCFCF"/>
            </a:solidFill>
            <a:prstDash val="solid"/>
          </a:ln>
        </p:spPr>
        <p:txBody>
          <a:bodyPr/>
          <a:lstStyle/>
          <a:p>
            <a:endParaRPr lang="pt-BR"/>
          </a:p>
        </p:txBody>
      </p:sp>
      <p:sp>
        <p:nvSpPr>
          <p:cNvPr id="15" name="Shape 11"/>
          <p:cNvSpPr/>
          <p:nvPr/>
        </p:nvSpPr>
        <p:spPr>
          <a:xfrm>
            <a:off x="812800" y="3670300"/>
            <a:ext cx="355600" cy="355600"/>
          </a:xfrm>
          <a:prstGeom prst="roundRect">
            <a:avLst>
              <a:gd name="adj" fmla="val 50000"/>
            </a:avLst>
          </a:prstGeom>
          <a:solidFill>
            <a:srgbClr val="2F7D4F"/>
          </a:solidFill>
          <a:ln/>
        </p:spPr>
        <p:txBody>
          <a:bodyPr/>
          <a:lstStyle/>
          <a:p>
            <a:endParaRPr lang="pt-BR"/>
          </a:p>
        </p:txBody>
      </p:sp>
      <p:pic>
        <p:nvPicPr>
          <p:cNvPr id="16" name="Image 2" descr="Check"/>
          <p:cNvPicPr>
            <a:picLocks noChangeAspect="1"/>
          </p:cNvPicPr>
          <p:nvPr/>
        </p:nvPicPr>
        <p:blipFill>
          <a:blip r:embed="rId3"/>
          <a:srcRect/>
          <a:stretch/>
        </p:blipFill>
        <p:spPr>
          <a:xfrm>
            <a:off x="901700" y="3759200"/>
            <a:ext cx="177800" cy="177800"/>
          </a:xfrm>
          <a:prstGeom prst="rect">
            <a:avLst/>
          </a:prstGeom>
        </p:spPr>
      </p:pic>
      <p:sp>
        <p:nvSpPr>
          <p:cNvPr id="17" name="Text 12"/>
          <p:cNvSpPr/>
          <p:nvPr/>
        </p:nvSpPr>
        <p:spPr>
          <a:xfrm>
            <a:off x="1320800" y="3724275"/>
            <a:ext cx="6985254"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2B3035"/>
                </a:solidFill>
                <a:latin typeface="Arial" pitchFamily="34" charset="0"/>
                <a:ea typeface="Arial" pitchFamily="34" charset="-122"/>
                <a:cs typeface="Arial" pitchFamily="34" charset="-120"/>
              </a:rPr>
              <a:t>Proibição de que a IA substitua integralmente a decisão judicial</a:t>
            </a:r>
            <a:endParaRPr lang="en-US" sz="1500" dirty="0"/>
          </a:p>
        </p:txBody>
      </p:sp>
      <p:sp>
        <p:nvSpPr>
          <p:cNvPr id="18" name="Shape 13"/>
          <p:cNvSpPr/>
          <p:nvPr/>
        </p:nvSpPr>
        <p:spPr>
          <a:xfrm>
            <a:off x="812800" y="4839968"/>
            <a:ext cx="7289800" cy="0"/>
          </a:xfrm>
          <a:prstGeom prst="line">
            <a:avLst/>
          </a:prstGeom>
          <a:noFill/>
          <a:ln w="12700">
            <a:solidFill>
              <a:srgbClr val="CFCFCF"/>
            </a:solidFill>
            <a:prstDash val="solid"/>
          </a:ln>
        </p:spPr>
        <p:txBody>
          <a:bodyPr/>
          <a:lstStyle/>
          <a:p>
            <a:endParaRPr lang="pt-BR"/>
          </a:p>
        </p:txBody>
      </p:sp>
      <p:sp>
        <p:nvSpPr>
          <p:cNvPr id="19" name="Shape 14"/>
          <p:cNvSpPr/>
          <p:nvPr/>
        </p:nvSpPr>
        <p:spPr>
          <a:xfrm>
            <a:off x="812800" y="4309108"/>
            <a:ext cx="355600" cy="355600"/>
          </a:xfrm>
          <a:prstGeom prst="roundRect">
            <a:avLst>
              <a:gd name="adj" fmla="val 50000"/>
            </a:avLst>
          </a:prstGeom>
          <a:solidFill>
            <a:srgbClr val="2F7D4F"/>
          </a:solidFill>
          <a:ln/>
        </p:spPr>
        <p:txBody>
          <a:bodyPr/>
          <a:lstStyle/>
          <a:p>
            <a:endParaRPr lang="pt-BR"/>
          </a:p>
        </p:txBody>
      </p:sp>
      <p:pic>
        <p:nvPicPr>
          <p:cNvPr id="20" name="Image 3" descr="Check"/>
          <p:cNvPicPr>
            <a:picLocks noChangeAspect="1"/>
          </p:cNvPicPr>
          <p:nvPr/>
        </p:nvPicPr>
        <p:blipFill>
          <a:blip r:embed="rId3"/>
          <a:srcRect/>
          <a:stretch/>
        </p:blipFill>
        <p:spPr>
          <a:xfrm>
            <a:off x="901700" y="4398008"/>
            <a:ext cx="177800" cy="177800"/>
          </a:xfrm>
          <a:prstGeom prst="rect">
            <a:avLst/>
          </a:prstGeom>
        </p:spPr>
      </p:pic>
      <p:sp>
        <p:nvSpPr>
          <p:cNvPr id="21" name="Text 15"/>
          <p:cNvSpPr/>
          <p:nvPr/>
        </p:nvSpPr>
        <p:spPr>
          <a:xfrm>
            <a:off x="1320800" y="4239258"/>
            <a:ext cx="6985254"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2B3035"/>
                </a:solidFill>
                <a:latin typeface="Arial" pitchFamily="34" charset="0"/>
                <a:ea typeface="Arial" pitchFamily="34" charset="-122"/>
                <a:cs typeface="Arial" pitchFamily="34" charset="-120"/>
              </a:rPr>
              <a:t>Relatórios periódicos de transparência sobre as ferramentas usadas por cada tribunal</a:t>
            </a:r>
            <a:endParaRPr lang="en-US" sz="1500" dirty="0"/>
          </a:p>
        </p:txBody>
      </p:sp>
      <p:sp>
        <p:nvSpPr>
          <p:cNvPr id="22" name="Shape 16"/>
          <p:cNvSpPr/>
          <p:nvPr/>
        </p:nvSpPr>
        <p:spPr>
          <a:xfrm>
            <a:off x="812800" y="5408937"/>
            <a:ext cx="7289800" cy="0"/>
          </a:xfrm>
          <a:prstGeom prst="line">
            <a:avLst/>
          </a:prstGeom>
          <a:noFill/>
          <a:ln w="12700">
            <a:solidFill>
              <a:srgbClr val="CFCFCF"/>
            </a:solidFill>
            <a:prstDash val="solid"/>
          </a:ln>
        </p:spPr>
        <p:txBody>
          <a:bodyPr/>
          <a:lstStyle/>
          <a:p>
            <a:endParaRPr lang="pt-BR"/>
          </a:p>
        </p:txBody>
      </p:sp>
      <p:sp>
        <p:nvSpPr>
          <p:cNvPr id="23" name="Shape 17"/>
          <p:cNvSpPr/>
          <p:nvPr/>
        </p:nvSpPr>
        <p:spPr>
          <a:xfrm>
            <a:off x="812800" y="4947927"/>
            <a:ext cx="355600" cy="355600"/>
          </a:xfrm>
          <a:prstGeom prst="roundRect">
            <a:avLst>
              <a:gd name="adj" fmla="val 50000"/>
            </a:avLst>
          </a:prstGeom>
          <a:solidFill>
            <a:srgbClr val="2F7D4F"/>
          </a:solidFill>
          <a:ln/>
        </p:spPr>
        <p:txBody>
          <a:bodyPr/>
          <a:lstStyle/>
          <a:p>
            <a:endParaRPr lang="pt-BR"/>
          </a:p>
        </p:txBody>
      </p:sp>
      <p:pic>
        <p:nvPicPr>
          <p:cNvPr id="24" name="Image 4" descr="Check"/>
          <p:cNvPicPr>
            <a:picLocks noChangeAspect="1"/>
          </p:cNvPicPr>
          <p:nvPr/>
        </p:nvPicPr>
        <p:blipFill>
          <a:blip r:embed="rId3"/>
          <a:srcRect/>
          <a:stretch/>
        </p:blipFill>
        <p:spPr>
          <a:xfrm>
            <a:off x="901700" y="5036827"/>
            <a:ext cx="177800" cy="177800"/>
          </a:xfrm>
          <a:prstGeom prst="rect">
            <a:avLst/>
          </a:prstGeom>
        </p:spPr>
      </p:pic>
      <p:sp>
        <p:nvSpPr>
          <p:cNvPr id="25" name="Text 18"/>
          <p:cNvSpPr/>
          <p:nvPr/>
        </p:nvSpPr>
        <p:spPr>
          <a:xfrm>
            <a:off x="1320800" y="5001902"/>
            <a:ext cx="6985254"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2B3035"/>
                </a:solidFill>
                <a:latin typeface="Arial" pitchFamily="34" charset="0"/>
                <a:ea typeface="Arial" pitchFamily="34" charset="-122"/>
                <a:cs typeface="Arial" pitchFamily="34" charset="-120"/>
              </a:rPr>
              <a:t>Exigência de avaliação de impacto algorítmico e auditoria</a:t>
            </a:r>
            <a:endParaRPr lang="en-US" sz="1500" dirty="0"/>
          </a:p>
        </p:txBody>
      </p:sp>
      <p:sp>
        <p:nvSpPr>
          <p:cNvPr id="26" name="Shape 19"/>
          <p:cNvSpPr/>
          <p:nvPr/>
        </p:nvSpPr>
        <p:spPr>
          <a:xfrm>
            <a:off x="8458200" y="1330958"/>
            <a:ext cx="2921000" cy="4084320"/>
          </a:xfrm>
          <a:prstGeom prst="rect">
            <a:avLst/>
          </a:prstGeom>
          <a:solidFill>
            <a:srgbClr val="2F7D4F"/>
          </a:solidFill>
          <a:ln/>
        </p:spPr>
        <p:txBody>
          <a:bodyPr/>
          <a:lstStyle/>
          <a:p>
            <a:endParaRPr lang="pt-BR"/>
          </a:p>
        </p:txBody>
      </p:sp>
      <p:pic>
        <p:nvPicPr>
          <p:cNvPr id="27" name="Image 5" descr="Balança da justiça"/>
          <p:cNvPicPr>
            <a:picLocks noChangeAspect="1"/>
          </p:cNvPicPr>
          <p:nvPr/>
        </p:nvPicPr>
        <p:blipFill>
          <a:blip r:embed="rId4"/>
          <a:srcRect/>
          <a:stretch/>
        </p:blipFill>
        <p:spPr>
          <a:xfrm>
            <a:off x="8966200" y="2420627"/>
            <a:ext cx="1905000" cy="1905000"/>
          </a:xfrm>
          <a:prstGeom prst="rect">
            <a:avLst/>
          </a:prstGeom>
        </p:spPr>
      </p:pic>
      <p:sp>
        <p:nvSpPr>
          <p:cNvPr id="28" name="Text 2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684768"/>
          </a:xfrm>
          <a:prstGeom prst="rect">
            <a:avLst/>
          </a:prstGeom>
          <a:noFill/>
          <a:ln/>
        </p:spPr>
        <p:txBody>
          <a:bodyPr wrap="square" lIns="0" tIns="0" rIns="0" bIns="0" rtlCol="0" anchor="t">
            <a:normAutofit/>
          </a:bodyPr>
          <a:lstStyle/>
          <a:p>
            <a:pPr marL="0" indent="0" algn="l">
              <a:lnSpc>
                <a:spcPts val="2604"/>
              </a:lnSpc>
              <a:buNone/>
            </a:pPr>
            <a:r>
              <a:rPr lang="en-US" sz="2367" b="1" dirty="0">
                <a:solidFill>
                  <a:srgbClr val="2B3035"/>
                </a:solidFill>
                <a:latin typeface="Arial" pitchFamily="34" charset="0"/>
                <a:ea typeface="Arial" pitchFamily="34" charset="-122"/>
                <a:cs typeface="Arial" pitchFamily="34" charset="-120"/>
              </a:rPr>
              <a:t>Ainda não está regulamentado na responsabilidade civil e cadeias de fornecimento de IA</a:t>
            </a:r>
            <a:endParaRPr lang="en-US" sz="2367" dirty="0"/>
          </a:p>
        </p:txBody>
      </p:sp>
      <p:sp>
        <p:nvSpPr>
          <p:cNvPr id="4" name="Shape 2"/>
          <p:cNvSpPr/>
          <p:nvPr/>
        </p:nvSpPr>
        <p:spPr>
          <a:xfrm>
            <a:off x="812800" y="1345171"/>
            <a:ext cx="609600" cy="50800"/>
          </a:xfrm>
          <a:prstGeom prst="rect">
            <a:avLst/>
          </a:prstGeom>
          <a:solidFill>
            <a:srgbClr val="2F7D4F"/>
          </a:solidFill>
          <a:ln/>
        </p:spPr>
        <p:txBody>
          <a:bodyPr/>
          <a:lstStyle/>
          <a:p>
            <a:endParaRPr lang="pt-BR"/>
          </a:p>
        </p:txBody>
      </p:sp>
      <p:sp>
        <p:nvSpPr>
          <p:cNvPr id="5" name="Shape 3"/>
          <p:cNvSpPr/>
          <p:nvPr/>
        </p:nvSpPr>
        <p:spPr>
          <a:xfrm>
            <a:off x="819150" y="1605521"/>
            <a:ext cx="5156200" cy="4280932"/>
          </a:xfrm>
          <a:prstGeom prst="rect">
            <a:avLst/>
          </a:prstGeom>
          <a:solidFill>
            <a:srgbClr val="2F7D4F"/>
          </a:solidFill>
          <a:ln w="12700">
            <a:solidFill>
              <a:srgbClr val="D5D9DC"/>
            </a:solidFill>
            <a:prstDash val="solid"/>
          </a:ln>
        </p:spPr>
        <p:txBody>
          <a:bodyPr/>
          <a:lstStyle/>
          <a:p>
            <a:endParaRPr lang="pt-BR"/>
          </a:p>
        </p:txBody>
      </p:sp>
      <p:sp>
        <p:nvSpPr>
          <p:cNvPr id="6" name="Shape 4"/>
          <p:cNvSpPr/>
          <p:nvPr/>
        </p:nvSpPr>
        <p:spPr>
          <a:xfrm>
            <a:off x="1102360" y="1888728"/>
            <a:ext cx="660400" cy="660400"/>
          </a:xfrm>
          <a:prstGeom prst="roundRect">
            <a:avLst>
              <a:gd name="adj" fmla="val 50000"/>
            </a:avLst>
          </a:prstGeom>
          <a:solidFill>
            <a:srgbClr val="FFFFFF"/>
          </a:solidFill>
          <a:ln/>
        </p:spPr>
        <p:txBody>
          <a:bodyPr/>
          <a:lstStyle/>
          <a:p>
            <a:endParaRPr lang="pt-BR"/>
          </a:p>
        </p:txBody>
      </p:sp>
      <p:pic>
        <p:nvPicPr>
          <p:cNvPr id="7" name="Image 0" descr="Warning"/>
          <p:cNvPicPr>
            <a:picLocks noChangeAspect="1"/>
          </p:cNvPicPr>
          <p:nvPr/>
        </p:nvPicPr>
        <p:blipFill>
          <a:blip r:embed="rId3"/>
          <a:srcRect/>
          <a:stretch/>
        </p:blipFill>
        <p:spPr>
          <a:xfrm>
            <a:off x="1267460" y="2053828"/>
            <a:ext cx="330200" cy="330200"/>
          </a:xfrm>
          <a:prstGeom prst="rect">
            <a:avLst/>
          </a:prstGeom>
        </p:spPr>
      </p:pic>
      <p:sp>
        <p:nvSpPr>
          <p:cNvPr id="8" name="Text 5"/>
          <p:cNvSpPr/>
          <p:nvPr/>
        </p:nvSpPr>
        <p:spPr>
          <a:xfrm>
            <a:off x="1102360" y="2676128"/>
            <a:ext cx="4727473" cy="580390"/>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FFFFFF"/>
                </a:solidFill>
                <a:latin typeface="Arial" pitchFamily="34" charset="0"/>
                <a:ea typeface="Arial" pitchFamily="34" charset="-122"/>
                <a:cs typeface="Arial" pitchFamily="34" charset="-120"/>
              </a:rPr>
              <a:t>Regime de responsabilidade civil específico para IA autônoma</a:t>
            </a:r>
            <a:endParaRPr lang="en-US" sz="1900" dirty="0"/>
          </a:p>
        </p:txBody>
      </p:sp>
      <p:sp>
        <p:nvSpPr>
          <p:cNvPr id="9" name="Text 6"/>
          <p:cNvSpPr/>
          <p:nvPr/>
        </p:nvSpPr>
        <p:spPr>
          <a:xfrm>
            <a:off x="1102360" y="3358121"/>
            <a:ext cx="472747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6F3EC"/>
                </a:solidFill>
                <a:latin typeface="Arial" pitchFamily="34" charset="0"/>
                <a:ea typeface="Arial" pitchFamily="34" charset="-122"/>
                <a:cs typeface="Arial" pitchFamily="34" charset="-120"/>
              </a:rPr>
              <a:t>O PL 2338/2023 propõe um regime, mas ele não é lei ainda, e o texto pode mudar até a votação final na Câmara dos Deputados.</a:t>
            </a:r>
            <a:endParaRPr lang="en-US" sz="1400" dirty="0"/>
          </a:p>
        </p:txBody>
      </p:sp>
      <p:sp>
        <p:nvSpPr>
          <p:cNvPr id="10" name="Shape 7"/>
          <p:cNvSpPr/>
          <p:nvPr/>
        </p:nvSpPr>
        <p:spPr>
          <a:xfrm>
            <a:off x="6216650" y="1605521"/>
            <a:ext cx="5156200" cy="4280932"/>
          </a:xfrm>
          <a:prstGeom prst="rect">
            <a:avLst/>
          </a:prstGeom>
          <a:solidFill>
            <a:srgbClr val="FFFFFF"/>
          </a:solidFill>
          <a:ln w="12700">
            <a:solidFill>
              <a:srgbClr val="D5D9DC"/>
            </a:solidFill>
            <a:prstDash val="solid"/>
          </a:ln>
        </p:spPr>
        <p:txBody>
          <a:bodyPr/>
          <a:lstStyle/>
          <a:p>
            <a:endParaRPr lang="pt-BR"/>
          </a:p>
        </p:txBody>
      </p:sp>
      <p:sp>
        <p:nvSpPr>
          <p:cNvPr id="11" name="Shape 8"/>
          <p:cNvSpPr/>
          <p:nvPr/>
        </p:nvSpPr>
        <p:spPr>
          <a:xfrm>
            <a:off x="6499860" y="1888728"/>
            <a:ext cx="660400" cy="660400"/>
          </a:xfrm>
          <a:prstGeom prst="roundRect">
            <a:avLst>
              <a:gd name="adj" fmla="val 50000"/>
            </a:avLst>
          </a:prstGeom>
          <a:solidFill>
            <a:srgbClr val="2F7D4F"/>
          </a:solidFill>
          <a:ln/>
        </p:spPr>
        <p:txBody>
          <a:bodyPr/>
          <a:lstStyle/>
          <a:p>
            <a:endParaRPr lang="pt-BR"/>
          </a:p>
        </p:txBody>
      </p:sp>
      <p:pic>
        <p:nvPicPr>
          <p:cNvPr id="12" name="Image 1" descr="Link"/>
          <p:cNvPicPr>
            <a:picLocks noChangeAspect="1"/>
          </p:cNvPicPr>
          <p:nvPr/>
        </p:nvPicPr>
        <p:blipFill>
          <a:blip r:embed="rId4"/>
          <a:srcRect/>
          <a:stretch/>
        </p:blipFill>
        <p:spPr>
          <a:xfrm>
            <a:off x="6664960" y="2053828"/>
            <a:ext cx="330200" cy="330200"/>
          </a:xfrm>
          <a:prstGeom prst="rect">
            <a:avLst/>
          </a:prstGeom>
        </p:spPr>
      </p:pic>
      <p:sp>
        <p:nvSpPr>
          <p:cNvPr id="13" name="Text 9"/>
          <p:cNvSpPr/>
          <p:nvPr/>
        </p:nvSpPr>
        <p:spPr>
          <a:xfrm>
            <a:off x="6499860" y="2676128"/>
            <a:ext cx="4727473" cy="539829"/>
          </a:xfrm>
          <a:prstGeom prst="rect">
            <a:avLst/>
          </a:prstGeom>
          <a:noFill/>
          <a:ln/>
        </p:spPr>
        <p:txBody>
          <a:bodyPr wrap="square" lIns="0" tIns="0" rIns="0" bIns="0" rtlCol="0" anchor="t">
            <a:normAutofit/>
          </a:bodyPr>
          <a:lstStyle/>
          <a:p>
            <a:pPr marL="0" indent="0" algn="l">
              <a:lnSpc>
                <a:spcPts val="2035"/>
              </a:lnSpc>
              <a:buNone/>
            </a:pPr>
            <a:r>
              <a:rPr lang="en-US" sz="1769" b="1" dirty="0">
                <a:solidFill>
                  <a:srgbClr val="2B3035"/>
                </a:solidFill>
                <a:latin typeface="Arial" pitchFamily="34" charset="0"/>
                <a:ea typeface="Arial" pitchFamily="34" charset="-122"/>
                <a:cs typeface="Arial" pitchFamily="34" charset="-120"/>
              </a:rPr>
              <a:t>Cadeias complexas de fornecimento de IA</a:t>
            </a:r>
            <a:endParaRPr lang="en-US" sz="1769" dirty="0"/>
          </a:p>
        </p:txBody>
      </p:sp>
      <p:sp>
        <p:nvSpPr>
          <p:cNvPr id="14" name="Text 10"/>
          <p:cNvSpPr/>
          <p:nvPr/>
        </p:nvSpPr>
        <p:spPr>
          <a:xfrm>
            <a:off x="6499860" y="3317565"/>
            <a:ext cx="4727473" cy="1409700"/>
          </a:xfrm>
          <a:prstGeom prst="rect">
            <a:avLst/>
          </a:prstGeom>
          <a:noFill/>
          <a:ln/>
        </p:spPr>
        <p:txBody>
          <a:bodyPr wrap="square" lIns="0" tIns="0" rIns="0" bIns="0" rtlCol="0" anchor="t">
            <a:normAutofit/>
          </a:bodyPr>
          <a:lstStyle/>
          <a:p>
            <a:pPr marL="0" indent="0" algn="l">
              <a:lnSpc>
                <a:spcPts val="1831"/>
              </a:lnSpc>
              <a:buNone/>
            </a:pPr>
            <a:r>
              <a:rPr lang="en-US" sz="1308" dirty="0">
                <a:solidFill>
                  <a:srgbClr val="3A4147"/>
                </a:solidFill>
                <a:latin typeface="Arial" pitchFamily="34" charset="0"/>
                <a:ea typeface="Arial" pitchFamily="34" charset="-122"/>
                <a:cs typeface="Arial" pitchFamily="34" charset="-120"/>
              </a:rPr>
              <a:t>É comum hoje uma empresa usar um modelo de terceiro (por exemplo, um modelo de linguagem de grande porte) como base, ajustá-lo com dados próprios e disponibilizá-lo a um cliente final. A legislação brasileira ainda não diz, com clareza, como essa cadeia se divide em termos de responsabilidade.</a:t>
            </a:r>
            <a:endParaRPr lang="en-US" sz="1308" dirty="0"/>
          </a:p>
        </p:txBody>
      </p:sp>
      <p:pic>
        <p:nvPicPr>
          <p:cNvPr id="15" name="Image 2" descr="Cadeia de fornecimento de IA em quatro elos"/>
          <p:cNvPicPr>
            <a:picLocks noChangeAspect="1"/>
          </p:cNvPicPr>
          <p:nvPr/>
        </p:nvPicPr>
        <p:blipFill>
          <a:blip r:embed="rId5"/>
          <a:srcRect l="-3948" r="-3948"/>
          <a:stretch/>
        </p:blipFill>
        <p:spPr>
          <a:xfrm>
            <a:off x="6499860" y="4955865"/>
            <a:ext cx="4318000" cy="647383"/>
          </a:xfrm>
          <a:prstGeom prst="rect">
            <a:avLst/>
          </a:prstGeom>
        </p:spPr>
      </p:pic>
      <p:sp>
        <p:nvSpPr>
          <p:cNvPr id="16" name="Text 1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2B3035"/>
                </a:solidFill>
                <a:latin typeface="Arial" pitchFamily="34" charset="0"/>
                <a:ea typeface="Arial" pitchFamily="34" charset="-122"/>
                <a:cs typeface="Arial" pitchFamily="34" charset="-120"/>
              </a:rPr>
              <a:t>Personalidade jurídica, deepfakes e modelos de fronteira</a:t>
            </a:r>
            <a:endParaRPr lang="en-US" sz="2600" dirty="0"/>
          </a:p>
        </p:txBody>
      </p:sp>
      <p:sp>
        <p:nvSpPr>
          <p:cNvPr id="4" name="Shape 2"/>
          <p:cNvSpPr/>
          <p:nvPr/>
        </p:nvSpPr>
        <p:spPr>
          <a:xfrm>
            <a:off x="812800" y="1049027"/>
            <a:ext cx="609600" cy="50800"/>
          </a:xfrm>
          <a:prstGeom prst="rect">
            <a:avLst/>
          </a:prstGeom>
          <a:solidFill>
            <a:srgbClr val="2F7D4F"/>
          </a:solidFill>
          <a:ln/>
        </p:spPr>
        <p:txBody>
          <a:bodyPr/>
          <a:lstStyle/>
          <a:p>
            <a:endParaRPr lang="pt-BR"/>
          </a:p>
        </p:txBody>
      </p:sp>
      <p:sp>
        <p:nvSpPr>
          <p:cNvPr id="5" name="Shape 3"/>
          <p:cNvSpPr/>
          <p:nvPr/>
        </p:nvSpPr>
        <p:spPr>
          <a:xfrm>
            <a:off x="819150" y="1309377"/>
            <a:ext cx="3373914" cy="4802174"/>
          </a:xfrm>
          <a:prstGeom prst="rect">
            <a:avLst/>
          </a:prstGeom>
          <a:solidFill>
            <a:srgbClr val="FFFFFF"/>
          </a:solidFill>
          <a:ln w="12700">
            <a:solidFill>
              <a:srgbClr val="D5D9DC"/>
            </a:solidFill>
            <a:prstDash val="solid"/>
          </a:ln>
        </p:spPr>
        <p:txBody>
          <a:bodyPr/>
          <a:lstStyle/>
          <a:p>
            <a:endParaRPr lang="pt-BR"/>
          </a:p>
        </p:txBody>
      </p:sp>
      <p:sp>
        <p:nvSpPr>
          <p:cNvPr id="6" name="Shape 4"/>
          <p:cNvSpPr/>
          <p:nvPr/>
        </p:nvSpPr>
        <p:spPr>
          <a:xfrm>
            <a:off x="1076960" y="1567185"/>
            <a:ext cx="660400" cy="660400"/>
          </a:xfrm>
          <a:prstGeom prst="roundRect">
            <a:avLst>
              <a:gd name="adj" fmla="val 50000"/>
            </a:avLst>
          </a:prstGeom>
          <a:solidFill>
            <a:srgbClr val="2F7D4F"/>
          </a:solidFill>
          <a:ln/>
        </p:spPr>
        <p:txBody>
          <a:bodyPr/>
          <a:lstStyle/>
          <a:p>
            <a:endParaRPr lang="pt-BR"/>
          </a:p>
        </p:txBody>
      </p:sp>
      <p:pic>
        <p:nvPicPr>
          <p:cNvPr id="7" name="Image 0" descr="Users"/>
          <p:cNvPicPr>
            <a:picLocks noChangeAspect="1"/>
          </p:cNvPicPr>
          <p:nvPr/>
        </p:nvPicPr>
        <p:blipFill>
          <a:blip r:embed="rId3"/>
          <a:srcRect/>
          <a:stretch/>
        </p:blipFill>
        <p:spPr>
          <a:xfrm>
            <a:off x="1242060" y="1732285"/>
            <a:ext cx="330200" cy="330200"/>
          </a:xfrm>
          <a:prstGeom prst="rect">
            <a:avLst/>
          </a:prstGeom>
        </p:spPr>
      </p:pic>
      <p:sp>
        <p:nvSpPr>
          <p:cNvPr id="8" name="Text 5"/>
          <p:cNvSpPr/>
          <p:nvPr/>
        </p:nvSpPr>
        <p:spPr>
          <a:xfrm>
            <a:off x="1076960" y="2367285"/>
            <a:ext cx="2944043" cy="25400"/>
          </a:xfrm>
          <a:prstGeom prst="rect">
            <a:avLst/>
          </a:prstGeom>
          <a:noFill/>
          <a:ln/>
        </p:spPr>
        <p:txBody>
          <a:bodyPr wrap="square" lIns="0" tIns="0" rIns="0" bIns="0" rtlCol="0" anchor="t">
            <a:normAutofit/>
          </a:bodyPr>
          <a:lstStyle/>
          <a:p>
            <a:pPr marL="0" indent="0" algn="l">
              <a:lnSpc>
                <a:spcPts val="1242"/>
              </a:lnSpc>
              <a:buNone/>
            </a:pPr>
            <a:r>
              <a:rPr lang="en-US" sz="1080" b="1" dirty="0">
                <a:solidFill>
                  <a:srgbClr val="2B3035"/>
                </a:solidFill>
                <a:latin typeface="Arial" pitchFamily="34" charset="0"/>
                <a:ea typeface="Arial" pitchFamily="34" charset="-122"/>
                <a:cs typeface="Arial" pitchFamily="34" charset="-120"/>
              </a:rPr>
              <a:t>Personalidade jurídica da IA</a:t>
            </a:r>
            <a:endParaRPr lang="en-US" sz="1080" dirty="0"/>
          </a:p>
        </p:txBody>
      </p:sp>
      <p:sp>
        <p:nvSpPr>
          <p:cNvPr id="9" name="Text 6"/>
          <p:cNvSpPr/>
          <p:nvPr/>
        </p:nvSpPr>
        <p:spPr>
          <a:xfrm>
            <a:off x="1034085" y="3137919"/>
            <a:ext cx="2944043" cy="25400"/>
          </a:xfrm>
          <a:prstGeom prst="rect">
            <a:avLst/>
          </a:prstGeom>
          <a:noFill/>
          <a:ln/>
        </p:spPr>
        <p:txBody>
          <a:bodyPr wrap="square" lIns="0" tIns="0" rIns="0" bIns="0" rtlCol="0" anchor="t">
            <a:noAutofit/>
          </a:bodyPr>
          <a:lstStyle/>
          <a:p>
            <a:pPr marL="0" indent="0" algn="l">
              <a:lnSpc>
                <a:spcPts val="1053"/>
              </a:lnSpc>
              <a:buNone/>
            </a:pPr>
            <a:r>
              <a:rPr lang="en-US" sz="1100" dirty="0">
                <a:solidFill>
                  <a:srgbClr val="3A4147"/>
                </a:solidFill>
                <a:latin typeface="Arial" pitchFamily="34" charset="0"/>
                <a:ea typeface="Arial" pitchFamily="34" charset="-122"/>
                <a:cs typeface="Arial" pitchFamily="34" charset="-120"/>
              </a:rPr>
              <a:t>Em 2017, o Parlamento Europeu chegou a sugerir estudar uma “personalidade eletrônica” para robôs autônomos. A proposta foi amplamente criticada pela comunidade acadêmica e não avançou. Segue teórica, sem previsão legal em qualquer jurisdição relevante.</a:t>
            </a:r>
            <a:endParaRPr lang="en-US" sz="1100" dirty="0"/>
          </a:p>
        </p:txBody>
      </p:sp>
      <p:sp>
        <p:nvSpPr>
          <p:cNvPr id="10" name="Shape 7"/>
          <p:cNvSpPr/>
          <p:nvPr/>
        </p:nvSpPr>
        <p:spPr>
          <a:xfrm>
            <a:off x="4581023" y="1309377"/>
            <a:ext cx="3201934" cy="4802174"/>
          </a:xfrm>
          <a:prstGeom prst="rect">
            <a:avLst/>
          </a:prstGeom>
          <a:solidFill>
            <a:srgbClr val="E6E9EB"/>
          </a:solidFill>
          <a:ln w="12700">
            <a:solidFill>
              <a:srgbClr val="E6E9EB"/>
            </a:solidFill>
            <a:prstDash val="solid"/>
          </a:ln>
        </p:spPr>
        <p:txBody>
          <a:bodyPr/>
          <a:lstStyle/>
          <a:p>
            <a:endParaRPr lang="pt-BR"/>
          </a:p>
        </p:txBody>
      </p:sp>
      <p:sp>
        <p:nvSpPr>
          <p:cNvPr id="11" name="Shape 8"/>
          <p:cNvSpPr/>
          <p:nvPr/>
        </p:nvSpPr>
        <p:spPr>
          <a:xfrm>
            <a:off x="4666774" y="1567185"/>
            <a:ext cx="660400" cy="660400"/>
          </a:xfrm>
          <a:prstGeom prst="roundRect">
            <a:avLst>
              <a:gd name="adj" fmla="val 50000"/>
            </a:avLst>
          </a:prstGeom>
          <a:solidFill>
            <a:srgbClr val="2F7D4F"/>
          </a:solidFill>
          <a:ln/>
        </p:spPr>
        <p:txBody>
          <a:bodyPr/>
          <a:lstStyle/>
          <a:p>
            <a:endParaRPr lang="pt-BR"/>
          </a:p>
        </p:txBody>
      </p:sp>
      <p:pic>
        <p:nvPicPr>
          <p:cNvPr id="12" name="Image 1" descr="Warning"/>
          <p:cNvPicPr>
            <a:picLocks noChangeAspect="1"/>
          </p:cNvPicPr>
          <p:nvPr/>
        </p:nvPicPr>
        <p:blipFill>
          <a:blip r:embed="rId4"/>
          <a:srcRect/>
          <a:stretch/>
        </p:blipFill>
        <p:spPr>
          <a:xfrm>
            <a:off x="4831874" y="1732285"/>
            <a:ext cx="330200" cy="330200"/>
          </a:xfrm>
          <a:prstGeom prst="rect">
            <a:avLst/>
          </a:prstGeom>
        </p:spPr>
      </p:pic>
      <p:sp>
        <p:nvSpPr>
          <p:cNvPr id="13" name="Text 9"/>
          <p:cNvSpPr/>
          <p:nvPr/>
        </p:nvSpPr>
        <p:spPr>
          <a:xfrm>
            <a:off x="4666774" y="2367285"/>
            <a:ext cx="2944124" cy="25400"/>
          </a:xfrm>
          <a:prstGeom prst="rect">
            <a:avLst/>
          </a:prstGeom>
          <a:noFill/>
          <a:ln/>
        </p:spPr>
        <p:txBody>
          <a:bodyPr wrap="square" lIns="0" tIns="0" rIns="0" bIns="0" rtlCol="0" anchor="t">
            <a:normAutofit/>
          </a:bodyPr>
          <a:lstStyle/>
          <a:p>
            <a:pPr marL="0" indent="0" algn="l">
              <a:lnSpc>
                <a:spcPts val="1242"/>
              </a:lnSpc>
              <a:buNone/>
            </a:pPr>
            <a:r>
              <a:rPr lang="en-US" sz="1080" b="1" dirty="0">
                <a:solidFill>
                  <a:srgbClr val="2B3035"/>
                </a:solidFill>
                <a:latin typeface="Arial" pitchFamily="34" charset="0"/>
                <a:ea typeface="Arial" pitchFamily="34" charset="-122"/>
                <a:cs typeface="Arial" pitchFamily="34" charset="-120"/>
              </a:rPr>
              <a:t>Deepfakes</a:t>
            </a:r>
            <a:endParaRPr lang="en-US" sz="1080" dirty="0"/>
          </a:p>
        </p:txBody>
      </p:sp>
      <p:sp>
        <p:nvSpPr>
          <p:cNvPr id="14" name="Text 10"/>
          <p:cNvSpPr/>
          <p:nvPr/>
        </p:nvSpPr>
        <p:spPr>
          <a:xfrm>
            <a:off x="4709928" y="3107693"/>
            <a:ext cx="2944124" cy="25400"/>
          </a:xfrm>
          <a:prstGeom prst="rect">
            <a:avLst/>
          </a:prstGeom>
          <a:noFill/>
          <a:ln/>
        </p:spPr>
        <p:txBody>
          <a:bodyPr wrap="square" lIns="0" tIns="0" rIns="0" bIns="0" rtlCol="0" anchor="t">
            <a:noAutofit/>
          </a:bodyPr>
          <a:lstStyle/>
          <a:p>
            <a:pPr marL="0" indent="0" algn="l">
              <a:lnSpc>
                <a:spcPts val="1053"/>
              </a:lnSpc>
              <a:buNone/>
            </a:pPr>
            <a:r>
              <a:rPr lang="en-US" sz="1200" dirty="0">
                <a:solidFill>
                  <a:srgbClr val="3A4147"/>
                </a:solidFill>
                <a:latin typeface="Arial" pitchFamily="34" charset="0"/>
                <a:ea typeface="Arial" pitchFamily="34" charset="-122"/>
                <a:cs typeface="Arial" pitchFamily="34" charset="-120"/>
              </a:rPr>
              <a:t>Existem normas penais brasileiras pontuais aplicáveis a alguns contextos (calúnia, difamação, crimes eleitorais), mas não uma disciplina legal específica e geral sobre criação e distribuição de conteúdo sintético.</a:t>
            </a:r>
            <a:endParaRPr lang="en-US" sz="1200" dirty="0"/>
          </a:p>
        </p:txBody>
      </p:sp>
      <p:sp>
        <p:nvSpPr>
          <p:cNvPr id="15" name="Shape 11"/>
          <p:cNvSpPr/>
          <p:nvPr/>
        </p:nvSpPr>
        <p:spPr>
          <a:xfrm>
            <a:off x="7998857" y="1309377"/>
            <a:ext cx="3505788" cy="4802174"/>
          </a:xfrm>
          <a:prstGeom prst="rect">
            <a:avLst/>
          </a:prstGeom>
          <a:solidFill>
            <a:srgbClr val="2F7D4F"/>
          </a:solidFill>
          <a:ln w="12700">
            <a:solidFill>
              <a:srgbClr val="2F7D4F"/>
            </a:solidFill>
            <a:prstDash val="solid"/>
          </a:ln>
        </p:spPr>
        <p:txBody>
          <a:bodyPr/>
          <a:lstStyle/>
          <a:p>
            <a:endParaRPr lang="pt-BR"/>
          </a:p>
        </p:txBody>
      </p:sp>
      <p:sp>
        <p:nvSpPr>
          <p:cNvPr id="16" name="Shape 12"/>
          <p:cNvSpPr/>
          <p:nvPr/>
        </p:nvSpPr>
        <p:spPr>
          <a:xfrm>
            <a:off x="8256667" y="1567185"/>
            <a:ext cx="660400" cy="660400"/>
          </a:xfrm>
          <a:prstGeom prst="roundRect">
            <a:avLst>
              <a:gd name="adj" fmla="val 50000"/>
            </a:avLst>
          </a:prstGeom>
          <a:solidFill>
            <a:srgbClr val="FFFFFF"/>
          </a:solidFill>
          <a:ln/>
        </p:spPr>
        <p:txBody>
          <a:bodyPr/>
          <a:lstStyle/>
          <a:p>
            <a:endParaRPr lang="pt-BR"/>
          </a:p>
        </p:txBody>
      </p:sp>
      <p:pic>
        <p:nvPicPr>
          <p:cNvPr id="17" name="Image 2" descr="Cloud"/>
          <p:cNvPicPr>
            <a:picLocks noChangeAspect="1"/>
          </p:cNvPicPr>
          <p:nvPr/>
        </p:nvPicPr>
        <p:blipFill>
          <a:blip r:embed="rId5"/>
          <a:srcRect/>
          <a:stretch/>
        </p:blipFill>
        <p:spPr>
          <a:xfrm>
            <a:off x="8421767" y="1732285"/>
            <a:ext cx="330200" cy="330200"/>
          </a:xfrm>
          <a:prstGeom prst="rect">
            <a:avLst/>
          </a:prstGeom>
        </p:spPr>
      </p:pic>
      <p:sp>
        <p:nvSpPr>
          <p:cNvPr id="18" name="Text 13"/>
          <p:cNvSpPr/>
          <p:nvPr/>
        </p:nvSpPr>
        <p:spPr>
          <a:xfrm>
            <a:off x="8256667" y="2367285"/>
            <a:ext cx="2944124" cy="25400"/>
          </a:xfrm>
          <a:prstGeom prst="rect">
            <a:avLst/>
          </a:prstGeom>
          <a:noFill/>
          <a:ln/>
        </p:spPr>
        <p:txBody>
          <a:bodyPr wrap="square" lIns="0" tIns="0" rIns="0" bIns="0" rtlCol="0" anchor="t">
            <a:normAutofit/>
          </a:bodyPr>
          <a:lstStyle/>
          <a:p>
            <a:pPr marL="0" indent="0" algn="l">
              <a:lnSpc>
                <a:spcPts val="1242"/>
              </a:lnSpc>
              <a:buNone/>
            </a:pPr>
            <a:r>
              <a:rPr lang="en-US" sz="1080" b="1" dirty="0">
                <a:solidFill>
                  <a:srgbClr val="FFFFFF"/>
                </a:solidFill>
                <a:latin typeface="Arial" pitchFamily="34" charset="0"/>
                <a:ea typeface="Arial" pitchFamily="34" charset="-122"/>
                <a:cs typeface="Arial" pitchFamily="34" charset="-120"/>
              </a:rPr>
              <a:t>Modelos de fronteira e risco sistêmico</a:t>
            </a:r>
            <a:endParaRPr lang="en-US" sz="1080" dirty="0"/>
          </a:p>
        </p:txBody>
      </p:sp>
      <p:sp>
        <p:nvSpPr>
          <p:cNvPr id="19" name="Text 14"/>
          <p:cNvSpPr/>
          <p:nvPr/>
        </p:nvSpPr>
        <p:spPr>
          <a:xfrm>
            <a:off x="8299543" y="2882023"/>
            <a:ext cx="2901248" cy="1391397"/>
          </a:xfrm>
          <a:prstGeom prst="rect">
            <a:avLst/>
          </a:prstGeom>
          <a:noFill/>
          <a:ln/>
        </p:spPr>
        <p:txBody>
          <a:bodyPr wrap="square" lIns="0" tIns="0" rIns="0" bIns="0" rtlCol="0" anchor="t">
            <a:normAutofit/>
          </a:bodyPr>
          <a:lstStyle/>
          <a:p>
            <a:pPr marL="0" indent="0" algn="l">
              <a:lnSpc>
                <a:spcPts val="1053"/>
              </a:lnSpc>
              <a:buNone/>
            </a:pPr>
            <a:r>
              <a:rPr lang="en-US" sz="1100" dirty="0">
                <a:solidFill>
                  <a:srgbClr val="E6F3EC"/>
                </a:solidFill>
                <a:latin typeface="Arial" pitchFamily="34" charset="0"/>
                <a:ea typeface="Arial" pitchFamily="34" charset="-122"/>
                <a:cs typeface="Arial" pitchFamily="34" charset="-120"/>
              </a:rPr>
              <a:t>O EU AI Act já trata do tema para modelos de propósito geral; o Brasil ainda não tem critério legal específico para modelos de grande escala usados como infraestrutura por outras empresas.</a:t>
            </a:r>
            <a:endParaRPr lang="en-US" sz="1100" dirty="0"/>
          </a:p>
        </p:txBody>
      </p:sp>
      <p:sp>
        <p:nvSpPr>
          <p:cNvPr id="20"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F7D4F"/>
        </a:solidFill>
        <a:effectLst/>
      </p:bgPr>
    </p:bg>
    <p:spTree>
      <p:nvGrpSpPr>
        <p:cNvPr id="1" name=""/>
        <p:cNvGrpSpPr/>
        <p:nvPr/>
      </p:nvGrpSpPr>
      <p:grpSpPr>
        <a:xfrm>
          <a:off x="0" y="0"/>
          <a:ext cx="0" cy="0"/>
          <a:chOff x="0" y="0"/>
          <a:chExt cx="0" cy="0"/>
        </a:xfrm>
      </p:grpSpPr>
      <p:sp>
        <p:nvSpPr>
          <p:cNvPr id="2" name="Text 0"/>
          <p:cNvSpPr/>
          <p:nvPr/>
        </p:nvSpPr>
        <p:spPr>
          <a:xfrm>
            <a:off x="812800" y="558800"/>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5F5F5"/>
                </a:solidFill>
                <a:latin typeface="Arial" pitchFamily="34" charset="0"/>
                <a:ea typeface="Arial" pitchFamily="34" charset="-122"/>
                <a:cs typeface="Arial" pitchFamily="34" charset="-120"/>
              </a:rPr>
              <a:t>O papel do cientista de dados enquanto a lei não chega</a:t>
            </a:r>
            <a:endParaRPr lang="en-US" sz="2600" dirty="0"/>
          </a:p>
        </p:txBody>
      </p:sp>
      <p:sp>
        <p:nvSpPr>
          <p:cNvPr id="3" name="Shape 1"/>
          <p:cNvSpPr/>
          <p:nvPr/>
        </p:nvSpPr>
        <p:spPr>
          <a:xfrm>
            <a:off x="812800" y="1049027"/>
            <a:ext cx="609600" cy="50800"/>
          </a:xfrm>
          <a:prstGeom prst="rect">
            <a:avLst/>
          </a:prstGeom>
          <a:solidFill>
            <a:srgbClr val="FFFFFF"/>
          </a:solidFill>
          <a:ln/>
        </p:spPr>
        <p:txBody>
          <a:bodyPr/>
          <a:lstStyle/>
          <a:p>
            <a:endParaRPr lang="pt-BR"/>
          </a:p>
        </p:txBody>
      </p:sp>
      <p:sp>
        <p:nvSpPr>
          <p:cNvPr id="4" name="Text 2"/>
          <p:cNvSpPr/>
          <p:nvPr/>
        </p:nvSpPr>
        <p:spPr>
          <a:xfrm>
            <a:off x="812800" y="1303027"/>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6F3EC"/>
                </a:solidFill>
                <a:latin typeface="Arial" pitchFamily="34" charset="0"/>
                <a:ea typeface="Arial" pitchFamily="34" charset="-122"/>
                <a:cs typeface="Arial" pitchFamily="34" charset="-120"/>
              </a:rPr>
              <a:t>Enquanto essas lacunas não são preenchidas por lei, três práticas reduzem o risco jurídico de quem constrói sistemas de IA:</a:t>
            </a:r>
            <a:endParaRPr lang="en-US" sz="1500" dirty="0"/>
          </a:p>
        </p:txBody>
      </p:sp>
      <p:sp>
        <p:nvSpPr>
          <p:cNvPr id="5" name="Shape 3"/>
          <p:cNvSpPr/>
          <p:nvPr/>
        </p:nvSpPr>
        <p:spPr>
          <a:xfrm>
            <a:off x="822325" y="1782452"/>
            <a:ext cx="3367564" cy="3302635"/>
          </a:xfrm>
          <a:prstGeom prst="rect">
            <a:avLst/>
          </a:prstGeom>
          <a:noFill/>
          <a:ln w="19050">
            <a:solidFill>
              <a:srgbClr val="F5F5F5"/>
            </a:solidFill>
            <a:prstDash val="solid"/>
          </a:ln>
        </p:spPr>
        <p:txBody>
          <a:bodyPr/>
          <a:lstStyle/>
          <a:p>
            <a:endParaRPr lang="pt-BR"/>
          </a:p>
        </p:txBody>
      </p:sp>
      <p:sp>
        <p:nvSpPr>
          <p:cNvPr id="6" name="Shape 4"/>
          <p:cNvSpPr/>
          <p:nvPr/>
        </p:nvSpPr>
        <p:spPr>
          <a:xfrm>
            <a:off x="1107440" y="2067558"/>
            <a:ext cx="660400" cy="660400"/>
          </a:xfrm>
          <a:prstGeom prst="roundRect">
            <a:avLst>
              <a:gd name="adj" fmla="val 50000"/>
            </a:avLst>
          </a:prstGeom>
          <a:solidFill>
            <a:srgbClr val="F5F5F5"/>
          </a:solidFill>
          <a:ln/>
        </p:spPr>
        <p:txBody>
          <a:bodyPr/>
          <a:lstStyle/>
          <a:p>
            <a:endParaRPr lang="pt-BR"/>
          </a:p>
        </p:txBody>
      </p:sp>
      <p:pic>
        <p:nvPicPr>
          <p:cNvPr id="7" name="Image 0" descr="Book"/>
          <p:cNvPicPr>
            <a:picLocks noChangeAspect="1"/>
          </p:cNvPicPr>
          <p:nvPr/>
        </p:nvPicPr>
        <p:blipFill>
          <a:blip r:embed="rId3"/>
          <a:srcRect/>
          <a:stretch/>
        </p:blipFill>
        <p:spPr>
          <a:xfrm>
            <a:off x="1272540" y="2232658"/>
            <a:ext cx="330200" cy="330200"/>
          </a:xfrm>
          <a:prstGeom prst="rect">
            <a:avLst/>
          </a:prstGeom>
        </p:spPr>
      </p:pic>
      <p:sp>
        <p:nvSpPr>
          <p:cNvPr id="8" name="Text 5"/>
          <p:cNvSpPr/>
          <p:nvPr/>
        </p:nvSpPr>
        <p:spPr>
          <a:xfrm>
            <a:off x="1107440" y="2867658"/>
            <a:ext cx="2881254" cy="580390"/>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F5F5F5"/>
                </a:solidFill>
                <a:latin typeface="Arial" pitchFamily="34" charset="0"/>
                <a:ea typeface="Arial" pitchFamily="34" charset="-122"/>
                <a:cs typeface="Arial" pitchFamily="34" charset="-120"/>
              </a:rPr>
              <a:t>Documentar desde o início</a:t>
            </a:r>
            <a:endParaRPr lang="en-US" sz="1900" dirty="0"/>
          </a:p>
        </p:txBody>
      </p:sp>
      <p:sp>
        <p:nvSpPr>
          <p:cNvPr id="9" name="Text 6"/>
          <p:cNvSpPr/>
          <p:nvPr/>
        </p:nvSpPr>
        <p:spPr>
          <a:xfrm>
            <a:off x="1107440" y="3562350"/>
            <a:ext cx="2881254" cy="74549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E6F3EC"/>
                </a:solidFill>
                <a:latin typeface="Arial" pitchFamily="34" charset="0"/>
                <a:ea typeface="Arial" pitchFamily="34" charset="-122"/>
                <a:cs typeface="Arial" pitchFamily="34" charset="-120"/>
              </a:rPr>
              <a:t>Que dados foram usados, que variáveis foram excluídas e por quê, que testes de viés foram feitos.</a:t>
            </a:r>
            <a:endParaRPr lang="en-US" sz="1350" dirty="0"/>
          </a:p>
        </p:txBody>
      </p:sp>
      <p:sp>
        <p:nvSpPr>
          <p:cNvPr id="10" name="Shape 7"/>
          <p:cNvSpPr/>
          <p:nvPr/>
        </p:nvSpPr>
        <p:spPr>
          <a:xfrm>
            <a:off x="4412139" y="1782452"/>
            <a:ext cx="3367643" cy="3302635"/>
          </a:xfrm>
          <a:prstGeom prst="rect">
            <a:avLst/>
          </a:prstGeom>
          <a:noFill/>
          <a:ln w="19050">
            <a:solidFill>
              <a:srgbClr val="F5F5F5"/>
            </a:solidFill>
            <a:prstDash val="solid"/>
          </a:ln>
        </p:spPr>
        <p:txBody>
          <a:bodyPr/>
          <a:lstStyle/>
          <a:p>
            <a:endParaRPr lang="pt-BR"/>
          </a:p>
        </p:txBody>
      </p:sp>
      <p:sp>
        <p:nvSpPr>
          <p:cNvPr id="11" name="Shape 8"/>
          <p:cNvSpPr/>
          <p:nvPr/>
        </p:nvSpPr>
        <p:spPr>
          <a:xfrm>
            <a:off x="4697254" y="2067558"/>
            <a:ext cx="660400" cy="660400"/>
          </a:xfrm>
          <a:prstGeom prst="roundRect">
            <a:avLst>
              <a:gd name="adj" fmla="val 50000"/>
            </a:avLst>
          </a:prstGeom>
          <a:solidFill>
            <a:srgbClr val="F5F5F5"/>
          </a:solidFill>
          <a:ln/>
        </p:spPr>
        <p:txBody>
          <a:bodyPr/>
          <a:lstStyle/>
          <a:p>
            <a:endParaRPr lang="pt-BR"/>
          </a:p>
        </p:txBody>
      </p:sp>
      <p:pic>
        <p:nvPicPr>
          <p:cNvPr id="12" name="Image 1" descr="Database"/>
          <p:cNvPicPr>
            <a:picLocks noChangeAspect="1"/>
          </p:cNvPicPr>
          <p:nvPr/>
        </p:nvPicPr>
        <p:blipFill>
          <a:blip r:embed="rId4"/>
          <a:srcRect/>
          <a:stretch/>
        </p:blipFill>
        <p:spPr>
          <a:xfrm>
            <a:off x="4862354" y="2232658"/>
            <a:ext cx="330200" cy="330200"/>
          </a:xfrm>
          <a:prstGeom prst="rect">
            <a:avLst/>
          </a:prstGeom>
        </p:spPr>
      </p:pic>
      <p:sp>
        <p:nvSpPr>
          <p:cNvPr id="13" name="Text 9"/>
          <p:cNvSpPr/>
          <p:nvPr/>
        </p:nvSpPr>
        <p:spPr>
          <a:xfrm>
            <a:off x="4697254" y="2867658"/>
            <a:ext cx="2881336" cy="857885"/>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F5F5F5"/>
                </a:solidFill>
                <a:latin typeface="Arial" pitchFamily="34" charset="0"/>
                <a:ea typeface="Arial" pitchFamily="34" charset="-122"/>
                <a:cs typeface="Arial" pitchFamily="34" charset="-120"/>
              </a:rPr>
              <a:t>Manter registro técnico reconstituível</a:t>
            </a:r>
            <a:endParaRPr lang="en-US" sz="1900" dirty="0"/>
          </a:p>
        </p:txBody>
      </p:sp>
      <p:sp>
        <p:nvSpPr>
          <p:cNvPr id="14" name="Text 10"/>
          <p:cNvSpPr/>
          <p:nvPr/>
        </p:nvSpPr>
        <p:spPr>
          <a:xfrm>
            <a:off x="4697254" y="3839852"/>
            <a:ext cx="2881336" cy="9855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E6F3EC"/>
                </a:solidFill>
                <a:latin typeface="Arial" pitchFamily="34" charset="0"/>
                <a:ea typeface="Arial" pitchFamily="34" charset="-122"/>
                <a:cs typeface="Arial" pitchFamily="34" charset="-120"/>
              </a:rPr>
              <a:t>Permitir reconstruir, ainda que de forma aproximada, os critérios gerais de uma decisão específica, mesmo em modelos complexos.</a:t>
            </a:r>
            <a:endParaRPr lang="en-US" sz="1350" dirty="0"/>
          </a:p>
        </p:txBody>
      </p:sp>
      <p:sp>
        <p:nvSpPr>
          <p:cNvPr id="15" name="Shape 11"/>
          <p:cNvSpPr/>
          <p:nvPr/>
        </p:nvSpPr>
        <p:spPr>
          <a:xfrm>
            <a:off x="8002032" y="1782452"/>
            <a:ext cx="3367643" cy="3302635"/>
          </a:xfrm>
          <a:prstGeom prst="rect">
            <a:avLst/>
          </a:prstGeom>
          <a:noFill/>
          <a:ln w="19050">
            <a:solidFill>
              <a:srgbClr val="F5F5F5"/>
            </a:solidFill>
            <a:prstDash val="solid"/>
          </a:ln>
        </p:spPr>
        <p:txBody>
          <a:bodyPr/>
          <a:lstStyle/>
          <a:p>
            <a:endParaRPr lang="pt-BR"/>
          </a:p>
        </p:txBody>
      </p:sp>
      <p:sp>
        <p:nvSpPr>
          <p:cNvPr id="16" name="Shape 12"/>
          <p:cNvSpPr/>
          <p:nvPr/>
        </p:nvSpPr>
        <p:spPr>
          <a:xfrm>
            <a:off x="8287147" y="2067558"/>
            <a:ext cx="660400" cy="660400"/>
          </a:xfrm>
          <a:prstGeom prst="roundRect">
            <a:avLst>
              <a:gd name="adj" fmla="val 50000"/>
            </a:avLst>
          </a:prstGeom>
          <a:solidFill>
            <a:srgbClr val="F5F5F5"/>
          </a:solidFill>
          <a:ln/>
        </p:spPr>
        <p:txBody>
          <a:bodyPr/>
          <a:lstStyle/>
          <a:p>
            <a:endParaRPr lang="pt-BR"/>
          </a:p>
        </p:txBody>
      </p:sp>
      <p:pic>
        <p:nvPicPr>
          <p:cNvPr id="17" name="Image 2" descr="Users"/>
          <p:cNvPicPr>
            <a:picLocks noChangeAspect="1"/>
          </p:cNvPicPr>
          <p:nvPr/>
        </p:nvPicPr>
        <p:blipFill>
          <a:blip r:embed="rId5"/>
          <a:srcRect/>
          <a:stretch/>
        </p:blipFill>
        <p:spPr>
          <a:xfrm>
            <a:off x="8452247" y="2232658"/>
            <a:ext cx="330200" cy="330200"/>
          </a:xfrm>
          <a:prstGeom prst="rect">
            <a:avLst/>
          </a:prstGeom>
        </p:spPr>
      </p:pic>
      <p:sp>
        <p:nvSpPr>
          <p:cNvPr id="18" name="Text 13"/>
          <p:cNvSpPr/>
          <p:nvPr/>
        </p:nvSpPr>
        <p:spPr>
          <a:xfrm>
            <a:off x="8287147" y="2867658"/>
            <a:ext cx="2881336" cy="580390"/>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F5F5F5"/>
                </a:solidFill>
                <a:latin typeface="Arial" pitchFamily="34" charset="0"/>
                <a:ea typeface="Arial" pitchFamily="34" charset="-122"/>
                <a:cs typeface="Arial" pitchFamily="34" charset="-120"/>
              </a:rPr>
              <a:t>Prever revisão humana efetiva</a:t>
            </a:r>
            <a:endParaRPr lang="en-US" sz="1900" dirty="0"/>
          </a:p>
        </p:txBody>
      </p:sp>
      <p:sp>
        <p:nvSpPr>
          <p:cNvPr id="19" name="Text 14"/>
          <p:cNvSpPr/>
          <p:nvPr/>
        </p:nvSpPr>
        <p:spPr>
          <a:xfrm>
            <a:off x="8287147" y="3562350"/>
            <a:ext cx="2881336" cy="9855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E6F3EC"/>
                </a:solidFill>
                <a:latin typeface="Arial" pitchFamily="34" charset="0"/>
                <a:ea typeface="Arial" pitchFamily="34" charset="-122"/>
                <a:cs typeface="Arial" pitchFamily="34" charset="-120"/>
              </a:rPr>
              <a:t>Um canal de revisão real, e não apenas formal, para decisões que afetem direitos de terceiros, desde o desenho do sistema.</a:t>
            </a:r>
            <a:endParaRPr lang="en-US" sz="1350" dirty="0"/>
          </a:p>
        </p:txBody>
      </p:sp>
      <p:sp>
        <p:nvSpPr>
          <p:cNvPr id="20"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5F5F5"/>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PL 2.338/2023: onde estamos</a:t>
            </a:r>
            <a:endParaRPr lang="en-US" sz="2800" dirty="0"/>
          </a:p>
        </p:txBody>
      </p:sp>
      <p:sp>
        <p:nvSpPr>
          <p:cNvPr id="4" name="Shape 2"/>
          <p:cNvSpPr/>
          <p:nvPr/>
        </p:nvSpPr>
        <p:spPr>
          <a:xfrm>
            <a:off x="812800" y="1076958"/>
            <a:ext cx="609600" cy="50800"/>
          </a:xfrm>
          <a:prstGeom prst="rect">
            <a:avLst/>
          </a:prstGeom>
          <a:solidFill>
            <a:srgbClr val="2F7D4F"/>
          </a:solidFill>
          <a:ln/>
        </p:spPr>
        <p:txBody>
          <a:bodyPr/>
          <a:lstStyle/>
          <a:p>
            <a:endParaRPr lang="pt-BR"/>
          </a:p>
        </p:txBody>
      </p:sp>
      <p:sp>
        <p:nvSpPr>
          <p:cNvPr id="5" name="Shape 3"/>
          <p:cNvSpPr/>
          <p:nvPr/>
        </p:nvSpPr>
        <p:spPr>
          <a:xfrm>
            <a:off x="812800" y="1464308"/>
            <a:ext cx="2489200" cy="0"/>
          </a:xfrm>
          <a:prstGeom prst="line">
            <a:avLst/>
          </a:prstGeom>
          <a:noFill/>
          <a:ln w="63500">
            <a:solidFill>
              <a:srgbClr val="2F7D4F"/>
            </a:solidFill>
            <a:prstDash val="solid"/>
          </a:ln>
        </p:spPr>
        <p:txBody>
          <a:bodyPr/>
          <a:lstStyle/>
          <a:p>
            <a:endParaRPr lang="pt-BR"/>
          </a:p>
        </p:txBody>
      </p:sp>
      <p:sp>
        <p:nvSpPr>
          <p:cNvPr id="6" name="Text 4"/>
          <p:cNvSpPr/>
          <p:nvPr/>
        </p:nvSpPr>
        <p:spPr>
          <a:xfrm>
            <a:off x="812800" y="1645927"/>
            <a:ext cx="2380742" cy="30988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2F7D4F"/>
                </a:solidFill>
                <a:latin typeface="Arial" pitchFamily="34" charset="0"/>
                <a:ea typeface="Arial" pitchFamily="34" charset="-122"/>
                <a:cs typeface="Arial" pitchFamily="34" charset="-120"/>
              </a:rPr>
              <a:t>Maio/2023</a:t>
            </a:r>
            <a:endParaRPr lang="en-US" sz="1600" dirty="0"/>
          </a:p>
        </p:txBody>
      </p:sp>
      <p:sp>
        <p:nvSpPr>
          <p:cNvPr id="7" name="Text 5"/>
          <p:cNvSpPr/>
          <p:nvPr/>
        </p:nvSpPr>
        <p:spPr>
          <a:xfrm>
            <a:off x="812800" y="2019300"/>
            <a:ext cx="2380742"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B3035"/>
                </a:solidFill>
                <a:latin typeface="Arial" pitchFamily="34" charset="0"/>
                <a:ea typeface="Arial" pitchFamily="34" charset="-122"/>
                <a:cs typeface="Arial" pitchFamily="34" charset="-120"/>
              </a:rPr>
              <a:t>Apresentação</a:t>
            </a:r>
            <a:endParaRPr lang="en-US" sz="2000" dirty="0"/>
          </a:p>
        </p:txBody>
      </p:sp>
      <p:sp>
        <p:nvSpPr>
          <p:cNvPr id="8" name="Text 6"/>
          <p:cNvSpPr/>
          <p:nvPr/>
        </p:nvSpPr>
        <p:spPr>
          <a:xfrm>
            <a:off x="812800" y="2400300"/>
            <a:ext cx="238074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Rodrigo Pacheco apresenta o PL, com base em relatório de comissão de juristas.</a:t>
            </a:r>
            <a:endParaRPr lang="en-US" sz="1400" dirty="0"/>
          </a:p>
        </p:txBody>
      </p:sp>
      <p:sp>
        <p:nvSpPr>
          <p:cNvPr id="9" name="Shape 7"/>
          <p:cNvSpPr/>
          <p:nvPr/>
        </p:nvSpPr>
        <p:spPr>
          <a:xfrm>
            <a:off x="3505200" y="1464308"/>
            <a:ext cx="2489200" cy="0"/>
          </a:xfrm>
          <a:prstGeom prst="line">
            <a:avLst/>
          </a:prstGeom>
          <a:noFill/>
          <a:ln w="63500">
            <a:solidFill>
              <a:srgbClr val="2F7D4F"/>
            </a:solidFill>
            <a:prstDash val="solid"/>
          </a:ln>
        </p:spPr>
        <p:txBody>
          <a:bodyPr/>
          <a:lstStyle/>
          <a:p>
            <a:endParaRPr lang="pt-BR"/>
          </a:p>
        </p:txBody>
      </p:sp>
      <p:sp>
        <p:nvSpPr>
          <p:cNvPr id="10" name="Text 8"/>
          <p:cNvSpPr/>
          <p:nvPr/>
        </p:nvSpPr>
        <p:spPr>
          <a:xfrm>
            <a:off x="3505200" y="1645927"/>
            <a:ext cx="2380742" cy="30988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2F7D4F"/>
                </a:solidFill>
                <a:latin typeface="Arial" pitchFamily="34" charset="0"/>
                <a:ea typeface="Arial" pitchFamily="34" charset="-122"/>
                <a:cs typeface="Arial" pitchFamily="34" charset="-120"/>
              </a:rPr>
              <a:t>Dez/2024</a:t>
            </a:r>
            <a:endParaRPr lang="en-US" sz="1600" dirty="0"/>
          </a:p>
        </p:txBody>
      </p:sp>
      <p:sp>
        <p:nvSpPr>
          <p:cNvPr id="11" name="Text 9"/>
          <p:cNvSpPr/>
          <p:nvPr/>
        </p:nvSpPr>
        <p:spPr>
          <a:xfrm>
            <a:off x="3505200" y="2019300"/>
            <a:ext cx="2380742"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B3035"/>
                </a:solidFill>
                <a:latin typeface="Arial" pitchFamily="34" charset="0"/>
                <a:ea typeface="Arial" pitchFamily="34" charset="-122"/>
                <a:cs typeface="Arial" pitchFamily="34" charset="-120"/>
              </a:rPr>
              <a:t>Aprovação no Senado</a:t>
            </a:r>
            <a:endParaRPr lang="en-US" sz="2000" dirty="0"/>
          </a:p>
        </p:txBody>
      </p:sp>
      <p:sp>
        <p:nvSpPr>
          <p:cNvPr id="12" name="Text 10"/>
          <p:cNvSpPr/>
          <p:nvPr/>
        </p:nvSpPr>
        <p:spPr>
          <a:xfrm>
            <a:off x="3505200" y="2692400"/>
            <a:ext cx="238074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Texto substitutivo do Sen. Eduardo Gomes é aprovado no plenário do Senado.</a:t>
            </a:r>
            <a:endParaRPr lang="en-US" sz="1400" dirty="0"/>
          </a:p>
        </p:txBody>
      </p:sp>
      <p:sp>
        <p:nvSpPr>
          <p:cNvPr id="13" name="Shape 11"/>
          <p:cNvSpPr/>
          <p:nvPr/>
        </p:nvSpPr>
        <p:spPr>
          <a:xfrm>
            <a:off x="6197600" y="1464308"/>
            <a:ext cx="2489200" cy="0"/>
          </a:xfrm>
          <a:prstGeom prst="line">
            <a:avLst/>
          </a:prstGeom>
          <a:noFill/>
          <a:ln w="63500">
            <a:solidFill>
              <a:srgbClr val="2F7D4F"/>
            </a:solidFill>
            <a:prstDash val="solid"/>
          </a:ln>
        </p:spPr>
        <p:txBody>
          <a:bodyPr/>
          <a:lstStyle/>
          <a:p>
            <a:endParaRPr lang="pt-BR"/>
          </a:p>
        </p:txBody>
      </p:sp>
      <p:sp>
        <p:nvSpPr>
          <p:cNvPr id="14" name="Text 12"/>
          <p:cNvSpPr/>
          <p:nvPr/>
        </p:nvSpPr>
        <p:spPr>
          <a:xfrm>
            <a:off x="6197600" y="1645927"/>
            <a:ext cx="2380742" cy="30988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2F7D4F"/>
                </a:solidFill>
                <a:latin typeface="Arial" pitchFamily="34" charset="0"/>
                <a:ea typeface="Arial" pitchFamily="34" charset="-122"/>
                <a:cs typeface="Arial" pitchFamily="34" charset="-120"/>
              </a:rPr>
              <a:t>2025–2026</a:t>
            </a:r>
            <a:endParaRPr lang="en-US" sz="1600" dirty="0"/>
          </a:p>
        </p:txBody>
      </p:sp>
      <p:sp>
        <p:nvSpPr>
          <p:cNvPr id="15" name="Text 13"/>
          <p:cNvSpPr/>
          <p:nvPr/>
        </p:nvSpPr>
        <p:spPr>
          <a:xfrm>
            <a:off x="6197600" y="2019300"/>
            <a:ext cx="2380742" cy="9017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B3035"/>
                </a:solidFill>
                <a:latin typeface="Arial" pitchFamily="34" charset="0"/>
                <a:ea typeface="Arial" pitchFamily="34" charset="-122"/>
                <a:cs typeface="Arial" pitchFamily="34" charset="-120"/>
              </a:rPr>
              <a:t>Comissão Especial (Câmara)</a:t>
            </a:r>
            <a:endParaRPr lang="en-US" sz="2000" dirty="0"/>
          </a:p>
        </p:txBody>
      </p:sp>
      <p:sp>
        <p:nvSpPr>
          <p:cNvPr id="16" name="Text 14"/>
          <p:cNvSpPr/>
          <p:nvPr/>
        </p:nvSpPr>
        <p:spPr>
          <a:xfrm>
            <a:off x="6197600" y="2984500"/>
            <a:ext cx="238074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Tramitação na Câmara dos Deputados, com debate sobre pontos como a Redata.</a:t>
            </a:r>
            <a:endParaRPr lang="en-US" sz="1400" dirty="0"/>
          </a:p>
        </p:txBody>
      </p:sp>
      <p:sp>
        <p:nvSpPr>
          <p:cNvPr id="17" name="Shape 15"/>
          <p:cNvSpPr/>
          <p:nvPr/>
        </p:nvSpPr>
        <p:spPr>
          <a:xfrm>
            <a:off x="8890000" y="1464308"/>
            <a:ext cx="2489200" cy="0"/>
          </a:xfrm>
          <a:prstGeom prst="line">
            <a:avLst/>
          </a:prstGeom>
          <a:noFill/>
          <a:ln w="63500">
            <a:solidFill>
              <a:srgbClr val="BFE0CC"/>
            </a:solidFill>
            <a:prstDash val="solid"/>
          </a:ln>
        </p:spPr>
        <p:txBody>
          <a:bodyPr/>
          <a:lstStyle/>
          <a:p>
            <a:endParaRPr lang="pt-BR"/>
          </a:p>
        </p:txBody>
      </p:sp>
      <p:sp>
        <p:nvSpPr>
          <p:cNvPr id="18" name="Text 16"/>
          <p:cNvSpPr/>
          <p:nvPr/>
        </p:nvSpPr>
        <p:spPr>
          <a:xfrm>
            <a:off x="8890000" y="1645927"/>
            <a:ext cx="2380742" cy="30988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2F7D4F"/>
                </a:solidFill>
                <a:latin typeface="Arial" pitchFamily="34" charset="0"/>
                <a:ea typeface="Arial" pitchFamily="34" charset="-122"/>
                <a:cs typeface="Arial" pitchFamily="34" charset="-120"/>
              </a:rPr>
              <a:t>2026 (previsão)</a:t>
            </a:r>
            <a:endParaRPr lang="en-US" sz="1600" dirty="0"/>
          </a:p>
        </p:txBody>
      </p:sp>
      <p:sp>
        <p:nvSpPr>
          <p:cNvPr id="19" name="Text 17"/>
          <p:cNvSpPr/>
          <p:nvPr/>
        </p:nvSpPr>
        <p:spPr>
          <a:xfrm>
            <a:off x="8890000" y="2019300"/>
            <a:ext cx="2380742"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B3035"/>
                </a:solidFill>
                <a:latin typeface="Arial" pitchFamily="34" charset="0"/>
                <a:ea typeface="Arial" pitchFamily="34" charset="-122"/>
                <a:cs typeface="Arial" pitchFamily="34" charset="-120"/>
              </a:rPr>
              <a:t>Votação em plenário</a:t>
            </a:r>
            <a:endParaRPr lang="en-US" sz="2000" dirty="0"/>
          </a:p>
        </p:txBody>
      </p:sp>
      <p:sp>
        <p:nvSpPr>
          <p:cNvPr id="20" name="Text 18"/>
          <p:cNvSpPr/>
          <p:nvPr/>
        </p:nvSpPr>
        <p:spPr>
          <a:xfrm>
            <a:off x="8890000" y="2692400"/>
            <a:ext cx="238074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Expectativa de votação final ainda em 2026, com possível retorno ao Senado.</a:t>
            </a:r>
            <a:endParaRPr lang="en-US" sz="1400" dirty="0"/>
          </a:p>
        </p:txBody>
      </p:sp>
      <p:sp>
        <p:nvSpPr>
          <p:cNvPr id="21" name="Shape 19"/>
          <p:cNvSpPr/>
          <p:nvPr/>
        </p:nvSpPr>
        <p:spPr>
          <a:xfrm>
            <a:off x="812800" y="4284985"/>
            <a:ext cx="10566400" cy="817880"/>
          </a:xfrm>
          <a:prstGeom prst="rect">
            <a:avLst/>
          </a:prstGeom>
          <a:solidFill>
            <a:srgbClr val="2F7D4F"/>
          </a:solidFill>
          <a:ln/>
        </p:spPr>
        <p:txBody>
          <a:bodyPr/>
          <a:lstStyle/>
          <a:p>
            <a:endParaRPr lang="pt-BR"/>
          </a:p>
        </p:txBody>
      </p:sp>
      <p:sp>
        <p:nvSpPr>
          <p:cNvPr id="22" name="Text 20"/>
          <p:cNvSpPr/>
          <p:nvPr/>
        </p:nvSpPr>
        <p:spPr>
          <a:xfrm>
            <a:off x="1066800" y="4462785"/>
            <a:ext cx="1036015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5F5"/>
                </a:solidFill>
                <a:latin typeface="Arial" pitchFamily="34" charset="0"/>
                <a:ea typeface="Arial" pitchFamily="34" charset="-122"/>
                <a:cs typeface="Arial" pitchFamily="34" charset="-120"/>
              </a:rPr>
              <a:t>Autoria: PL apresentado por Rodrigo Pacheco, então presidente do Senado, a partir do relatório da comissão de juristas presidida pelo min. Ricardo Villas Bôas Cueva.</a:t>
            </a:r>
            <a:endParaRPr lang="en-US" sz="1300" dirty="0"/>
          </a:p>
        </p:txBody>
      </p:sp>
      <p:sp>
        <p:nvSpPr>
          <p:cNvPr id="23" name="Text 2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A abordagem baseada em risco</a:t>
            </a:r>
            <a:endParaRPr lang="en-US" sz="2800" dirty="0"/>
          </a:p>
        </p:txBody>
      </p:sp>
      <p:sp>
        <p:nvSpPr>
          <p:cNvPr id="4" name="Shape 2"/>
          <p:cNvSpPr/>
          <p:nvPr/>
        </p:nvSpPr>
        <p:spPr>
          <a:xfrm>
            <a:off x="812800" y="1076958"/>
            <a:ext cx="609600" cy="50800"/>
          </a:xfrm>
          <a:prstGeom prst="rect">
            <a:avLst/>
          </a:prstGeom>
          <a:solidFill>
            <a:srgbClr val="2F7D4F"/>
          </a:solidFill>
          <a:ln/>
        </p:spPr>
        <p:txBody>
          <a:bodyPr/>
          <a:lstStyle/>
          <a:p>
            <a:endParaRPr lang="pt-BR"/>
          </a:p>
        </p:txBody>
      </p:sp>
      <p:sp>
        <p:nvSpPr>
          <p:cNvPr id="5" name="Text 3"/>
          <p:cNvSpPr/>
          <p:nvPr/>
        </p:nvSpPr>
        <p:spPr>
          <a:xfrm>
            <a:off x="812800" y="1330958"/>
            <a:ext cx="1088339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PL 2.338/2023 e EU AI Act partem da mesma lógica regulatória: quanto maior o potencial de dano de um sistema de IA, mais intensas as obrigações e proibições que recaem sobre ele. É uma alternativa à regulação uniforme, permite diferenciar um filtro de spam de um sistema de crédito automatizado.</a:t>
            </a:r>
            <a:endParaRPr lang="en-US" sz="1500" dirty="0"/>
          </a:p>
        </p:txBody>
      </p:sp>
      <p:sp>
        <p:nvSpPr>
          <p:cNvPr id="6" name="Shape 4"/>
          <p:cNvSpPr/>
          <p:nvPr/>
        </p:nvSpPr>
        <p:spPr>
          <a:xfrm>
            <a:off x="1333500" y="2334258"/>
            <a:ext cx="9525000" cy="683260"/>
          </a:xfrm>
          <a:prstGeom prst="rect">
            <a:avLst/>
          </a:prstGeom>
          <a:solidFill>
            <a:srgbClr val="E6F1EA"/>
          </a:solidFill>
          <a:ln/>
        </p:spPr>
        <p:txBody>
          <a:bodyPr/>
          <a:lstStyle/>
          <a:p>
            <a:endParaRPr lang="pt-BR"/>
          </a:p>
        </p:txBody>
      </p:sp>
      <p:sp>
        <p:nvSpPr>
          <p:cNvPr id="7" name="Text 5"/>
          <p:cNvSpPr/>
          <p:nvPr/>
        </p:nvSpPr>
        <p:spPr>
          <a:xfrm>
            <a:off x="1321435" y="2524758"/>
            <a:ext cx="9549130" cy="32766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2B3035"/>
                </a:solidFill>
                <a:latin typeface="Arial" pitchFamily="34" charset="0"/>
                <a:ea typeface="Arial" pitchFamily="34" charset="-122"/>
                <a:cs typeface="Arial" pitchFamily="34" charset="-120"/>
              </a:rPr>
              <a:t>Inaceitável / excessivo — proibido</a:t>
            </a:r>
            <a:endParaRPr lang="en-US" sz="1700" dirty="0"/>
          </a:p>
        </p:txBody>
      </p:sp>
      <p:sp>
        <p:nvSpPr>
          <p:cNvPr id="8" name="Shape 6"/>
          <p:cNvSpPr/>
          <p:nvPr/>
        </p:nvSpPr>
        <p:spPr>
          <a:xfrm>
            <a:off x="2127250" y="3081027"/>
            <a:ext cx="7937500" cy="683260"/>
          </a:xfrm>
          <a:prstGeom prst="rect">
            <a:avLst/>
          </a:prstGeom>
          <a:solidFill>
            <a:srgbClr val="BFE0CC"/>
          </a:solidFill>
          <a:ln/>
        </p:spPr>
        <p:txBody>
          <a:bodyPr/>
          <a:lstStyle/>
          <a:p>
            <a:endParaRPr lang="pt-BR"/>
          </a:p>
        </p:txBody>
      </p:sp>
      <p:sp>
        <p:nvSpPr>
          <p:cNvPr id="9" name="Text 7"/>
          <p:cNvSpPr/>
          <p:nvPr/>
        </p:nvSpPr>
        <p:spPr>
          <a:xfrm>
            <a:off x="2138998" y="3271527"/>
            <a:ext cx="7914005" cy="32766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2B3035"/>
                </a:solidFill>
                <a:latin typeface="Arial" pitchFamily="34" charset="0"/>
                <a:ea typeface="Arial" pitchFamily="34" charset="-122"/>
                <a:cs typeface="Arial" pitchFamily="34" charset="-120"/>
              </a:rPr>
              <a:t>Alto — obrigações reforçadas</a:t>
            </a:r>
            <a:endParaRPr lang="en-US" sz="1700" dirty="0"/>
          </a:p>
        </p:txBody>
      </p:sp>
      <p:sp>
        <p:nvSpPr>
          <p:cNvPr id="10" name="Shape 8"/>
          <p:cNvSpPr/>
          <p:nvPr/>
        </p:nvSpPr>
        <p:spPr>
          <a:xfrm>
            <a:off x="2921000" y="3827785"/>
            <a:ext cx="6350000" cy="683260"/>
          </a:xfrm>
          <a:prstGeom prst="rect">
            <a:avLst/>
          </a:prstGeom>
          <a:solidFill>
            <a:srgbClr val="4A9468"/>
          </a:solidFill>
          <a:ln/>
        </p:spPr>
        <p:txBody>
          <a:bodyPr/>
          <a:lstStyle/>
          <a:p>
            <a:endParaRPr lang="pt-BR"/>
          </a:p>
        </p:txBody>
      </p:sp>
      <p:sp>
        <p:nvSpPr>
          <p:cNvPr id="11" name="Text 9"/>
          <p:cNvSpPr/>
          <p:nvPr/>
        </p:nvSpPr>
        <p:spPr>
          <a:xfrm>
            <a:off x="2956560" y="4018285"/>
            <a:ext cx="6278880" cy="32766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Limitado — deveres de transparência</a:t>
            </a:r>
            <a:endParaRPr lang="en-US" sz="1700" dirty="0"/>
          </a:p>
        </p:txBody>
      </p:sp>
      <p:sp>
        <p:nvSpPr>
          <p:cNvPr id="12" name="Shape 10"/>
          <p:cNvSpPr/>
          <p:nvPr/>
        </p:nvSpPr>
        <p:spPr>
          <a:xfrm>
            <a:off x="3714750" y="4574542"/>
            <a:ext cx="4762500" cy="683260"/>
          </a:xfrm>
          <a:prstGeom prst="rect">
            <a:avLst/>
          </a:prstGeom>
          <a:solidFill>
            <a:srgbClr val="2F7D4F"/>
          </a:solidFill>
          <a:ln/>
        </p:spPr>
        <p:txBody>
          <a:bodyPr/>
          <a:lstStyle/>
          <a:p>
            <a:endParaRPr lang="pt-BR"/>
          </a:p>
        </p:txBody>
      </p:sp>
      <p:sp>
        <p:nvSpPr>
          <p:cNvPr id="13" name="Text 11"/>
          <p:cNvSpPr/>
          <p:nvPr/>
        </p:nvSpPr>
        <p:spPr>
          <a:xfrm>
            <a:off x="3774123" y="4765042"/>
            <a:ext cx="4643755" cy="32766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FFFFFF"/>
                </a:solidFill>
                <a:latin typeface="Arial" pitchFamily="34" charset="0"/>
                <a:ea typeface="Arial" pitchFamily="34" charset="-122"/>
                <a:cs typeface="Arial" pitchFamily="34" charset="-120"/>
              </a:rPr>
              <a:t>Mínimo — uso livre</a:t>
            </a:r>
            <a:endParaRPr lang="en-US" sz="1700" dirty="0"/>
          </a:p>
        </p:txBody>
      </p:sp>
      <p:sp>
        <p:nvSpPr>
          <p:cNvPr id="14" name="Text 12"/>
          <p:cNvSpPr/>
          <p:nvPr/>
        </p:nvSpPr>
        <p:spPr>
          <a:xfrm>
            <a:off x="654304" y="5461000"/>
            <a:ext cx="10883392" cy="256540"/>
          </a:xfrm>
          <a:prstGeom prst="rect">
            <a:avLst/>
          </a:prstGeom>
          <a:noFill/>
          <a:ln/>
        </p:spPr>
        <p:txBody>
          <a:bodyPr wrap="square" lIns="0" tIns="0" rIns="0" bIns="0" rtlCol="0" anchor="t">
            <a:normAutofit/>
          </a:bodyPr>
          <a:lstStyle/>
          <a:p>
            <a:pPr marL="0" indent="0" algn="ctr">
              <a:lnSpc>
                <a:spcPts val="1820"/>
              </a:lnSpc>
              <a:buNone/>
            </a:pPr>
            <a:r>
              <a:rPr lang="en-US" sz="1300" i="1" dirty="0">
                <a:solidFill>
                  <a:srgbClr val="5D656C"/>
                </a:solidFill>
                <a:latin typeface="Arial" pitchFamily="34" charset="0"/>
                <a:ea typeface="Arial" pitchFamily="34" charset="-122"/>
                <a:cs typeface="Arial" pitchFamily="34" charset="-120"/>
              </a:rPr>
              <a:t>↑ intensidade regulatória</a:t>
            </a:r>
            <a:endParaRPr lang="en-US" sz="1300" dirty="0"/>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Categorização de riscos no PL brasileiro</a:t>
            </a:r>
            <a:endParaRPr lang="en-US" sz="2800" dirty="0"/>
          </a:p>
        </p:txBody>
      </p:sp>
      <p:sp>
        <p:nvSpPr>
          <p:cNvPr id="4" name="Shape 2"/>
          <p:cNvSpPr/>
          <p:nvPr/>
        </p:nvSpPr>
        <p:spPr>
          <a:xfrm>
            <a:off x="812800" y="1076958"/>
            <a:ext cx="609600" cy="50800"/>
          </a:xfrm>
          <a:prstGeom prst="rect">
            <a:avLst/>
          </a:prstGeom>
          <a:solidFill>
            <a:srgbClr val="2F7D4F"/>
          </a:solidFill>
          <a:ln/>
        </p:spPr>
        <p:txBody>
          <a:bodyPr/>
          <a:lstStyle/>
          <a:p>
            <a:endParaRPr lang="pt-BR"/>
          </a:p>
        </p:txBody>
      </p:sp>
      <p:sp>
        <p:nvSpPr>
          <p:cNvPr id="5" name="Shape 3"/>
          <p:cNvSpPr/>
          <p:nvPr/>
        </p:nvSpPr>
        <p:spPr>
          <a:xfrm>
            <a:off x="812800" y="1330958"/>
            <a:ext cx="5168900" cy="1099820"/>
          </a:xfrm>
          <a:prstGeom prst="rect">
            <a:avLst/>
          </a:prstGeom>
          <a:solidFill>
            <a:srgbClr val="2F7D4F"/>
          </a:solidFill>
          <a:ln/>
        </p:spPr>
        <p:txBody>
          <a:bodyPr/>
          <a:lstStyle/>
          <a:p>
            <a:endParaRPr lang="pt-BR"/>
          </a:p>
        </p:txBody>
      </p:sp>
      <p:sp>
        <p:nvSpPr>
          <p:cNvPr id="6" name="Shape 4"/>
          <p:cNvSpPr/>
          <p:nvPr/>
        </p:nvSpPr>
        <p:spPr>
          <a:xfrm>
            <a:off x="1066800" y="1576077"/>
            <a:ext cx="609600" cy="609600"/>
          </a:xfrm>
          <a:prstGeom prst="roundRect">
            <a:avLst>
              <a:gd name="adj" fmla="val 50000"/>
            </a:avLst>
          </a:prstGeom>
          <a:solidFill>
            <a:srgbClr val="FFFFFF"/>
          </a:solidFill>
          <a:ln/>
        </p:spPr>
        <p:txBody>
          <a:bodyPr/>
          <a:lstStyle/>
          <a:p>
            <a:endParaRPr lang="pt-BR"/>
          </a:p>
        </p:txBody>
      </p:sp>
      <p:pic>
        <p:nvPicPr>
          <p:cNvPr id="7" name="Image 0" descr="Warning"/>
          <p:cNvPicPr>
            <a:picLocks noChangeAspect="1"/>
          </p:cNvPicPr>
          <p:nvPr/>
        </p:nvPicPr>
        <p:blipFill>
          <a:blip r:embed="rId3"/>
          <a:srcRect/>
          <a:stretch/>
        </p:blipFill>
        <p:spPr>
          <a:xfrm>
            <a:off x="1219200" y="1728477"/>
            <a:ext cx="304800" cy="304800"/>
          </a:xfrm>
          <a:prstGeom prst="rect">
            <a:avLst/>
          </a:prstGeom>
        </p:spPr>
      </p:pic>
      <p:sp>
        <p:nvSpPr>
          <p:cNvPr id="8" name="Text 5"/>
          <p:cNvSpPr/>
          <p:nvPr/>
        </p:nvSpPr>
        <p:spPr>
          <a:xfrm>
            <a:off x="1854200" y="1559558"/>
            <a:ext cx="3989705"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FFFF"/>
                </a:solidFill>
                <a:latin typeface="Arial" pitchFamily="34" charset="0"/>
                <a:ea typeface="Arial" pitchFamily="34" charset="-122"/>
                <a:cs typeface="Arial" pitchFamily="34" charset="-120"/>
              </a:rPr>
              <a:t>Risco excessivo (art. 14)</a:t>
            </a:r>
            <a:endParaRPr lang="en-US" sz="2200" dirty="0"/>
          </a:p>
        </p:txBody>
      </p:sp>
      <p:sp>
        <p:nvSpPr>
          <p:cNvPr id="9" name="Text 6"/>
          <p:cNvSpPr/>
          <p:nvPr/>
        </p:nvSpPr>
        <p:spPr>
          <a:xfrm>
            <a:off x="1854200" y="1988827"/>
            <a:ext cx="3989705"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6F3EC"/>
                </a:solidFill>
                <a:latin typeface="Arial" pitchFamily="34" charset="0"/>
                <a:ea typeface="Arial" pitchFamily="34" charset="-122"/>
                <a:cs typeface="Arial" pitchFamily="34" charset="-120"/>
              </a:rPr>
              <a:t>PRÁTICAS VEDADAS</a:t>
            </a:r>
            <a:endParaRPr lang="en-US" sz="1200" dirty="0"/>
          </a:p>
        </p:txBody>
      </p:sp>
      <p:sp>
        <p:nvSpPr>
          <p:cNvPr id="10" name="Shape 7"/>
          <p:cNvSpPr/>
          <p:nvPr/>
        </p:nvSpPr>
        <p:spPr>
          <a:xfrm>
            <a:off x="812800" y="2430785"/>
            <a:ext cx="5168900" cy="1706880"/>
          </a:xfrm>
          <a:prstGeom prst="rect">
            <a:avLst/>
          </a:prstGeom>
          <a:solidFill>
            <a:srgbClr val="E6E9EB"/>
          </a:solidFill>
          <a:ln/>
        </p:spPr>
        <p:txBody>
          <a:bodyPr/>
          <a:lstStyle/>
          <a:p>
            <a:endParaRPr lang="pt-BR"/>
          </a:p>
        </p:txBody>
      </p:sp>
      <p:sp>
        <p:nvSpPr>
          <p:cNvPr id="11" name="Text 8"/>
          <p:cNvSpPr/>
          <p:nvPr/>
        </p:nvSpPr>
        <p:spPr>
          <a:xfrm>
            <a:off x="1066800" y="2684785"/>
            <a:ext cx="4800727" cy="1325880"/>
          </a:xfrm>
          <a:prstGeom prst="rect">
            <a:avLst/>
          </a:prstGeom>
          <a:noFill/>
          <a:ln/>
        </p:spPr>
        <p:txBody>
          <a:bodyPr wrap="square" lIns="0" tIns="0" rIns="0" bIns="0" rtlCol="0" anchor="t">
            <a:normAutofit/>
          </a:bodyPr>
          <a:lstStyle/>
          <a:p>
            <a:pPr marL="342900" indent="-342900" algn="l">
              <a:lnSpc>
                <a:spcPts val="2560"/>
              </a:lnSpc>
              <a:buSzPct val="100000"/>
              <a:buChar char="•"/>
            </a:pPr>
            <a:r>
              <a:rPr lang="en-US" sz="1600" dirty="0">
                <a:solidFill>
                  <a:srgbClr val="2B3035"/>
                </a:solidFill>
                <a:latin typeface="Arial" pitchFamily="34" charset="0"/>
                <a:ea typeface="Arial" pitchFamily="34" charset="-122"/>
                <a:cs typeface="Arial" pitchFamily="34" charset="-120"/>
              </a:rPr>
              <a:t>Técnicas subliminares que causem dano</a:t>
            </a:r>
            <a:endParaRPr lang="en-US" sz="1600" dirty="0"/>
          </a:p>
          <a:p>
            <a:pPr marL="342900" indent="-342900" algn="l">
              <a:lnSpc>
                <a:spcPts val="2560"/>
              </a:lnSpc>
              <a:buSzPct val="100000"/>
              <a:buChar char="•"/>
            </a:pPr>
            <a:r>
              <a:rPr lang="en-US" sz="1600" dirty="0">
                <a:solidFill>
                  <a:srgbClr val="2B3035"/>
                </a:solidFill>
                <a:latin typeface="Arial" pitchFamily="34" charset="0"/>
                <a:ea typeface="Arial" pitchFamily="34" charset="-122"/>
                <a:cs typeface="Arial" pitchFamily="34" charset="-120"/>
              </a:rPr>
              <a:t>Exploração de vulnerabilidades de grupos específicos</a:t>
            </a:r>
            <a:endParaRPr lang="en-US" sz="1600" dirty="0"/>
          </a:p>
          <a:p>
            <a:pPr marL="342900" indent="-342900" algn="l">
              <a:lnSpc>
                <a:spcPts val="2560"/>
              </a:lnSpc>
              <a:buSzPct val="100000"/>
              <a:buChar char="•"/>
            </a:pPr>
            <a:r>
              <a:rPr lang="en-US" sz="1600" dirty="0">
                <a:solidFill>
                  <a:srgbClr val="2B3035"/>
                </a:solidFill>
                <a:latin typeface="Arial" pitchFamily="34" charset="0"/>
                <a:ea typeface="Arial" pitchFamily="34" charset="-122"/>
                <a:cs typeface="Arial" pitchFamily="34" charset="-120"/>
              </a:rPr>
              <a:t>Pontuação social universal pelo poder público</a:t>
            </a:r>
            <a:endParaRPr lang="en-US" sz="1600" dirty="0"/>
          </a:p>
        </p:txBody>
      </p:sp>
      <p:sp>
        <p:nvSpPr>
          <p:cNvPr id="12" name="Shape 9"/>
          <p:cNvSpPr/>
          <p:nvPr/>
        </p:nvSpPr>
        <p:spPr>
          <a:xfrm>
            <a:off x="6210300" y="1330958"/>
            <a:ext cx="5168900" cy="1099820"/>
          </a:xfrm>
          <a:prstGeom prst="rect">
            <a:avLst/>
          </a:prstGeom>
          <a:solidFill>
            <a:srgbClr val="4A9468"/>
          </a:solidFill>
          <a:ln/>
        </p:spPr>
        <p:txBody>
          <a:bodyPr/>
          <a:lstStyle/>
          <a:p>
            <a:endParaRPr lang="pt-BR"/>
          </a:p>
        </p:txBody>
      </p:sp>
      <p:sp>
        <p:nvSpPr>
          <p:cNvPr id="13" name="Shape 10"/>
          <p:cNvSpPr/>
          <p:nvPr/>
        </p:nvSpPr>
        <p:spPr>
          <a:xfrm>
            <a:off x="6464300" y="1576077"/>
            <a:ext cx="609600" cy="609600"/>
          </a:xfrm>
          <a:prstGeom prst="roundRect">
            <a:avLst>
              <a:gd name="adj" fmla="val 50000"/>
            </a:avLst>
          </a:prstGeom>
          <a:solidFill>
            <a:srgbClr val="FFFFFF"/>
          </a:solidFill>
          <a:ln/>
        </p:spPr>
        <p:txBody>
          <a:bodyPr/>
          <a:lstStyle/>
          <a:p>
            <a:endParaRPr lang="pt-BR"/>
          </a:p>
        </p:txBody>
      </p:sp>
      <p:pic>
        <p:nvPicPr>
          <p:cNvPr id="14" name="Image 1" descr="Lock"/>
          <p:cNvPicPr>
            <a:picLocks noChangeAspect="1"/>
          </p:cNvPicPr>
          <p:nvPr/>
        </p:nvPicPr>
        <p:blipFill>
          <a:blip r:embed="rId4"/>
          <a:srcRect/>
          <a:stretch/>
        </p:blipFill>
        <p:spPr>
          <a:xfrm>
            <a:off x="6616700" y="1728477"/>
            <a:ext cx="304800" cy="304800"/>
          </a:xfrm>
          <a:prstGeom prst="rect">
            <a:avLst/>
          </a:prstGeom>
        </p:spPr>
      </p:pic>
      <p:sp>
        <p:nvSpPr>
          <p:cNvPr id="15" name="Text 11"/>
          <p:cNvSpPr/>
          <p:nvPr/>
        </p:nvSpPr>
        <p:spPr>
          <a:xfrm>
            <a:off x="7251700" y="1559558"/>
            <a:ext cx="3989705"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FFFF"/>
                </a:solidFill>
                <a:latin typeface="Arial" pitchFamily="34" charset="0"/>
                <a:ea typeface="Arial" pitchFamily="34" charset="-122"/>
                <a:cs typeface="Arial" pitchFamily="34" charset="-120"/>
              </a:rPr>
              <a:t>Alto risco (art. 17)</a:t>
            </a:r>
            <a:endParaRPr lang="en-US" sz="2200" dirty="0"/>
          </a:p>
        </p:txBody>
      </p:sp>
      <p:sp>
        <p:nvSpPr>
          <p:cNvPr id="16" name="Text 12"/>
          <p:cNvSpPr/>
          <p:nvPr/>
        </p:nvSpPr>
        <p:spPr>
          <a:xfrm>
            <a:off x="7251700" y="1988827"/>
            <a:ext cx="3989705"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6F3EC"/>
                </a:solidFill>
                <a:latin typeface="Arial" pitchFamily="34" charset="0"/>
                <a:ea typeface="Arial" pitchFamily="34" charset="-122"/>
                <a:cs typeface="Arial" pitchFamily="34" charset="-120"/>
              </a:rPr>
              <a:t>OBRIGAÇÕES REFORÇADAS</a:t>
            </a:r>
            <a:endParaRPr lang="en-US" sz="1200" dirty="0"/>
          </a:p>
        </p:txBody>
      </p:sp>
      <p:sp>
        <p:nvSpPr>
          <p:cNvPr id="17" name="Shape 13"/>
          <p:cNvSpPr/>
          <p:nvPr/>
        </p:nvSpPr>
        <p:spPr>
          <a:xfrm>
            <a:off x="6210300" y="2430785"/>
            <a:ext cx="5168900" cy="1381760"/>
          </a:xfrm>
          <a:prstGeom prst="rect">
            <a:avLst/>
          </a:prstGeom>
          <a:solidFill>
            <a:srgbClr val="E6E9EB"/>
          </a:solidFill>
          <a:ln/>
        </p:spPr>
        <p:txBody>
          <a:bodyPr/>
          <a:lstStyle/>
          <a:p>
            <a:endParaRPr lang="pt-BR"/>
          </a:p>
        </p:txBody>
      </p:sp>
      <p:sp>
        <p:nvSpPr>
          <p:cNvPr id="18" name="Text 14"/>
          <p:cNvSpPr/>
          <p:nvPr/>
        </p:nvSpPr>
        <p:spPr>
          <a:xfrm>
            <a:off x="6464300" y="2684785"/>
            <a:ext cx="4800727" cy="1000760"/>
          </a:xfrm>
          <a:prstGeom prst="rect">
            <a:avLst/>
          </a:prstGeom>
          <a:noFill/>
          <a:ln/>
        </p:spPr>
        <p:txBody>
          <a:bodyPr wrap="square" lIns="0" tIns="0" rIns="0" bIns="0" rtlCol="0" anchor="t">
            <a:normAutofit/>
          </a:bodyPr>
          <a:lstStyle/>
          <a:p>
            <a:pPr marL="342900" indent="-342900" algn="l">
              <a:lnSpc>
                <a:spcPts val="2560"/>
              </a:lnSpc>
              <a:buSzPct val="100000"/>
              <a:buChar char="•"/>
            </a:pPr>
            <a:r>
              <a:rPr lang="en-US" sz="1600" dirty="0">
                <a:solidFill>
                  <a:srgbClr val="2B3035"/>
                </a:solidFill>
                <a:latin typeface="Arial" pitchFamily="34" charset="0"/>
                <a:ea typeface="Arial" pitchFamily="34" charset="-122"/>
                <a:cs typeface="Arial" pitchFamily="34" charset="-120"/>
              </a:rPr>
              <a:t>Infraestruturas críticas e educação</a:t>
            </a:r>
            <a:endParaRPr lang="en-US" sz="1600" dirty="0"/>
          </a:p>
          <a:p>
            <a:pPr marL="342900" indent="-342900" algn="l">
              <a:lnSpc>
                <a:spcPts val="2560"/>
              </a:lnSpc>
              <a:buSzPct val="100000"/>
              <a:buChar char="•"/>
            </a:pPr>
            <a:r>
              <a:rPr lang="en-US" sz="1600" dirty="0">
                <a:solidFill>
                  <a:srgbClr val="2B3035"/>
                </a:solidFill>
                <a:latin typeface="Arial" pitchFamily="34" charset="0"/>
                <a:ea typeface="Arial" pitchFamily="34" charset="-122"/>
                <a:cs typeface="Arial" pitchFamily="34" charset="-120"/>
              </a:rPr>
              <a:t>Recrutamento, crédito e serviços essenciais</a:t>
            </a:r>
            <a:endParaRPr lang="en-US" sz="1600" dirty="0"/>
          </a:p>
          <a:p>
            <a:pPr marL="342900" indent="-342900" algn="l">
              <a:lnSpc>
                <a:spcPts val="2560"/>
              </a:lnSpc>
              <a:buSzPct val="100000"/>
              <a:buChar char="•"/>
            </a:pPr>
            <a:r>
              <a:rPr lang="en-US" sz="1600" dirty="0">
                <a:solidFill>
                  <a:srgbClr val="2B3035"/>
                </a:solidFill>
                <a:latin typeface="Arial" pitchFamily="34" charset="0"/>
                <a:ea typeface="Arial" pitchFamily="34" charset="-122"/>
                <a:cs typeface="Arial" pitchFamily="34" charset="-120"/>
              </a:rPr>
              <a:t>Saúde, biometria, justiça e veículos autônomos</a:t>
            </a:r>
            <a:endParaRPr lang="en-US" sz="1600" dirty="0"/>
          </a:p>
        </p:txBody>
      </p:sp>
      <p:sp>
        <p:nvSpPr>
          <p:cNvPr id="19"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723900"/>
          </a:xfrm>
          <a:prstGeom prst="rect">
            <a:avLst/>
          </a:prstGeom>
          <a:noFill/>
          <a:ln/>
        </p:spPr>
        <p:txBody>
          <a:bodyPr wrap="square" lIns="0" tIns="0" rIns="0" bIns="0" rtlCol="0" anchor="t">
            <a:normAutofit/>
          </a:bodyPr>
          <a:lstStyle/>
          <a:p>
            <a:pPr marL="0" indent="0" algn="l">
              <a:lnSpc>
                <a:spcPts val="2750"/>
              </a:lnSpc>
              <a:buNone/>
            </a:pPr>
            <a:r>
              <a:rPr lang="en-US" sz="2500" b="1" dirty="0">
                <a:solidFill>
                  <a:srgbClr val="2B3035"/>
                </a:solidFill>
                <a:latin typeface="Arial" pitchFamily="34" charset="0"/>
                <a:ea typeface="Arial" pitchFamily="34" charset="-122"/>
                <a:cs typeface="Arial" pitchFamily="34" charset="-120"/>
              </a:rPr>
              <a:t>Categorização de riscos no regulamento europeu: EUA IA ACT</a:t>
            </a:r>
            <a:endParaRPr lang="en-US" sz="2500" dirty="0"/>
          </a:p>
        </p:txBody>
      </p:sp>
      <p:sp>
        <p:nvSpPr>
          <p:cNvPr id="4" name="Shape 2"/>
          <p:cNvSpPr/>
          <p:nvPr/>
        </p:nvSpPr>
        <p:spPr>
          <a:xfrm>
            <a:off x="812800" y="1384300"/>
            <a:ext cx="609600" cy="50800"/>
          </a:xfrm>
          <a:prstGeom prst="rect">
            <a:avLst/>
          </a:prstGeom>
          <a:solidFill>
            <a:srgbClr val="2F7D4F"/>
          </a:solidFill>
          <a:ln/>
        </p:spPr>
        <p:txBody>
          <a:bodyPr/>
          <a:lstStyle/>
          <a:p>
            <a:endParaRPr lang="pt-BR"/>
          </a:p>
        </p:txBody>
      </p:sp>
      <p:sp>
        <p:nvSpPr>
          <p:cNvPr id="5" name="Shape 3"/>
          <p:cNvSpPr/>
          <p:nvPr/>
        </p:nvSpPr>
        <p:spPr>
          <a:xfrm>
            <a:off x="812800" y="1638300"/>
            <a:ext cx="2527300" cy="2415540"/>
          </a:xfrm>
          <a:prstGeom prst="rect">
            <a:avLst/>
          </a:prstGeom>
          <a:solidFill>
            <a:srgbClr val="2F7D4F"/>
          </a:solidFill>
          <a:ln/>
        </p:spPr>
        <p:txBody>
          <a:bodyPr/>
          <a:lstStyle/>
          <a:p>
            <a:endParaRPr lang="pt-BR"/>
          </a:p>
        </p:txBody>
      </p:sp>
      <p:sp>
        <p:nvSpPr>
          <p:cNvPr id="6" name="Text 4"/>
          <p:cNvSpPr/>
          <p:nvPr/>
        </p:nvSpPr>
        <p:spPr>
          <a:xfrm>
            <a:off x="1041400" y="1866900"/>
            <a:ext cx="2132203"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FFFF"/>
                </a:solidFill>
                <a:latin typeface="Arial" pitchFamily="34" charset="0"/>
                <a:ea typeface="Arial" pitchFamily="34" charset="-122"/>
                <a:cs typeface="Arial" pitchFamily="34" charset="-120"/>
              </a:rPr>
              <a:t>Inaceitável</a:t>
            </a:r>
            <a:endParaRPr lang="en-US" sz="2200" dirty="0"/>
          </a:p>
        </p:txBody>
      </p:sp>
      <p:sp>
        <p:nvSpPr>
          <p:cNvPr id="7" name="Text 5"/>
          <p:cNvSpPr/>
          <p:nvPr/>
        </p:nvSpPr>
        <p:spPr>
          <a:xfrm>
            <a:off x="1041400" y="2385070"/>
            <a:ext cx="2132203" cy="146558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E6F3EC"/>
                </a:solidFill>
                <a:latin typeface="Arial" pitchFamily="34" charset="0"/>
                <a:ea typeface="Arial" pitchFamily="34" charset="-122"/>
                <a:cs typeface="Arial" pitchFamily="34" charset="-120"/>
              </a:rPr>
              <a:t>Práticas proibidas: manipulação subliminar, vigilância biométrica em tempo real em espaços públicos (com exceções limitadas).</a:t>
            </a:r>
            <a:endParaRPr lang="en-US" sz="1350" dirty="0"/>
          </a:p>
        </p:txBody>
      </p:sp>
      <p:sp>
        <p:nvSpPr>
          <p:cNvPr id="8" name="Shape 6"/>
          <p:cNvSpPr/>
          <p:nvPr/>
        </p:nvSpPr>
        <p:spPr>
          <a:xfrm>
            <a:off x="3492500" y="1638300"/>
            <a:ext cx="2527300" cy="2415540"/>
          </a:xfrm>
          <a:prstGeom prst="rect">
            <a:avLst/>
          </a:prstGeom>
          <a:solidFill>
            <a:srgbClr val="4A9468"/>
          </a:solidFill>
          <a:ln/>
        </p:spPr>
        <p:txBody>
          <a:bodyPr/>
          <a:lstStyle/>
          <a:p>
            <a:endParaRPr lang="pt-BR"/>
          </a:p>
        </p:txBody>
      </p:sp>
      <p:sp>
        <p:nvSpPr>
          <p:cNvPr id="9" name="Text 7"/>
          <p:cNvSpPr/>
          <p:nvPr/>
        </p:nvSpPr>
        <p:spPr>
          <a:xfrm>
            <a:off x="3721100" y="1866900"/>
            <a:ext cx="2132203"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FFFF"/>
                </a:solidFill>
                <a:latin typeface="Arial" pitchFamily="34" charset="0"/>
                <a:ea typeface="Arial" pitchFamily="34" charset="-122"/>
                <a:cs typeface="Arial" pitchFamily="34" charset="-120"/>
              </a:rPr>
              <a:t>Alto risco</a:t>
            </a:r>
            <a:endParaRPr lang="en-US" sz="2200" dirty="0"/>
          </a:p>
        </p:txBody>
      </p:sp>
      <p:sp>
        <p:nvSpPr>
          <p:cNvPr id="10" name="Text 8"/>
          <p:cNvSpPr/>
          <p:nvPr/>
        </p:nvSpPr>
        <p:spPr>
          <a:xfrm>
            <a:off x="3721100" y="2385070"/>
            <a:ext cx="2132203" cy="146558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F0F7F3"/>
                </a:solidFill>
                <a:latin typeface="Arial" pitchFamily="34" charset="0"/>
                <a:ea typeface="Arial" pitchFamily="34" charset="-122"/>
                <a:cs typeface="Arial" pitchFamily="34" charset="-120"/>
              </a:rPr>
              <a:t>Sistemas do Anexo III: gestão de risco, governança de dados, documentação técnica, supervisão humana e certificação.</a:t>
            </a:r>
            <a:endParaRPr lang="en-US" sz="1350" dirty="0"/>
          </a:p>
        </p:txBody>
      </p:sp>
      <p:sp>
        <p:nvSpPr>
          <p:cNvPr id="11" name="Shape 9"/>
          <p:cNvSpPr/>
          <p:nvPr/>
        </p:nvSpPr>
        <p:spPr>
          <a:xfrm>
            <a:off x="6172200" y="1638300"/>
            <a:ext cx="2527300" cy="2415540"/>
          </a:xfrm>
          <a:prstGeom prst="rect">
            <a:avLst/>
          </a:prstGeom>
          <a:solidFill>
            <a:srgbClr val="BFE0CC"/>
          </a:solidFill>
          <a:ln/>
        </p:spPr>
        <p:txBody>
          <a:bodyPr/>
          <a:lstStyle/>
          <a:p>
            <a:endParaRPr lang="pt-BR"/>
          </a:p>
        </p:txBody>
      </p:sp>
      <p:sp>
        <p:nvSpPr>
          <p:cNvPr id="12" name="Text 10"/>
          <p:cNvSpPr/>
          <p:nvPr/>
        </p:nvSpPr>
        <p:spPr>
          <a:xfrm>
            <a:off x="6400800" y="1866900"/>
            <a:ext cx="2132203"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3035"/>
                </a:solidFill>
                <a:latin typeface="Arial" pitchFamily="34" charset="0"/>
                <a:ea typeface="Arial" pitchFamily="34" charset="-122"/>
                <a:cs typeface="Arial" pitchFamily="34" charset="-120"/>
              </a:rPr>
              <a:t>Limitado</a:t>
            </a:r>
            <a:endParaRPr lang="en-US" sz="2200" dirty="0"/>
          </a:p>
        </p:txBody>
      </p:sp>
      <p:sp>
        <p:nvSpPr>
          <p:cNvPr id="13" name="Text 11"/>
          <p:cNvSpPr/>
          <p:nvPr/>
        </p:nvSpPr>
        <p:spPr>
          <a:xfrm>
            <a:off x="6400800" y="2385070"/>
            <a:ext cx="2132203" cy="9855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2B3035"/>
                </a:solidFill>
                <a:latin typeface="Arial" pitchFamily="34" charset="0"/>
                <a:ea typeface="Arial" pitchFamily="34" charset="-122"/>
                <a:cs typeface="Arial" pitchFamily="34" charset="-120"/>
              </a:rPr>
              <a:t>Deveres de transparência — ex.: chatbots e deepfakes precisam se identificar como tal.</a:t>
            </a:r>
            <a:endParaRPr lang="en-US" sz="1350" dirty="0"/>
          </a:p>
        </p:txBody>
      </p:sp>
      <p:sp>
        <p:nvSpPr>
          <p:cNvPr id="14" name="Shape 12"/>
          <p:cNvSpPr/>
          <p:nvPr/>
        </p:nvSpPr>
        <p:spPr>
          <a:xfrm>
            <a:off x="8851900" y="1638300"/>
            <a:ext cx="2527300" cy="2415540"/>
          </a:xfrm>
          <a:prstGeom prst="rect">
            <a:avLst/>
          </a:prstGeom>
          <a:solidFill>
            <a:srgbClr val="E6F1EA"/>
          </a:solidFill>
          <a:ln/>
        </p:spPr>
        <p:txBody>
          <a:bodyPr/>
          <a:lstStyle/>
          <a:p>
            <a:endParaRPr lang="pt-BR"/>
          </a:p>
        </p:txBody>
      </p:sp>
      <p:sp>
        <p:nvSpPr>
          <p:cNvPr id="15" name="Text 13"/>
          <p:cNvSpPr/>
          <p:nvPr/>
        </p:nvSpPr>
        <p:spPr>
          <a:xfrm>
            <a:off x="9080500" y="1866900"/>
            <a:ext cx="2132203"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3035"/>
                </a:solidFill>
                <a:latin typeface="Arial" pitchFamily="34" charset="0"/>
                <a:ea typeface="Arial" pitchFamily="34" charset="-122"/>
                <a:cs typeface="Arial" pitchFamily="34" charset="-120"/>
              </a:rPr>
              <a:t>Mínimo</a:t>
            </a:r>
            <a:endParaRPr lang="en-US" sz="2200" dirty="0"/>
          </a:p>
        </p:txBody>
      </p:sp>
      <p:sp>
        <p:nvSpPr>
          <p:cNvPr id="16" name="Text 14"/>
          <p:cNvSpPr/>
          <p:nvPr/>
        </p:nvSpPr>
        <p:spPr>
          <a:xfrm>
            <a:off x="9080500" y="2385070"/>
            <a:ext cx="2132203" cy="9855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2B3035"/>
                </a:solidFill>
                <a:latin typeface="Arial" pitchFamily="34" charset="0"/>
                <a:ea typeface="Arial" pitchFamily="34" charset="-122"/>
                <a:cs typeface="Arial" pitchFamily="34" charset="-120"/>
              </a:rPr>
              <a:t>Uso livre, sem obrigações específicas (ex.: filtros de spam, videogames com IA).</a:t>
            </a:r>
            <a:endParaRPr lang="en-US" sz="1350" dirty="0"/>
          </a:p>
        </p:txBody>
      </p:sp>
      <p:sp>
        <p:nvSpPr>
          <p:cNvPr id="17" name="Text 15"/>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PL: 2.338/2003 e os direitos das pessoas afetadas</a:t>
            </a:r>
            <a:endParaRPr lang="en-US" sz="2800" dirty="0"/>
          </a:p>
        </p:txBody>
      </p:sp>
      <p:sp>
        <p:nvSpPr>
          <p:cNvPr id="4" name="Shape 2"/>
          <p:cNvSpPr/>
          <p:nvPr/>
        </p:nvSpPr>
        <p:spPr>
          <a:xfrm>
            <a:off x="812800" y="1076970"/>
            <a:ext cx="609600" cy="50800"/>
          </a:xfrm>
          <a:prstGeom prst="rect">
            <a:avLst/>
          </a:prstGeom>
          <a:solidFill>
            <a:srgbClr val="2F7D4F"/>
          </a:solidFill>
          <a:ln/>
        </p:spPr>
        <p:txBody>
          <a:bodyPr/>
          <a:lstStyle/>
          <a:p>
            <a:endParaRPr lang="pt-BR"/>
          </a:p>
        </p:txBody>
      </p:sp>
      <p:sp>
        <p:nvSpPr>
          <p:cNvPr id="5" name="Shape 3"/>
          <p:cNvSpPr/>
          <p:nvPr/>
        </p:nvSpPr>
        <p:spPr>
          <a:xfrm>
            <a:off x="819150" y="1311920"/>
            <a:ext cx="5181600" cy="1293495"/>
          </a:xfrm>
          <a:prstGeom prst="rect">
            <a:avLst/>
          </a:prstGeom>
          <a:solidFill>
            <a:srgbClr val="FFFFFF"/>
          </a:solidFill>
          <a:ln w="12700">
            <a:solidFill>
              <a:srgbClr val="D5D9DC"/>
            </a:solidFill>
            <a:prstDash val="solid"/>
          </a:ln>
        </p:spPr>
        <p:txBody>
          <a:bodyPr/>
          <a:lstStyle/>
          <a:p>
            <a:endParaRPr lang="pt-BR"/>
          </a:p>
        </p:txBody>
      </p:sp>
      <p:sp>
        <p:nvSpPr>
          <p:cNvPr id="6" name="Shape 4"/>
          <p:cNvSpPr/>
          <p:nvPr/>
        </p:nvSpPr>
        <p:spPr>
          <a:xfrm>
            <a:off x="1051560" y="1544315"/>
            <a:ext cx="584200" cy="584200"/>
          </a:xfrm>
          <a:prstGeom prst="roundRect">
            <a:avLst>
              <a:gd name="adj" fmla="val 50000"/>
            </a:avLst>
          </a:prstGeom>
          <a:solidFill>
            <a:srgbClr val="2F7D4F"/>
          </a:solidFill>
          <a:ln/>
        </p:spPr>
        <p:txBody>
          <a:bodyPr/>
          <a:lstStyle/>
          <a:p>
            <a:endParaRPr lang="pt-BR"/>
          </a:p>
        </p:txBody>
      </p:sp>
      <p:pic>
        <p:nvPicPr>
          <p:cNvPr id="7" name="Image 0" descr="Lightbulb"/>
          <p:cNvPicPr>
            <a:picLocks noChangeAspect="1"/>
          </p:cNvPicPr>
          <p:nvPr/>
        </p:nvPicPr>
        <p:blipFill>
          <a:blip r:embed="rId3"/>
          <a:srcRect/>
          <a:stretch/>
        </p:blipFill>
        <p:spPr>
          <a:xfrm>
            <a:off x="1197610" y="1690365"/>
            <a:ext cx="292100" cy="292100"/>
          </a:xfrm>
          <a:prstGeom prst="rect">
            <a:avLst/>
          </a:prstGeom>
        </p:spPr>
      </p:pic>
      <p:sp>
        <p:nvSpPr>
          <p:cNvPr id="8" name="Text 5"/>
          <p:cNvSpPr/>
          <p:nvPr/>
        </p:nvSpPr>
        <p:spPr>
          <a:xfrm>
            <a:off x="1813560" y="1544315"/>
            <a:ext cx="407342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Informação prévia e clara</a:t>
            </a:r>
            <a:endParaRPr lang="en-US" sz="1700" dirty="0"/>
          </a:p>
        </p:txBody>
      </p:sp>
      <p:sp>
        <p:nvSpPr>
          <p:cNvPr id="9" name="Text 6"/>
          <p:cNvSpPr/>
          <p:nvPr/>
        </p:nvSpPr>
        <p:spPr>
          <a:xfrm>
            <a:off x="1813560" y="1910085"/>
            <a:ext cx="4073423"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Sobre o caráter automatizado da decisão e os dados utilizados.</a:t>
            </a:r>
            <a:endParaRPr lang="en-US" sz="1350" dirty="0"/>
          </a:p>
        </p:txBody>
      </p:sp>
      <p:sp>
        <p:nvSpPr>
          <p:cNvPr id="10" name="Shape 7"/>
          <p:cNvSpPr/>
          <p:nvPr/>
        </p:nvSpPr>
        <p:spPr>
          <a:xfrm>
            <a:off x="6191250" y="1311920"/>
            <a:ext cx="5181600" cy="1293495"/>
          </a:xfrm>
          <a:prstGeom prst="rect">
            <a:avLst/>
          </a:prstGeom>
          <a:solidFill>
            <a:srgbClr val="E6E9EB"/>
          </a:solidFill>
          <a:ln w="12700">
            <a:solidFill>
              <a:srgbClr val="D5D9DC"/>
            </a:solidFill>
            <a:prstDash val="solid"/>
          </a:ln>
        </p:spPr>
        <p:txBody>
          <a:bodyPr/>
          <a:lstStyle/>
          <a:p>
            <a:endParaRPr lang="pt-BR"/>
          </a:p>
        </p:txBody>
      </p:sp>
      <p:sp>
        <p:nvSpPr>
          <p:cNvPr id="11" name="Shape 8"/>
          <p:cNvSpPr/>
          <p:nvPr/>
        </p:nvSpPr>
        <p:spPr>
          <a:xfrm>
            <a:off x="6423660" y="1544315"/>
            <a:ext cx="584200" cy="584200"/>
          </a:xfrm>
          <a:prstGeom prst="roundRect">
            <a:avLst>
              <a:gd name="adj" fmla="val 50000"/>
            </a:avLst>
          </a:prstGeom>
          <a:solidFill>
            <a:srgbClr val="2F7D4F"/>
          </a:solidFill>
          <a:ln/>
        </p:spPr>
        <p:txBody>
          <a:bodyPr/>
          <a:lstStyle/>
          <a:p>
            <a:endParaRPr lang="pt-BR"/>
          </a:p>
        </p:txBody>
      </p:sp>
      <p:pic>
        <p:nvPicPr>
          <p:cNvPr id="12" name="Image 1" descr="Book"/>
          <p:cNvPicPr>
            <a:picLocks noChangeAspect="1"/>
          </p:cNvPicPr>
          <p:nvPr/>
        </p:nvPicPr>
        <p:blipFill>
          <a:blip r:embed="rId4"/>
          <a:srcRect/>
          <a:stretch/>
        </p:blipFill>
        <p:spPr>
          <a:xfrm>
            <a:off x="6569710" y="1690365"/>
            <a:ext cx="292100" cy="292100"/>
          </a:xfrm>
          <a:prstGeom prst="rect">
            <a:avLst/>
          </a:prstGeom>
        </p:spPr>
      </p:pic>
      <p:sp>
        <p:nvSpPr>
          <p:cNvPr id="13" name="Text 9"/>
          <p:cNvSpPr/>
          <p:nvPr/>
        </p:nvSpPr>
        <p:spPr>
          <a:xfrm>
            <a:off x="7185660" y="1544315"/>
            <a:ext cx="407342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Explicação em até 15 dias</a:t>
            </a:r>
            <a:endParaRPr lang="en-US" sz="1700" dirty="0"/>
          </a:p>
        </p:txBody>
      </p:sp>
      <p:sp>
        <p:nvSpPr>
          <p:cNvPr id="14" name="Text 10"/>
          <p:cNvSpPr/>
          <p:nvPr/>
        </p:nvSpPr>
        <p:spPr>
          <a:xfrm>
            <a:off x="7185660" y="1910085"/>
            <a:ext cx="4073423"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Critérios e fatores considerados na decisão automatizada (art. 8º).</a:t>
            </a:r>
            <a:endParaRPr lang="en-US" sz="1350" dirty="0"/>
          </a:p>
        </p:txBody>
      </p:sp>
      <p:sp>
        <p:nvSpPr>
          <p:cNvPr id="15" name="Shape 11"/>
          <p:cNvSpPr/>
          <p:nvPr/>
        </p:nvSpPr>
        <p:spPr>
          <a:xfrm>
            <a:off x="819150" y="2795910"/>
            <a:ext cx="5181600" cy="1293495"/>
          </a:xfrm>
          <a:prstGeom prst="rect">
            <a:avLst/>
          </a:prstGeom>
          <a:solidFill>
            <a:srgbClr val="E6E9EB"/>
          </a:solidFill>
          <a:ln w="12700">
            <a:solidFill>
              <a:srgbClr val="D5D9DC"/>
            </a:solidFill>
            <a:prstDash val="solid"/>
          </a:ln>
        </p:spPr>
        <p:txBody>
          <a:bodyPr/>
          <a:lstStyle/>
          <a:p>
            <a:endParaRPr lang="pt-BR"/>
          </a:p>
        </p:txBody>
      </p:sp>
      <p:sp>
        <p:nvSpPr>
          <p:cNvPr id="16" name="Shape 12"/>
          <p:cNvSpPr/>
          <p:nvPr/>
        </p:nvSpPr>
        <p:spPr>
          <a:xfrm>
            <a:off x="1051560" y="3028330"/>
            <a:ext cx="584200" cy="584200"/>
          </a:xfrm>
          <a:prstGeom prst="roundRect">
            <a:avLst>
              <a:gd name="adj" fmla="val 50000"/>
            </a:avLst>
          </a:prstGeom>
          <a:solidFill>
            <a:srgbClr val="2F7D4F"/>
          </a:solidFill>
          <a:ln/>
        </p:spPr>
        <p:txBody>
          <a:bodyPr/>
          <a:lstStyle/>
          <a:p>
            <a:endParaRPr lang="pt-BR"/>
          </a:p>
        </p:txBody>
      </p:sp>
      <p:pic>
        <p:nvPicPr>
          <p:cNvPr id="17" name="Image 2" descr="Activity"/>
          <p:cNvPicPr>
            <a:picLocks noChangeAspect="1"/>
          </p:cNvPicPr>
          <p:nvPr/>
        </p:nvPicPr>
        <p:blipFill>
          <a:blip r:embed="rId5"/>
          <a:srcRect/>
          <a:stretch/>
        </p:blipFill>
        <p:spPr>
          <a:xfrm>
            <a:off x="1197610" y="3174380"/>
            <a:ext cx="292100" cy="292100"/>
          </a:xfrm>
          <a:prstGeom prst="rect">
            <a:avLst/>
          </a:prstGeom>
        </p:spPr>
      </p:pic>
      <p:sp>
        <p:nvSpPr>
          <p:cNvPr id="18" name="Text 13"/>
          <p:cNvSpPr/>
          <p:nvPr/>
        </p:nvSpPr>
        <p:spPr>
          <a:xfrm>
            <a:off x="1813560" y="3028330"/>
            <a:ext cx="407342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Contestação e revisão</a:t>
            </a:r>
            <a:endParaRPr lang="en-US" sz="1700" dirty="0"/>
          </a:p>
        </p:txBody>
      </p:sp>
      <p:sp>
        <p:nvSpPr>
          <p:cNvPr id="19" name="Text 14"/>
          <p:cNvSpPr/>
          <p:nvPr/>
        </p:nvSpPr>
        <p:spPr>
          <a:xfrm>
            <a:off x="1813560" y="3394075"/>
            <a:ext cx="4073423"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Direito de contestar decisões com efeitos jurídicos relevantes (art. 9º).</a:t>
            </a:r>
            <a:endParaRPr lang="en-US" sz="1350" dirty="0"/>
          </a:p>
        </p:txBody>
      </p:sp>
      <p:sp>
        <p:nvSpPr>
          <p:cNvPr id="20" name="Shape 15"/>
          <p:cNvSpPr/>
          <p:nvPr/>
        </p:nvSpPr>
        <p:spPr>
          <a:xfrm>
            <a:off x="6191250" y="2795910"/>
            <a:ext cx="5181600" cy="1293495"/>
          </a:xfrm>
          <a:prstGeom prst="rect">
            <a:avLst/>
          </a:prstGeom>
          <a:solidFill>
            <a:srgbClr val="FFFFFF"/>
          </a:solidFill>
          <a:ln w="12700">
            <a:solidFill>
              <a:srgbClr val="D5D9DC"/>
            </a:solidFill>
            <a:prstDash val="solid"/>
          </a:ln>
        </p:spPr>
        <p:txBody>
          <a:bodyPr/>
          <a:lstStyle/>
          <a:p>
            <a:endParaRPr lang="pt-BR"/>
          </a:p>
        </p:txBody>
      </p:sp>
      <p:sp>
        <p:nvSpPr>
          <p:cNvPr id="21" name="Shape 16"/>
          <p:cNvSpPr/>
          <p:nvPr/>
        </p:nvSpPr>
        <p:spPr>
          <a:xfrm>
            <a:off x="6423660" y="3028330"/>
            <a:ext cx="584200" cy="584200"/>
          </a:xfrm>
          <a:prstGeom prst="roundRect">
            <a:avLst>
              <a:gd name="adj" fmla="val 50000"/>
            </a:avLst>
          </a:prstGeom>
          <a:solidFill>
            <a:srgbClr val="2F7D4F"/>
          </a:solidFill>
          <a:ln/>
        </p:spPr>
        <p:txBody>
          <a:bodyPr/>
          <a:lstStyle/>
          <a:p>
            <a:endParaRPr lang="pt-BR"/>
          </a:p>
        </p:txBody>
      </p:sp>
      <p:pic>
        <p:nvPicPr>
          <p:cNvPr id="22" name="Image 3" descr="Users"/>
          <p:cNvPicPr>
            <a:picLocks noChangeAspect="1"/>
          </p:cNvPicPr>
          <p:nvPr/>
        </p:nvPicPr>
        <p:blipFill>
          <a:blip r:embed="rId6"/>
          <a:srcRect/>
          <a:stretch/>
        </p:blipFill>
        <p:spPr>
          <a:xfrm>
            <a:off x="6569710" y="3174380"/>
            <a:ext cx="292100" cy="292100"/>
          </a:xfrm>
          <a:prstGeom prst="rect">
            <a:avLst/>
          </a:prstGeom>
        </p:spPr>
      </p:pic>
      <p:sp>
        <p:nvSpPr>
          <p:cNvPr id="23" name="Text 17"/>
          <p:cNvSpPr/>
          <p:nvPr/>
        </p:nvSpPr>
        <p:spPr>
          <a:xfrm>
            <a:off x="7185660" y="3028330"/>
            <a:ext cx="4073423"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3035"/>
                </a:solidFill>
                <a:latin typeface="Arial" pitchFamily="34" charset="0"/>
                <a:ea typeface="Arial" pitchFamily="34" charset="-122"/>
                <a:cs typeface="Arial" pitchFamily="34" charset="-120"/>
              </a:rPr>
              <a:t>Intervenção humana</a:t>
            </a:r>
            <a:endParaRPr lang="en-US" sz="1700" dirty="0"/>
          </a:p>
        </p:txBody>
      </p:sp>
      <p:sp>
        <p:nvSpPr>
          <p:cNvPr id="24" name="Text 18"/>
          <p:cNvSpPr/>
          <p:nvPr/>
        </p:nvSpPr>
        <p:spPr>
          <a:xfrm>
            <a:off x="7185660" y="3394075"/>
            <a:ext cx="4073423" cy="48831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A4147"/>
                </a:solidFill>
                <a:latin typeface="Arial" pitchFamily="34" charset="0"/>
                <a:ea typeface="Arial" pitchFamily="34" charset="-122"/>
                <a:cs typeface="Arial" pitchFamily="34" charset="-120"/>
              </a:rPr>
              <a:t>Obrigatória em decisões significativas ou riscos irreversíveis (art. 10).</a:t>
            </a:r>
            <a:endParaRPr lang="en-US" sz="1350" dirty="0"/>
          </a:p>
        </p:txBody>
      </p:sp>
      <p:sp>
        <p:nvSpPr>
          <p:cNvPr id="25" name="Shape 19"/>
          <p:cNvSpPr/>
          <p:nvPr/>
        </p:nvSpPr>
        <p:spPr>
          <a:xfrm>
            <a:off x="812800" y="4273550"/>
            <a:ext cx="10566400" cy="853440"/>
          </a:xfrm>
          <a:prstGeom prst="rect">
            <a:avLst/>
          </a:prstGeom>
          <a:solidFill>
            <a:srgbClr val="2F7D4F"/>
          </a:solidFill>
          <a:ln/>
        </p:spPr>
        <p:txBody>
          <a:bodyPr/>
          <a:lstStyle/>
          <a:p>
            <a:endParaRPr lang="pt-BR"/>
          </a:p>
        </p:txBody>
      </p:sp>
      <p:sp>
        <p:nvSpPr>
          <p:cNvPr id="26" name="Text 20"/>
          <p:cNvSpPr/>
          <p:nvPr/>
        </p:nvSpPr>
        <p:spPr>
          <a:xfrm>
            <a:off x="1066800" y="4451350"/>
            <a:ext cx="103601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5F5"/>
                </a:solidFill>
                <a:latin typeface="Arial" pitchFamily="34" charset="0"/>
                <a:ea typeface="Arial" pitchFamily="34" charset="-122"/>
                <a:cs typeface="Arial" pitchFamily="34" charset="-120"/>
              </a:rPr>
              <a:t>Além disso: vedação à discriminação direta ou indireta e avaliação de impacto algorítmico obrigatória para sistemas de alto risco (art. 22).</a:t>
            </a:r>
            <a:endParaRPr lang="en-US" sz="1400" dirty="0"/>
          </a:p>
        </p:txBody>
      </p:sp>
      <p:sp>
        <p:nvSpPr>
          <p:cNvPr id="27" name="Text 21"/>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Responsabilidade civil: o desafio da IA</a:t>
            </a:r>
            <a:endParaRPr lang="en-US" sz="2800" dirty="0"/>
          </a:p>
        </p:txBody>
      </p:sp>
      <p:sp>
        <p:nvSpPr>
          <p:cNvPr id="4" name="Shape 2"/>
          <p:cNvSpPr/>
          <p:nvPr/>
        </p:nvSpPr>
        <p:spPr>
          <a:xfrm>
            <a:off x="812800" y="1076970"/>
            <a:ext cx="609600" cy="50800"/>
          </a:xfrm>
          <a:prstGeom prst="rect">
            <a:avLst/>
          </a:prstGeom>
          <a:solidFill>
            <a:srgbClr val="2F7D4F"/>
          </a:solidFill>
          <a:ln/>
        </p:spPr>
        <p:txBody>
          <a:bodyPr/>
          <a:lstStyle/>
          <a:p>
            <a:endParaRPr lang="pt-BR"/>
          </a:p>
        </p:txBody>
      </p:sp>
      <p:sp>
        <p:nvSpPr>
          <p:cNvPr id="5" name="Text 3"/>
          <p:cNvSpPr/>
          <p:nvPr/>
        </p:nvSpPr>
        <p:spPr>
          <a:xfrm>
            <a:off x="812800" y="130557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Antes do PL, danos causados por IA precisam ser encaixados em institutos pensados para outro contexto:</a:t>
            </a:r>
            <a:endParaRPr lang="en-US" sz="1500" dirty="0"/>
          </a:p>
        </p:txBody>
      </p:sp>
      <p:sp>
        <p:nvSpPr>
          <p:cNvPr id="6" name="Shape 4"/>
          <p:cNvSpPr/>
          <p:nvPr/>
        </p:nvSpPr>
        <p:spPr>
          <a:xfrm>
            <a:off x="819150" y="1756420"/>
            <a:ext cx="5156200" cy="2570480"/>
          </a:xfrm>
          <a:prstGeom prst="rect">
            <a:avLst/>
          </a:prstGeom>
          <a:solidFill>
            <a:srgbClr val="FFFFFF"/>
          </a:solidFill>
          <a:ln w="12700">
            <a:solidFill>
              <a:srgbClr val="D5D9DC"/>
            </a:solidFill>
            <a:prstDash val="solid"/>
          </a:ln>
        </p:spPr>
        <p:txBody>
          <a:bodyPr/>
          <a:lstStyle/>
          <a:p>
            <a:endParaRPr lang="pt-BR"/>
          </a:p>
        </p:txBody>
      </p:sp>
      <p:sp>
        <p:nvSpPr>
          <p:cNvPr id="7" name="Text 5"/>
          <p:cNvSpPr/>
          <p:nvPr/>
        </p:nvSpPr>
        <p:spPr>
          <a:xfrm>
            <a:off x="1102360" y="2039615"/>
            <a:ext cx="472747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4C4C4"/>
                </a:solidFill>
                <a:latin typeface="Arial" pitchFamily="34" charset="0"/>
                <a:ea typeface="Arial" pitchFamily="34" charset="-122"/>
                <a:cs typeface="Arial" pitchFamily="34" charset="-120"/>
              </a:rPr>
              <a:t>1</a:t>
            </a:r>
            <a:endParaRPr lang="en-US" sz="6000" dirty="0"/>
          </a:p>
        </p:txBody>
      </p:sp>
      <p:sp>
        <p:nvSpPr>
          <p:cNvPr id="8" name="Text 6"/>
          <p:cNvSpPr/>
          <p:nvPr/>
        </p:nvSpPr>
        <p:spPr>
          <a:xfrm>
            <a:off x="1102360" y="2903215"/>
            <a:ext cx="472747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B3035"/>
                </a:solidFill>
                <a:latin typeface="Arial" pitchFamily="34" charset="0"/>
                <a:ea typeface="Arial" pitchFamily="34" charset="-122"/>
                <a:cs typeface="Arial" pitchFamily="34" charset="-120"/>
              </a:rPr>
              <a:t>Código Civil</a:t>
            </a:r>
            <a:endParaRPr lang="en-US" sz="2000" dirty="0"/>
          </a:p>
        </p:txBody>
      </p:sp>
      <p:sp>
        <p:nvSpPr>
          <p:cNvPr id="9" name="Text 7"/>
          <p:cNvSpPr/>
          <p:nvPr/>
        </p:nvSpPr>
        <p:spPr>
          <a:xfrm>
            <a:off x="1102360" y="3296915"/>
            <a:ext cx="472747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Responsabilidade subjetiva (culpa) como regra — arts. 186 a 188. Objetiva só em atividades de risco (art. 927, § único).</a:t>
            </a:r>
            <a:endParaRPr lang="en-US" sz="1400" dirty="0"/>
          </a:p>
        </p:txBody>
      </p:sp>
      <p:sp>
        <p:nvSpPr>
          <p:cNvPr id="10" name="Shape 8"/>
          <p:cNvSpPr/>
          <p:nvPr/>
        </p:nvSpPr>
        <p:spPr>
          <a:xfrm>
            <a:off x="6216650" y="1756420"/>
            <a:ext cx="5156200" cy="2570480"/>
          </a:xfrm>
          <a:prstGeom prst="rect">
            <a:avLst/>
          </a:prstGeom>
          <a:solidFill>
            <a:srgbClr val="E6E9EB"/>
          </a:solidFill>
          <a:ln w="12700">
            <a:solidFill>
              <a:srgbClr val="D5D9DC"/>
            </a:solidFill>
            <a:prstDash val="solid"/>
          </a:ln>
        </p:spPr>
        <p:txBody>
          <a:bodyPr/>
          <a:lstStyle/>
          <a:p>
            <a:endParaRPr lang="pt-BR"/>
          </a:p>
        </p:txBody>
      </p:sp>
      <p:sp>
        <p:nvSpPr>
          <p:cNvPr id="11" name="Text 9"/>
          <p:cNvSpPr/>
          <p:nvPr/>
        </p:nvSpPr>
        <p:spPr>
          <a:xfrm>
            <a:off x="6499860" y="2039615"/>
            <a:ext cx="472747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4C4C4"/>
                </a:solidFill>
                <a:latin typeface="Arial" pitchFamily="34" charset="0"/>
                <a:ea typeface="Arial" pitchFamily="34" charset="-122"/>
                <a:cs typeface="Arial" pitchFamily="34" charset="-120"/>
              </a:rPr>
              <a:t>2</a:t>
            </a:r>
            <a:endParaRPr lang="en-US" sz="6000" dirty="0"/>
          </a:p>
        </p:txBody>
      </p:sp>
      <p:sp>
        <p:nvSpPr>
          <p:cNvPr id="12" name="Text 10"/>
          <p:cNvSpPr/>
          <p:nvPr/>
        </p:nvSpPr>
        <p:spPr>
          <a:xfrm>
            <a:off x="6499860" y="2903215"/>
            <a:ext cx="472747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B3035"/>
                </a:solidFill>
                <a:latin typeface="Arial" pitchFamily="34" charset="0"/>
                <a:ea typeface="Arial" pitchFamily="34" charset="-122"/>
                <a:cs typeface="Arial" pitchFamily="34" charset="-120"/>
              </a:rPr>
              <a:t>Código de Defesa do Consumidor</a:t>
            </a:r>
            <a:endParaRPr lang="en-US" sz="2000" dirty="0"/>
          </a:p>
        </p:txBody>
      </p:sp>
      <p:sp>
        <p:nvSpPr>
          <p:cNvPr id="13" name="Text 11"/>
          <p:cNvSpPr/>
          <p:nvPr/>
        </p:nvSpPr>
        <p:spPr>
          <a:xfrm>
            <a:off x="6499860" y="3296915"/>
            <a:ext cx="472747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Responsabilidade objetiva do fornecedor por defeito — arts. 7º, 18 e 25 — com inversão do ônus da prova (art. 6º, VIII).</a:t>
            </a:r>
            <a:endParaRPr lang="en-US" sz="1400" dirty="0"/>
          </a:p>
        </p:txBody>
      </p:sp>
      <p:sp>
        <p:nvSpPr>
          <p:cNvPr id="14" name="Shape 12"/>
          <p:cNvSpPr/>
          <p:nvPr/>
        </p:nvSpPr>
        <p:spPr>
          <a:xfrm>
            <a:off x="812800" y="4511055"/>
            <a:ext cx="10566400" cy="853440"/>
          </a:xfrm>
          <a:prstGeom prst="rect">
            <a:avLst/>
          </a:prstGeom>
          <a:solidFill>
            <a:srgbClr val="2F7D4F"/>
          </a:solidFill>
          <a:ln/>
        </p:spPr>
        <p:txBody>
          <a:bodyPr/>
          <a:lstStyle/>
          <a:p>
            <a:endParaRPr lang="pt-BR"/>
          </a:p>
        </p:txBody>
      </p:sp>
      <p:sp>
        <p:nvSpPr>
          <p:cNvPr id="15" name="Shape 13"/>
          <p:cNvSpPr/>
          <p:nvPr/>
        </p:nvSpPr>
        <p:spPr>
          <a:xfrm>
            <a:off x="1066800" y="4709170"/>
            <a:ext cx="457200" cy="457200"/>
          </a:xfrm>
          <a:prstGeom prst="roundRect">
            <a:avLst>
              <a:gd name="adj" fmla="val 50000"/>
            </a:avLst>
          </a:prstGeom>
          <a:solidFill>
            <a:srgbClr val="F5F5F5"/>
          </a:solidFill>
          <a:ln/>
        </p:spPr>
        <p:txBody>
          <a:bodyPr/>
          <a:lstStyle/>
          <a:p>
            <a:endParaRPr lang="pt-BR"/>
          </a:p>
        </p:txBody>
      </p:sp>
      <p:pic>
        <p:nvPicPr>
          <p:cNvPr id="16" name="Image 0" descr="Search"/>
          <p:cNvPicPr>
            <a:picLocks noChangeAspect="1"/>
          </p:cNvPicPr>
          <p:nvPr/>
        </p:nvPicPr>
        <p:blipFill>
          <a:blip r:embed="rId3"/>
          <a:srcRect/>
          <a:stretch/>
        </p:blipFill>
        <p:spPr>
          <a:xfrm>
            <a:off x="1181100" y="4823470"/>
            <a:ext cx="228600" cy="228600"/>
          </a:xfrm>
          <a:prstGeom prst="rect">
            <a:avLst/>
          </a:prstGeom>
        </p:spPr>
      </p:pic>
      <p:sp>
        <p:nvSpPr>
          <p:cNvPr id="17" name="Text 14"/>
          <p:cNvSpPr/>
          <p:nvPr/>
        </p:nvSpPr>
        <p:spPr>
          <a:xfrm>
            <a:off x="1701800" y="4688855"/>
            <a:ext cx="970610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5F5"/>
                </a:solidFill>
                <a:latin typeface="Arial" pitchFamily="34" charset="0"/>
                <a:ea typeface="Arial" pitchFamily="34" charset="-122"/>
                <a:cs typeface="Arial" pitchFamily="34" charset="-120"/>
              </a:rPr>
              <a:t>Perguntas sem resposta clara: quem é o “fornecedor” desenvolvedor, operador, integrador ou usuário? Como estabelecer o nexo causal entre o output e o dano?</a:t>
            </a:r>
            <a:endParaRPr lang="en-US" sz="1400" dirty="0"/>
          </a:p>
        </p:txBody>
      </p:sp>
      <p:sp>
        <p:nvSpPr>
          <p:cNvPr id="18" name="Text 15"/>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PL - Arts. 27 e 28 estabelece o novo regime</a:t>
            </a:r>
            <a:endParaRPr lang="en-US" sz="2800" dirty="0"/>
          </a:p>
        </p:txBody>
      </p:sp>
      <p:sp>
        <p:nvSpPr>
          <p:cNvPr id="4" name="Shape 2"/>
          <p:cNvSpPr/>
          <p:nvPr/>
        </p:nvSpPr>
        <p:spPr>
          <a:xfrm>
            <a:off x="812800" y="1076970"/>
            <a:ext cx="609600" cy="50800"/>
          </a:xfrm>
          <a:prstGeom prst="rect">
            <a:avLst/>
          </a:prstGeom>
          <a:solidFill>
            <a:srgbClr val="2F7D4F"/>
          </a:solidFill>
          <a:ln/>
        </p:spPr>
        <p:txBody>
          <a:bodyPr/>
          <a:lstStyle/>
          <a:p>
            <a:endParaRPr lang="pt-BR"/>
          </a:p>
        </p:txBody>
      </p:sp>
      <p:sp>
        <p:nvSpPr>
          <p:cNvPr id="5" name="Shape 3"/>
          <p:cNvSpPr/>
          <p:nvPr/>
        </p:nvSpPr>
        <p:spPr>
          <a:xfrm>
            <a:off x="812800" y="1292870"/>
            <a:ext cx="10566400" cy="1518920"/>
          </a:xfrm>
          <a:prstGeom prst="rect">
            <a:avLst/>
          </a:prstGeom>
          <a:solidFill>
            <a:srgbClr val="2F7D4F"/>
          </a:solidFill>
          <a:ln/>
        </p:spPr>
        <p:txBody>
          <a:bodyPr/>
          <a:lstStyle/>
          <a:p>
            <a:endParaRPr lang="pt-BR"/>
          </a:p>
        </p:txBody>
      </p:sp>
      <p:sp>
        <p:nvSpPr>
          <p:cNvPr id="6" name="Text 4"/>
          <p:cNvSpPr/>
          <p:nvPr/>
        </p:nvSpPr>
        <p:spPr>
          <a:xfrm>
            <a:off x="1168400" y="1572270"/>
            <a:ext cx="10150856" cy="98552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5F5F5"/>
                </a:solidFill>
                <a:latin typeface="Arial" pitchFamily="34" charset="0"/>
                <a:ea typeface="Arial" pitchFamily="34" charset="-122"/>
                <a:cs typeface="Arial" pitchFamily="34" charset="-120"/>
              </a:rPr>
              <a:t>Art. 27.</a:t>
            </a:r>
            <a:r>
              <a:rPr lang="en-US" sz="1800" dirty="0">
                <a:solidFill>
                  <a:srgbClr val="F5F5F5"/>
                </a:solidFill>
                <a:latin typeface="Arial" pitchFamily="34" charset="0"/>
                <a:ea typeface="Arial" pitchFamily="34" charset="-122"/>
                <a:cs typeface="Arial" pitchFamily="34" charset="-120"/>
              </a:rPr>
              <a:t> </a:t>
            </a:r>
            <a:r>
              <a:rPr lang="en-US" sz="1800" i="1" dirty="0">
                <a:solidFill>
                  <a:srgbClr val="F5F5F5"/>
                </a:solidFill>
                <a:latin typeface="Arial" pitchFamily="34" charset="0"/>
                <a:ea typeface="Arial" pitchFamily="34" charset="-122"/>
                <a:cs typeface="Arial" pitchFamily="34" charset="-120"/>
              </a:rPr>
              <a:t>“O fornecedor ou operador de sistema de inteligência artificial que cause dano patrimonial, moral, individual ou coletivo é obrigado a repará-lo integralmente, independentemente do grau de autonomia do sistema.”</a:t>
            </a:r>
            <a:endParaRPr lang="en-US" sz="1800" dirty="0"/>
          </a:p>
        </p:txBody>
      </p:sp>
      <p:sp>
        <p:nvSpPr>
          <p:cNvPr id="7" name="Shape 5"/>
          <p:cNvSpPr/>
          <p:nvPr/>
        </p:nvSpPr>
        <p:spPr>
          <a:xfrm>
            <a:off x="819150" y="2983235"/>
            <a:ext cx="5168900" cy="1521460"/>
          </a:xfrm>
          <a:prstGeom prst="rect">
            <a:avLst/>
          </a:prstGeom>
          <a:solidFill>
            <a:srgbClr val="FFFFFF"/>
          </a:solidFill>
          <a:ln w="12700">
            <a:solidFill>
              <a:srgbClr val="D5D9DC"/>
            </a:solidFill>
            <a:prstDash val="solid"/>
          </a:ln>
        </p:spPr>
        <p:txBody>
          <a:bodyPr/>
          <a:lstStyle/>
          <a:p>
            <a:endParaRPr lang="pt-BR"/>
          </a:p>
        </p:txBody>
      </p:sp>
      <p:sp>
        <p:nvSpPr>
          <p:cNvPr id="8" name="Text 6"/>
          <p:cNvSpPr/>
          <p:nvPr/>
        </p:nvSpPr>
        <p:spPr>
          <a:xfrm>
            <a:off x="1076960" y="3190255"/>
            <a:ext cx="479287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3035"/>
                </a:solidFill>
                <a:latin typeface="Arial" pitchFamily="34" charset="0"/>
                <a:ea typeface="Arial" pitchFamily="34" charset="-122"/>
                <a:cs typeface="Arial" pitchFamily="34" charset="-120"/>
              </a:rPr>
              <a:t>§ 1º — Alto risco / risco excessivo</a:t>
            </a:r>
            <a:endParaRPr lang="en-US" sz="1600" dirty="0"/>
          </a:p>
        </p:txBody>
      </p:sp>
      <p:sp>
        <p:nvSpPr>
          <p:cNvPr id="9" name="Text 7"/>
          <p:cNvSpPr/>
          <p:nvPr/>
        </p:nvSpPr>
        <p:spPr>
          <a:xfrm>
            <a:off x="1076960" y="3550915"/>
            <a:ext cx="479287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Responsabilidade OBJETIVA, seria a não precisa provar culpa. Solidária, na medida da participação de cada agente no dano.</a:t>
            </a:r>
            <a:endParaRPr lang="en-US" sz="1400" dirty="0"/>
          </a:p>
        </p:txBody>
      </p:sp>
      <p:sp>
        <p:nvSpPr>
          <p:cNvPr id="10" name="Shape 8"/>
          <p:cNvSpPr/>
          <p:nvPr/>
        </p:nvSpPr>
        <p:spPr>
          <a:xfrm>
            <a:off x="6203950" y="2983235"/>
            <a:ext cx="5168900" cy="1521460"/>
          </a:xfrm>
          <a:prstGeom prst="rect">
            <a:avLst/>
          </a:prstGeom>
          <a:solidFill>
            <a:srgbClr val="E6E9EB"/>
          </a:solidFill>
          <a:ln w="12700">
            <a:solidFill>
              <a:srgbClr val="D5D9DC"/>
            </a:solidFill>
            <a:prstDash val="solid"/>
          </a:ln>
        </p:spPr>
        <p:txBody>
          <a:bodyPr/>
          <a:lstStyle/>
          <a:p>
            <a:endParaRPr lang="pt-BR"/>
          </a:p>
        </p:txBody>
      </p:sp>
      <p:sp>
        <p:nvSpPr>
          <p:cNvPr id="11" name="Text 9"/>
          <p:cNvSpPr/>
          <p:nvPr/>
        </p:nvSpPr>
        <p:spPr>
          <a:xfrm>
            <a:off x="6461760" y="3190255"/>
            <a:ext cx="479287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B3035"/>
                </a:solidFill>
                <a:latin typeface="Arial" pitchFamily="34" charset="0"/>
                <a:ea typeface="Arial" pitchFamily="34" charset="-122"/>
                <a:cs typeface="Arial" pitchFamily="34" charset="-120"/>
              </a:rPr>
              <a:t>§ 2º — Demais sistemas</a:t>
            </a:r>
            <a:endParaRPr lang="en-US" sz="1600" dirty="0"/>
          </a:p>
        </p:txBody>
      </p:sp>
      <p:sp>
        <p:nvSpPr>
          <p:cNvPr id="12" name="Text 10"/>
          <p:cNvSpPr/>
          <p:nvPr/>
        </p:nvSpPr>
        <p:spPr>
          <a:xfrm>
            <a:off x="6461760" y="3550915"/>
            <a:ext cx="47928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Presunção de culpa do agente causador, com inversão do ônus da prova em favor da vítima.</a:t>
            </a:r>
            <a:endParaRPr lang="en-US" sz="1400" dirty="0"/>
          </a:p>
        </p:txBody>
      </p:sp>
      <p:sp>
        <p:nvSpPr>
          <p:cNvPr id="13" name="Shape 11"/>
          <p:cNvSpPr/>
          <p:nvPr/>
        </p:nvSpPr>
        <p:spPr>
          <a:xfrm>
            <a:off x="838200" y="4676155"/>
            <a:ext cx="0" cy="574040"/>
          </a:xfrm>
          <a:prstGeom prst="line">
            <a:avLst/>
          </a:prstGeom>
          <a:noFill/>
          <a:ln w="50800">
            <a:solidFill>
              <a:srgbClr val="2F7D4F"/>
            </a:solidFill>
            <a:prstDash val="solid"/>
          </a:ln>
        </p:spPr>
        <p:txBody>
          <a:bodyPr/>
          <a:lstStyle/>
          <a:p>
            <a:endParaRPr lang="pt-BR"/>
          </a:p>
        </p:txBody>
      </p:sp>
      <p:sp>
        <p:nvSpPr>
          <p:cNvPr id="14" name="Text 12"/>
          <p:cNvSpPr/>
          <p:nvPr/>
        </p:nvSpPr>
        <p:spPr>
          <a:xfrm>
            <a:off x="1016000" y="4714255"/>
            <a:ext cx="1067409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147"/>
                </a:solidFill>
                <a:latin typeface="Arial" pitchFamily="34" charset="0"/>
                <a:ea typeface="Arial" pitchFamily="34" charset="-122"/>
                <a:cs typeface="Arial" pitchFamily="34" charset="-120"/>
              </a:rPr>
              <a:t>Art. 28 — excludentes: não colocação do sistema em circulação/uso, ou fato exclusivo da vítima, de terceiro, ou caso fortuito externo.</a:t>
            </a:r>
            <a:endParaRPr lang="en-US" sz="1400" dirty="0"/>
          </a:p>
        </p:txBody>
      </p:sp>
      <p:sp>
        <p:nvSpPr>
          <p:cNvPr id="15" name="Text 13"/>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394017"/>
          </a:xfrm>
          <a:prstGeom prst="rect">
            <a:avLst/>
          </a:prstGeom>
          <a:noFill/>
          <a:ln/>
        </p:spPr>
        <p:txBody>
          <a:bodyPr wrap="square" lIns="0" tIns="0" rIns="0" bIns="0" rtlCol="0" anchor="t">
            <a:normAutofit/>
          </a:bodyPr>
          <a:lstStyle/>
          <a:p>
            <a:pPr marL="0" indent="0" algn="l">
              <a:lnSpc>
                <a:spcPts val="2916"/>
              </a:lnSpc>
              <a:buNone/>
            </a:pPr>
            <a:r>
              <a:rPr lang="en-US" sz="2651" b="1" dirty="0">
                <a:solidFill>
                  <a:srgbClr val="2B3035"/>
                </a:solidFill>
                <a:latin typeface="Arial" pitchFamily="34" charset="0"/>
                <a:ea typeface="Arial" pitchFamily="34" charset="-122"/>
                <a:cs typeface="Arial" pitchFamily="34" charset="-120"/>
              </a:rPr>
              <a:t>Lacunas, desafios e sanções</a:t>
            </a:r>
            <a:endParaRPr lang="en-US" sz="2651" dirty="0"/>
          </a:p>
        </p:txBody>
      </p:sp>
      <p:sp>
        <p:nvSpPr>
          <p:cNvPr id="4" name="Shape 2"/>
          <p:cNvSpPr/>
          <p:nvPr/>
        </p:nvSpPr>
        <p:spPr>
          <a:xfrm>
            <a:off x="812800" y="1054422"/>
            <a:ext cx="609600" cy="50800"/>
          </a:xfrm>
          <a:prstGeom prst="rect">
            <a:avLst/>
          </a:prstGeom>
          <a:solidFill>
            <a:srgbClr val="2F7D4F"/>
          </a:solidFill>
          <a:ln/>
        </p:spPr>
        <p:txBody>
          <a:bodyPr/>
          <a:lstStyle/>
          <a:p>
            <a:endParaRPr lang="pt-BR"/>
          </a:p>
        </p:txBody>
      </p:sp>
      <p:sp>
        <p:nvSpPr>
          <p:cNvPr id="5" name="Shape 3"/>
          <p:cNvSpPr/>
          <p:nvPr/>
        </p:nvSpPr>
        <p:spPr>
          <a:xfrm>
            <a:off x="812800" y="1862931"/>
            <a:ext cx="101600" cy="101600"/>
          </a:xfrm>
          <a:prstGeom prst="rect">
            <a:avLst/>
          </a:prstGeom>
          <a:solidFill>
            <a:srgbClr val="2F7D4F"/>
          </a:solidFill>
          <a:ln/>
        </p:spPr>
        <p:txBody>
          <a:bodyPr/>
          <a:lstStyle/>
          <a:p>
            <a:endParaRPr lang="pt-BR"/>
          </a:p>
        </p:txBody>
      </p:sp>
      <p:sp>
        <p:nvSpPr>
          <p:cNvPr id="6" name="Text 4"/>
          <p:cNvSpPr/>
          <p:nvPr/>
        </p:nvSpPr>
        <p:spPr>
          <a:xfrm>
            <a:off x="1041400" y="1862931"/>
            <a:ext cx="635736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B3035"/>
                </a:solidFill>
                <a:latin typeface="Arial" pitchFamily="34" charset="0"/>
                <a:ea typeface="Arial" pitchFamily="34" charset="-122"/>
                <a:cs typeface="Arial" pitchFamily="34" charset="-120"/>
              </a:rPr>
              <a:t>Definição de “alto risco” é ampla e depende de lista atualizável por regulamento</a:t>
            </a:r>
            <a:endParaRPr lang="en-US" sz="1500" dirty="0"/>
          </a:p>
        </p:txBody>
      </p:sp>
      <p:sp>
        <p:nvSpPr>
          <p:cNvPr id="7" name="Shape 5"/>
          <p:cNvSpPr/>
          <p:nvPr/>
        </p:nvSpPr>
        <p:spPr>
          <a:xfrm>
            <a:off x="812800" y="2504281"/>
            <a:ext cx="101600" cy="101600"/>
          </a:xfrm>
          <a:prstGeom prst="rect">
            <a:avLst/>
          </a:prstGeom>
          <a:solidFill>
            <a:srgbClr val="2F7D4F"/>
          </a:solidFill>
          <a:ln/>
        </p:spPr>
        <p:txBody>
          <a:bodyPr/>
          <a:lstStyle/>
          <a:p>
            <a:endParaRPr lang="pt-BR"/>
          </a:p>
        </p:txBody>
      </p:sp>
      <p:sp>
        <p:nvSpPr>
          <p:cNvPr id="8" name="Text 6"/>
          <p:cNvSpPr/>
          <p:nvPr/>
        </p:nvSpPr>
        <p:spPr>
          <a:xfrm>
            <a:off x="1041400" y="2504281"/>
            <a:ext cx="635736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B3035"/>
                </a:solidFill>
                <a:latin typeface="Arial" pitchFamily="34" charset="0"/>
                <a:ea typeface="Arial" pitchFamily="34" charset="-122"/>
                <a:cs typeface="Arial" pitchFamily="34" charset="-120"/>
              </a:rPr>
              <a:t>Prova do nexo causal continua difícil mesmo com inversão do ônus, em cadeias com múltiplos agentes</a:t>
            </a:r>
            <a:endParaRPr lang="en-US" sz="1500" dirty="0"/>
          </a:p>
        </p:txBody>
      </p:sp>
      <p:sp>
        <p:nvSpPr>
          <p:cNvPr id="9" name="Shape 7"/>
          <p:cNvSpPr/>
          <p:nvPr/>
        </p:nvSpPr>
        <p:spPr>
          <a:xfrm>
            <a:off x="812800" y="3145631"/>
            <a:ext cx="101600" cy="101600"/>
          </a:xfrm>
          <a:prstGeom prst="rect">
            <a:avLst/>
          </a:prstGeom>
          <a:solidFill>
            <a:srgbClr val="2F7D4F"/>
          </a:solidFill>
          <a:ln/>
        </p:spPr>
        <p:txBody>
          <a:bodyPr/>
          <a:lstStyle/>
          <a:p>
            <a:endParaRPr lang="pt-BR"/>
          </a:p>
        </p:txBody>
      </p:sp>
      <p:sp>
        <p:nvSpPr>
          <p:cNvPr id="10" name="Text 8"/>
          <p:cNvSpPr/>
          <p:nvPr/>
        </p:nvSpPr>
        <p:spPr>
          <a:xfrm>
            <a:off x="1041400" y="3145631"/>
            <a:ext cx="635736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B3035"/>
                </a:solidFill>
                <a:latin typeface="Arial" pitchFamily="34" charset="0"/>
                <a:ea typeface="Arial" pitchFamily="34" charset="-122"/>
                <a:cs typeface="Arial" pitchFamily="34" charset="-120"/>
              </a:rPr>
              <a:t>Critérios de rateio da solidariedade “na medida da participação” não são detalhados</a:t>
            </a:r>
            <a:endParaRPr lang="en-US" sz="1500" dirty="0"/>
          </a:p>
        </p:txBody>
      </p:sp>
      <p:sp>
        <p:nvSpPr>
          <p:cNvPr id="11" name="Shape 9"/>
          <p:cNvSpPr/>
          <p:nvPr/>
        </p:nvSpPr>
        <p:spPr>
          <a:xfrm>
            <a:off x="812800" y="3786981"/>
            <a:ext cx="101600" cy="101600"/>
          </a:xfrm>
          <a:prstGeom prst="rect">
            <a:avLst/>
          </a:prstGeom>
          <a:solidFill>
            <a:srgbClr val="2F7D4F"/>
          </a:solidFill>
          <a:ln/>
        </p:spPr>
        <p:txBody>
          <a:bodyPr/>
          <a:lstStyle/>
          <a:p>
            <a:endParaRPr lang="pt-BR"/>
          </a:p>
        </p:txBody>
      </p:sp>
      <p:sp>
        <p:nvSpPr>
          <p:cNvPr id="12" name="Text 10"/>
          <p:cNvSpPr/>
          <p:nvPr/>
        </p:nvSpPr>
        <p:spPr>
          <a:xfrm>
            <a:off x="1041400" y="3786981"/>
            <a:ext cx="635736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B3035"/>
                </a:solidFill>
                <a:latin typeface="Arial" pitchFamily="34" charset="0"/>
                <a:ea typeface="Arial" pitchFamily="34" charset="-122"/>
                <a:cs typeface="Arial" pitchFamily="34" charset="-120"/>
              </a:rPr>
              <a:t>Interface com a LGPD precisa ser esclarecida para evitar conflito de competência</a:t>
            </a:r>
            <a:endParaRPr lang="en-US" sz="1500" dirty="0"/>
          </a:p>
        </p:txBody>
      </p:sp>
      <p:sp>
        <p:nvSpPr>
          <p:cNvPr id="13" name="Shape 11"/>
          <p:cNvSpPr/>
          <p:nvPr/>
        </p:nvSpPr>
        <p:spPr>
          <a:xfrm>
            <a:off x="7569200" y="1283022"/>
            <a:ext cx="3810000" cy="3598228"/>
          </a:xfrm>
          <a:prstGeom prst="rect">
            <a:avLst/>
          </a:prstGeom>
          <a:solidFill>
            <a:srgbClr val="2F7D4F"/>
          </a:solidFill>
          <a:ln/>
        </p:spPr>
        <p:txBody>
          <a:bodyPr/>
          <a:lstStyle/>
          <a:p>
            <a:endParaRPr lang="pt-BR"/>
          </a:p>
        </p:txBody>
      </p:sp>
      <p:sp>
        <p:nvSpPr>
          <p:cNvPr id="14" name="Shape 12"/>
          <p:cNvSpPr/>
          <p:nvPr/>
        </p:nvSpPr>
        <p:spPr>
          <a:xfrm>
            <a:off x="7848600" y="1562422"/>
            <a:ext cx="609600" cy="609600"/>
          </a:xfrm>
          <a:prstGeom prst="roundRect">
            <a:avLst>
              <a:gd name="adj" fmla="val 50000"/>
            </a:avLst>
          </a:prstGeom>
          <a:solidFill>
            <a:srgbClr val="F5F5F5"/>
          </a:solidFill>
          <a:ln/>
        </p:spPr>
        <p:txBody>
          <a:bodyPr/>
          <a:lstStyle/>
          <a:p>
            <a:endParaRPr lang="pt-BR"/>
          </a:p>
        </p:txBody>
      </p:sp>
      <p:pic>
        <p:nvPicPr>
          <p:cNvPr id="15" name="Image 0" descr="Warning"/>
          <p:cNvPicPr>
            <a:picLocks noChangeAspect="1"/>
          </p:cNvPicPr>
          <p:nvPr/>
        </p:nvPicPr>
        <p:blipFill>
          <a:blip r:embed="rId3"/>
          <a:srcRect/>
          <a:stretch/>
        </p:blipFill>
        <p:spPr>
          <a:xfrm>
            <a:off x="8001000" y="1714822"/>
            <a:ext cx="304800" cy="304800"/>
          </a:xfrm>
          <a:prstGeom prst="rect">
            <a:avLst/>
          </a:prstGeom>
        </p:spPr>
      </p:pic>
      <p:sp>
        <p:nvSpPr>
          <p:cNvPr id="16" name="Text 13"/>
          <p:cNvSpPr/>
          <p:nvPr/>
        </p:nvSpPr>
        <p:spPr>
          <a:xfrm>
            <a:off x="7848600" y="2260922"/>
            <a:ext cx="3348736" cy="274955"/>
          </a:xfrm>
          <a:prstGeom prst="rect">
            <a:avLst/>
          </a:prstGeom>
          <a:noFill/>
          <a:ln/>
        </p:spPr>
        <p:txBody>
          <a:bodyPr wrap="square" lIns="0" tIns="0" rIns="0" bIns="0" rtlCol="0" anchor="t">
            <a:normAutofit/>
          </a:bodyPr>
          <a:lstStyle/>
          <a:p>
            <a:pPr marL="0" indent="0" algn="l">
              <a:lnSpc>
                <a:spcPts val="1969"/>
              </a:lnSpc>
              <a:buNone/>
            </a:pPr>
            <a:r>
              <a:rPr lang="en-US" sz="1406" b="1" kern="0" spc="100" dirty="0">
                <a:solidFill>
                  <a:srgbClr val="E6F3EC"/>
                </a:solidFill>
                <a:latin typeface="Arial" pitchFamily="34" charset="0"/>
                <a:ea typeface="Arial" pitchFamily="34" charset="-122"/>
                <a:cs typeface="Arial" pitchFamily="34" charset="-120"/>
              </a:rPr>
              <a:t>Sanções administrativas</a:t>
            </a:r>
            <a:endParaRPr lang="en-US" sz="1406" dirty="0"/>
          </a:p>
        </p:txBody>
      </p:sp>
      <p:sp>
        <p:nvSpPr>
          <p:cNvPr id="17" name="Text 14"/>
          <p:cNvSpPr/>
          <p:nvPr/>
        </p:nvSpPr>
        <p:spPr>
          <a:xfrm>
            <a:off x="7848600" y="2599382"/>
            <a:ext cx="3348736" cy="1073706"/>
          </a:xfrm>
          <a:prstGeom prst="rect">
            <a:avLst/>
          </a:prstGeom>
          <a:noFill/>
          <a:ln/>
        </p:spPr>
        <p:txBody>
          <a:bodyPr wrap="square" lIns="0" tIns="0" rIns="0" bIns="0" rtlCol="0" anchor="t">
            <a:normAutofit/>
          </a:bodyPr>
          <a:lstStyle/>
          <a:p>
            <a:pPr marL="0" indent="0" algn="l">
              <a:lnSpc>
                <a:spcPts val="4134"/>
              </a:lnSpc>
              <a:buNone/>
            </a:pPr>
            <a:r>
              <a:rPr lang="en-US" sz="3938" b="1" dirty="0">
                <a:solidFill>
                  <a:srgbClr val="F5F5F5"/>
                </a:solidFill>
                <a:latin typeface="Arial" pitchFamily="34" charset="0"/>
                <a:ea typeface="Arial" pitchFamily="34" charset="-122"/>
                <a:cs typeface="Arial" pitchFamily="34" charset="-120"/>
              </a:rPr>
              <a:t>R$ 50 milhões</a:t>
            </a:r>
            <a:endParaRPr lang="en-US" sz="3938" dirty="0"/>
          </a:p>
        </p:txBody>
      </p:sp>
      <p:sp>
        <p:nvSpPr>
          <p:cNvPr id="18" name="Text 15"/>
          <p:cNvSpPr/>
          <p:nvPr/>
        </p:nvSpPr>
        <p:spPr>
          <a:xfrm>
            <a:off x="7848600" y="3736578"/>
            <a:ext cx="3348736" cy="890667"/>
          </a:xfrm>
          <a:prstGeom prst="rect">
            <a:avLst/>
          </a:prstGeom>
          <a:noFill/>
          <a:ln/>
        </p:spPr>
        <p:txBody>
          <a:bodyPr wrap="square" lIns="0" tIns="0" rIns="0" bIns="0" rtlCol="0" anchor="t">
            <a:normAutofit/>
          </a:bodyPr>
          <a:lstStyle/>
          <a:p>
            <a:pPr marL="0" indent="0" algn="l">
              <a:lnSpc>
                <a:spcPts val="1701"/>
              </a:lnSpc>
              <a:buNone/>
            </a:pPr>
            <a:r>
              <a:rPr lang="en-US" sz="1215" dirty="0">
                <a:solidFill>
                  <a:srgbClr val="E6F3EC"/>
                </a:solidFill>
                <a:latin typeface="Arial" pitchFamily="34" charset="0"/>
                <a:ea typeface="Arial" pitchFamily="34" charset="-122"/>
                <a:cs typeface="Arial" pitchFamily="34" charset="-120"/>
              </a:rPr>
              <a:t>ou até 2% do faturamento da pessoa jurídica privada — o que for maior — além de advertência, publicização e suspensão da operação (art. 36).</a:t>
            </a:r>
            <a:endParaRPr lang="en-US" sz="1215" dirty="0"/>
          </a:p>
        </p:txBody>
      </p:sp>
      <p:sp>
        <p:nvSpPr>
          <p:cNvPr id="19" name="Shape 16"/>
          <p:cNvSpPr/>
          <p:nvPr/>
        </p:nvSpPr>
        <p:spPr>
          <a:xfrm>
            <a:off x="812800" y="5059040"/>
            <a:ext cx="10566400" cy="833755"/>
          </a:xfrm>
          <a:prstGeom prst="rect">
            <a:avLst/>
          </a:prstGeom>
          <a:solidFill>
            <a:srgbClr val="E6E9EB"/>
          </a:solidFill>
          <a:ln/>
        </p:spPr>
        <p:txBody>
          <a:bodyPr/>
          <a:lstStyle/>
          <a:p>
            <a:endParaRPr lang="pt-BR"/>
          </a:p>
        </p:txBody>
      </p:sp>
      <p:sp>
        <p:nvSpPr>
          <p:cNvPr id="20" name="Shape 17"/>
          <p:cNvSpPr/>
          <p:nvPr/>
        </p:nvSpPr>
        <p:spPr>
          <a:xfrm>
            <a:off x="1066800" y="5247332"/>
            <a:ext cx="457200" cy="457200"/>
          </a:xfrm>
          <a:prstGeom prst="roundRect">
            <a:avLst>
              <a:gd name="adj" fmla="val 50000"/>
            </a:avLst>
          </a:prstGeom>
          <a:solidFill>
            <a:srgbClr val="F5F5F5"/>
          </a:solidFill>
          <a:ln/>
        </p:spPr>
        <p:txBody>
          <a:bodyPr/>
          <a:lstStyle/>
          <a:p>
            <a:endParaRPr lang="pt-BR"/>
          </a:p>
        </p:txBody>
      </p:sp>
      <p:pic>
        <p:nvPicPr>
          <p:cNvPr id="21" name="Image 1" descr="Trust"/>
          <p:cNvPicPr>
            <a:picLocks noChangeAspect="1"/>
          </p:cNvPicPr>
          <p:nvPr/>
        </p:nvPicPr>
        <p:blipFill>
          <a:blip r:embed="rId4"/>
          <a:srcRect/>
          <a:stretch/>
        </p:blipFill>
        <p:spPr>
          <a:xfrm>
            <a:off x="1181100" y="5361632"/>
            <a:ext cx="228600" cy="228600"/>
          </a:xfrm>
          <a:prstGeom prst="rect">
            <a:avLst/>
          </a:prstGeom>
        </p:spPr>
      </p:pic>
      <p:sp>
        <p:nvSpPr>
          <p:cNvPr id="22" name="Text 18"/>
          <p:cNvSpPr/>
          <p:nvPr/>
        </p:nvSpPr>
        <p:spPr>
          <a:xfrm>
            <a:off x="1701800" y="5227017"/>
            <a:ext cx="970610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3035"/>
                </a:solidFill>
                <a:latin typeface="Arial" pitchFamily="34" charset="0"/>
                <a:ea typeface="Arial" pitchFamily="34" charset="-122"/>
                <a:cs typeface="Arial" pitchFamily="34" charset="-120"/>
              </a:rPr>
              <a:t>Nó institucional: a efetividade de todo o sistema depende de uma autoridade fiscalizadora (provavelmente a ANPD) com capacidade técnica e orçamento para atuar — algo que a lei ainda não resolve.</a:t>
            </a:r>
            <a:endParaRPr lang="en-US" sz="1400" dirty="0"/>
          </a:p>
        </p:txBody>
      </p:sp>
      <p:sp>
        <p:nvSpPr>
          <p:cNvPr id="23" name="Text 19"/>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F7D4F"/>
        </a:solidFill>
        <a:effectLst/>
      </p:bgPr>
    </p:bg>
    <p:spTree>
      <p:nvGrpSpPr>
        <p:cNvPr id="1" name=""/>
        <p:cNvGrpSpPr/>
        <p:nvPr/>
      </p:nvGrpSpPr>
      <p:grpSpPr>
        <a:xfrm>
          <a:off x="0" y="0"/>
          <a:ext cx="0" cy="0"/>
          <a:chOff x="0" y="0"/>
          <a:chExt cx="0" cy="0"/>
        </a:xfrm>
      </p:grpSpPr>
      <p:sp>
        <p:nvSpPr>
          <p:cNvPr id="2" name="Text 0"/>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5F5F5"/>
                </a:solidFill>
                <a:latin typeface="Arial" pitchFamily="34" charset="0"/>
                <a:ea typeface="Arial" pitchFamily="34" charset="-122"/>
                <a:cs typeface="Arial" pitchFamily="34" charset="-120"/>
              </a:rPr>
              <a:t>Dinâmica: cenário para debate</a:t>
            </a:r>
            <a:endParaRPr lang="en-US" sz="2800" dirty="0"/>
          </a:p>
        </p:txBody>
      </p:sp>
      <p:sp>
        <p:nvSpPr>
          <p:cNvPr id="3" name="Shape 1"/>
          <p:cNvSpPr/>
          <p:nvPr/>
        </p:nvSpPr>
        <p:spPr>
          <a:xfrm>
            <a:off x="812800" y="1076970"/>
            <a:ext cx="609600" cy="50800"/>
          </a:xfrm>
          <a:prstGeom prst="rect">
            <a:avLst/>
          </a:prstGeom>
          <a:solidFill>
            <a:srgbClr val="FFFFFF"/>
          </a:solidFill>
          <a:ln/>
        </p:spPr>
        <p:txBody>
          <a:bodyPr/>
          <a:lstStyle/>
          <a:p>
            <a:endParaRPr lang="pt-BR"/>
          </a:p>
        </p:txBody>
      </p:sp>
      <p:sp>
        <p:nvSpPr>
          <p:cNvPr id="4" name="Text 2"/>
          <p:cNvSpPr/>
          <p:nvPr/>
        </p:nvSpPr>
        <p:spPr>
          <a:xfrm>
            <a:off x="812800" y="1305570"/>
            <a:ext cx="8031734" cy="4521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6F3EC"/>
                </a:solidFill>
                <a:latin typeface="Arial" pitchFamily="34" charset="0"/>
                <a:ea typeface="Arial" pitchFamily="34" charset="-122"/>
                <a:cs typeface="Arial" pitchFamily="34" charset="-120"/>
              </a:rPr>
              <a:t>CENÁRIO, INSPIRADO NO CASO REAL SyRI (PAÍSES BAIXOS, 2020), ADAPTADO AO CONTEXTO BRASILEIRO</a:t>
            </a:r>
            <a:endParaRPr lang="en-US" sz="1200" dirty="0"/>
          </a:p>
        </p:txBody>
      </p:sp>
      <p:sp>
        <p:nvSpPr>
          <p:cNvPr id="5" name="Text 3"/>
          <p:cNvSpPr/>
          <p:nvPr/>
        </p:nvSpPr>
        <p:spPr>
          <a:xfrm>
            <a:off x="812800" y="1859285"/>
            <a:ext cx="8031734" cy="2023427"/>
          </a:xfrm>
          <a:prstGeom prst="rect">
            <a:avLst/>
          </a:prstGeom>
          <a:noFill/>
          <a:ln/>
        </p:spPr>
        <p:txBody>
          <a:bodyPr wrap="square" lIns="0" tIns="0" rIns="0" bIns="0" rtlCol="0" anchor="t">
            <a:normAutofit/>
          </a:bodyPr>
          <a:lstStyle/>
          <a:p>
            <a:pPr marL="0" indent="0" algn="l">
              <a:lnSpc>
                <a:spcPts val="2248"/>
              </a:lnSpc>
              <a:buNone/>
            </a:pPr>
            <a:r>
              <a:rPr lang="en-US" sz="1550" dirty="0">
                <a:solidFill>
                  <a:srgbClr val="F0F0F0"/>
                </a:solidFill>
                <a:latin typeface="Arial" pitchFamily="34" charset="0"/>
                <a:ea typeface="Arial" pitchFamily="34" charset="-122"/>
                <a:cs typeface="Arial" pitchFamily="34" charset="-120"/>
              </a:rPr>
              <a:t>Um município brasileiro contrata uma equipe de ciência de dados para construir um sistema de IA que cruza dados de diferentes secretarias (assistência social, receita municipal, saúde) para identificar suspeitas de fraude em um programa de transferência de renda. O modelo usa uma rede neural com ótima performance estatística, mas cujos critérios internos não podem ser resumidos em regras simples. Famílias sinalizadas pelo sistema têm o benefício suspenso automaticamente, até revisão manual, que hoje leva em média 90 dias.</a:t>
            </a:r>
            <a:endParaRPr lang="en-US" sz="1550" dirty="0"/>
          </a:p>
        </p:txBody>
      </p:sp>
      <p:pic>
        <p:nvPicPr>
          <p:cNvPr id="6" name="Image 0" descr="Rede neural"/>
          <p:cNvPicPr>
            <a:picLocks noChangeAspect="1"/>
          </p:cNvPicPr>
          <p:nvPr/>
        </p:nvPicPr>
        <p:blipFill>
          <a:blip r:embed="rId3"/>
          <a:srcRect/>
          <a:stretch/>
        </p:blipFill>
        <p:spPr>
          <a:xfrm>
            <a:off x="8966200" y="1374949"/>
            <a:ext cx="2413000" cy="2413000"/>
          </a:xfrm>
          <a:prstGeom prst="rect">
            <a:avLst/>
          </a:prstGeom>
        </p:spPr>
      </p:pic>
      <p:sp>
        <p:nvSpPr>
          <p:cNvPr id="7" name="Shape 4"/>
          <p:cNvSpPr/>
          <p:nvPr/>
        </p:nvSpPr>
        <p:spPr>
          <a:xfrm>
            <a:off x="812800" y="4035103"/>
            <a:ext cx="10566400" cy="963930"/>
          </a:xfrm>
          <a:prstGeom prst="rect">
            <a:avLst/>
          </a:prstGeom>
          <a:solidFill>
            <a:srgbClr val="F5F5F5"/>
          </a:solidFill>
          <a:ln/>
        </p:spPr>
        <p:txBody>
          <a:bodyPr/>
          <a:lstStyle/>
          <a:p>
            <a:endParaRPr lang="pt-BR"/>
          </a:p>
        </p:txBody>
      </p:sp>
      <p:sp>
        <p:nvSpPr>
          <p:cNvPr id="8" name="Text 5"/>
          <p:cNvSpPr/>
          <p:nvPr/>
        </p:nvSpPr>
        <p:spPr>
          <a:xfrm>
            <a:off x="1092200" y="4225603"/>
            <a:ext cx="10307828" cy="608330"/>
          </a:xfrm>
          <a:prstGeom prst="rect">
            <a:avLst/>
          </a:prstGeom>
          <a:noFill/>
          <a:ln/>
        </p:spPr>
        <p:txBody>
          <a:bodyPr wrap="square" lIns="0" tIns="0" rIns="0" bIns="0" rtlCol="0" anchor="t">
            <a:normAutofit/>
          </a:bodyPr>
          <a:lstStyle/>
          <a:p>
            <a:pPr marL="0" indent="0" algn="l">
              <a:lnSpc>
                <a:spcPts val="2295"/>
              </a:lnSpc>
              <a:buNone/>
            </a:pPr>
            <a:r>
              <a:rPr lang="en-US" sz="1700" b="1" dirty="0">
                <a:solidFill>
                  <a:srgbClr val="2B3035"/>
                </a:solidFill>
                <a:latin typeface="Arial" pitchFamily="34" charset="0"/>
                <a:ea typeface="Arial" pitchFamily="34" charset="-122"/>
                <a:cs typeface="Arial" pitchFamily="34" charset="-120"/>
              </a:rPr>
              <a:t>Pergunta disparadora: esse sistema pode ser implantado como está descrito? O que precisaria mudar?</a:t>
            </a:r>
            <a:endParaRPr lang="en-US" sz="1700" dirty="0"/>
          </a:p>
        </p:txBody>
      </p:sp>
      <p:sp>
        <p:nvSpPr>
          <p:cNvPr id="9" name="Text 6"/>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5F5F5"/>
                </a:solidFill>
                <a:latin typeface="Arial" pitchFamily="34" charset="0"/>
                <a:ea typeface="Arial" pitchFamily="34" charset="-122"/>
                <a:cs typeface="Arial"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Shape 1"/>
          <p:cNvSpPr/>
          <p:nvPr/>
        </p:nvSpPr>
        <p:spPr>
          <a:xfrm>
            <a:off x="819150" y="463550"/>
            <a:ext cx="5168900" cy="2476500"/>
          </a:xfrm>
          <a:prstGeom prst="rect">
            <a:avLst/>
          </a:prstGeom>
          <a:solidFill>
            <a:srgbClr val="FFFFFF"/>
          </a:solidFill>
          <a:ln w="12700">
            <a:solidFill>
              <a:srgbClr val="D5D9DC"/>
            </a:solidFill>
            <a:prstDash val="solid"/>
          </a:ln>
        </p:spPr>
        <p:txBody>
          <a:bodyPr/>
          <a:lstStyle/>
          <a:p>
            <a:endParaRPr lang="pt-BR"/>
          </a:p>
        </p:txBody>
      </p:sp>
      <p:sp>
        <p:nvSpPr>
          <p:cNvPr id="4" name="Shape 2"/>
          <p:cNvSpPr/>
          <p:nvPr/>
        </p:nvSpPr>
        <p:spPr>
          <a:xfrm>
            <a:off x="1076960" y="721370"/>
            <a:ext cx="660400" cy="660400"/>
          </a:xfrm>
          <a:prstGeom prst="roundRect">
            <a:avLst>
              <a:gd name="adj" fmla="val 50000"/>
            </a:avLst>
          </a:prstGeom>
          <a:solidFill>
            <a:srgbClr val="2F7D4F"/>
          </a:solidFill>
          <a:ln/>
        </p:spPr>
        <p:txBody>
          <a:bodyPr/>
          <a:lstStyle/>
          <a:p>
            <a:endParaRPr lang="pt-BR"/>
          </a:p>
        </p:txBody>
      </p:sp>
      <p:pic>
        <p:nvPicPr>
          <p:cNvPr id="5" name="Image 0" descr="Home"/>
          <p:cNvPicPr>
            <a:picLocks noChangeAspect="1"/>
          </p:cNvPicPr>
          <p:nvPr/>
        </p:nvPicPr>
        <p:blipFill>
          <a:blip r:embed="rId3"/>
          <a:srcRect/>
          <a:stretch/>
        </p:blipFill>
        <p:spPr>
          <a:xfrm>
            <a:off x="1242060" y="886470"/>
            <a:ext cx="330200" cy="330200"/>
          </a:xfrm>
          <a:prstGeom prst="rect">
            <a:avLst/>
          </a:prstGeom>
        </p:spPr>
      </p:pic>
      <p:sp>
        <p:nvSpPr>
          <p:cNvPr id="6" name="Text 3"/>
          <p:cNvSpPr/>
          <p:nvPr/>
        </p:nvSpPr>
        <p:spPr>
          <a:xfrm>
            <a:off x="1076960" y="1508770"/>
            <a:ext cx="4792878" cy="55118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2B3035"/>
                </a:solidFill>
                <a:latin typeface="Arial" pitchFamily="34" charset="0"/>
                <a:ea typeface="Arial" pitchFamily="34" charset="-122"/>
                <a:cs typeface="Arial" pitchFamily="34" charset="-120"/>
              </a:rPr>
              <a:t>Grupo 1 · Secretaria Municipal de Assistência Social</a:t>
            </a:r>
            <a:endParaRPr lang="en-US" sz="1800" dirty="0"/>
          </a:p>
        </p:txBody>
      </p:sp>
      <p:sp>
        <p:nvSpPr>
          <p:cNvPr id="7" name="Text 4"/>
          <p:cNvSpPr/>
          <p:nvPr/>
        </p:nvSpPr>
        <p:spPr>
          <a:xfrm>
            <a:off x="1076960" y="2161555"/>
            <a:ext cx="4792878" cy="50546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3A4147"/>
                </a:solidFill>
                <a:latin typeface="Arial" pitchFamily="34" charset="0"/>
                <a:ea typeface="Arial" pitchFamily="34" charset="-122"/>
                <a:cs typeface="Arial" pitchFamily="34" charset="-120"/>
              </a:rPr>
              <a:t>Defende o sistema como forma de proteger recursos públicos escassos e ampliar a eficiência da fiscalização.</a:t>
            </a:r>
            <a:endParaRPr lang="en-US" sz="1350" dirty="0"/>
          </a:p>
        </p:txBody>
      </p:sp>
      <p:sp>
        <p:nvSpPr>
          <p:cNvPr id="8" name="Shape 5"/>
          <p:cNvSpPr/>
          <p:nvPr/>
        </p:nvSpPr>
        <p:spPr>
          <a:xfrm>
            <a:off x="6203950" y="463550"/>
            <a:ext cx="5168900" cy="2476500"/>
          </a:xfrm>
          <a:prstGeom prst="rect">
            <a:avLst/>
          </a:prstGeom>
          <a:solidFill>
            <a:srgbClr val="2F7D4F"/>
          </a:solidFill>
          <a:ln w="12700">
            <a:solidFill>
              <a:srgbClr val="2F7D4F"/>
            </a:solidFill>
            <a:prstDash val="solid"/>
          </a:ln>
        </p:spPr>
        <p:txBody>
          <a:bodyPr/>
          <a:lstStyle/>
          <a:p>
            <a:endParaRPr lang="pt-BR"/>
          </a:p>
        </p:txBody>
      </p:sp>
      <p:sp>
        <p:nvSpPr>
          <p:cNvPr id="9" name="Shape 6"/>
          <p:cNvSpPr/>
          <p:nvPr/>
        </p:nvSpPr>
        <p:spPr>
          <a:xfrm>
            <a:off x="6461760" y="721370"/>
            <a:ext cx="660400" cy="660400"/>
          </a:xfrm>
          <a:prstGeom prst="roundRect">
            <a:avLst>
              <a:gd name="adj" fmla="val 50000"/>
            </a:avLst>
          </a:prstGeom>
          <a:solidFill>
            <a:srgbClr val="FFFFFF"/>
          </a:solidFill>
          <a:ln/>
        </p:spPr>
        <p:txBody>
          <a:bodyPr/>
          <a:lstStyle/>
          <a:p>
            <a:endParaRPr lang="pt-BR"/>
          </a:p>
        </p:txBody>
      </p:sp>
      <p:pic>
        <p:nvPicPr>
          <p:cNvPr id="10" name="Image 1" descr="Users"/>
          <p:cNvPicPr>
            <a:picLocks noChangeAspect="1"/>
          </p:cNvPicPr>
          <p:nvPr/>
        </p:nvPicPr>
        <p:blipFill>
          <a:blip r:embed="rId4"/>
          <a:srcRect/>
          <a:stretch/>
        </p:blipFill>
        <p:spPr>
          <a:xfrm>
            <a:off x="6626860" y="886470"/>
            <a:ext cx="330200" cy="330200"/>
          </a:xfrm>
          <a:prstGeom prst="rect">
            <a:avLst/>
          </a:prstGeom>
        </p:spPr>
      </p:pic>
      <p:sp>
        <p:nvSpPr>
          <p:cNvPr id="11" name="Text 7"/>
          <p:cNvSpPr/>
          <p:nvPr/>
        </p:nvSpPr>
        <p:spPr>
          <a:xfrm>
            <a:off x="6461760" y="1508770"/>
            <a:ext cx="4792878" cy="55118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FFFFFF"/>
                </a:solidFill>
                <a:latin typeface="Arial" pitchFamily="34" charset="0"/>
                <a:ea typeface="Arial" pitchFamily="34" charset="-122"/>
                <a:cs typeface="Arial" pitchFamily="34" charset="-120"/>
              </a:rPr>
              <a:t>Grupo 2 · Defensoria Pública e famílias afetadas</a:t>
            </a:r>
            <a:endParaRPr lang="en-US" sz="1800" dirty="0"/>
          </a:p>
        </p:txBody>
      </p:sp>
      <p:sp>
        <p:nvSpPr>
          <p:cNvPr id="12" name="Text 8"/>
          <p:cNvSpPr/>
          <p:nvPr/>
        </p:nvSpPr>
        <p:spPr>
          <a:xfrm>
            <a:off x="6461760" y="2161555"/>
            <a:ext cx="4792878" cy="50546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E6F3EC"/>
                </a:solidFill>
                <a:latin typeface="Arial" pitchFamily="34" charset="0"/>
                <a:ea typeface="Arial" pitchFamily="34" charset="-122"/>
                <a:cs typeface="Arial" pitchFamily="34" charset="-120"/>
              </a:rPr>
              <a:t>Representa quem teve o benefício suspenso e argumenta com base em SyRI, na LGPD e no direito de defesa.</a:t>
            </a:r>
            <a:endParaRPr lang="en-US" sz="1350" dirty="0"/>
          </a:p>
        </p:txBody>
      </p:sp>
      <p:sp>
        <p:nvSpPr>
          <p:cNvPr id="13" name="Shape 9"/>
          <p:cNvSpPr/>
          <p:nvPr/>
        </p:nvSpPr>
        <p:spPr>
          <a:xfrm>
            <a:off x="819150" y="3155950"/>
            <a:ext cx="5168900" cy="2476500"/>
          </a:xfrm>
          <a:prstGeom prst="rect">
            <a:avLst/>
          </a:prstGeom>
          <a:solidFill>
            <a:srgbClr val="2F7D4F"/>
          </a:solidFill>
          <a:ln w="12700">
            <a:solidFill>
              <a:srgbClr val="2F7D4F"/>
            </a:solidFill>
            <a:prstDash val="solid"/>
          </a:ln>
        </p:spPr>
        <p:txBody>
          <a:bodyPr/>
          <a:lstStyle/>
          <a:p>
            <a:endParaRPr lang="pt-BR"/>
          </a:p>
        </p:txBody>
      </p:sp>
      <p:sp>
        <p:nvSpPr>
          <p:cNvPr id="14" name="Shape 10"/>
          <p:cNvSpPr/>
          <p:nvPr/>
        </p:nvSpPr>
        <p:spPr>
          <a:xfrm>
            <a:off x="1076960" y="3413770"/>
            <a:ext cx="660400" cy="660400"/>
          </a:xfrm>
          <a:prstGeom prst="roundRect">
            <a:avLst>
              <a:gd name="adj" fmla="val 50000"/>
            </a:avLst>
          </a:prstGeom>
          <a:solidFill>
            <a:srgbClr val="FFFFFF"/>
          </a:solidFill>
          <a:ln/>
        </p:spPr>
        <p:txBody>
          <a:bodyPr/>
          <a:lstStyle/>
          <a:p>
            <a:endParaRPr lang="pt-BR"/>
          </a:p>
        </p:txBody>
      </p:sp>
      <p:pic>
        <p:nvPicPr>
          <p:cNvPr id="15" name="Image 2" descr="Code"/>
          <p:cNvPicPr>
            <a:picLocks noChangeAspect="1"/>
          </p:cNvPicPr>
          <p:nvPr/>
        </p:nvPicPr>
        <p:blipFill>
          <a:blip r:embed="rId5"/>
          <a:srcRect/>
          <a:stretch/>
        </p:blipFill>
        <p:spPr>
          <a:xfrm>
            <a:off x="1242060" y="3578870"/>
            <a:ext cx="330200" cy="330200"/>
          </a:xfrm>
          <a:prstGeom prst="rect">
            <a:avLst/>
          </a:prstGeom>
        </p:spPr>
      </p:pic>
      <p:sp>
        <p:nvSpPr>
          <p:cNvPr id="16" name="Text 11"/>
          <p:cNvSpPr/>
          <p:nvPr/>
        </p:nvSpPr>
        <p:spPr>
          <a:xfrm>
            <a:off x="1076960" y="4201170"/>
            <a:ext cx="4792878" cy="55118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FFFFFF"/>
                </a:solidFill>
                <a:latin typeface="Arial" pitchFamily="34" charset="0"/>
                <a:ea typeface="Arial" pitchFamily="34" charset="-122"/>
                <a:cs typeface="Arial" pitchFamily="34" charset="-120"/>
              </a:rPr>
              <a:t>Grupo 3 · Equipe de ciência de dados responsável pelo sistema</a:t>
            </a:r>
            <a:endParaRPr lang="en-US" sz="1800" dirty="0"/>
          </a:p>
        </p:txBody>
      </p:sp>
      <p:sp>
        <p:nvSpPr>
          <p:cNvPr id="17" name="Text 12"/>
          <p:cNvSpPr/>
          <p:nvPr/>
        </p:nvSpPr>
        <p:spPr>
          <a:xfrm>
            <a:off x="1076960" y="4853955"/>
            <a:ext cx="4792878" cy="50546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E6F3EC"/>
                </a:solidFill>
                <a:latin typeface="Arial" pitchFamily="34" charset="0"/>
                <a:ea typeface="Arial" pitchFamily="34" charset="-122"/>
                <a:cs typeface="Arial" pitchFamily="34" charset="-120"/>
              </a:rPr>
              <a:t>Explica as escolhas técnicas possíveis, entre trade-offs de acurácia, explicabilidade e prazo de revisão.</a:t>
            </a:r>
            <a:endParaRPr lang="en-US" sz="1350" dirty="0"/>
          </a:p>
        </p:txBody>
      </p:sp>
      <p:sp>
        <p:nvSpPr>
          <p:cNvPr id="18" name="Shape 13"/>
          <p:cNvSpPr/>
          <p:nvPr/>
        </p:nvSpPr>
        <p:spPr>
          <a:xfrm>
            <a:off x="6203950" y="3155950"/>
            <a:ext cx="5168900" cy="2476500"/>
          </a:xfrm>
          <a:prstGeom prst="rect">
            <a:avLst/>
          </a:prstGeom>
          <a:solidFill>
            <a:srgbClr val="FFFFFF"/>
          </a:solidFill>
          <a:ln w="12700">
            <a:solidFill>
              <a:srgbClr val="D5D9DC"/>
            </a:solidFill>
            <a:prstDash val="solid"/>
          </a:ln>
        </p:spPr>
        <p:txBody>
          <a:bodyPr/>
          <a:lstStyle/>
          <a:p>
            <a:endParaRPr lang="pt-BR"/>
          </a:p>
        </p:txBody>
      </p:sp>
      <p:sp>
        <p:nvSpPr>
          <p:cNvPr id="19" name="Shape 14"/>
          <p:cNvSpPr/>
          <p:nvPr/>
        </p:nvSpPr>
        <p:spPr>
          <a:xfrm>
            <a:off x="6461760" y="3413770"/>
            <a:ext cx="660400" cy="660400"/>
          </a:xfrm>
          <a:prstGeom prst="roundRect">
            <a:avLst>
              <a:gd name="adj" fmla="val 50000"/>
            </a:avLst>
          </a:prstGeom>
          <a:solidFill>
            <a:srgbClr val="2F7D4F"/>
          </a:solidFill>
          <a:ln/>
        </p:spPr>
        <p:txBody>
          <a:bodyPr/>
          <a:lstStyle/>
          <a:p>
            <a:endParaRPr lang="pt-BR"/>
          </a:p>
        </p:txBody>
      </p:sp>
      <p:pic>
        <p:nvPicPr>
          <p:cNvPr id="20" name="Image 3" descr="Verified"/>
          <p:cNvPicPr>
            <a:picLocks noChangeAspect="1"/>
          </p:cNvPicPr>
          <p:nvPr/>
        </p:nvPicPr>
        <p:blipFill>
          <a:blip r:embed="rId6"/>
          <a:srcRect/>
          <a:stretch/>
        </p:blipFill>
        <p:spPr>
          <a:xfrm>
            <a:off x="6626860" y="3578870"/>
            <a:ext cx="330200" cy="330200"/>
          </a:xfrm>
          <a:prstGeom prst="rect">
            <a:avLst/>
          </a:prstGeom>
        </p:spPr>
      </p:pic>
      <p:sp>
        <p:nvSpPr>
          <p:cNvPr id="21" name="Text 15"/>
          <p:cNvSpPr/>
          <p:nvPr/>
        </p:nvSpPr>
        <p:spPr>
          <a:xfrm>
            <a:off x="6461760" y="4201170"/>
            <a:ext cx="4792878" cy="28829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2B3035"/>
                </a:solidFill>
                <a:latin typeface="Arial" pitchFamily="34" charset="0"/>
                <a:ea typeface="Arial" pitchFamily="34" charset="-122"/>
                <a:cs typeface="Arial" pitchFamily="34" charset="-120"/>
              </a:rPr>
              <a:t>Grupo 4 · Painel de aplicação da lei</a:t>
            </a:r>
            <a:endParaRPr lang="en-US" sz="1800" dirty="0"/>
          </a:p>
        </p:txBody>
      </p:sp>
      <p:sp>
        <p:nvSpPr>
          <p:cNvPr id="22" name="Text 16"/>
          <p:cNvSpPr/>
          <p:nvPr/>
        </p:nvSpPr>
        <p:spPr>
          <a:xfrm>
            <a:off x="6461760" y="4591050"/>
            <a:ext cx="4792878" cy="50546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3A4147"/>
                </a:solidFill>
                <a:latin typeface="Arial" pitchFamily="34" charset="0"/>
                <a:ea typeface="Arial" pitchFamily="34" charset="-122"/>
                <a:cs typeface="Arial" pitchFamily="34" charset="-120"/>
              </a:rPr>
              <a:t>Decide o caso à luz da LGPD, do PL 2338/2023 em tramitação e dos seis precedentes estudados no Bloco 2.</a:t>
            </a:r>
            <a:endParaRPr lang="en-US" sz="1350" dirty="0"/>
          </a:p>
        </p:txBody>
      </p:sp>
      <p:sp>
        <p:nvSpPr>
          <p:cNvPr id="23" name="Text 17"/>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Text 1"/>
          <p:cNvSpPr/>
          <p:nvPr/>
        </p:nvSpPr>
        <p:spPr>
          <a:xfrm>
            <a:off x="812800" y="558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3035"/>
                </a:solidFill>
                <a:latin typeface="Arial" pitchFamily="34" charset="0"/>
                <a:ea typeface="Arial" pitchFamily="34" charset="-122"/>
                <a:cs typeface="Arial" pitchFamily="34" charset="-120"/>
              </a:rPr>
              <a:t>Perguntas orientadoras</a:t>
            </a:r>
            <a:endParaRPr lang="en-US" sz="2800" dirty="0"/>
          </a:p>
        </p:txBody>
      </p:sp>
      <p:sp>
        <p:nvSpPr>
          <p:cNvPr id="4" name="Shape 2"/>
          <p:cNvSpPr/>
          <p:nvPr/>
        </p:nvSpPr>
        <p:spPr>
          <a:xfrm>
            <a:off x="812800" y="1076970"/>
            <a:ext cx="609600" cy="50800"/>
          </a:xfrm>
          <a:prstGeom prst="rect">
            <a:avLst/>
          </a:prstGeom>
          <a:solidFill>
            <a:srgbClr val="2F7D4F"/>
          </a:solidFill>
          <a:ln/>
        </p:spPr>
        <p:txBody>
          <a:bodyPr/>
          <a:lstStyle/>
          <a:p>
            <a:endParaRPr lang="pt-BR"/>
          </a:p>
        </p:txBody>
      </p:sp>
      <p:sp>
        <p:nvSpPr>
          <p:cNvPr id="5" name="Shape 3"/>
          <p:cNvSpPr/>
          <p:nvPr/>
        </p:nvSpPr>
        <p:spPr>
          <a:xfrm>
            <a:off x="812800" y="2225685"/>
            <a:ext cx="10566400" cy="0"/>
          </a:xfrm>
          <a:prstGeom prst="line">
            <a:avLst/>
          </a:prstGeom>
          <a:noFill/>
          <a:ln w="19050">
            <a:solidFill>
              <a:srgbClr val="2F7D4F"/>
            </a:solidFill>
            <a:prstDash val="solid"/>
          </a:ln>
        </p:spPr>
        <p:txBody>
          <a:bodyPr/>
          <a:lstStyle/>
          <a:p>
            <a:endParaRPr lang="pt-BR"/>
          </a:p>
        </p:txBody>
      </p:sp>
      <p:sp>
        <p:nvSpPr>
          <p:cNvPr id="6" name="Text 4"/>
          <p:cNvSpPr/>
          <p:nvPr/>
        </p:nvSpPr>
        <p:spPr>
          <a:xfrm>
            <a:off x="812800" y="1457970"/>
            <a:ext cx="812800" cy="660400"/>
          </a:xfrm>
          <a:prstGeom prst="rect">
            <a:avLst/>
          </a:prstGeom>
          <a:noFill/>
          <a:ln/>
        </p:spPr>
        <p:txBody>
          <a:bodyPr wrap="square" lIns="0" tIns="0" rIns="0" bIns="0" rtlCol="0" anchor="t">
            <a:normAutofit/>
          </a:bodyPr>
          <a:lstStyle/>
          <a:p>
            <a:pPr marL="0" indent="0" algn="l">
              <a:lnSpc>
                <a:spcPts val="5000"/>
              </a:lnSpc>
              <a:buNone/>
            </a:pPr>
            <a:r>
              <a:rPr lang="en-US" sz="5000" b="1" dirty="0">
                <a:solidFill>
                  <a:srgbClr val="2B3035"/>
                </a:solidFill>
                <a:latin typeface="Arial" pitchFamily="34" charset="0"/>
                <a:ea typeface="Arial" pitchFamily="34" charset="-122"/>
                <a:cs typeface="Arial" pitchFamily="34" charset="-120"/>
              </a:rPr>
              <a:t>1</a:t>
            </a:r>
            <a:endParaRPr lang="en-US" sz="5000" dirty="0"/>
          </a:p>
        </p:txBody>
      </p:sp>
      <p:sp>
        <p:nvSpPr>
          <p:cNvPr id="7" name="Text 5"/>
          <p:cNvSpPr/>
          <p:nvPr/>
        </p:nvSpPr>
        <p:spPr>
          <a:xfrm>
            <a:off x="1803400" y="1508770"/>
            <a:ext cx="98630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A suspensão automática do benefício, antes da revisão humana, é compatível com o art. 20 da LGPD? E com os precedentes de Loomis e SyRI?</a:t>
            </a:r>
            <a:endParaRPr lang="en-US" sz="1500" dirty="0"/>
          </a:p>
        </p:txBody>
      </p:sp>
      <p:sp>
        <p:nvSpPr>
          <p:cNvPr id="8" name="Shape 6"/>
          <p:cNvSpPr/>
          <p:nvPr/>
        </p:nvSpPr>
        <p:spPr>
          <a:xfrm>
            <a:off x="812800" y="3193415"/>
            <a:ext cx="10566400" cy="0"/>
          </a:xfrm>
          <a:prstGeom prst="line">
            <a:avLst/>
          </a:prstGeom>
          <a:noFill/>
          <a:ln w="19050">
            <a:solidFill>
              <a:srgbClr val="2F7D4F"/>
            </a:solidFill>
            <a:prstDash val="solid"/>
          </a:ln>
        </p:spPr>
        <p:txBody>
          <a:bodyPr/>
          <a:lstStyle/>
          <a:p>
            <a:endParaRPr lang="pt-BR"/>
          </a:p>
        </p:txBody>
      </p:sp>
      <p:sp>
        <p:nvSpPr>
          <p:cNvPr id="9" name="Text 7"/>
          <p:cNvSpPr/>
          <p:nvPr/>
        </p:nvSpPr>
        <p:spPr>
          <a:xfrm>
            <a:off x="812800" y="2425700"/>
            <a:ext cx="812800" cy="660400"/>
          </a:xfrm>
          <a:prstGeom prst="rect">
            <a:avLst/>
          </a:prstGeom>
          <a:noFill/>
          <a:ln/>
        </p:spPr>
        <p:txBody>
          <a:bodyPr wrap="square" lIns="0" tIns="0" rIns="0" bIns="0" rtlCol="0" anchor="t">
            <a:normAutofit/>
          </a:bodyPr>
          <a:lstStyle/>
          <a:p>
            <a:pPr marL="0" indent="0" algn="l">
              <a:lnSpc>
                <a:spcPts val="5000"/>
              </a:lnSpc>
              <a:buNone/>
            </a:pPr>
            <a:r>
              <a:rPr lang="en-US" sz="5000" b="1" dirty="0">
                <a:solidFill>
                  <a:srgbClr val="2B3035"/>
                </a:solidFill>
                <a:latin typeface="Arial" pitchFamily="34" charset="0"/>
                <a:ea typeface="Arial" pitchFamily="34" charset="-122"/>
                <a:cs typeface="Arial" pitchFamily="34" charset="-120"/>
              </a:rPr>
              <a:t>2</a:t>
            </a:r>
            <a:endParaRPr lang="en-US" sz="5000" dirty="0"/>
          </a:p>
        </p:txBody>
      </p:sp>
      <p:sp>
        <p:nvSpPr>
          <p:cNvPr id="10" name="Text 8"/>
          <p:cNvSpPr/>
          <p:nvPr/>
        </p:nvSpPr>
        <p:spPr>
          <a:xfrm>
            <a:off x="1803400" y="2476500"/>
            <a:ext cx="98630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Como equilibrar a eficiência estatística de um modelo mais opaco com o dever de explicação a famílias de baixa renda, que muitas vezes têm menor acesso a assistência jurídica?</a:t>
            </a:r>
            <a:endParaRPr lang="en-US" sz="1500" dirty="0"/>
          </a:p>
        </p:txBody>
      </p:sp>
      <p:sp>
        <p:nvSpPr>
          <p:cNvPr id="11" name="Shape 9"/>
          <p:cNvSpPr/>
          <p:nvPr/>
        </p:nvSpPr>
        <p:spPr>
          <a:xfrm>
            <a:off x="812800" y="4161170"/>
            <a:ext cx="10566400" cy="0"/>
          </a:xfrm>
          <a:prstGeom prst="line">
            <a:avLst/>
          </a:prstGeom>
          <a:noFill/>
          <a:ln w="19050">
            <a:solidFill>
              <a:srgbClr val="2F7D4F"/>
            </a:solidFill>
            <a:prstDash val="solid"/>
          </a:ln>
        </p:spPr>
        <p:txBody>
          <a:bodyPr/>
          <a:lstStyle/>
          <a:p>
            <a:endParaRPr lang="pt-BR"/>
          </a:p>
        </p:txBody>
      </p:sp>
      <p:sp>
        <p:nvSpPr>
          <p:cNvPr id="12" name="Text 10"/>
          <p:cNvSpPr/>
          <p:nvPr/>
        </p:nvSpPr>
        <p:spPr>
          <a:xfrm>
            <a:off x="812800" y="3393455"/>
            <a:ext cx="812800" cy="660400"/>
          </a:xfrm>
          <a:prstGeom prst="rect">
            <a:avLst/>
          </a:prstGeom>
          <a:noFill/>
          <a:ln/>
        </p:spPr>
        <p:txBody>
          <a:bodyPr wrap="square" lIns="0" tIns="0" rIns="0" bIns="0" rtlCol="0" anchor="t">
            <a:normAutofit/>
          </a:bodyPr>
          <a:lstStyle/>
          <a:p>
            <a:pPr marL="0" indent="0" algn="l">
              <a:lnSpc>
                <a:spcPts val="5000"/>
              </a:lnSpc>
              <a:buNone/>
            </a:pPr>
            <a:r>
              <a:rPr lang="en-US" sz="5000" b="1" dirty="0">
                <a:solidFill>
                  <a:srgbClr val="2B3035"/>
                </a:solidFill>
                <a:latin typeface="Arial" pitchFamily="34" charset="0"/>
                <a:ea typeface="Arial" pitchFamily="34" charset="-122"/>
                <a:cs typeface="Arial" pitchFamily="34" charset="-120"/>
              </a:rPr>
              <a:t>3</a:t>
            </a:r>
            <a:endParaRPr lang="en-US" sz="5000" dirty="0"/>
          </a:p>
        </p:txBody>
      </p:sp>
      <p:sp>
        <p:nvSpPr>
          <p:cNvPr id="13" name="Text 11"/>
          <p:cNvSpPr/>
          <p:nvPr/>
        </p:nvSpPr>
        <p:spPr>
          <a:xfrm>
            <a:off x="1803400" y="3444255"/>
            <a:ext cx="98630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Que exigências técnicas mínimas (documentação, auditoria, revisão humana) o Grupo 4 deveria impor antes de autorizar o sistema?</a:t>
            </a:r>
            <a:endParaRPr lang="en-US" sz="1500" dirty="0"/>
          </a:p>
        </p:txBody>
      </p:sp>
      <p:sp>
        <p:nvSpPr>
          <p:cNvPr id="14" name="Shape 12"/>
          <p:cNvSpPr/>
          <p:nvPr/>
        </p:nvSpPr>
        <p:spPr>
          <a:xfrm>
            <a:off x="812800" y="5128900"/>
            <a:ext cx="10566400" cy="0"/>
          </a:xfrm>
          <a:prstGeom prst="line">
            <a:avLst/>
          </a:prstGeom>
          <a:noFill/>
          <a:ln w="19050">
            <a:solidFill>
              <a:srgbClr val="2F7D4F"/>
            </a:solidFill>
            <a:prstDash val="solid"/>
          </a:ln>
        </p:spPr>
        <p:txBody>
          <a:bodyPr/>
          <a:lstStyle/>
          <a:p>
            <a:endParaRPr lang="pt-BR"/>
          </a:p>
        </p:txBody>
      </p:sp>
      <p:sp>
        <p:nvSpPr>
          <p:cNvPr id="15" name="Text 13"/>
          <p:cNvSpPr/>
          <p:nvPr/>
        </p:nvSpPr>
        <p:spPr>
          <a:xfrm>
            <a:off x="812800" y="4361185"/>
            <a:ext cx="812800" cy="660400"/>
          </a:xfrm>
          <a:prstGeom prst="rect">
            <a:avLst/>
          </a:prstGeom>
          <a:noFill/>
          <a:ln/>
        </p:spPr>
        <p:txBody>
          <a:bodyPr wrap="square" lIns="0" tIns="0" rIns="0" bIns="0" rtlCol="0" anchor="t">
            <a:normAutofit/>
          </a:bodyPr>
          <a:lstStyle/>
          <a:p>
            <a:pPr marL="0" indent="0" algn="l">
              <a:lnSpc>
                <a:spcPts val="5000"/>
              </a:lnSpc>
              <a:buNone/>
            </a:pPr>
            <a:r>
              <a:rPr lang="en-US" sz="5000" b="1" dirty="0">
                <a:solidFill>
                  <a:srgbClr val="2B3035"/>
                </a:solidFill>
                <a:latin typeface="Arial" pitchFamily="34" charset="0"/>
                <a:ea typeface="Arial" pitchFamily="34" charset="-122"/>
                <a:cs typeface="Arial" pitchFamily="34" charset="-120"/>
              </a:rPr>
              <a:t>4</a:t>
            </a:r>
            <a:endParaRPr lang="en-US" sz="5000" dirty="0"/>
          </a:p>
        </p:txBody>
      </p:sp>
      <p:sp>
        <p:nvSpPr>
          <p:cNvPr id="16" name="Text 14"/>
          <p:cNvSpPr/>
          <p:nvPr/>
        </p:nvSpPr>
        <p:spPr>
          <a:xfrm>
            <a:off x="1803400" y="4411985"/>
            <a:ext cx="986307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147"/>
                </a:solidFill>
                <a:latin typeface="Arial" pitchFamily="34" charset="0"/>
                <a:ea typeface="Arial" pitchFamily="34" charset="-122"/>
                <a:cs typeface="Arial" pitchFamily="34" charset="-120"/>
              </a:rPr>
              <a:t>O prazo de 90 dias para revisão manual seria compatível com o direito de revisão da LGPD? O que mudaria com a aprovação do PL 2338/2023 na forma hoje em tramitação?</a:t>
            </a:r>
            <a:endParaRPr lang="en-US" sz="1500" dirty="0"/>
          </a:p>
        </p:txBody>
      </p:sp>
      <p:sp>
        <p:nvSpPr>
          <p:cNvPr id="17" name="Text 15"/>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Shape 1"/>
          <p:cNvSpPr/>
          <p:nvPr/>
        </p:nvSpPr>
        <p:spPr>
          <a:xfrm>
            <a:off x="812800" y="452041"/>
            <a:ext cx="457200" cy="457200"/>
          </a:xfrm>
          <a:prstGeom prst="roundRect">
            <a:avLst>
              <a:gd name="adj" fmla="val 50000"/>
            </a:avLst>
          </a:prstGeom>
          <a:solidFill>
            <a:srgbClr val="2F7D4F"/>
          </a:solidFill>
          <a:ln/>
        </p:spPr>
        <p:txBody>
          <a:bodyPr/>
          <a:lstStyle/>
          <a:p>
            <a:endParaRPr lang="pt-BR"/>
          </a:p>
        </p:txBody>
      </p:sp>
      <p:pic>
        <p:nvPicPr>
          <p:cNvPr id="4" name="Image 0" descr="Book"/>
          <p:cNvPicPr>
            <a:picLocks noChangeAspect="1"/>
          </p:cNvPicPr>
          <p:nvPr/>
        </p:nvPicPr>
        <p:blipFill>
          <a:blip r:embed="rId3"/>
          <a:srcRect/>
          <a:stretch/>
        </p:blipFill>
        <p:spPr>
          <a:xfrm>
            <a:off x="927100" y="566341"/>
            <a:ext cx="228600" cy="228600"/>
          </a:xfrm>
          <a:prstGeom prst="rect">
            <a:avLst/>
          </a:prstGeom>
        </p:spPr>
      </p:pic>
      <p:sp>
        <p:nvSpPr>
          <p:cNvPr id="5" name="Text 2"/>
          <p:cNvSpPr/>
          <p:nvPr/>
        </p:nvSpPr>
        <p:spPr>
          <a:xfrm>
            <a:off x="1422400" y="476176"/>
            <a:ext cx="2386138"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2B3035"/>
                </a:solidFill>
                <a:latin typeface="Arial" pitchFamily="34" charset="0"/>
                <a:ea typeface="Arial" pitchFamily="34" charset="-122"/>
                <a:cs typeface="Arial" pitchFamily="34" charset="-120"/>
              </a:rPr>
              <a:t>Referências</a:t>
            </a:r>
            <a:endParaRPr lang="en-US" sz="2800" dirty="0"/>
          </a:p>
        </p:txBody>
      </p:sp>
      <p:sp>
        <p:nvSpPr>
          <p:cNvPr id="6" name="Shape 3"/>
          <p:cNvSpPr/>
          <p:nvPr/>
        </p:nvSpPr>
        <p:spPr>
          <a:xfrm>
            <a:off x="831850" y="1043781"/>
            <a:ext cx="0" cy="578485"/>
          </a:xfrm>
          <a:prstGeom prst="line">
            <a:avLst/>
          </a:prstGeom>
          <a:noFill/>
          <a:ln w="38100">
            <a:solidFill>
              <a:srgbClr val="2F7D4F"/>
            </a:solidFill>
            <a:prstDash val="solid"/>
          </a:ln>
        </p:spPr>
        <p:txBody>
          <a:bodyPr/>
          <a:lstStyle/>
          <a:p>
            <a:endParaRPr lang="pt-BR"/>
          </a:p>
        </p:txBody>
      </p:sp>
      <p:sp>
        <p:nvSpPr>
          <p:cNvPr id="7" name="Text 4"/>
          <p:cNvSpPr/>
          <p:nvPr/>
        </p:nvSpPr>
        <p:spPr>
          <a:xfrm>
            <a:off x="988060" y="1043781"/>
            <a:ext cx="10702874" cy="603885"/>
          </a:xfrm>
          <a:prstGeom prst="rect">
            <a:avLst/>
          </a:prstGeom>
          <a:noFill/>
          <a:ln/>
        </p:spPr>
        <p:txBody>
          <a:bodyPr wrap="square" lIns="0" tIns="0" rIns="0" bIns="0" rtlCol="0" anchor="t">
            <a:normAutofit/>
          </a:bodyPr>
          <a:lstStyle/>
          <a:p>
            <a:pPr marL="0" indent="0" algn="l">
              <a:lnSpc>
                <a:spcPts val="1521"/>
              </a:lnSpc>
              <a:buNone/>
            </a:pPr>
            <a:r>
              <a:rPr lang="en-US" sz="1170" dirty="0">
                <a:solidFill>
                  <a:srgbClr val="3A4147"/>
                </a:solidFill>
                <a:latin typeface="Arial" pitchFamily="34" charset="0"/>
                <a:ea typeface="Arial" pitchFamily="34" charset="-122"/>
                <a:cs typeface="Arial" pitchFamily="34" charset="-120"/>
              </a:rPr>
              <a:t>BRASIL. Conselho Nacional de Justiça. Resolução nº 615, de 11 de março de 2025. Estabelece diretrizes para o desenvolvimento, a homologação, a aquisição e o uso de soluções de inteligência artificial no âmbito do Poder Judiciário. Brasília, DF: CNJ, 2025. Disponível em: https://atos.cnj.jus.br/atos/detalhar/6001. Acesso em: 29 ago. 2026.</a:t>
            </a:r>
            <a:endParaRPr lang="en-US" sz="1170" dirty="0"/>
          </a:p>
        </p:txBody>
      </p:sp>
      <p:sp>
        <p:nvSpPr>
          <p:cNvPr id="8" name="Shape 5"/>
          <p:cNvSpPr/>
          <p:nvPr/>
        </p:nvSpPr>
        <p:spPr>
          <a:xfrm>
            <a:off x="831850" y="1711176"/>
            <a:ext cx="0" cy="385604"/>
          </a:xfrm>
          <a:prstGeom prst="line">
            <a:avLst/>
          </a:prstGeom>
          <a:noFill/>
          <a:ln w="38100">
            <a:solidFill>
              <a:srgbClr val="2F7D4F"/>
            </a:solidFill>
            <a:prstDash val="solid"/>
          </a:ln>
        </p:spPr>
        <p:txBody>
          <a:bodyPr/>
          <a:lstStyle/>
          <a:p>
            <a:endParaRPr lang="pt-BR"/>
          </a:p>
        </p:txBody>
      </p:sp>
      <p:sp>
        <p:nvSpPr>
          <p:cNvPr id="9" name="Text 6"/>
          <p:cNvSpPr/>
          <p:nvPr/>
        </p:nvSpPr>
        <p:spPr>
          <a:xfrm>
            <a:off x="988060" y="1711176"/>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BRASIL. Lei nº 9.279, de 14 de maio de 1996. Regula direitos e obrigações relativos à propriedade industrial. Diário Oficial da União: Brasília, DF, 15 maio 1996.</a:t>
            </a:r>
            <a:endParaRPr lang="en-US" sz="1181" dirty="0"/>
          </a:p>
        </p:txBody>
      </p:sp>
      <p:sp>
        <p:nvSpPr>
          <p:cNvPr id="10" name="Shape 7"/>
          <p:cNvSpPr/>
          <p:nvPr/>
        </p:nvSpPr>
        <p:spPr>
          <a:xfrm>
            <a:off x="831850" y="2185665"/>
            <a:ext cx="0" cy="385604"/>
          </a:xfrm>
          <a:prstGeom prst="line">
            <a:avLst/>
          </a:prstGeom>
          <a:noFill/>
          <a:ln w="38100">
            <a:solidFill>
              <a:srgbClr val="2F7D4F"/>
            </a:solidFill>
            <a:prstDash val="solid"/>
          </a:ln>
        </p:spPr>
        <p:txBody>
          <a:bodyPr/>
          <a:lstStyle/>
          <a:p>
            <a:endParaRPr lang="pt-BR"/>
          </a:p>
        </p:txBody>
      </p:sp>
      <p:sp>
        <p:nvSpPr>
          <p:cNvPr id="11" name="Text 8"/>
          <p:cNvSpPr/>
          <p:nvPr/>
        </p:nvSpPr>
        <p:spPr>
          <a:xfrm>
            <a:off x="988060" y="2185665"/>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BRASIL. Lei nº 13.709, de 14 de agosto de 2018. Lei Geral de Proteção de Dados Pessoais (LGPD). Brasília, DF: Presidência da República, 2018. Disponível em: https://www.planalto.gov.br/ccivil_03/_ato2015-2018/2018/lei/l13709.htm. Acesso em: 29 ago. 2026.</a:t>
            </a:r>
            <a:endParaRPr lang="en-US" sz="1181" dirty="0"/>
          </a:p>
        </p:txBody>
      </p:sp>
      <p:sp>
        <p:nvSpPr>
          <p:cNvPr id="12" name="Shape 9"/>
          <p:cNvSpPr/>
          <p:nvPr/>
        </p:nvSpPr>
        <p:spPr>
          <a:xfrm>
            <a:off x="831850" y="2660179"/>
            <a:ext cx="0" cy="385604"/>
          </a:xfrm>
          <a:prstGeom prst="line">
            <a:avLst/>
          </a:prstGeom>
          <a:noFill/>
          <a:ln w="38100">
            <a:solidFill>
              <a:srgbClr val="2F7D4F"/>
            </a:solidFill>
            <a:prstDash val="solid"/>
          </a:ln>
        </p:spPr>
        <p:txBody>
          <a:bodyPr/>
          <a:lstStyle/>
          <a:p>
            <a:endParaRPr lang="pt-BR"/>
          </a:p>
        </p:txBody>
      </p:sp>
      <p:sp>
        <p:nvSpPr>
          <p:cNvPr id="13" name="Text 10"/>
          <p:cNvSpPr/>
          <p:nvPr/>
        </p:nvSpPr>
        <p:spPr>
          <a:xfrm>
            <a:off x="988060" y="2660179"/>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BRASIL. Senado Federal. Projeto de Lei nº 2.338, de 2023. Dispõe sobre o uso da Inteligência Artificial. Brasília, DF: Senado Federal, 2023. Disponível em: https://www25.senado.leg.br/web/atividade/materias/-/materia/157233. Acesso em: 29 ago. 2026.</a:t>
            </a:r>
            <a:endParaRPr lang="en-US" sz="1181" dirty="0"/>
          </a:p>
        </p:txBody>
      </p:sp>
      <p:sp>
        <p:nvSpPr>
          <p:cNvPr id="14" name="Shape 11"/>
          <p:cNvSpPr/>
          <p:nvPr/>
        </p:nvSpPr>
        <p:spPr>
          <a:xfrm>
            <a:off x="831850" y="3134692"/>
            <a:ext cx="0" cy="385604"/>
          </a:xfrm>
          <a:prstGeom prst="line">
            <a:avLst/>
          </a:prstGeom>
          <a:noFill/>
          <a:ln w="38100">
            <a:solidFill>
              <a:srgbClr val="2F7D4F"/>
            </a:solidFill>
            <a:prstDash val="solid"/>
          </a:ln>
        </p:spPr>
        <p:txBody>
          <a:bodyPr/>
          <a:lstStyle/>
          <a:p>
            <a:endParaRPr lang="pt-BR"/>
          </a:p>
        </p:txBody>
      </p:sp>
      <p:sp>
        <p:nvSpPr>
          <p:cNvPr id="15" name="Text 12"/>
          <p:cNvSpPr/>
          <p:nvPr/>
        </p:nvSpPr>
        <p:spPr>
          <a:xfrm>
            <a:off x="988060" y="3134692"/>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BRASIL. Superior Tribunal de Justiça. Súmula nº 550. Segunda Seção, aprovada em 14 out. 2015, DJe 19 out. 2015. Disponível em: https://arquivocidadao.stj.jus.br/index.php/sumula-550-2. Acesso em: 29 ago. 2026.</a:t>
            </a:r>
            <a:endParaRPr lang="en-US" sz="1181" dirty="0"/>
          </a:p>
        </p:txBody>
      </p:sp>
      <p:sp>
        <p:nvSpPr>
          <p:cNvPr id="16" name="Shape 13"/>
          <p:cNvSpPr/>
          <p:nvPr/>
        </p:nvSpPr>
        <p:spPr>
          <a:xfrm>
            <a:off x="831850" y="3609181"/>
            <a:ext cx="0" cy="385604"/>
          </a:xfrm>
          <a:prstGeom prst="line">
            <a:avLst/>
          </a:prstGeom>
          <a:noFill/>
          <a:ln w="38100">
            <a:solidFill>
              <a:srgbClr val="2F7D4F"/>
            </a:solidFill>
            <a:prstDash val="solid"/>
          </a:ln>
        </p:spPr>
        <p:txBody>
          <a:bodyPr/>
          <a:lstStyle/>
          <a:p>
            <a:endParaRPr lang="pt-BR"/>
          </a:p>
        </p:txBody>
      </p:sp>
      <p:sp>
        <p:nvSpPr>
          <p:cNvPr id="17" name="Text 14"/>
          <p:cNvSpPr/>
          <p:nvPr/>
        </p:nvSpPr>
        <p:spPr>
          <a:xfrm>
            <a:off x="988060" y="3609181"/>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CBRDOC. Marco Legal da IA terá votação final em 2026. Disponível em: https://blog.cbrdoc.com.br/marco-legal-da-ia-tera-votacao-final-em-2026/. Acesso em: 29 ago. 2026.</a:t>
            </a:r>
            <a:endParaRPr lang="en-US" sz="1181" dirty="0"/>
          </a:p>
        </p:txBody>
      </p:sp>
      <p:sp>
        <p:nvSpPr>
          <p:cNvPr id="18" name="Shape 15"/>
          <p:cNvSpPr/>
          <p:nvPr/>
        </p:nvSpPr>
        <p:spPr>
          <a:xfrm>
            <a:off x="831850" y="4083695"/>
            <a:ext cx="0" cy="385604"/>
          </a:xfrm>
          <a:prstGeom prst="line">
            <a:avLst/>
          </a:prstGeom>
          <a:noFill/>
          <a:ln w="38100">
            <a:solidFill>
              <a:srgbClr val="2F7D4F"/>
            </a:solidFill>
            <a:prstDash val="solid"/>
          </a:ln>
        </p:spPr>
        <p:txBody>
          <a:bodyPr/>
          <a:lstStyle/>
          <a:p>
            <a:endParaRPr lang="pt-BR"/>
          </a:p>
        </p:txBody>
      </p:sp>
      <p:sp>
        <p:nvSpPr>
          <p:cNvPr id="19" name="Text 16"/>
          <p:cNvSpPr/>
          <p:nvPr/>
        </p:nvSpPr>
        <p:spPr>
          <a:xfrm>
            <a:off x="988060" y="4083695"/>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CONJUR (Consultor Jurídico). TJ-SP impede instalação de sistema de reconhecimento facial no metrô. 18 abr. 2022. Disponível em: https://www.conjur.com.br/2022-abr-18/tj-sp-impede-instalacao-sistema-reconhecimento-facial-metro/. Acesso em: 29 ago. 2026.</a:t>
            </a:r>
            <a:endParaRPr lang="en-US" sz="1181" dirty="0"/>
          </a:p>
        </p:txBody>
      </p:sp>
      <p:sp>
        <p:nvSpPr>
          <p:cNvPr id="20" name="Shape 17"/>
          <p:cNvSpPr/>
          <p:nvPr/>
        </p:nvSpPr>
        <p:spPr>
          <a:xfrm>
            <a:off x="831850" y="4558184"/>
            <a:ext cx="0" cy="385604"/>
          </a:xfrm>
          <a:prstGeom prst="line">
            <a:avLst/>
          </a:prstGeom>
          <a:noFill/>
          <a:ln w="38100">
            <a:solidFill>
              <a:srgbClr val="2F7D4F"/>
            </a:solidFill>
            <a:prstDash val="solid"/>
          </a:ln>
        </p:spPr>
        <p:txBody>
          <a:bodyPr/>
          <a:lstStyle/>
          <a:p>
            <a:endParaRPr lang="pt-BR"/>
          </a:p>
        </p:txBody>
      </p:sp>
      <p:sp>
        <p:nvSpPr>
          <p:cNvPr id="21" name="Text 18"/>
          <p:cNvSpPr/>
          <p:nvPr/>
        </p:nvSpPr>
        <p:spPr>
          <a:xfrm>
            <a:off x="988060" y="4558184"/>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ESTADOS UNIDOS. Wisconsin Supreme Court. State v. Loomis, 2016 WI 68, 881 N.W.2d 749. Julgado em 13 jul. 2016. Disponível em: https://law.justia.com/cases/wisconsin/supreme-court/2016/2015ap000157-cr.html. Acesso em: 29 ago. 2026.</a:t>
            </a:r>
            <a:endParaRPr lang="en-US" sz="1181" dirty="0"/>
          </a:p>
        </p:txBody>
      </p:sp>
      <p:sp>
        <p:nvSpPr>
          <p:cNvPr id="22" name="Shape 19"/>
          <p:cNvSpPr/>
          <p:nvPr/>
        </p:nvSpPr>
        <p:spPr>
          <a:xfrm>
            <a:off x="831850" y="5032697"/>
            <a:ext cx="0" cy="385604"/>
          </a:xfrm>
          <a:prstGeom prst="line">
            <a:avLst/>
          </a:prstGeom>
          <a:noFill/>
          <a:ln w="38100">
            <a:solidFill>
              <a:srgbClr val="2F7D4F"/>
            </a:solidFill>
            <a:prstDash val="solid"/>
          </a:ln>
        </p:spPr>
        <p:txBody>
          <a:bodyPr/>
          <a:lstStyle/>
          <a:p>
            <a:endParaRPr lang="pt-BR"/>
          </a:p>
        </p:txBody>
      </p:sp>
      <p:sp>
        <p:nvSpPr>
          <p:cNvPr id="23" name="Text 20"/>
          <p:cNvSpPr/>
          <p:nvPr/>
        </p:nvSpPr>
        <p:spPr>
          <a:xfrm>
            <a:off x="988060" y="5032697"/>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FRANÇA. Conseil Constitutionnel. Décision nº 2020-834 QPC, de 3 abr. 2020. Disponível em: https://ai-lawhub.com/2020/04/16/french-parcoursup-decision/. Acesso em: 29 ago. 2026.</a:t>
            </a:r>
            <a:endParaRPr lang="en-US" sz="1181" dirty="0"/>
          </a:p>
        </p:txBody>
      </p:sp>
      <p:sp>
        <p:nvSpPr>
          <p:cNvPr id="24" name="Shape 21"/>
          <p:cNvSpPr/>
          <p:nvPr/>
        </p:nvSpPr>
        <p:spPr>
          <a:xfrm>
            <a:off x="831850" y="5507211"/>
            <a:ext cx="0" cy="385604"/>
          </a:xfrm>
          <a:prstGeom prst="line">
            <a:avLst/>
          </a:prstGeom>
          <a:noFill/>
          <a:ln w="38100">
            <a:solidFill>
              <a:srgbClr val="2F7D4F"/>
            </a:solidFill>
            <a:prstDash val="solid"/>
          </a:ln>
        </p:spPr>
        <p:txBody>
          <a:bodyPr/>
          <a:lstStyle/>
          <a:p>
            <a:endParaRPr lang="pt-BR"/>
          </a:p>
        </p:txBody>
      </p:sp>
      <p:sp>
        <p:nvSpPr>
          <p:cNvPr id="25" name="Text 22"/>
          <p:cNvSpPr/>
          <p:nvPr/>
        </p:nvSpPr>
        <p:spPr>
          <a:xfrm>
            <a:off x="988060" y="5507211"/>
            <a:ext cx="10702874" cy="411004"/>
          </a:xfrm>
          <a:prstGeom prst="rect">
            <a:avLst/>
          </a:prstGeom>
          <a:noFill/>
          <a:ln/>
        </p:spPr>
        <p:txBody>
          <a:bodyPr wrap="square" lIns="0" tIns="0" rIns="0" bIns="0" rtlCol="0" anchor="t">
            <a:normAutofit/>
          </a:bodyPr>
          <a:lstStyle/>
          <a:p>
            <a:pPr marL="0" indent="0" algn="l">
              <a:lnSpc>
                <a:spcPts val="1536"/>
              </a:lnSpc>
              <a:buNone/>
            </a:pPr>
            <a:r>
              <a:rPr lang="en-US" sz="1181" dirty="0">
                <a:solidFill>
                  <a:srgbClr val="3A4147"/>
                </a:solidFill>
                <a:latin typeface="Arial" pitchFamily="34" charset="0"/>
                <a:ea typeface="Arial" pitchFamily="34" charset="-122"/>
                <a:cs typeface="Arial" pitchFamily="34" charset="-120"/>
              </a:rPr>
              <a:t>OAB (Ordem dos Advogados do Brasil). Nova norma do CNJ define regras para IA no Judiciário com participação da OAB. Disponível em: https://www.oab.org.br/noticia/62921/nova-norma-do-cnj-define-regras-para-ia-no-judiciario-com-participacao-da-oab. Acesso em: 29 ago. 2026.</a:t>
            </a:r>
            <a:endParaRPr lang="en-US" sz="1181" dirty="0"/>
          </a:p>
        </p:txBody>
      </p:sp>
      <p:sp>
        <p:nvSpPr>
          <p:cNvPr id="26" name="Text 23"/>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F4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2F7D4F"/>
          </a:solidFill>
          <a:ln/>
        </p:spPr>
        <p:txBody>
          <a:bodyPr/>
          <a:lstStyle/>
          <a:p>
            <a:endParaRPr lang="pt-BR"/>
          </a:p>
        </p:txBody>
      </p:sp>
      <p:sp>
        <p:nvSpPr>
          <p:cNvPr id="3" name="Shape 1"/>
          <p:cNvSpPr/>
          <p:nvPr/>
        </p:nvSpPr>
        <p:spPr>
          <a:xfrm>
            <a:off x="812800" y="457200"/>
            <a:ext cx="457200" cy="457200"/>
          </a:xfrm>
          <a:prstGeom prst="roundRect">
            <a:avLst>
              <a:gd name="adj" fmla="val 50000"/>
            </a:avLst>
          </a:prstGeom>
          <a:solidFill>
            <a:srgbClr val="2F7D4F"/>
          </a:solidFill>
          <a:ln/>
        </p:spPr>
        <p:txBody>
          <a:bodyPr/>
          <a:lstStyle/>
          <a:p>
            <a:endParaRPr lang="pt-BR"/>
          </a:p>
        </p:txBody>
      </p:sp>
      <p:pic>
        <p:nvPicPr>
          <p:cNvPr id="4" name="Image 0" descr="Book"/>
          <p:cNvPicPr>
            <a:picLocks noChangeAspect="1"/>
          </p:cNvPicPr>
          <p:nvPr/>
        </p:nvPicPr>
        <p:blipFill>
          <a:blip r:embed="rId3"/>
          <a:srcRect/>
          <a:stretch/>
        </p:blipFill>
        <p:spPr>
          <a:xfrm>
            <a:off x="927100" y="571500"/>
            <a:ext cx="228600" cy="228600"/>
          </a:xfrm>
          <a:prstGeom prst="rect">
            <a:avLst/>
          </a:prstGeom>
        </p:spPr>
      </p:pic>
      <p:sp>
        <p:nvSpPr>
          <p:cNvPr id="5" name="Text 2"/>
          <p:cNvSpPr/>
          <p:nvPr/>
        </p:nvSpPr>
        <p:spPr>
          <a:xfrm>
            <a:off x="1422400" y="481335"/>
            <a:ext cx="2386138" cy="43434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2B3035"/>
                </a:solidFill>
                <a:latin typeface="Arial" pitchFamily="34" charset="0"/>
                <a:ea typeface="Arial" pitchFamily="34" charset="-122"/>
                <a:cs typeface="Arial" pitchFamily="34" charset="-120"/>
              </a:rPr>
              <a:t>Referências</a:t>
            </a:r>
            <a:endParaRPr lang="en-US" sz="2800" dirty="0"/>
          </a:p>
        </p:txBody>
      </p:sp>
      <p:sp>
        <p:nvSpPr>
          <p:cNvPr id="6" name="Shape 3"/>
          <p:cNvSpPr/>
          <p:nvPr/>
        </p:nvSpPr>
        <p:spPr>
          <a:xfrm>
            <a:off x="831850" y="1054100"/>
            <a:ext cx="0" cy="396240"/>
          </a:xfrm>
          <a:prstGeom prst="line">
            <a:avLst/>
          </a:prstGeom>
          <a:noFill/>
          <a:ln w="38100">
            <a:solidFill>
              <a:srgbClr val="2F7D4F"/>
            </a:solidFill>
            <a:prstDash val="solid"/>
          </a:ln>
        </p:spPr>
        <p:txBody>
          <a:bodyPr/>
          <a:lstStyle/>
          <a:p>
            <a:endParaRPr lang="pt-BR"/>
          </a:p>
        </p:txBody>
      </p:sp>
      <p:sp>
        <p:nvSpPr>
          <p:cNvPr id="7" name="Text 4"/>
          <p:cNvSpPr/>
          <p:nvPr/>
        </p:nvSpPr>
        <p:spPr>
          <a:xfrm>
            <a:off x="988060" y="1054100"/>
            <a:ext cx="1070287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ORGANISATION FOR ECONOMIC CO-OPERATION AND DEVELOPMENT (OECD). Recommendation of the Council on Artificial Intelligence, OECD/LEGAL/0449. Paris: OECD, 2019, emendada em 2024. Disponível em: https://oecd.ai/en/ai-principles. Acesso em: 29 ago. 2026.</a:t>
            </a:r>
            <a:endParaRPr lang="en-US" sz="1200" dirty="0"/>
          </a:p>
        </p:txBody>
      </p:sp>
      <p:sp>
        <p:nvSpPr>
          <p:cNvPr id="8" name="Shape 5"/>
          <p:cNvSpPr/>
          <p:nvPr/>
        </p:nvSpPr>
        <p:spPr>
          <a:xfrm>
            <a:off x="831850" y="1539255"/>
            <a:ext cx="0" cy="594360"/>
          </a:xfrm>
          <a:prstGeom prst="line">
            <a:avLst/>
          </a:prstGeom>
          <a:noFill/>
          <a:ln w="38100">
            <a:solidFill>
              <a:srgbClr val="2F7D4F"/>
            </a:solidFill>
            <a:prstDash val="solid"/>
          </a:ln>
        </p:spPr>
        <p:txBody>
          <a:bodyPr/>
          <a:lstStyle/>
          <a:p>
            <a:endParaRPr lang="pt-BR"/>
          </a:p>
        </p:txBody>
      </p:sp>
      <p:sp>
        <p:nvSpPr>
          <p:cNvPr id="9" name="Text 6"/>
          <p:cNvSpPr/>
          <p:nvPr/>
        </p:nvSpPr>
        <p:spPr>
          <a:xfrm>
            <a:off x="988060" y="1539255"/>
            <a:ext cx="10702874"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PAÍSES BAIXOS. Rechtbank Den Haag. Processo C/09/550982/HA ZA 18-388, ECLI:NL:RBDHA:2020:865. Julgado em 5 fev. 2020. Disponível em: https://www.rechtspraak.nl/Organisatie-en-contact/Organisatie/Rechtbanken/Rechtbank-Den-Haag/Nieuws/Paginas/SyRI-legislation-in-breach-of-European-Convention-on-Human-Rights.aspx. Acesso em: 29 ago. 2026.</a:t>
            </a:r>
            <a:endParaRPr lang="en-US" sz="1200" dirty="0"/>
          </a:p>
        </p:txBody>
      </p:sp>
      <p:sp>
        <p:nvSpPr>
          <p:cNvPr id="10" name="Shape 7"/>
          <p:cNvSpPr/>
          <p:nvPr/>
        </p:nvSpPr>
        <p:spPr>
          <a:xfrm>
            <a:off x="831850" y="2222500"/>
            <a:ext cx="0" cy="396240"/>
          </a:xfrm>
          <a:prstGeom prst="line">
            <a:avLst/>
          </a:prstGeom>
          <a:noFill/>
          <a:ln w="38100">
            <a:solidFill>
              <a:srgbClr val="2F7D4F"/>
            </a:solidFill>
            <a:prstDash val="solid"/>
          </a:ln>
        </p:spPr>
        <p:txBody>
          <a:bodyPr/>
          <a:lstStyle/>
          <a:p>
            <a:endParaRPr lang="pt-BR"/>
          </a:p>
        </p:txBody>
      </p:sp>
      <p:sp>
        <p:nvSpPr>
          <p:cNvPr id="11" name="Text 8"/>
          <p:cNvSpPr/>
          <p:nvPr/>
        </p:nvSpPr>
        <p:spPr>
          <a:xfrm>
            <a:off x="988060" y="2222500"/>
            <a:ext cx="1070287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TECHCRUNCH. New York Times says OpenAI hid evidence in ChatGPT copyright trial. 9 jul. 2026. Disponível em: https://techcrunch.com/2026/07/09/new-york-times-says-openai-hid-evidence-in-chatgpt-copyright-trial/. Acesso em: 29 ago. 2026.</a:t>
            </a:r>
            <a:endParaRPr lang="en-US" sz="1200" dirty="0"/>
          </a:p>
        </p:txBody>
      </p:sp>
      <p:sp>
        <p:nvSpPr>
          <p:cNvPr id="12" name="Shape 9"/>
          <p:cNvSpPr/>
          <p:nvPr/>
        </p:nvSpPr>
        <p:spPr>
          <a:xfrm>
            <a:off x="831850" y="2707655"/>
            <a:ext cx="0" cy="594360"/>
          </a:xfrm>
          <a:prstGeom prst="line">
            <a:avLst/>
          </a:prstGeom>
          <a:noFill/>
          <a:ln w="38100">
            <a:solidFill>
              <a:srgbClr val="2F7D4F"/>
            </a:solidFill>
            <a:prstDash val="solid"/>
          </a:ln>
        </p:spPr>
        <p:txBody>
          <a:bodyPr/>
          <a:lstStyle/>
          <a:p>
            <a:endParaRPr lang="pt-BR"/>
          </a:p>
        </p:txBody>
      </p:sp>
      <p:sp>
        <p:nvSpPr>
          <p:cNvPr id="13" name="Text 10"/>
          <p:cNvSpPr/>
          <p:nvPr/>
        </p:nvSpPr>
        <p:spPr>
          <a:xfrm>
            <a:off x="988060" y="2707655"/>
            <a:ext cx="10702874"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TELETIME. TJ-SP mantém decisão contra concessionária de metrô pelo uso indevido de dados biométricos. 12 maio 2023. Disponível em: https://teletime.com.br/12/05/2023/tj-sp-mantem-decisao-contra-concessionaria-de-metro-pelo-uso-indevido-de-dados-biometricos/. Acesso em: 29 ago. 2026.</a:t>
            </a:r>
            <a:endParaRPr lang="en-US" sz="1200" dirty="0"/>
          </a:p>
        </p:txBody>
      </p:sp>
      <p:sp>
        <p:nvSpPr>
          <p:cNvPr id="14" name="Shape 11"/>
          <p:cNvSpPr/>
          <p:nvPr/>
        </p:nvSpPr>
        <p:spPr>
          <a:xfrm>
            <a:off x="831850" y="3390900"/>
            <a:ext cx="0" cy="594360"/>
          </a:xfrm>
          <a:prstGeom prst="line">
            <a:avLst/>
          </a:prstGeom>
          <a:noFill/>
          <a:ln w="38100">
            <a:solidFill>
              <a:srgbClr val="2F7D4F"/>
            </a:solidFill>
            <a:prstDash val="solid"/>
          </a:ln>
        </p:spPr>
        <p:txBody>
          <a:bodyPr/>
          <a:lstStyle/>
          <a:p>
            <a:endParaRPr lang="pt-BR"/>
          </a:p>
        </p:txBody>
      </p:sp>
      <p:sp>
        <p:nvSpPr>
          <p:cNvPr id="15" name="Text 12"/>
          <p:cNvSpPr/>
          <p:nvPr/>
        </p:nvSpPr>
        <p:spPr>
          <a:xfrm>
            <a:off x="988060" y="3390900"/>
            <a:ext cx="10702874"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TRIBUNALE DI BOLOGNA (Itália). Ordinanza, Sezione Lavoro, 31 dic. 2020 (caso Deliveroo / algoritmo Frank). In: IUS IN ITINERE. La discriminazione degli algoritmi: il caso Deliveroo. Disponível em: https://iusinitinere.it/la-discriminazione-degli-algoritmi-il-caso-deliveroo-trib-bologna-31-dicembre-2020/. Acesso em: 29 ago. 2026.</a:t>
            </a:r>
            <a:endParaRPr lang="en-US" sz="1200" dirty="0"/>
          </a:p>
        </p:txBody>
      </p:sp>
      <p:sp>
        <p:nvSpPr>
          <p:cNvPr id="16" name="Shape 13"/>
          <p:cNvSpPr/>
          <p:nvPr/>
        </p:nvSpPr>
        <p:spPr>
          <a:xfrm>
            <a:off x="831850" y="4074170"/>
            <a:ext cx="0" cy="396240"/>
          </a:xfrm>
          <a:prstGeom prst="line">
            <a:avLst/>
          </a:prstGeom>
          <a:noFill/>
          <a:ln w="38100">
            <a:solidFill>
              <a:srgbClr val="2F7D4F"/>
            </a:solidFill>
            <a:prstDash val="solid"/>
          </a:ln>
        </p:spPr>
        <p:txBody>
          <a:bodyPr/>
          <a:lstStyle/>
          <a:p>
            <a:endParaRPr lang="pt-BR"/>
          </a:p>
        </p:txBody>
      </p:sp>
      <p:sp>
        <p:nvSpPr>
          <p:cNvPr id="17" name="Text 14"/>
          <p:cNvSpPr/>
          <p:nvPr/>
        </p:nvSpPr>
        <p:spPr>
          <a:xfrm>
            <a:off x="988060" y="4074170"/>
            <a:ext cx="1070287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UNESCO. Recommendation on the Ethics of Artificial Intelligence. Paris: UNESCO, 2021. Aprovada em 23 nov. 2021. Disponível em: https://www.unesco.org/en/legal-affairs/recommendation-ethics-artificial-intelligence. Acesso em: 29 ago. 2026.</a:t>
            </a:r>
            <a:endParaRPr lang="en-US" sz="1200" dirty="0"/>
          </a:p>
        </p:txBody>
      </p:sp>
      <p:sp>
        <p:nvSpPr>
          <p:cNvPr id="18" name="Shape 15"/>
          <p:cNvSpPr/>
          <p:nvPr/>
        </p:nvSpPr>
        <p:spPr>
          <a:xfrm>
            <a:off x="831850" y="4559300"/>
            <a:ext cx="0" cy="396240"/>
          </a:xfrm>
          <a:prstGeom prst="line">
            <a:avLst/>
          </a:prstGeom>
          <a:noFill/>
          <a:ln w="38100">
            <a:solidFill>
              <a:srgbClr val="2F7D4F"/>
            </a:solidFill>
            <a:prstDash val="solid"/>
          </a:ln>
        </p:spPr>
        <p:txBody>
          <a:bodyPr/>
          <a:lstStyle/>
          <a:p>
            <a:endParaRPr lang="pt-BR"/>
          </a:p>
        </p:txBody>
      </p:sp>
      <p:sp>
        <p:nvSpPr>
          <p:cNvPr id="19" name="Text 16"/>
          <p:cNvSpPr/>
          <p:nvPr/>
        </p:nvSpPr>
        <p:spPr>
          <a:xfrm>
            <a:off x="988060" y="4559300"/>
            <a:ext cx="10702874"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UNIÃO EUROPEIA. Regulamento (UE) 2016/679 do Parlamento Europeu e do Conselho, de 27 de abril de 2016 (Regulamento Geral sobre a Proteção de Dados). Jornal Oficial da União Europeia, L 119, 4 maio 2016.</a:t>
            </a:r>
            <a:endParaRPr lang="en-US" sz="1200" dirty="0"/>
          </a:p>
        </p:txBody>
      </p:sp>
      <p:sp>
        <p:nvSpPr>
          <p:cNvPr id="20" name="Shape 17"/>
          <p:cNvSpPr/>
          <p:nvPr/>
        </p:nvSpPr>
        <p:spPr>
          <a:xfrm>
            <a:off x="831850" y="5044455"/>
            <a:ext cx="0" cy="594360"/>
          </a:xfrm>
          <a:prstGeom prst="line">
            <a:avLst/>
          </a:prstGeom>
          <a:noFill/>
          <a:ln w="38100">
            <a:solidFill>
              <a:srgbClr val="2F7D4F"/>
            </a:solidFill>
            <a:prstDash val="solid"/>
          </a:ln>
        </p:spPr>
        <p:txBody>
          <a:bodyPr/>
          <a:lstStyle/>
          <a:p>
            <a:endParaRPr lang="pt-BR"/>
          </a:p>
        </p:txBody>
      </p:sp>
      <p:sp>
        <p:nvSpPr>
          <p:cNvPr id="21" name="Text 18"/>
          <p:cNvSpPr/>
          <p:nvPr/>
        </p:nvSpPr>
        <p:spPr>
          <a:xfrm>
            <a:off x="988060" y="5044455"/>
            <a:ext cx="10702874"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147"/>
                </a:solidFill>
                <a:latin typeface="Arial" pitchFamily="34" charset="0"/>
                <a:ea typeface="Arial" pitchFamily="34" charset="-122"/>
                <a:cs typeface="Arial" pitchFamily="34" charset="-120"/>
              </a:rPr>
              <a:t>UNIÃO EUROPEIA. Regulamento (UE) 2024/1689 do Parlamento Europeu e do Conselho, de 13 de junho de 2024. Estabelece regras harmonizadas em matéria de inteligência artificial. Jornal Oficial da União Europeia, 12 jul. 2024. Disponível em: https://digital-strategy.ec.europa.eu/en/policies/regulatory-framework-ai. Acesso em: 29 ago. 2026.</a:t>
            </a:r>
            <a:endParaRPr lang="en-US" sz="1200" dirty="0"/>
          </a:p>
        </p:txBody>
      </p:sp>
      <p:sp>
        <p:nvSpPr>
          <p:cNvPr id="22" name="Text 19"/>
          <p:cNvSpPr/>
          <p:nvPr/>
        </p:nvSpPr>
        <p:spPr>
          <a:xfrm>
            <a:off x="10058400" y="6238255"/>
            <a:ext cx="1320800"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B3035"/>
                </a:solidFill>
                <a:latin typeface="Arial" pitchFamily="34" charset="0"/>
                <a:ea typeface="Arial" pitchFamily="34" charset="-122"/>
                <a:cs typeface="Arial" pitchFamily="34" charset="-120"/>
              </a:rPr>
              <a:t>40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8A2D2C2733B7342A34F941B973AA6E6" ma:contentTypeVersion="3" ma:contentTypeDescription="Crie um novo documento." ma:contentTypeScope="" ma:versionID="5550be8f1cf58693e992f8ea7bfb4f2b">
  <xsd:schema xmlns:xsd="http://www.w3.org/2001/XMLSchema" xmlns:xs="http://www.w3.org/2001/XMLSchema" xmlns:p="http://schemas.microsoft.com/office/2006/metadata/properties" xmlns:ns2="f534e9f2-b7ec-4ccc-a69c-51d3e3635b48" targetNamespace="http://schemas.microsoft.com/office/2006/metadata/properties" ma:root="true" ma:fieldsID="723e5ea99451f57ad090176ed3370c4a" ns2:_="">
    <xsd:import namespace="f534e9f2-b7ec-4ccc-a69c-51d3e3635b4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34e9f2-b7ec-4ccc-a69c-51d3e3635b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9C75AF-4B88-4703-A183-2F1211996D46}"/>
</file>

<file path=customXml/itemProps2.xml><?xml version="1.0" encoding="utf-8"?>
<ds:datastoreItem xmlns:ds="http://schemas.openxmlformats.org/officeDocument/2006/customXml" ds:itemID="{BC9335F3-7CF6-434B-8B67-53914143EADF}"/>
</file>

<file path=customXml/itemProps3.xml><?xml version="1.0" encoding="utf-8"?>
<ds:datastoreItem xmlns:ds="http://schemas.openxmlformats.org/officeDocument/2006/customXml" ds:itemID="{7DC70BC7-405E-400C-B271-B4E4A19A1388}"/>
</file>

<file path=docProps/app.xml><?xml version="1.0" encoding="utf-8"?>
<Properties xmlns="http://schemas.openxmlformats.org/officeDocument/2006/extended-properties" xmlns:vt="http://schemas.openxmlformats.org/officeDocument/2006/docPropsVTypes">
  <TotalTime>66</TotalTime>
  <Words>5999</Words>
  <Application>Microsoft Office PowerPoint</Application>
  <PresentationFormat>Widescreen</PresentationFormat>
  <Paragraphs>431</Paragraphs>
  <Slides>40</Slides>
  <Notes>40</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40</vt:i4>
      </vt:variant>
    </vt:vector>
  </HeadingPairs>
  <TitlesOfParts>
    <vt:vector size="42" baseType="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Aspectos Jurídicos da Inteligência Artificial e dos Algoritmos</dc:title>
  <dc:subject>PptxGenJS Presentation</dc:subject>
  <dc:creator>Eve Santinon</dc:creator>
  <cp:lastModifiedBy>Eve Santinon</cp:lastModifiedBy>
  <cp:revision>3</cp:revision>
  <dcterms:created xsi:type="dcterms:W3CDTF">2026-09-20T14:28:04Z</dcterms:created>
  <dcterms:modified xsi:type="dcterms:W3CDTF">2026-09-20T15:34:58Z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0x01010078A2D2C2733B7342A34F941B973AA6E6</vt:lpwstr>
  </property>
</Properties>
</file>