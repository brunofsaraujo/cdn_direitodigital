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92" r:id="rId2"/>
    <p:sldId id="260" r:id="rId3"/>
    <p:sldId id="261" r:id="rId4"/>
    <p:sldId id="262" r:id="rId5"/>
    <p:sldId id="263" r:id="rId6"/>
    <p:sldId id="264" r:id="rId7"/>
    <p:sldId id="266" r:id="rId8"/>
    <p:sldId id="267" r:id="rId9"/>
    <p:sldId id="268" r:id="rId10"/>
    <p:sldId id="256" r:id="rId11"/>
    <p:sldId id="269" r:id="rId12"/>
    <p:sldId id="270" r:id="rId13"/>
    <p:sldId id="272" r:id="rId14"/>
    <p:sldId id="273" r:id="rId15"/>
    <p:sldId id="274" r:id="rId16"/>
    <p:sldId id="275" r:id="rId17"/>
    <p:sldId id="276" r:id="rId18"/>
    <p:sldId id="277" r:id="rId19"/>
    <p:sldId id="279" r:id="rId20"/>
    <p:sldId id="280" r:id="rId21"/>
    <p:sldId id="281" r:id="rId22"/>
    <p:sldId id="282" r:id="rId23"/>
    <p:sldId id="283" r:id="rId24"/>
    <p:sldId id="291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6611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DIREITO DIGITAL· CIENCIA DE DADOS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de Dados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EAF2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Deveres e 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EAF2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normas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EAF2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+mn-cs"/>
              </a:rPr>
              <a:t>Prof. Evelyn S. 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proteção de dados como direito fundamental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5640" y="502920"/>
            <a:ext cx="777240" cy="777240"/>
          </a:xfrm>
          <a:prstGeom prst="ellipse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aula_seg_info/icons/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909" y="59618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11064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Emenda Constitucional nº 115/2022 incluiu o inciso LXXIX no art. 5º da Constituição Federal, elevando a proteção de dados pessoais ao rol de direitos e garantias fundamentais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mesma emenda incluiu o inciso XXX no art. 22 da Constituição, fixando a competência privativa da União para legislar sobre proteção e tratamento de dados pessoais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Consequência prática: a segurança da informação deixa de ser apenas uma boa prática de mercado e passa a integrar o núcleo de direitos fundamentais do titular de dados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Isso reforça o fundamento constitucional da LGPD e da atuação da ANPD, e amplia os instrumentos de controle de constitucionalidade sobre normas que tratem do tema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68680" y="4855464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“É assegurado, nos termos da lei, o direito à proteção dos dados pessoais, inclusive nos meios digitais.”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57150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Constituição Federal, art. 5º, inciso LXXIX, incluído pela Emenda Constitucional nº 115, de 10 de fevereiro de 2022.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87552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 Civil da Internet (Lei nº 12.965/2014)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5640" y="502920"/>
            <a:ext cx="777240" cy="777240"/>
          </a:xfrm>
          <a:prstGeom prst="ellipse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aula_seg_info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909" y="59618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Primeira lei brasileira a tratar de forma sistemática direitos, deveres e princípios para o uso da internet no país, anterior à LGPD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Art. 13: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impõe ao provedor de conexão o dever de guardar os registros de conexão, sob sigilo, em ambiente controlado e seguro, pelo prazo de 1 ano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Art. 15: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impõe ao provedor de aplicações de internet, constituído na forma de pessoa jurídica e explorado com fins econômicos, o dever de guardar os registros de acesso a aplicações, sob sigilo, pelo prazo de 6 meses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Art. 14: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veda a guarda de registros de acesso a outras aplicações de internet, salvo consentimento ou hipóteses legais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guarda de registros já era, antes da LGPD, uma obrigação de segurança: os dados armazenados precisam ser protegidos contra acesso indevido e vazamento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87552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 nº 12.737/2012: o crime de invasão de dispositivo informático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5640" y="502920"/>
            <a:ext cx="777240" cy="777240"/>
          </a:xfrm>
          <a:prstGeom prst="ellipse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aula_seg_info/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909" y="59618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11064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Alterou o Código Penal para incluir o art. 154-A, tipificando a invasão de dispositivo informático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Pena atual (após a Lei nº 14.155/2021):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reclusão de 1 a 4 anos e multa, no caput. Antes de 2021, a pena era apenas de detenção de 3 meses a 1 ano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§3º (forma qualificada):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reclusão de 2 a 5 anos e multa, quando há obtenção de conteúdo de comunicações privadas, segredos comerciais ou industriais, informações sigilosas, ou controle remoto não autorizado do dispositivo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§4º: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pena do §3º aumenta de 1 a 2/3 se houver divulgação, comercialização ou transmissão a terceiro dos dados obtidos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testes de invasão e varreduras de vulnerabilidade sem autorização expressa do titular do sistema podem configurar o crime, mesmo com finalidade de pesquisa ou de auditoria de segurança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68680" y="4855464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“Invadir dispositivo informático alheio, conectado ou não à rede de computadores, mediante violação indevida de mecanismo de segurança e com o fim de obter, adulterar ou destruir dados ou informações sem autorização expressa ou tácita do titular do dispositivo ou instalar vulnerabilidades para obter vantagem ilícita.”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57150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Penal, art. 154-A, caput, incluído pela Lei nº 12.737/2012.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87552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LGPD </a:t>
            </a:r>
            <a:r>
              <a:rPr lang="en-US" sz="2700" b="1" dirty="0" err="1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exige</a:t>
            </a: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 err="1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</a:t>
            </a: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mas </a:t>
            </a:r>
            <a:r>
              <a:rPr lang="en-US" sz="2700" b="1" dirty="0" err="1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</a:t>
            </a: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 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5640" y="502920"/>
            <a:ext cx="777240" cy="777240"/>
          </a:xfrm>
          <a:prstGeom prst="ellipse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aula_seg_info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909" y="59618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11064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 §1º do art. 46 permite que a autoridade nacional estabeleça padrões técnicos mínimos, considerando a natureza das informações tratadas, as características específicas do tratamento e o estado atual da tecnologia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Art. 47: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u="sng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dever de segurança é amplo e abrange todos os agentes que participam das etapas do tratamento, inclusive após o seu término</a:t>
            </a:r>
            <a:endParaRPr lang="en-US" sz="1550" u="sng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lei estabelece o dever de proteger, mas não define protocolos técnicos específicos. Esse espaço normativo costuma ser preenchido por normas técnicas de mercado, como a ISO/IEC 27001. 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Não há, hoje, regulamento da ANPD fixando um padrão técnico mínimo único e obrigatório: a exigência legal é de adequação e proporcionalidade ao risco, não de conformidade a uma norma específica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68680" y="4855464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“Os agentes de tratamento devem adotar medidas de segurança, técnicas e administrativas aptas a proteger os dados pessoais de acessos não autorizados e de situações acidentais ou ilícitas de destruição, perda, alteração, comunicação ou qualquer forma de tratamento inadequado ou ilícito.”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57150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LGPD, art. 46, caput.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87552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 de incidentes e governança (arts. 48 e 50)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5640" y="502920"/>
            <a:ext cx="777240" cy="777240"/>
          </a:xfrm>
          <a:prstGeom prst="ellipse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aula_seg_info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909" y="596189"/>
            <a:ext cx="590702" cy="5907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45920"/>
            <a:ext cx="5623560" cy="4572000"/>
          </a:xfrm>
          <a:prstGeom prst="roundRect">
            <a:avLst>
              <a:gd name="adj" fmla="val 1600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68680" y="18288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 de incidentes (art. 48)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9834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Dever de comunicar a ANPD e o titular quando o incidente possa acarretar risco ou dano relevante</a:t>
            </a:r>
            <a:endParaRPr lang="en-US" sz="135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Resolução CD/ANPD nº 15/2024</a:t>
            </a:r>
            <a:r>
              <a:rPr lang="en-US" sz="13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fixa o prazo de 3 dias úteis a contar do conhecimento do incidente (6 dias úteis para agentes de pequeno porte)</a:t>
            </a:r>
            <a:endParaRPr lang="en-US" sz="135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 as informações estiverem incompletas, cabe comunicação preliminar no prazo e relatório complementar em até 20 dias úteis</a:t>
            </a:r>
            <a:endParaRPr lang="en-US" sz="135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Critérios de relevância: natureza dos dados, volume de titulares, facilidade de identificação, vulnerabilidade do grupo afetado e medidas de proteção já existentes, como criptografia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989320" y="1645920"/>
            <a:ext cx="5623560" cy="4572000"/>
          </a:xfrm>
          <a:prstGeom prst="roundRect">
            <a:avLst>
              <a:gd name="adj" fmla="val 1600"/>
            </a:avLst>
          </a:prstGeom>
          <a:solidFill>
            <a:srgbClr val="0D1B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309360" y="18288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Governança e boas práticas (art. 50)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309360" y="2377440"/>
            <a:ext cx="49834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Controlador e operador podem formular regras de boas práticas e governança sobre organização, procedimentos, normas técnicas e padrões de segurança</a:t>
            </a:r>
            <a:endParaRPr lang="en-US" sz="135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 programa deve demonstrar comprometimento efetivo, ser adaptado à estrutura e ao volume de dados tratados e ser atualizado periodicamente</a:t>
            </a:r>
            <a:endParaRPr lang="en-US" sz="135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87552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Normas </a:t>
            </a:r>
            <a:r>
              <a:rPr lang="en-US" sz="2700" b="1" dirty="0" err="1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</a:t>
            </a: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 ISO/IEC 27001:2022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5640" y="502920"/>
            <a:ext cx="777240" cy="777240"/>
          </a:xfrm>
          <a:prstGeom prst="ellipse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aula_seg_info/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909" y="59618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norma internacional, adotada no Brasil como </a:t>
            </a:r>
            <a:r>
              <a:rPr lang="en-US" sz="1550" b="1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ABNT NBR ISO/IEC 27001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 especifica os requisitos para estabelecer, implementar, manter e melhorar continuamente um Sistema de Gestão de Segurança da Informação (SGSI)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 SGSI é um sistema de gestão: parte da identificação de ativos e riscos, define controles proporcionais a esses riscos e é auditável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versão vigente é de 2022, que reorganizou os controles do Anexo A, antes distribuídos em 14 domínios na versão de 2013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É uma norma certificável: a organização pode obter certificação por auditoria de terceira parte, o que tem valor probatório relevante perante clientes, parceiros contratuais e reguladores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87552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da norma e melhoria contínua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5640" y="502920"/>
            <a:ext cx="777240" cy="777240"/>
          </a:xfrm>
          <a:prstGeom prst="ellipse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aula_seg_info/icons/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909" y="59618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200"/>
              </a:spcAft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 cláusulas 4 a 10 estabelecem os requisitos do sistema de gestão: contexto da organização, liderança, planejamento, apoio, operação, avaliação de desempenho e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obrigam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ter um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um plano. 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 SGSI segue a lógica do ciclo PDCA (Plan, Do, Check, Act): planejar controles a partir da análise de risco, implementar, monitorar e auditar, corrigir e melhorar continuamente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análise de risco é o núcleo do sistema: os controles do Anexo A não são todos obrigatórios, eles são selecionados conforme os riscos identificados e registrados na Declaração de Aplicabilidade (Statement of Applicability)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Esse desenho dialoga diretamente com a LGPD: o art. 46 exige medidas “aptas” à proteção, e a proporcionalidade ao risco é também o critério adotado pela própria lei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87552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Anexo A da ISO/IEC 27001:2022: 93 controles em 4 categorias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5640" y="502920"/>
            <a:ext cx="777240" cy="777240"/>
          </a:xfrm>
          <a:prstGeom prst="ellipse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aula_seg_info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909" y="596189"/>
            <a:ext cx="590702" cy="5907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5372100" cy="2011680"/>
          </a:xfrm>
          <a:prstGeom prst="roundRect">
            <a:avLst>
              <a:gd name="adj" fmla="val 3636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04672" y="18562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8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04672" y="2404872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organizacionais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2770632"/>
            <a:ext cx="48600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segurança, papéis e responsabilidades, gestão de riscos, relacionamento com fornecedores, resposta a incidentes e continuidade de negócios.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40780" y="1691640"/>
            <a:ext cx="5372100" cy="2011680"/>
          </a:xfrm>
          <a:prstGeom prst="roundRect">
            <a:avLst>
              <a:gd name="adj" fmla="val 3636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496812" y="18562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8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496812" y="2404872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pessoas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96812" y="2770632"/>
            <a:ext cx="48600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na contratação, termos e condições de trabalho, conscientização e treinamento, processo disciplinar e responsabilidades após o desligamento.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4023360"/>
            <a:ext cx="5372100" cy="2011680"/>
          </a:xfrm>
          <a:prstGeom prst="roundRect">
            <a:avLst>
              <a:gd name="adj" fmla="val 3636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04672" y="418795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8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04672" y="4736592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físicos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04672" y="5102352"/>
            <a:ext cx="48600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Perímetros de segurança física, controle de entrada, proteção contra ameaças ambientais, segurança de equipamentos e descarte seguro de mídias.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40780" y="4023360"/>
            <a:ext cx="5372100" cy="2011680"/>
          </a:xfrm>
          <a:prstGeom prst="roundRect">
            <a:avLst>
              <a:gd name="adj" fmla="val 3636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6496812" y="418795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8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496812" y="4736592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tecnológicos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496812" y="5102352"/>
            <a:ext cx="48600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acesso, criptografia, segurança de redes, prevenção de vazamento de dados, backup, registro de eventos (logs) e gestão de vulnerabilidades técnicas.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87552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Norma ao SGSI Real: o Que Precisa Ser Feito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exigências das cláusulas 5 a 10 que transformam controles em segurança efetiva, não apenas em documentos de auditoria.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3576218" cy="2121408"/>
          </a:xfrm>
          <a:prstGeom prst="roundRect">
            <a:avLst>
              <a:gd name="adj" fmla="val 5172"/>
            </a:avLst>
          </a:prstGeom>
          <a:solidFill>
            <a:srgbClr val="EAF0F5"/>
          </a:solidFill>
          <a:ln/>
          <a:effectLst>
            <a:outerShdw blurRad="76200" dist="25400" dir="5400000" algn="bl" rotWithShape="0">
              <a:srgbClr val="7A93A8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58368" y="1956816"/>
            <a:ext cx="502920" cy="502920"/>
          </a:xfrm>
          <a:prstGeom prst="ellipse">
            <a:avLst/>
          </a:prstGeom>
          <a:solidFill>
            <a:srgbClr val="1B3B5F"/>
          </a:solidFill>
          <a:ln w="15875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658368" y="1956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975104"/>
            <a:ext cx="25246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CLÁUSULA 5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2139696"/>
            <a:ext cx="2524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Liderança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624328"/>
            <a:ext cx="317388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alta direção assume a política de segurança e aloca recursos. Sem esse compromisso, o SGSI fica bonito no papel, mas nunca sai dele.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7738" y="1755648"/>
            <a:ext cx="3576218" cy="2121408"/>
          </a:xfrm>
          <a:prstGeom prst="roundRect">
            <a:avLst>
              <a:gd name="adj" fmla="val 5172"/>
            </a:avLst>
          </a:prstGeom>
          <a:solidFill>
            <a:srgbClr val="EAF0F5"/>
          </a:solidFill>
          <a:ln/>
          <a:effectLst>
            <a:outerShdw blurRad="76200" dist="25400" dir="5400000" algn="bl" rotWithShape="0">
              <a:srgbClr val="7A93A8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508906" y="1956816"/>
            <a:ext cx="502920" cy="502920"/>
          </a:xfrm>
          <a:prstGeom prst="ellipse">
            <a:avLst/>
          </a:prstGeom>
          <a:solidFill>
            <a:srgbClr val="1B3B5F"/>
          </a:solidFill>
          <a:ln w="15875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4508906" y="1956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6.1.2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48986" y="1975104"/>
            <a:ext cx="25246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CLÁUSULA 6.1.2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148986" y="2139696"/>
            <a:ext cx="2524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de Risco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08906" y="2624328"/>
            <a:ext cx="317388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ativos de informação, ameaças e vulnerabilidades reais do ambiente, calculando probabilidade e impacto de cada risco.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58277" y="1755648"/>
            <a:ext cx="3576218" cy="2121408"/>
          </a:xfrm>
          <a:prstGeom prst="roundRect">
            <a:avLst>
              <a:gd name="adj" fmla="val 5172"/>
            </a:avLst>
          </a:prstGeom>
          <a:solidFill>
            <a:srgbClr val="EAF0F5"/>
          </a:solidFill>
          <a:ln/>
          <a:effectLst>
            <a:outerShdw blurRad="76200" dist="25400" dir="5400000" algn="bl" rotWithShape="0">
              <a:srgbClr val="7A93A8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359445" y="1956816"/>
            <a:ext cx="502920" cy="502920"/>
          </a:xfrm>
          <a:prstGeom prst="ellipse">
            <a:avLst/>
          </a:prstGeom>
          <a:solidFill>
            <a:srgbClr val="1B3B5F"/>
          </a:solidFill>
          <a:ln w="15875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8359445" y="1956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6.1.3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999525" y="1975104"/>
            <a:ext cx="25246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CLÁUSULA 6.1.3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999525" y="2139696"/>
            <a:ext cx="2524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Tratamento de Risco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359445" y="2624328"/>
            <a:ext cx="317388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risco identificado: mitigar com um controle, transferir por seguro ou contrato, evitar a atividade ou aceitar formalmente, com aprovação da alta direção.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33088"/>
            <a:ext cx="3576218" cy="2121408"/>
          </a:xfrm>
          <a:prstGeom prst="roundRect">
            <a:avLst>
              <a:gd name="adj" fmla="val 5172"/>
            </a:avLst>
          </a:prstGeom>
          <a:solidFill>
            <a:srgbClr val="EAF0F5"/>
          </a:solidFill>
          <a:ln/>
          <a:effectLst>
            <a:outerShdw blurRad="76200" dist="25400" dir="5400000" algn="bl" rotWithShape="0">
              <a:srgbClr val="7A93A8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658368" y="4334256"/>
            <a:ext cx="502920" cy="502920"/>
          </a:xfrm>
          <a:prstGeom prst="ellipse">
            <a:avLst/>
          </a:prstGeom>
          <a:solidFill>
            <a:srgbClr val="1B3B5F"/>
          </a:solidFill>
          <a:ln w="15875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658368" y="4334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4352544"/>
            <a:ext cx="25246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CLÁUSULA 7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298448" y="4517136"/>
            <a:ext cx="2524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 Humano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5001768"/>
            <a:ext cx="317388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parte dos incidentes reais começa em erro humano: phishing, senha fraca, configuração incorreta. Treinamento e conscientização são parte da segurança tanto quanto a criptografia.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07738" y="4133088"/>
            <a:ext cx="3576218" cy="2121408"/>
          </a:xfrm>
          <a:prstGeom prst="roundRect">
            <a:avLst>
              <a:gd name="adj" fmla="val 5172"/>
            </a:avLst>
          </a:prstGeom>
          <a:solidFill>
            <a:srgbClr val="EAF0F5"/>
          </a:solidFill>
          <a:ln/>
          <a:effectLst>
            <a:outerShdw blurRad="76200" dist="25400" dir="5400000" algn="bl" rotWithShape="0">
              <a:srgbClr val="7A93A8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4508906" y="4334256"/>
            <a:ext cx="502920" cy="502920"/>
          </a:xfrm>
          <a:prstGeom prst="ellipse">
            <a:avLst/>
          </a:prstGeom>
          <a:solidFill>
            <a:srgbClr val="1B3B5F"/>
          </a:solidFill>
          <a:ln w="15875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 txBox="1"/>
          <p:nvPr/>
        </p:nvSpPr>
        <p:spPr>
          <a:xfrm>
            <a:off x="4508906" y="4334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148986" y="4352544"/>
            <a:ext cx="25246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CLÁUSULA 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148986" y="4517136"/>
            <a:ext cx="2524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de Desempenho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4508906" y="5001768"/>
            <a:ext cx="317388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Monitoramento, métricas e auditoria interna verificam, periodicamente, se os controles que a empresa diz ter realmente funcionam.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58277" y="4133088"/>
            <a:ext cx="3576218" cy="2121408"/>
          </a:xfrm>
          <a:prstGeom prst="roundRect">
            <a:avLst>
              <a:gd name="adj" fmla="val 5172"/>
            </a:avLst>
          </a:prstGeom>
          <a:solidFill>
            <a:srgbClr val="EAF0F5"/>
          </a:solidFill>
          <a:ln/>
          <a:effectLst>
            <a:outerShdw blurRad="76200" dist="25400" dir="5400000" algn="bl" rotWithShape="0">
              <a:srgbClr val="7A93A8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8359445" y="4334256"/>
            <a:ext cx="502920" cy="502920"/>
          </a:xfrm>
          <a:prstGeom prst="ellipse">
            <a:avLst/>
          </a:prstGeom>
          <a:solidFill>
            <a:srgbClr val="1B3B5F"/>
          </a:solidFill>
          <a:ln w="15875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 txBox="1"/>
          <p:nvPr/>
        </p:nvSpPr>
        <p:spPr>
          <a:xfrm>
            <a:off x="8359445" y="4334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999525" y="4352544"/>
            <a:ext cx="25246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CLÁUSULA 10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999525" y="4517136"/>
            <a:ext cx="2524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Melhoria Contínua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8359445" y="5001768"/>
            <a:ext cx="317388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conformidades encontradas na auditoria geram ação corretiva. A norma exige melhoria contínua do sistema, não apenas manutenção.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10360152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[ATUALIZAR Nº]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</a:t>
            </a:r>
            <a:r>
              <a:rPr lang="en-US" sz="2700" b="1" dirty="0" err="1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vulnerabilidades</a:t>
            </a: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 err="1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5640" y="502920"/>
            <a:ext cx="777240" cy="777240"/>
          </a:xfrm>
          <a:prstGeom prst="ellipse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aula_seg_info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909" y="59618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 controle 8.8 da ISO/IEC 27002:2022 trata da gestão de vulnerabilidades técnicas: obter informações sobre vulnerabilidades dos ativos em uso, avaliar a exposição da organização a elas e adotar medidas apropriadas em tempo razoável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 prática, envolve inventário de ativos, monitoramento de boletins de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classificação de severidade pela escala CVSS (Common Vulnerability Scoring System) e gestão de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correções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Também inclui testes de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invasão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 varreduras de segurança autorizados e documentados, com escopo e consentimento formalizados, o que afasta o risco penal do art. 154-A do Código Penal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Para times de dados, o equivalente prático inclui: atualização de bibliotecas e dependências usadas em modelos, controle de acesso a notebooks e ambientes de treinamento, e monitoramento de vazamento de credenciais em repositórios de código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87552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ISO/IEC 27001 e a conformidade legal em ciência de dados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5640" y="502920"/>
            <a:ext cx="777240" cy="777240"/>
          </a:xfrm>
          <a:prstGeom prst="ellipse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aula_seg_info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909" y="59618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certificação ISO/IEC 27001 </a:t>
            </a:r>
            <a:r>
              <a:rPr lang="en-US" sz="1550" u="sng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exigida por lei no Brasil, a LGPD não a torna obrigatória</a:t>
            </a:r>
            <a:endParaRPr lang="en-US" sz="1550" u="sng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Mas é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forte do cumprimento do art. 46 (medidas de segurança) e do art. 50 (programa de governança), com peso relevante em fiscalização da ANPD e em ações de responsabilização civil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 art. 44 define tratamento irregular pela falta da segurança que o titular pode esperar, considerado o estado da técnica disponível à época. A ISO/IEC 27001 é hoje o principal parâmetro de mercado para medir esse estado da técnica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Riscos específicos de IA que o SGSI de um time de dados também deve cobrir: qualidade e proveniência dos dados de treinamento, ataques de envenenamento de dados (data poisoning), exposição de dados pessoais por memorização do modelo e engenharia reversa de conjuntos de treinamento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87552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Responsabilidade civil dos agentes de tratamento (art. 42)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5640" y="502920"/>
            <a:ext cx="777240" cy="777240"/>
          </a:xfrm>
          <a:prstGeom prst="ellipse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aula_seg_info/icons/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909" y="59618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11064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ilicitude é pressuposto do dever de indenizar: é preciso haver violação à legislação de proteção de dados. Quanto à culpa, a doutrina majoritária trata a responsabilidade </a:t>
            </a:r>
            <a:r>
              <a:rPr lang="en-US" sz="1550" b="1" dirty="0">
                <a:solidFill>
                  <a:srgbClr val="17213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como objetiva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não é preciso provar dolo ou negligência do agente, basta o nexo entre a atividade de tratamento e o dano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 dano pode ser patrimonial, moral, individual ou coletivo, o que amplia a proteção do titular para além do prejuízo financeiro direto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Trata-se de responsabilidade </a:t>
            </a:r>
            <a:r>
              <a:rPr lang="en-US" sz="1550" u="sng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extracontratual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 dever de indenizar não depende de relação contratual entre o titular e o agente de tratamento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68680" y="4855464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controlador ou o operador que, em razão do exercício de atividade de tratamento de dados pessoais, causar a outrem dano patrimonial, moral, individual ou coletivo, em violação à legislação de proteção de dados pessoais, é obrigado a repará-lo.”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57150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LGPD, art. 42, caput.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87552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Solidariedade entre controlador e operador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5640" y="502920"/>
            <a:ext cx="777240" cy="777240"/>
          </a:xfrm>
          <a:prstGeom prst="ellipse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aula_seg_info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909" y="59618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Múltiplos controladores: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quando mais de um controlador está diretamente envolvido no tratamento que gerou o dano, todos respondem solidariamente, salvo as excludentes do art. 43</a:t>
            </a:r>
            <a:r>
              <a:rPr lang="pt-BR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art. 43 da LGPD prevê três excludentes de responsabilidade.</a:t>
            </a:r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pt-BR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 agentes de tratamento só não serão responsabilizados quando provarem: I. que não realizaram o tratamento de dados pessoais que lhes é atribuído; II. que, embora tenham realizado o tratamento que lhes é atribuído, não houve violação à legislação de proteção de dados; ou III. que o dano é decorrente de culpa exclusiva do titular dos dados ou de terceiro. O ônus de provar qualquer uma dessas excludentes é do agente de tratamento, não do titular.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Operador: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responde solidariamente pelos danos quando descumprir obrigações da legislação de proteção de dados ou quando não seguir instruções lícitas do controlador. Nessa hipótese, o operador se equipara ao controlador para aquele tratamento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solidariedade protege o titular: ele pode cobrar o ressarcimento integral de qualquer um dos agentes envolvidos. Quem pagar tem direito de regresso contra os demais, na medida de sua participação no evento danoso (art. 42, §4º)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cláusulas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minimas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 entre o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o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poperador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mas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exime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lhe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sendo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instruído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87552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Excludentes de responsabilidade (art. 43)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5640" y="502920"/>
            <a:ext cx="777240" cy="777240"/>
          </a:xfrm>
          <a:prstGeom prst="ellipse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aula_seg_info/icons/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909" y="59618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11064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 ônus de provar a excludente é do agente de tratamento, não do titular de dados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 inciso II costuma ser a linha de defesa mais relevante na prática: comprovar que o tratamento seguiu a lei, inclusive as medidas de segurança do art. 46, é o principal argumento de quem investiu em conformidade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culpa exclusiva de terceiro (inciso III) não se confunde com a atuação de um operador contratado: o operador integra a cadeia de tratamento, e sua falha não é “culpa de terceiro” para fins do art. 43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Um ataque cibernético sofisticado, por si só, não é excludente automática: o agente ainda precisa demonstrar que adotou as medidas de segurança exigíveis, o que reconduz ao art. 44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68680" y="4855464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“Os agentes de tratamento só não serão responsabilizados quando provarem: I. que não realizaram o tratamento de dados pessoais que lhes é atribuído; II. que, embora tenham realizado o tratamento de dados pessoais que lhes é atribuído, não houve violação à legislação de proteção de dados; ou III. que o dano é decorrente de culpa exclusiva do titular dos dados ou de terceiro.”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57150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LGPD, art. 43.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87552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Tratamento irregular (art. 44) e relação de consumo (art. 45)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5640" y="502920"/>
            <a:ext cx="777240" cy="777240"/>
          </a:xfrm>
          <a:prstGeom prst="ellipse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aula_seg_info/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909" y="59618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 parâmetro do art. 44 é a expectativa legítima do titular, medida pelo padrão de mercado, e não pela intenção do agente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expressão “técnicas disponíveis à época” remete diretamente às normas técnicas estudadas no Bloco 2: o que a ISO/IEC 27001 e a ISO/IEC 27002 consideram boa prática no momento do tratamento ajuda a definir se houve irregularidade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 parágrafo único do art. 44 responsabiliza especificamente quem deixa de adotar as medidas de segurança do art. 46 e, com isso, dá causa ao dano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 art. 45 mantém aplicáveis as regras de responsabilidade do Código de Defesa do Consumidor quando o tratamento ocorrer em relação de consumo, o que soma dois regimes de proteção ao titular-consumidor: a responsabilidade da LGPD e a responsabilidade objetiva e solidária da cadeia de fornecedores do CDC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87552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Inversão do ônus da prova (art. 42, §2º)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5640" y="502920"/>
            <a:ext cx="777240" cy="777240"/>
          </a:xfrm>
          <a:prstGeom prst="ellipse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aula_seg_info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909" y="59618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11064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inversão não é automática: depende de decisão fundamentada do juiz, a partir de um dos três critérios previstos em lei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Verossimilhança da alegação: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 fatos narrados pelo titular são plausíveis diante do contexto apresentado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Hipossuficiência para produção de prova: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titular normalmente não tem acesso aos sistemas, logs e registros internos do agente de tratamento, que são justamente as provas técnicas do incidente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Onerosidade excessiva: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mesmo que tecnicamente possível, exigir do titular a produção da prova seria desproporcional diante da posição das partes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Efeito prático: cabe ao controlador ou operador demonstrar que adotou as medidas de segurança adequadas, e não ao titular provar tecnicamente a falha alheia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68680" y="4855464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juiz, no processo civil, poderá inverter o ônus da prova a favor do titular dos dados quando, a seu juízo, for verossímil a alegação, houver hipossuficiência para fins de produção de prova ou quando a produção de prova pelo titular resultar-lhe excessivamente onerosa.”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57150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LGPD, art. 42, §2º.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87552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Dano coletivo e ações coletivas (art. 42, §3º)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5640" y="502920"/>
            <a:ext cx="777240" cy="777240"/>
          </a:xfrm>
          <a:prstGeom prst="ellipse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aula_seg_info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909" y="59618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pt-BR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violação de um direito que pertence a toda a sociedade ou a um grupo específico (direitos transindividuais), e não apenas a um indivíduo isolado. </a:t>
            </a:r>
          </a:p>
          <a:p>
            <a:pPr marL="285750" indent="-285750">
              <a:lnSpc>
                <a:spcPct val="118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Propositura: pode ser realizada pela defensoria pública/ Ministério Público/ União, Estados e Municípios e Associações Civis. </a:t>
            </a:r>
          </a:p>
          <a:p>
            <a:pPr marL="285750" indent="-285750">
              <a:lnSpc>
                <a:spcPct val="118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LGPD reconhece expressamente o dano coletivo como categoria autônoma de dano indenizável, ao lado do dano patrimonial, moral e individual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 ações de reparação por dano coletivo podem ser exercidas coletivamente em juízo, observada a legislação pertinente, o que remete ao microssistema processual coletivo brasileiro (Lei da Ação Civil Pública e Código de Defesa do Consumidor)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Legitimados típicos: Ministério Público, Defensoria Pública, entes federados, associações constituídas para a defesa de interesses relacionados à proteção de dados pessoais e, no âmbito consumerista, os órgãos de defesa do consumidor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É particularmente relevante para incidentes envolvendo grandes bases de dados e sistemas de IA, em que um único vazamento ou uma política de tratamento inadequada afeta um número massivo e indeterminado de titulares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87552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 err="1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Sanções</a:t>
            </a: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 err="1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Administrativas</a:t>
            </a: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</a:t>
            </a:r>
            <a:r>
              <a:rPr lang="en-US" sz="2700" b="1" dirty="0" err="1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Autoridade</a:t>
            </a: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Nacional de Proteção de Dados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5640" y="502920"/>
            <a:ext cx="777240" cy="777240"/>
          </a:xfrm>
          <a:prstGeom prst="ellipse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aula_seg_info/icons/brief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909" y="59618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ANPD foi transformada em autarquia de natureza especial, dotada de autonomia técnica e decisória, pela Medida Provisória nº 1.124/2022, convertida na Lei nº 14.460/2022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É vinculada, para fins de organização administrativa, ao Ministério da Justiça e Segurança Pública, mas sem subordinação hierárquica quanto às suas decisões técnicas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Estrutura básica prevista no art. 55-C da LGPD: Conselho Diretor (órgão máximo de direção, composto por 5 diretores), Conselho Nacional de Proteção de Dados Pessoais e da Privacidade, Corregedoria, Ouvidoria, Procuradoria e unidades administrativas especializadas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Competências centrais: fiscalizar e aplicar sanções, editar regulamentos e procedimentos, promover a cultura de proteção de dados e articular-se com outras autoridades, inclusive estrangeiras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87552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Sanções administrativas (art. 52)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5640" y="502920"/>
            <a:ext cx="777240" cy="777240"/>
          </a:xfrm>
          <a:prstGeom prst="ellipse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aula_seg_info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909" y="59618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Advertência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 indicação de prazo para adoção de medidas corretivas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Multa simples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 até 2% do faturamento da pessoa jurídica de direito privado, grupo ou conglomerado no Brasil no último exercício, excluídos os tributos, limitada a R$ 50.000.000,00 por infração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Multa diária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observado o mesmo limite total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Publicização da infração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bloqueio e eliminação dos dados pessoais envolvidos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Suspensão parcial do banco de dados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</a:t>
            </a:r>
            <a:r>
              <a:rPr lang="en-US" sz="1550" b="1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atividade de tratamento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até 6 meses, prorrogáveis, e </a:t>
            </a:r>
            <a:r>
              <a:rPr lang="en-US" sz="1550" b="1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proibição parcial ou total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exercício de atividades relacionadas a tratamento de dados, nos casos mais graves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79120" y="46214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sanções são aplicadas de forma gradativa, isolada ou cumulativa, garantidos ampla defesa e contraditório no processo administrativo (art. 52, caput e incisos I a XII).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87552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Regulamento de Dosimetria (Resolução CD/ANPD nº 4/2023)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5640" y="502920"/>
            <a:ext cx="777240" cy="777240"/>
          </a:xfrm>
          <a:prstGeom prst="ellipse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aula_seg_info/icons/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909" y="59618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Aprovado pela Resolução CD/ANPD nº 4, de 24 de fevereiro de 2023, o regulamento define os critérios e o procedimento que a ANPD deve observar para apurar infrações e dosar as sanções do art. 52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Os 11 critérios legais do art. 52, §1º incluem: </a:t>
            </a:r>
            <a:r>
              <a:rPr lang="en-US" sz="1550" u="sng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gravidade e natureza da infração, boa-fé do infrator, vantagem auferida ou pretendida, condição econômica do infrator, reincidência, grau do dano, cooperação do infrator, adoção reiterada de mecanismos internos de mitigação, política de boas práticas e governança, pronta adoção de medidas corretivas e proporcionalidade entre a falta e a sanção</a:t>
            </a:r>
            <a:endParaRPr lang="en-US" sz="1550" u="sng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É aqui que o programa de governança do art. 50 e a adoção de normas técnicas como a ISO/IEC 27001 voltam a ter peso jurídico direto: podem reduzir a gravidade da sanção aplicada, mesmo quando não afastam integralmente a responsabilidade</a:t>
            </a:r>
            <a:endParaRPr lang="en-US" sz="1550" dirty="0"/>
          </a:p>
          <a:p>
            <a:pPr marL="0" indent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Antes mesmo de concluir o processo sancionador, a ANPD também pode determinar a paralisação cautelar de um tratamento de dados, com base no poder geral de cautela da Administração Pública (art. 45 da Lei nº 9.784/1999) diante de risco iminente de dano relevante e de difícil reparação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dirty="0" err="1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titulares</a:t>
            </a:r>
            <a:r>
              <a:rPr lang="en-US" sz="15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87552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sanção aplicada pela ANPD – </a:t>
            </a:r>
            <a:r>
              <a:rPr lang="en-US" sz="2700" b="1" dirty="0" err="1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Já</a:t>
            </a: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 err="1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falamos</a:t>
            </a: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 err="1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deste</a:t>
            </a: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 err="1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</a:t>
            </a: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antes 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5640" y="502920"/>
            <a:ext cx="777240" cy="777240"/>
          </a:xfrm>
          <a:prstGeom prst="ellipse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aula_seg_info/icons/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909" y="596189"/>
            <a:ext cx="590702" cy="5907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0D1B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22960" y="18105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PROCESSO SANCIONADOR CONCLUÍDO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20848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ANPD x Telekall Infoservice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julho de 2023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283464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Empresa de telemarketing recebeu multa de R$ 14.400,00, além de advertência, na primeira punição administrativa concluída sob a LGPD</a:t>
            </a:r>
            <a:endParaRPr lang="en-US" sz="1450" dirty="0"/>
          </a:p>
          <a:p>
            <a:pPr marL="0" indent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Motivos: ausência de encarregado (DPO) formalmente designado, falha em comprovar a base legal para o tratamento de dados pessoais realizado, e não atendimento a solicitações da ANPD durante a fiscalização</a:t>
            </a:r>
            <a:endParaRPr lang="en-US" sz="1450" dirty="0"/>
          </a:p>
          <a:p>
            <a:pPr marL="0" indent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Caso de baixa repercussão econômica, mas de alto valor didático: mostra que falhas de governança documental, e não apenas incidentes de vazamento, já geram sanção</a:t>
            </a:r>
            <a:endParaRPr lang="en-US" sz="1450" dirty="0"/>
          </a:p>
          <a:p>
            <a:pPr marL="0" indent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Decisão sujeita a recurso administrativo, nos termos do devido processo legal previsto no regulamento de dosimetria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Terra, “Empresa de telemarketing é multada em R$ 14 mil na primeira punição por infração à LGPD” (2023); ANPD.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87552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85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Suspensão cautelar e primeira multa diária da ANPD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35640" y="502920"/>
            <a:ext cx="777240" cy="777240"/>
          </a:xfrm>
          <a:prstGeom prst="ellipse">
            <a:avLst/>
          </a:prstGeom>
          <a:solidFill>
            <a:srgbClr val="EEF2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tmp/aula_seg_info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909" y="596189"/>
            <a:ext cx="590702" cy="5907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0D1B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22960" y="18105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CAUTELAR ADMINISTRATIVA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20848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ANPD x Meta Platforms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julho de 2024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283464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Meta alterou sua política de privacidade para permitir o uso de dados pessoais de usuários do Facebook e do Instagram no treinamento de sistemas de inteligência artificial generativa</a:t>
            </a:r>
            <a:endParaRPr lang="en-US" sz="1450" dirty="0"/>
          </a:p>
          <a:p>
            <a:pPr marL="0" indent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ANPD apontou uso inadequado da base legal de legítimo interesse, falta de transparência, mecanismo de oposição (opt-out) pouco intuitivo e ausência de salvaguardas específicas para dados de crianças e adolescentes</a:t>
            </a:r>
            <a:endParaRPr lang="en-US" sz="1450" dirty="0"/>
          </a:p>
          <a:p>
            <a:pPr marL="0" indent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Determinou, em medida cautelar, a suspensão imediata do tratamento de dados pessoais para essa finalidade, sob multa diária de R$ 50.000,00 em caso de descumprimento, a primeira vez em que a ANPD aplicou esse tipo de sanção</a:t>
            </a:r>
            <a:endParaRPr lang="en-US" sz="1450" dirty="0"/>
          </a:p>
          <a:p>
            <a:pPr marL="0" indent="0">
              <a:lnSpc>
                <a:spcPct val="116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empresa suspendeu o tratamento no Brasil até apresentar salvaguardas consideradas adequadas pela autoridade, o que ilustra o poder geral de cautela da Administração Pública (art. 45 da Lei nº 9.784/1999) aplicado pela ANPD antes da conclusão do processo sancionador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ANPD, “ANPD determina suspensão cautelar do tratamento de dados pessoais para treinamento da IA da Meta” (2024); Casillo Advogados; Data Protection Brasil.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87552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08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40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spcAft>
                <a:spcPts val="800"/>
              </a:spcAft>
              <a:buNone/>
            </a:pPr>
            <a:r>
              <a:rPr lang="en-US" sz="88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ANPD (AUTORIDADE NACIONAL DE PROTEÇÃO DE DADOS). ANPD determina suspensão cautelar do tratamento de dados pessoais para treinamento da IA da Meta. Brasília, jul. 2024. Disponível em: gov.br/anpd. Acesso em: 25 ago. 2026.</a:t>
            </a:r>
            <a:endParaRPr lang="en-US" sz="880" dirty="0"/>
          </a:p>
          <a:p>
            <a:pPr marL="0" indent="0">
              <a:lnSpc>
                <a:spcPct val="114000"/>
              </a:lnSpc>
              <a:spcAft>
                <a:spcPts val="800"/>
              </a:spcAft>
              <a:buNone/>
            </a:pPr>
            <a:r>
              <a:rPr lang="en-US" sz="88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ANPD (AUTORIDADE NACIONAL DE PROTEÇÃO DE DADOS). Resolução CD/ANPD nº 4, de 24 de fevereiro de 2023. Aprova o Regulamento de Dosimetria e Aplicação de Sanções Administrativas previstas na Lei nº 13.709, de 14 de agosto de 2018. Diário Oficial da União, Brasília, DF, 2023.</a:t>
            </a:r>
            <a:endParaRPr lang="en-US" sz="880" dirty="0"/>
          </a:p>
          <a:p>
            <a:pPr marL="0" indent="0">
              <a:lnSpc>
                <a:spcPct val="114000"/>
              </a:lnSpc>
              <a:spcAft>
                <a:spcPts val="800"/>
              </a:spcAft>
              <a:buNone/>
            </a:pPr>
            <a:r>
              <a:rPr lang="en-US" sz="88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ANPD (AUTORIDADE NACIONAL DE PROTEÇÃO DE DADOS). Resolução CD/ANPD nº 15, de 24 de abril de 2024. Aprova o Regulamento de Comunicação de Incidente de Segurança. Diário Oficial da União, Brasília, DF, 2024.</a:t>
            </a:r>
            <a:endParaRPr lang="en-US" sz="880" dirty="0"/>
          </a:p>
          <a:p>
            <a:pPr marL="0" indent="0">
              <a:lnSpc>
                <a:spcPct val="114000"/>
              </a:lnSpc>
              <a:spcAft>
                <a:spcPts val="800"/>
              </a:spcAft>
              <a:buNone/>
            </a:pPr>
            <a:r>
              <a:rPr lang="en-US" sz="88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BRASILEIRA DE NORMAS TÉCNICAS. ABNT NBR ISO/IEC 27001:2022: segurança da informação, cibersegurança e proteção à privacidade, sistemas de gestão de segurança da informação, requisitos. Rio de Janeiro: ABNT, 2022.</a:t>
            </a:r>
            <a:endParaRPr lang="en-US" sz="880" dirty="0"/>
          </a:p>
          <a:p>
            <a:pPr marL="0" indent="0">
              <a:lnSpc>
                <a:spcPct val="114000"/>
              </a:lnSpc>
              <a:spcAft>
                <a:spcPts val="800"/>
              </a:spcAft>
              <a:buNone/>
            </a:pPr>
            <a:r>
              <a:rPr lang="en-US" sz="88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ASSOCIAÇÃO BRASILEIRA DE NORMAS TÉCNICAS. ABNT NBR ISO/IEC 27002:2022: segurança da informação, cibersegurança e proteção à privacidade, controles de segurança da informação. Rio de Janeiro: ABNT, 2022.</a:t>
            </a:r>
            <a:endParaRPr lang="en-US" sz="880" dirty="0"/>
          </a:p>
          <a:p>
            <a:pPr marL="0" indent="0">
              <a:lnSpc>
                <a:spcPct val="114000"/>
              </a:lnSpc>
              <a:spcAft>
                <a:spcPts val="800"/>
              </a:spcAft>
              <a:buNone/>
            </a:pPr>
            <a:r>
              <a:rPr lang="en-US" sz="88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BRASIL. [Constituição (1988)]. Emenda Constitucional nº 115, de 10 de fevereiro de 2022. Altera a Constituição Federal para incluir a proteção de dados pessoais entre os direitos e garantias fundamentais e para fixar a competência privativa da União para legislar sobre proteção e tratamento de dados pessoais. Diário Oficial da União, Brasília, DF, 2022.</a:t>
            </a:r>
            <a:endParaRPr lang="en-US" sz="880" dirty="0"/>
          </a:p>
          <a:p>
            <a:pPr marL="0" indent="0">
              <a:lnSpc>
                <a:spcPct val="114000"/>
              </a:lnSpc>
              <a:spcAft>
                <a:spcPts val="800"/>
              </a:spcAft>
              <a:buNone/>
            </a:pPr>
            <a:r>
              <a:rPr lang="en-US" sz="88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BRASIL. Decreto-Lei nº 2.848, de 7 de dezembro de 1940. Código Penal. Diário Oficial da União, Rio de Janeiro, 1940.</a:t>
            </a:r>
            <a:endParaRPr lang="en-US" sz="880" dirty="0"/>
          </a:p>
          <a:p>
            <a:pPr marL="0" indent="0">
              <a:lnSpc>
                <a:spcPct val="114000"/>
              </a:lnSpc>
              <a:spcAft>
                <a:spcPts val="800"/>
              </a:spcAft>
              <a:buNone/>
            </a:pPr>
            <a:r>
              <a:rPr lang="en-US" sz="88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BRASIL. Lei nº 9.784, de 29 de janeiro de 1999. Regula o processo administrativo no âmbito da Administração Pública Federal. Diário Oficial da União, Brasília, DF, 1999.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6263640" y="1463040"/>
            <a:ext cx="54406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spcAft>
                <a:spcPts val="800"/>
              </a:spcAft>
              <a:buNone/>
            </a:pPr>
            <a:r>
              <a:rPr lang="en-US" sz="88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BRASIL. Lei nº 12.737, de 30 de novembro de 2012. Dispõe sobre a tipificação criminal de delitos informáticos e dá outras providências. Diário Oficial da União, Brasília, DF, 2012.</a:t>
            </a:r>
            <a:endParaRPr lang="en-US" sz="880" dirty="0"/>
          </a:p>
          <a:p>
            <a:pPr marL="0" indent="0">
              <a:lnSpc>
                <a:spcPct val="114000"/>
              </a:lnSpc>
              <a:spcAft>
                <a:spcPts val="800"/>
              </a:spcAft>
              <a:buNone/>
            </a:pPr>
            <a:r>
              <a:rPr lang="en-US" sz="88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BRASIL. Lei nº 12.965, de 23 de abril de 2014. Estabelece princípios, garantias, direitos e deveres para o uso da internet no Brasil (Marco Civil da Internet). Diário Oficial da União, Brasília, DF, 2014.</a:t>
            </a:r>
            <a:endParaRPr lang="en-US" sz="880" dirty="0"/>
          </a:p>
          <a:p>
            <a:pPr marL="0" indent="0">
              <a:lnSpc>
                <a:spcPct val="114000"/>
              </a:lnSpc>
              <a:spcAft>
                <a:spcPts val="800"/>
              </a:spcAft>
              <a:buNone/>
            </a:pPr>
            <a:r>
              <a:rPr lang="en-US" sz="88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BRASIL. Lei nº 13.709, de 14 de agosto de 2018. Lei Geral de Proteção de Dados Pessoais (LGPD). Diário Oficial da União, Brasília, DF, 2018.</a:t>
            </a:r>
            <a:endParaRPr lang="en-US" sz="880" dirty="0"/>
          </a:p>
          <a:p>
            <a:pPr marL="0" indent="0">
              <a:lnSpc>
                <a:spcPct val="114000"/>
              </a:lnSpc>
              <a:spcAft>
                <a:spcPts val="800"/>
              </a:spcAft>
              <a:buNone/>
            </a:pPr>
            <a:r>
              <a:rPr lang="en-US" sz="88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BRASIL. Lei nº 14.155, de 27 de maio de 2021. Altera o Decreto-Lei nº 2.848, de 7 de dezembro de 1940 (Código Penal), para tornar mais graves os crimes de violação de dispositivo informático, furto e estelionato cometidos de forma eletrônica ou pela internet. Diário Oficial da União, Brasília, DF, 2021.</a:t>
            </a:r>
            <a:endParaRPr lang="en-US" sz="880" dirty="0"/>
          </a:p>
          <a:p>
            <a:pPr marL="0" indent="0">
              <a:lnSpc>
                <a:spcPct val="114000"/>
              </a:lnSpc>
              <a:spcAft>
                <a:spcPts val="800"/>
              </a:spcAft>
              <a:buNone/>
            </a:pPr>
            <a:r>
              <a:rPr lang="en-US" sz="88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BRASIL. Lei nº 14.460, de 25 de outubro de 2022. Dispõe sobre a organização básica dos órgãos da Presidência da República e dos Ministérios, e transforma a Autoridade Nacional de Proteção de Dados em autarquia de natureza especial. Diário Oficial da União, Brasília, DF, 2022.</a:t>
            </a:r>
            <a:endParaRPr lang="en-US" sz="880" dirty="0"/>
          </a:p>
          <a:p>
            <a:pPr marL="0" indent="0">
              <a:lnSpc>
                <a:spcPct val="114000"/>
              </a:lnSpc>
              <a:spcAft>
                <a:spcPts val="800"/>
              </a:spcAft>
              <a:buNone/>
            </a:pPr>
            <a:r>
              <a:rPr lang="en-US" sz="88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CASILLO ADVOGADOS. ANPD aplica primeira multa diária por violação à LGPD: suspensão cautelar do tratamento de dados pela Meta. São Paulo, 2024. Disponível em: casilloadvogados.com.br. Acesso em: 25 ago. 2026.</a:t>
            </a:r>
            <a:endParaRPr lang="en-US" sz="880" dirty="0"/>
          </a:p>
          <a:p>
            <a:pPr marL="0" indent="0">
              <a:lnSpc>
                <a:spcPct val="114000"/>
              </a:lnSpc>
              <a:spcAft>
                <a:spcPts val="800"/>
              </a:spcAft>
              <a:buNone/>
            </a:pPr>
            <a:r>
              <a:rPr lang="en-US" sz="880" dirty="0">
                <a:solidFill>
                  <a:srgbClr val="17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TERRA. Empresa de telemarketing é multada em R$ 14 mil na primeira punição por infração à LGPD. São Paulo, 2023. Disponível em: terra.com.br. Acesso em: 25 ago. 2026.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9875520" y="6547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8A2D2C2733B7342A34F941B973AA6E6" ma:contentTypeVersion="3" ma:contentTypeDescription="Crie um novo documento." ma:contentTypeScope="" ma:versionID="5550be8f1cf58693e992f8ea7bfb4f2b">
  <xsd:schema xmlns:xsd="http://www.w3.org/2001/XMLSchema" xmlns:xs="http://www.w3.org/2001/XMLSchema" xmlns:p="http://schemas.microsoft.com/office/2006/metadata/properties" xmlns:ns2="f534e9f2-b7ec-4ccc-a69c-51d3e3635b48" targetNamespace="http://schemas.microsoft.com/office/2006/metadata/properties" ma:root="true" ma:fieldsID="723e5ea99451f57ad090176ed3370c4a" ns2:_="">
    <xsd:import namespace="f534e9f2-b7ec-4ccc-a69c-51d3e3635b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34e9f2-b7ec-4ccc-a69c-51d3e3635b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A3428F7-5BE8-4E8F-B0F7-FE08D0AC5979}"/>
</file>

<file path=customXml/itemProps2.xml><?xml version="1.0" encoding="utf-8"?>
<ds:datastoreItem xmlns:ds="http://schemas.openxmlformats.org/officeDocument/2006/customXml" ds:itemID="{429D43BB-EEBE-40B0-8648-380E0284312E}"/>
</file>

<file path=customXml/itemProps3.xml><?xml version="1.0" encoding="utf-8"?>
<ds:datastoreItem xmlns:ds="http://schemas.openxmlformats.org/officeDocument/2006/customXml" ds:itemID="{8569E5F7-5216-4C32-A869-3FE97D710104}"/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4709</Words>
  <Application>Microsoft Office PowerPoint</Application>
  <PresentationFormat>Widescreen</PresentationFormat>
  <Paragraphs>237</Paragraphs>
  <Slides>24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Eve Santinon</cp:lastModifiedBy>
  <cp:revision>1</cp:revision>
  <dcterms:created xsi:type="dcterms:W3CDTF">2026-08-25T13:53:42Z</dcterms:created>
  <dcterms:modified xsi:type="dcterms:W3CDTF">2026-08-31T21:25:34Z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0x01010078A2D2C2733B7342A34F941B973AA6E6</vt:lpwstr>
  </property>
</Properties>
</file>