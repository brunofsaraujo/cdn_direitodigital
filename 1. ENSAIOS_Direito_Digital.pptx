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5" r:id="rId4"/>
    <p:sldId id="309" r:id="rId5"/>
    <p:sldId id="310" r:id="rId6"/>
    <p:sldId id="304" r:id="rId7"/>
    <p:sldId id="324" r:id="rId8"/>
    <p:sldId id="295" r:id="rId9"/>
    <p:sldId id="296" r:id="rId10"/>
    <p:sldId id="302" r:id="rId11"/>
    <p:sldId id="319" r:id="rId12"/>
    <p:sldId id="315" r:id="rId13"/>
    <p:sldId id="321" r:id="rId14"/>
    <p:sldId id="322" r:id="rId15"/>
    <p:sldId id="303" r:id="rId16"/>
    <p:sldId id="300" r:id="rId17"/>
    <p:sldId id="297" r:id="rId18"/>
    <p:sldId id="299" r:id="rId19"/>
    <p:sldId id="305" r:id="rId20"/>
    <p:sldId id="312" r:id="rId21"/>
    <p:sldId id="306" r:id="rId22"/>
    <p:sldId id="307" r:id="rId23"/>
    <p:sldId id="298" r:id="rId24"/>
    <p:sldId id="313" r:id="rId25"/>
    <p:sldId id="311" r:id="rId26"/>
    <p:sldId id="316" r:id="rId27"/>
    <p:sldId id="258" r:id="rId28"/>
    <p:sldId id="288" r:id="rId29"/>
    <p:sldId id="320" r:id="rId30"/>
    <p:sldId id="257" r:id="rId31"/>
    <p:sldId id="286" r:id="rId32"/>
    <p:sldId id="292" r:id="rId33"/>
    <p:sldId id="289" r:id="rId34"/>
    <p:sldId id="318" r:id="rId35"/>
    <p:sldId id="294" r:id="rId36"/>
    <p:sldId id="314" r:id="rId37"/>
    <p:sldId id="293" r:id="rId38"/>
    <p:sldId id="290" r:id="rId39"/>
    <p:sldId id="323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1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ustomXml" Target="../customXml/item2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A2200E-22B1-4584-B118-D1E681E2A201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D668EE-5CA9-477D-984B-B3C63B854E04}">
      <dgm:prSet/>
      <dgm:spPr/>
      <dgm:t>
        <a:bodyPr/>
        <a:lstStyle/>
        <a:p>
          <a:r>
            <a:rPr lang="pt-BR" dirty="0"/>
            <a:t>​​O Poder Judiciário é um dos três poderes que compõem o Estado brasileiro. Tem o papel de julgar, de acordo com a lei, conflitos entre cidadãos, entidades e Estado.</a:t>
          </a:r>
          <a:endParaRPr lang="en-US" dirty="0"/>
        </a:p>
      </dgm:t>
    </dgm:pt>
    <dgm:pt modelId="{2BC96704-B8B8-4F78-8F6F-0775857F3F72}" type="parTrans" cxnId="{978B26E1-B2F9-4AB0-8D52-BEB43FAE5FCF}">
      <dgm:prSet/>
      <dgm:spPr/>
      <dgm:t>
        <a:bodyPr/>
        <a:lstStyle/>
        <a:p>
          <a:endParaRPr lang="en-US"/>
        </a:p>
      </dgm:t>
    </dgm:pt>
    <dgm:pt modelId="{177A16F9-928D-47DC-9B2A-9F8607125C01}" type="sibTrans" cxnId="{978B26E1-B2F9-4AB0-8D52-BEB43FAE5FCF}">
      <dgm:prSet/>
      <dgm:spPr/>
      <dgm:t>
        <a:bodyPr/>
        <a:lstStyle/>
        <a:p>
          <a:endParaRPr lang="en-US"/>
        </a:p>
      </dgm:t>
    </dgm:pt>
    <dgm:pt modelId="{8A9BC679-CBFA-45DB-BE0F-BB3FA1AD1A2A}">
      <dgm:prSet/>
      <dgm:spPr/>
      <dgm:t>
        <a:bodyPr/>
        <a:lstStyle/>
        <a:p>
          <a:r>
            <a:rPr lang="pt-BR" dirty="0"/>
            <a:t>Cabe ao Judiciário interpretar as leis e aplicar o Direito nos processos judiciais que lhes são endereçados. </a:t>
          </a:r>
          <a:endParaRPr lang="en-US" dirty="0"/>
        </a:p>
      </dgm:t>
    </dgm:pt>
    <dgm:pt modelId="{3116362F-6DB6-48EA-9230-7ACA2A2A5097}" type="parTrans" cxnId="{A82E7557-DFAD-4C25-BE12-412ED1DAD5FA}">
      <dgm:prSet/>
      <dgm:spPr/>
      <dgm:t>
        <a:bodyPr/>
        <a:lstStyle/>
        <a:p>
          <a:endParaRPr lang="en-US"/>
        </a:p>
      </dgm:t>
    </dgm:pt>
    <dgm:pt modelId="{2C11E25B-452A-4718-9C3D-CF18021F3E43}" type="sibTrans" cxnId="{A82E7557-DFAD-4C25-BE12-412ED1DAD5FA}">
      <dgm:prSet/>
      <dgm:spPr/>
      <dgm:t>
        <a:bodyPr/>
        <a:lstStyle/>
        <a:p>
          <a:endParaRPr lang="en-US"/>
        </a:p>
      </dgm:t>
    </dgm:pt>
    <dgm:pt modelId="{5B29D678-6BC3-47AC-9596-D760DA2BBD95}">
      <dgm:prSet/>
      <dgm:spPr/>
      <dgm:t>
        <a:bodyPr/>
        <a:lstStyle/>
        <a:p>
          <a:r>
            <a:rPr lang="pt-BR" dirty="0"/>
            <a:t>Quem diz? A Constituição Federal do Brasil garante a todo cidadão o direito de provocar a Justiça para a solução de litígios.</a:t>
          </a:r>
          <a:endParaRPr lang="en-US" dirty="0"/>
        </a:p>
      </dgm:t>
    </dgm:pt>
    <dgm:pt modelId="{056688BF-1943-4699-A313-4CE393162A37}" type="parTrans" cxnId="{739407EF-6F69-4F11-8F40-5346BBCA5EBB}">
      <dgm:prSet/>
      <dgm:spPr/>
      <dgm:t>
        <a:bodyPr/>
        <a:lstStyle/>
        <a:p>
          <a:endParaRPr lang="en-US"/>
        </a:p>
      </dgm:t>
    </dgm:pt>
    <dgm:pt modelId="{E8752E53-BE34-42F5-A49C-3F14BBBFA6D2}" type="sibTrans" cxnId="{739407EF-6F69-4F11-8F40-5346BBCA5EBB}">
      <dgm:prSet/>
      <dgm:spPr/>
      <dgm:t>
        <a:bodyPr/>
        <a:lstStyle/>
        <a:p>
          <a:endParaRPr lang="en-US"/>
        </a:p>
      </dgm:t>
    </dgm:pt>
    <dgm:pt modelId="{CD8D4541-B58E-4C2E-AA18-52DC10CAAD1A}">
      <dgm:prSet/>
      <dgm:spPr/>
      <dgm:t>
        <a:bodyPr/>
        <a:lstStyle/>
        <a:p>
          <a:r>
            <a:rPr lang="pt-BR" dirty="0"/>
            <a:t>Assim como os demais poderes do Estado, o Judiciário possui autonomia administrativa e </a:t>
          </a:r>
          <a:r>
            <a:rPr lang="pt-BR" dirty="0" err="1"/>
            <a:t>finance</a:t>
          </a:r>
          <a:r>
            <a:rPr lang="pt-BR" dirty="0"/>
            <a:t>​ira definida pela  CF. Tal autonomia figura como fator de garantia da independência e imparcialidade de juízes, desembargadores e ministros em seus julgamentos.</a:t>
          </a:r>
          <a:endParaRPr lang="en-US" dirty="0"/>
        </a:p>
      </dgm:t>
    </dgm:pt>
    <dgm:pt modelId="{44443174-2874-452C-857B-26029D34F308}" type="parTrans" cxnId="{0FF55EE5-C69B-44DD-83F1-D7403F16368F}">
      <dgm:prSet/>
      <dgm:spPr/>
      <dgm:t>
        <a:bodyPr/>
        <a:lstStyle/>
        <a:p>
          <a:endParaRPr lang="en-US"/>
        </a:p>
      </dgm:t>
    </dgm:pt>
    <dgm:pt modelId="{042B98C2-F5DE-4665-A55B-274C23C95EE0}" type="sibTrans" cxnId="{0FF55EE5-C69B-44DD-83F1-D7403F16368F}">
      <dgm:prSet/>
      <dgm:spPr/>
      <dgm:t>
        <a:bodyPr/>
        <a:lstStyle/>
        <a:p>
          <a:endParaRPr lang="en-US"/>
        </a:p>
      </dgm:t>
    </dgm:pt>
    <dgm:pt modelId="{FB481446-7709-48AD-BB0A-8C05D4D8034E}">
      <dgm:prSet/>
      <dgm:spPr/>
      <dgm:t>
        <a:bodyPr/>
        <a:lstStyle/>
        <a:p>
          <a:r>
            <a:rPr lang="pt-BR" dirty="0"/>
            <a:t>Organização funcional: disciplina como funciona a aplicação no Brasil. </a:t>
          </a:r>
          <a:endParaRPr lang="en-US" dirty="0"/>
        </a:p>
      </dgm:t>
    </dgm:pt>
    <dgm:pt modelId="{0851C872-9B4D-4D5C-A086-C4AC26B54F65}" type="parTrans" cxnId="{1BC4C2C5-20A0-4123-9D44-92E4DD73B867}">
      <dgm:prSet/>
      <dgm:spPr/>
      <dgm:t>
        <a:bodyPr/>
        <a:lstStyle/>
        <a:p>
          <a:endParaRPr lang="en-US"/>
        </a:p>
      </dgm:t>
    </dgm:pt>
    <dgm:pt modelId="{7DBC6D90-CE08-4856-AA44-8288757067DA}" type="sibTrans" cxnId="{1BC4C2C5-20A0-4123-9D44-92E4DD73B867}">
      <dgm:prSet/>
      <dgm:spPr/>
      <dgm:t>
        <a:bodyPr/>
        <a:lstStyle/>
        <a:p>
          <a:endParaRPr lang="en-US"/>
        </a:p>
      </dgm:t>
    </dgm:pt>
    <dgm:pt modelId="{36FD1312-0A95-4BC3-AFEE-D7E9F8403EBE}">
      <dgm:prSet/>
      <dgm:spPr/>
      <dgm:t>
        <a:bodyPr/>
        <a:lstStyle/>
        <a:p>
          <a:r>
            <a:rPr lang="pt-BR" dirty="0"/>
            <a:t>No topo: STF (Supremo Tribunal Federal), órgão constitucional da Justiça brasileira. Também os Tribunais Superiores que têm a missão de uniformizar a jurisprudência e pacificar divergências provenientes das instâncias inferiores.</a:t>
          </a:r>
          <a:br>
            <a:rPr lang="pt-BR" dirty="0"/>
          </a:br>
          <a:endParaRPr lang="en-US" dirty="0"/>
        </a:p>
      </dgm:t>
    </dgm:pt>
    <dgm:pt modelId="{7C01CCF0-1389-4B27-A916-2C1B60AAB328}" type="parTrans" cxnId="{ED3DB1E7-A786-4DAE-BE55-171F0B99EC06}">
      <dgm:prSet/>
      <dgm:spPr/>
      <dgm:t>
        <a:bodyPr/>
        <a:lstStyle/>
        <a:p>
          <a:endParaRPr lang="en-US"/>
        </a:p>
      </dgm:t>
    </dgm:pt>
    <dgm:pt modelId="{E24EBA78-7BD7-4A3A-83C0-8F67670F88B4}" type="sibTrans" cxnId="{ED3DB1E7-A786-4DAE-BE55-171F0B99EC06}">
      <dgm:prSet/>
      <dgm:spPr/>
      <dgm:t>
        <a:bodyPr/>
        <a:lstStyle/>
        <a:p>
          <a:endParaRPr lang="en-US"/>
        </a:p>
      </dgm:t>
    </dgm:pt>
    <dgm:pt modelId="{83E95FB7-C9BA-4D1E-9B2F-C0872CDC3F60}" type="pres">
      <dgm:prSet presAssocID="{B8A2200E-22B1-4584-B118-D1E681E2A201}" presName="Name0" presStyleCnt="0">
        <dgm:presLayoutVars>
          <dgm:dir/>
          <dgm:resizeHandles val="exact"/>
        </dgm:presLayoutVars>
      </dgm:prSet>
      <dgm:spPr/>
    </dgm:pt>
    <dgm:pt modelId="{EC5FE9FF-8BCD-4D99-8BA3-7B0D84696185}" type="pres">
      <dgm:prSet presAssocID="{80D668EE-5CA9-477D-984B-B3C63B854E04}" presName="node" presStyleLbl="node1" presStyleIdx="0" presStyleCnt="6">
        <dgm:presLayoutVars>
          <dgm:bulletEnabled val="1"/>
        </dgm:presLayoutVars>
      </dgm:prSet>
      <dgm:spPr/>
    </dgm:pt>
    <dgm:pt modelId="{F99F2751-CD37-4394-A11C-1610F0FE454E}" type="pres">
      <dgm:prSet presAssocID="{177A16F9-928D-47DC-9B2A-9F8607125C01}" presName="sibTrans" presStyleLbl="sibTrans1D1" presStyleIdx="0" presStyleCnt="5"/>
      <dgm:spPr/>
    </dgm:pt>
    <dgm:pt modelId="{915E91A8-01E2-4CBD-A926-0A6DBF00B009}" type="pres">
      <dgm:prSet presAssocID="{177A16F9-928D-47DC-9B2A-9F8607125C01}" presName="connectorText" presStyleLbl="sibTrans1D1" presStyleIdx="0" presStyleCnt="5"/>
      <dgm:spPr/>
    </dgm:pt>
    <dgm:pt modelId="{38C5A592-861B-44AE-97E4-FB57658C6D1A}" type="pres">
      <dgm:prSet presAssocID="{8A9BC679-CBFA-45DB-BE0F-BB3FA1AD1A2A}" presName="node" presStyleLbl="node1" presStyleIdx="1" presStyleCnt="6">
        <dgm:presLayoutVars>
          <dgm:bulletEnabled val="1"/>
        </dgm:presLayoutVars>
      </dgm:prSet>
      <dgm:spPr/>
    </dgm:pt>
    <dgm:pt modelId="{A8DFDE27-E153-41C1-939B-BE8EEC36165E}" type="pres">
      <dgm:prSet presAssocID="{2C11E25B-452A-4718-9C3D-CF18021F3E43}" presName="sibTrans" presStyleLbl="sibTrans1D1" presStyleIdx="1" presStyleCnt="5"/>
      <dgm:spPr/>
    </dgm:pt>
    <dgm:pt modelId="{38275E6C-2973-4BB3-BF61-F776C155620C}" type="pres">
      <dgm:prSet presAssocID="{2C11E25B-452A-4718-9C3D-CF18021F3E43}" presName="connectorText" presStyleLbl="sibTrans1D1" presStyleIdx="1" presStyleCnt="5"/>
      <dgm:spPr/>
    </dgm:pt>
    <dgm:pt modelId="{63BCE9AD-1CC7-408C-BB57-9D07EBBFB979}" type="pres">
      <dgm:prSet presAssocID="{5B29D678-6BC3-47AC-9596-D760DA2BBD95}" presName="node" presStyleLbl="node1" presStyleIdx="2" presStyleCnt="6">
        <dgm:presLayoutVars>
          <dgm:bulletEnabled val="1"/>
        </dgm:presLayoutVars>
      </dgm:prSet>
      <dgm:spPr/>
    </dgm:pt>
    <dgm:pt modelId="{0740DE01-98B4-403E-848A-40CA6349016C}" type="pres">
      <dgm:prSet presAssocID="{E8752E53-BE34-42F5-A49C-3F14BBBFA6D2}" presName="sibTrans" presStyleLbl="sibTrans1D1" presStyleIdx="2" presStyleCnt="5"/>
      <dgm:spPr/>
    </dgm:pt>
    <dgm:pt modelId="{537BC925-9D21-49FF-8D0C-9D7B6876C487}" type="pres">
      <dgm:prSet presAssocID="{E8752E53-BE34-42F5-A49C-3F14BBBFA6D2}" presName="connectorText" presStyleLbl="sibTrans1D1" presStyleIdx="2" presStyleCnt="5"/>
      <dgm:spPr/>
    </dgm:pt>
    <dgm:pt modelId="{8244D6F7-EB85-4929-A002-D913E909D7CC}" type="pres">
      <dgm:prSet presAssocID="{CD8D4541-B58E-4C2E-AA18-52DC10CAAD1A}" presName="node" presStyleLbl="node1" presStyleIdx="3" presStyleCnt="6">
        <dgm:presLayoutVars>
          <dgm:bulletEnabled val="1"/>
        </dgm:presLayoutVars>
      </dgm:prSet>
      <dgm:spPr/>
    </dgm:pt>
    <dgm:pt modelId="{634006FB-CE5C-47C8-9A42-294486880657}" type="pres">
      <dgm:prSet presAssocID="{042B98C2-F5DE-4665-A55B-274C23C95EE0}" presName="sibTrans" presStyleLbl="sibTrans1D1" presStyleIdx="3" presStyleCnt="5"/>
      <dgm:spPr/>
    </dgm:pt>
    <dgm:pt modelId="{AA8D26D9-1CFD-4D75-B1A8-341BD551D912}" type="pres">
      <dgm:prSet presAssocID="{042B98C2-F5DE-4665-A55B-274C23C95EE0}" presName="connectorText" presStyleLbl="sibTrans1D1" presStyleIdx="3" presStyleCnt="5"/>
      <dgm:spPr/>
    </dgm:pt>
    <dgm:pt modelId="{08534BAF-459B-40CB-B2F7-8700FD9139AE}" type="pres">
      <dgm:prSet presAssocID="{FB481446-7709-48AD-BB0A-8C05D4D8034E}" presName="node" presStyleLbl="node1" presStyleIdx="4" presStyleCnt="6">
        <dgm:presLayoutVars>
          <dgm:bulletEnabled val="1"/>
        </dgm:presLayoutVars>
      </dgm:prSet>
      <dgm:spPr/>
    </dgm:pt>
    <dgm:pt modelId="{05AC2954-36CB-4C9B-8879-54FFA378C596}" type="pres">
      <dgm:prSet presAssocID="{7DBC6D90-CE08-4856-AA44-8288757067DA}" presName="sibTrans" presStyleLbl="sibTrans1D1" presStyleIdx="4" presStyleCnt="5"/>
      <dgm:spPr/>
    </dgm:pt>
    <dgm:pt modelId="{65CB37E9-64AA-47CA-9BDD-619EC318DCDE}" type="pres">
      <dgm:prSet presAssocID="{7DBC6D90-CE08-4856-AA44-8288757067DA}" presName="connectorText" presStyleLbl="sibTrans1D1" presStyleIdx="4" presStyleCnt="5"/>
      <dgm:spPr/>
    </dgm:pt>
    <dgm:pt modelId="{DF72200D-7B48-4CB2-9E66-261459D73A22}" type="pres">
      <dgm:prSet presAssocID="{36FD1312-0A95-4BC3-AFEE-D7E9F8403EBE}" presName="node" presStyleLbl="node1" presStyleIdx="5" presStyleCnt="6">
        <dgm:presLayoutVars>
          <dgm:bulletEnabled val="1"/>
        </dgm:presLayoutVars>
      </dgm:prSet>
      <dgm:spPr/>
    </dgm:pt>
  </dgm:ptLst>
  <dgm:cxnLst>
    <dgm:cxn modelId="{32FA3E08-8463-444B-A242-8A97A000742E}" type="presOf" srcId="{80D668EE-5CA9-477D-984B-B3C63B854E04}" destId="{EC5FE9FF-8BCD-4D99-8BA3-7B0D84696185}" srcOrd="0" destOrd="0" presId="urn:microsoft.com/office/officeart/2016/7/layout/RepeatingBendingProcessNew"/>
    <dgm:cxn modelId="{D2D5042C-2733-40CE-A918-3C2A5FC50A9D}" type="presOf" srcId="{177A16F9-928D-47DC-9B2A-9F8607125C01}" destId="{F99F2751-CD37-4394-A11C-1610F0FE454E}" srcOrd="0" destOrd="0" presId="urn:microsoft.com/office/officeart/2016/7/layout/RepeatingBendingProcessNew"/>
    <dgm:cxn modelId="{3F03BC39-DD26-4E4C-8201-A57E4F365450}" type="presOf" srcId="{8A9BC679-CBFA-45DB-BE0F-BB3FA1AD1A2A}" destId="{38C5A592-861B-44AE-97E4-FB57658C6D1A}" srcOrd="0" destOrd="0" presId="urn:microsoft.com/office/officeart/2016/7/layout/RepeatingBendingProcessNew"/>
    <dgm:cxn modelId="{0302B575-CD73-41F7-8AA6-350ECE8267DA}" type="presOf" srcId="{FB481446-7709-48AD-BB0A-8C05D4D8034E}" destId="{08534BAF-459B-40CB-B2F7-8700FD9139AE}" srcOrd="0" destOrd="0" presId="urn:microsoft.com/office/officeart/2016/7/layout/RepeatingBendingProcessNew"/>
    <dgm:cxn modelId="{A82E7557-DFAD-4C25-BE12-412ED1DAD5FA}" srcId="{B8A2200E-22B1-4584-B118-D1E681E2A201}" destId="{8A9BC679-CBFA-45DB-BE0F-BB3FA1AD1A2A}" srcOrd="1" destOrd="0" parTransId="{3116362F-6DB6-48EA-9230-7ACA2A2A5097}" sibTransId="{2C11E25B-452A-4718-9C3D-CF18021F3E43}"/>
    <dgm:cxn modelId="{56FBAC57-BC75-42D6-9D55-7E4684236D9B}" type="presOf" srcId="{7DBC6D90-CE08-4856-AA44-8288757067DA}" destId="{05AC2954-36CB-4C9B-8879-54FFA378C596}" srcOrd="0" destOrd="0" presId="urn:microsoft.com/office/officeart/2016/7/layout/RepeatingBendingProcessNew"/>
    <dgm:cxn modelId="{FBEEF984-65A5-4CB9-ADD7-6560680BC4D1}" type="presOf" srcId="{E8752E53-BE34-42F5-A49C-3F14BBBFA6D2}" destId="{537BC925-9D21-49FF-8D0C-9D7B6876C487}" srcOrd="1" destOrd="0" presId="urn:microsoft.com/office/officeart/2016/7/layout/RepeatingBendingProcessNew"/>
    <dgm:cxn modelId="{C7A16986-2840-4A22-B192-441075B065D1}" type="presOf" srcId="{177A16F9-928D-47DC-9B2A-9F8607125C01}" destId="{915E91A8-01E2-4CBD-A926-0A6DBF00B009}" srcOrd="1" destOrd="0" presId="urn:microsoft.com/office/officeart/2016/7/layout/RepeatingBendingProcessNew"/>
    <dgm:cxn modelId="{68CB0F9A-36E4-4E7A-9254-A7C9E37B60BB}" type="presOf" srcId="{042B98C2-F5DE-4665-A55B-274C23C95EE0}" destId="{634006FB-CE5C-47C8-9A42-294486880657}" srcOrd="0" destOrd="0" presId="urn:microsoft.com/office/officeart/2016/7/layout/RepeatingBendingProcessNew"/>
    <dgm:cxn modelId="{9C03B9A1-189E-4702-BE30-3AC8EB048B17}" type="presOf" srcId="{7DBC6D90-CE08-4856-AA44-8288757067DA}" destId="{65CB37E9-64AA-47CA-9BDD-619EC318DCDE}" srcOrd="1" destOrd="0" presId="urn:microsoft.com/office/officeart/2016/7/layout/RepeatingBendingProcessNew"/>
    <dgm:cxn modelId="{03B0C7A5-B205-4812-A124-18CA08BE90B2}" type="presOf" srcId="{B8A2200E-22B1-4584-B118-D1E681E2A201}" destId="{83E95FB7-C9BA-4D1E-9B2F-C0872CDC3F60}" srcOrd="0" destOrd="0" presId="urn:microsoft.com/office/officeart/2016/7/layout/RepeatingBendingProcessNew"/>
    <dgm:cxn modelId="{24F8F7A8-AB9C-4A1D-AC72-B592A16689E6}" type="presOf" srcId="{5B29D678-6BC3-47AC-9596-D760DA2BBD95}" destId="{63BCE9AD-1CC7-408C-BB57-9D07EBBFB979}" srcOrd="0" destOrd="0" presId="urn:microsoft.com/office/officeart/2016/7/layout/RepeatingBendingProcessNew"/>
    <dgm:cxn modelId="{9FC166AB-AE49-4008-AA13-F871A6A4DE8A}" type="presOf" srcId="{2C11E25B-452A-4718-9C3D-CF18021F3E43}" destId="{38275E6C-2973-4BB3-BF61-F776C155620C}" srcOrd="1" destOrd="0" presId="urn:microsoft.com/office/officeart/2016/7/layout/RepeatingBendingProcessNew"/>
    <dgm:cxn modelId="{0319C1BC-8FB0-4D8C-8B7C-74EAE27F0A0C}" type="presOf" srcId="{36FD1312-0A95-4BC3-AFEE-D7E9F8403EBE}" destId="{DF72200D-7B48-4CB2-9E66-261459D73A22}" srcOrd="0" destOrd="0" presId="urn:microsoft.com/office/officeart/2016/7/layout/RepeatingBendingProcessNew"/>
    <dgm:cxn modelId="{406115C4-296C-487A-9032-3FB7E2356C96}" type="presOf" srcId="{CD8D4541-B58E-4C2E-AA18-52DC10CAAD1A}" destId="{8244D6F7-EB85-4929-A002-D913E909D7CC}" srcOrd="0" destOrd="0" presId="urn:microsoft.com/office/officeart/2016/7/layout/RepeatingBendingProcessNew"/>
    <dgm:cxn modelId="{1BC4C2C5-20A0-4123-9D44-92E4DD73B867}" srcId="{B8A2200E-22B1-4584-B118-D1E681E2A201}" destId="{FB481446-7709-48AD-BB0A-8C05D4D8034E}" srcOrd="4" destOrd="0" parTransId="{0851C872-9B4D-4D5C-A086-C4AC26B54F65}" sibTransId="{7DBC6D90-CE08-4856-AA44-8288757067DA}"/>
    <dgm:cxn modelId="{00EF2BCB-40DC-4B2D-95FC-C4C1288D3723}" type="presOf" srcId="{042B98C2-F5DE-4665-A55B-274C23C95EE0}" destId="{AA8D26D9-1CFD-4D75-B1A8-341BD551D912}" srcOrd="1" destOrd="0" presId="urn:microsoft.com/office/officeart/2016/7/layout/RepeatingBendingProcessNew"/>
    <dgm:cxn modelId="{606C18D1-7BBC-4180-A78F-4776F1D1A2E6}" type="presOf" srcId="{2C11E25B-452A-4718-9C3D-CF18021F3E43}" destId="{A8DFDE27-E153-41C1-939B-BE8EEC36165E}" srcOrd="0" destOrd="0" presId="urn:microsoft.com/office/officeart/2016/7/layout/RepeatingBendingProcessNew"/>
    <dgm:cxn modelId="{69FEACD5-A79E-45FC-A6E5-4431D9DA2EE1}" type="presOf" srcId="{E8752E53-BE34-42F5-A49C-3F14BBBFA6D2}" destId="{0740DE01-98B4-403E-848A-40CA6349016C}" srcOrd="0" destOrd="0" presId="urn:microsoft.com/office/officeart/2016/7/layout/RepeatingBendingProcessNew"/>
    <dgm:cxn modelId="{978B26E1-B2F9-4AB0-8D52-BEB43FAE5FCF}" srcId="{B8A2200E-22B1-4584-B118-D1E681E2A201}" destId="{80D668EE-5CA9-477D-984B-B3C63B854E04}" srcOrd="0" destOrd="0" parTransId="{2BC96704-B8B8-4F78-8F6F-0775857F3F72}" sibTransId="{177A16F9-928D-47DC-9B2A-9F8607125C01}"/>
    <dgm:cxn modelId="{0FF55EE5-C69B-44DD-83F1-D7403F16368F}" srcId="{B8A2200E-22B1-4584-B118-D1E681E2A201}" destId="{CD8D4541-B58E-4C2E-AA18-52DC10CAAD1A}" srcOrd="3" destOrd="0" parTransId="{44443174-2874-452C-857B-26029D34F308}" sibTransId="{042B98C2-F5DE-4665-A55B-274C23C95EE0}"/>
    <dgm:cxn modelId="{ED3DB1E7-A786-4DAE-BE55-171F0B99EC06}" srcId="{B8A2200E-22B1-4584-B118-D1E681E2A201}" destId="{36FD1312-0A95-4BC3-AFEE-D7E9F8403EBE}" srcOrd="5" destOrd="0" parTransId="{7C01CCF0-1389-4B27-A916-2C1B60AAB328}" sibTransId="{E24EBA78-7BD7-4A3A-83C0-8F67670F88B4}"/>
    <dgm:cxn modelId="{739407EF-6F69-4F11-8F40-5346BBCA5EBB}" srcId="{B8A2200E-22B1-4584-B118-D1E681E2A201}" destId="{5B29D678-6BC3-47AC-9596-D760DA2BBD95}" srcOrd="2" destOrd="0" parTransId="{056688BF-1943-4699-A313-4CE393162A37}" sibTransId="{E8752E53-BE34-42F5-A49C-3F14BBBFA6D2}"/>
    <dgm:cxn modelId="{A336DD22-C7F9-4FEE-ACEB-09FAC7AB9EC7}" type="presParOf" srcId="{83E95FB7-C9BA-4D1E-9B2F-C0872CDC3F60}" destId="{EC5FE9FF-8BCD-4D99-8BA3-7B0D84696185}" srcOrd="0" destOrd="0" presId="urn:microsoft.com/office/officeart/2016/7/layout/RepeatingBendingProcessNew"/>
    <dgm:cxn modelId="{1C52410A-64AE-4B8E-B1B9-E3B9D7DE511F}" type="presParOf" srcId="{83E95FB7-C9BA-4D1E-9B2F-C0872CDC3F60}" destId="{F99F2751-CD37-4394-A11C-1610F0FE454E}" srcOrd="1" destOrd="0" presId="urn:microsoft.com/office/officeart/2016/7/layout/RepeatingBendingProcessNew"/>
    <dgm:cxn modelId="{418073F3-0654-4627-A65E-56701F84F93F}" type="presParOf" srcId="{F99F2751-CD37-4394-A11C-1610F0FE454E}" destId="{915E91A8-01E2-4CBD-A926-0A6DBF00B009}" srcOrd="0" destOrd="0" presId="urn:microsoft.com/office/officeart/2016/7/layout/RepeatingBendingProcessNew"/>
    <dgm:cxn modelId="{53C72C48-A188-4003-8FF9-093DDC3FF85D}" type="presParOf" srcId="{83E95FB7-C9BA-4D1E-9B2F-C0872CDC3F60}" destId="{38C5A592-861B-44AE-97E4-FB57658C6D1A}" srcOrd="2" destOrd="0" presId="urn:microsoft.com/office/officeart/2016/7/layout/RepeatingBendingProcessNew"/>
    <dgm:cxn modelId="{CFEF9C9A-A6E1-4EFC-AAE3-ED3369127077}" type="presParOf" srcId="{83E95FB7-C9BA-4D1E-9B2F-C0872CDC3F60}" destId="{A8DFDE27-E153-41C1-939B-BE8EEC36165E}" srcOrd="3" destOrd="0" presId="urn:microsoft.com/office/officeart/2016/7/layout/RepeatingBendingProcessNew"/>
    <dgm:cxn modelId="{1AE6162D-F26E-4FD8-9BCE-713B6E8CC892}" type="presParOf" srcId="{A8DFDE27-E153-41C1-939B-BE8EEC36165E}" destId="{38275E6C-2973-4BB3-BF61-F776C155620C}" srcOrd="0" destOrd="0" presId="urn:microsoft.com/office/officeart/2016/7/layout/RepeatingBendingProcessNew"/>
    <dgm:cxn modelId="{407A66EC-6430-43DD-9910-47879F06675B}" type="presParOf" srcId="{83E95FB7-C9BA-4D1E-9B2F-C0872CDC3F60}" destId="{63BCE9AD-1CC7-408C-BB57-9D07EBBFB979}" srcOrd="4" destOrd="0" presId="urn:microsoft.com/office/officeart/2016/7/layout/RepeatingBendingProcessNew"/>
    <dgm:cxn modelId="{2CC87B04-8BE7-46BC-8254-71CB01A4F8A3}" type="presParOf" srcId="{83E95FB7-C9BA-4D1E-9B2F-C0872CDC3F60}" destId="{0740DE01-98B4-403E-848A-40CA6349016C}" srcOrd="5" destOrd="0" presId="urn:microsoft.com/office/officeart/2016/7/layout/RepeatingBendingProcessNew"/>
    <dgm:cxn modelId="{9926AD23-C479-4725-818E-4E90BD3CE0CE}" type="presParOf" srcId="{0740DE01-98B4-403E-848A-40CA6349016C}" destId="{537BC925-9D21-49FF-8D0C-9D7B6876C487}" srcOrd="0" destOrd="0" presId="urn:microsoft.com/office/officeart/2016/7/layout/RepeatingBendingProcessNew"/>
    <dgm:cxn modelId="{23F6F421-0756-4B9C-A7EF-373C84101126}" type="presParOf" srcId="{83E95FB7-C9BA-4D1E-9B2F-C0872CDC3F60}" destId="{8244D6F7-EB85-4929-A002-D913E909D7CC}" srcOrd="6" destOrd="0" presId="urn:microsoft.com/office/officeart/2016/7/layout/RepeatingBendingProcessNew"/>
    <dgm:cxn modelId="{2EFAD9F1-146C-462B-A5EB-08377312BBBF}" type="presParOf" srcId="{83E95FB7-C9BA-4D1E-9B2F-C0872CDC3F60}" destId="{634006FB-CE5C-47C8-9A42-294486880657}" srcOrd="7" destOrd="0" presId="urn:microsoft.com/office/officeart/2016/7/layout/RepeatingBendingProcessNew"/>
    <dgm:cxn modelId="{DACF2604-B88D-4E6D-994A-C0CD7A17AB7B}" type="presParOf" srcId="{634006FB-CE5C-47C8-9A42-294486880657}" destId="{AA8D26D9-1CFD-4D75-B1A8-341BD551D912}" srcOrd="0" destOrd="0" presId="urn:microsoft.com/office/officeart/2016/7/layout/RepeatingBendingProcessNew"/>
    <dgm:cxn modelId="{75A57005-DF7F-4DD1-8B59-52BA62BEAF1E}" type="presParOf" srcId="{83E95FB7-C9BA-4D1E-9B2F-C0872CDC3F60}" destId="{08534BAF-459B-40CB-B2F7-8700FD9139AE}" srcOrd="8" destOrd="0" presId="urn:microsoft.com/office/officeart/2016/7/layout/RepeatingBendingProcessNew"/>
    <dgm:cxn modelId="{5DC410A1-EBA1-4349-BAEC-EFA0FDBD9F0D}" type="presParOf" srcId="{83E95FB7-C9BA-4D1E-9B2F-C0872CDC3F60}" destId="{05AC2954-36CB-4C9B-8879-54FFA378C596}" srcOrd="9" destOrd="0" presId="urn:microsoft.com/office/officeart/2016/7/layout/RepeatingBendingProcessNew"/>
    <dgm:cxn modelId="{88641095-82C8-44AD-BB93-B1AC598B51F0}" type="presParOf" srcId="{05AC2954-36CB-4C9B-8879-54FFA378C596}" destId="{65CB37E9-64AA-47CA-9BDD-619EC318DCDE}" srcOrd="0" destOrd="0" presId="urn:microsoft.com/office/officeart/2016/7/layout/RepeatingBendingProcessNew"/>
    <dgm:cxn modelId="{375B3F7B-1B76-49FF-972E-2CD4E6F23B37}" type="presParOf" srcId="{83E95FB7-C9BA-4D1E-9B2F-C0872CDC3F60}" destId="{DF72200D-7B48-4CB2-9E66-261459D73A2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F2751-CD37-4394-A11C-1610F0FE454E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EC5FE9FF-8BCD-4D99-8BA3-7B0D84696185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​​O Poder Judiciário é um dos três poderes que compõem o Estado brasileiro. Tem o papel de julgar, de acordo com a lei, conflitos entre cidadãos, entidades e Estado.</a:t>
          </a:r>
          <a:endParaRPr lang="en-US" sz="1200" kern="1200" dirty="0"/>
        </a:p>
      </dsp:txBody>
      <dsp:txXfrm>
        <a:off x="8061" y="5979"/>
        <a:ext cx="3034531" cy="1820718"/>
      </dsp:txXfrm>
    </dsp:sp>
    <dsp:sp modelId="{A8DFDE27-E153-41C1-939B-BE8EEC36165E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38C5A592-861B-44AE-97E4-FB57658C6D1A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Cabe ao Judiciário interpretar as leis e aplicar o Direito nos processos judiciais que lhes são endereçados. </a:t>
          </a:r>
          <a:endParaRPr lang="en-US" sz="1200" kern="1200" dirty="0"/>
        </a:p>
      </dsp:txBody>
      <dsp:txXfrm>
        <a:off x="3740534" y="5979"/>
        <a:ext cx="3034531" cy="1820718"/>
      </dsp:txXfrm>
    </dsp:sp>
    <dsp:sp modelId="{0740DE01-98B4-403E-848A-40CA6349016C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63BCE9AD-1CC7-408C-BB57-9D07EBBFB979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Quem diz? A Constituição Federal do Brasil garante a todo cidadão o direito de provocar a Justiça para a solução de litígios.</a:t>
          </a:r>
          <a:endParaRPr lang="en-US" sz="1200" kern="1200" dirty="0"/>
        </a:p>
      </dsp:txBody>
      <dsp:txXfrm>
        <a:off x="7473007" y="5979"/>
        <a:ext cx="3034531" cy="1820718"/>
      </dsp:txXfrm>
    </dsp:sp>
    <dsp:sp modelId="{634006FB-CE5C-47C8-9A42-294486880657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8244D6F7-EB85-4929-A002-D913E909D7CC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Assim como os demais poderes do Estado, o Judiciário possui autonomia administrativa e </a:t>
          </a:r>
          <a:r>
            <a:rPr lang="pt-BR" sz="1200" kern="1200" dirty="0" err="1"/>
            <a:t>finance</a:t>
          </a:r>
          <a:r>
            <a:rPr lang="pt-BR" sz="1200" kern="1200" dirty="0"/>
            <a:t>​ira definida pela  CF. Tal autonomia figura como fator de garantia da independência e imparcialidade de juízes, desembargadores e ministros em seus julgamentos.</a:t>
          </a:r>
          <a:endParaRPr lang="en-US" sz="1200" kern="1200" dirty="0"/>
        </a:p>
      </dsp:txBody>
      <dsp:txXfrm>
        <a:off x="8061" y="2524640"/>
        <a:ext cx="3034531" cy="1820718"/>
      </dsp:txXfrm>
    </dsp:sp>
    <dsp:sp modelId="{05AC2954-36CB-4C9B-8879-54FFA378C596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08534BAF-459B-40CB-B2F7-8700FD9139AE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Organização funcional: disciplina como funciona a aplicação no Brasil. </a:t>
          </a:r>
          <a:endParaRPr lang="en-US" sz="1200" kern="1200" dirty="0"/>
        </a:p>
      </dsp:txBody>
      <dsp:txXfrm>
        <a:off x="3740534" y="2524640"/>
        <a:ext cx="3034531" cy="1820718"/>
      </dsp:txXfrm>
    </dsp:sp>
    <dsp:sp modelId="{DF72200D-7B48-4CB2-9E66-261459D73A22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No topo: STF (Supremo Tribunal Federal), órgão constitucional da Justiça brasileira. Também os Tribunais Superiores que têm a missão de uniformizar a jurisprudência e pacificar divergências provenientes das instâncias inferiores.</a:t>
          </a:r>
          <a:br>
            <a:rPr lang="pt-BR" sz="1200" kern="1200" dirty="0"/>
          </a:br>
          <a:endParaRPr lang="en-US" sz="1200" kern="1200" dirty="0"/>
        </a:p>
      </dsp:txBody>
      <dsp:txXfrm>
        <a:off x="7473007" y="2524640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30A9B-422C-318C-04F8-305DD0040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653854-8480-E4FA-9512-A7F083F84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D9362E-E791-8306-5676-D9ACEA1F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CB1A3F-83EC-38B4-3310-B111F0E0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8B89C0-1CAD-2ECD-F222-F90ABE45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58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56FEA-367C-AED7-8645-5681DED1B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E962E6-A39A-9810-B271-6ECC7C0B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84B8C7-A97A-6FFE-1E27-91F9986C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7C7AEB-0A1A-EF8B-2B35-D3A9B642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D7DF57-1D32-14E9-68B9-EDEA7366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73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EFA3C-EFB2-FBA1-5A14-4985A7AF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E20407-DAA4-7214-75AA-115FE8BEC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638108-4CD3-C1CF-E21B-4D02AF4F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3ED5BF-073F-EF53-876E-CDA1256D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6A146B-15F4-BBC5-5AA5-039BCB12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98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22B4F-AE59-7626-3F55-8C20744D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4A9B39-192B-7105-38BD-113C28681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ED03A6-9ED3-B1BE-18B3-E9A11EFD4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D06B4A-0C63-6700-D65F-1FFC8BB3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0E683C-4E62-7336-3D99-6DA5757E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D824E8-8820-F6F6-A6F9-AE1C9620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54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019F0-08B0-AB3D-33BE-0F35502B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1ED87E-036E-7402-9D4D-80CD33F7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8014B6-92BF-9EB6-57FB-37BE722A9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F5E8FD-4D0B-BDD6-ADA4-ECF588A84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923A58-5942-C30E-A8B8-741A855CA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068A6B-F846-8328-7DF9-4D264C62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473478-C58F-8BE0-BB88-2CB6F617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965A2F-3270-2837-9C19-7C29EB4A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57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3AC10-9EC3-46F5-2DA4-DA427A7B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86E183-9F27-8A4C-F532-6877061C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2B850E6-6BBF-2C41-34B2-388F8CE8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1DED5C-7B5F-BC58-D9CC-DB4B4F38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05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B79479-58B8-9DA4-E774-739C0ACC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9D59041-3ABB-0843-9BAC-C5ABECC8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BF839C-837B-6F8B-7333-011689D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86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6C819-39FD-4DA8-4738-010348871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166441-1BD1-62F6-2C10-B11000E90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1BFB58-AC91-0D86-6FCE-E415379E4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B5A02D-7A91-0B6E-24E8-EDAB92A1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EF8667-9A9C-F9DE-22A5-BBD1FBE1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B9C59C-0160-6DBE-5945-4E27FC3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26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71ED6-C36C-3775-3014-BCBD3419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AB4910B-E94B-F898-492D-686501BF5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A1CACC-6289-879E-7840-07ECF0199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28BC17-0ACE-2ED9-8000-EAC40291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1DB88D-6C37-4C1F-0896-0B654364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C530AD-87D0-0D7B-9268-18F1EBA4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502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FF8CF-10EE-F5B1-AEE6-69691748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5A5CE0-91D7-F666-5BF0-828CC5127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12A93-322E-DD57-D0F1-D6B93397F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A9D218-73C7-BC5A-D42B-DA24E7D7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C78103-EC3A-178E-B8BB-B0ACE784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20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932E77-3C53-C9E9-FFE2-37199DA71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9C41B8-5F85-1CCE-AA11-5384DD08A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E3A865-3031-BE3A-FD0F-CC8CA513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D3F8C5-7B0E-F518-0D6C-49DF06FB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C285E8-B92C-C89F-7D7D-86E3D6C8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233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02FBE-B686-A995-6A74-FF212F82A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2757C8-4318-2DEB-A8C5-350E19575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F66CE7-E1BA-13F3-E485-AA5EC3E3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D83879-4C9C-698D-94A5-D13136F64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DB4E78-F7BC-6D9C-8CC8-64BF28BF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698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8BFFB-ED97-9A07-9473-128E055C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324DA9-F8BF-A429-5275-99ABE8F8D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EA3C69-E53E-9616-253C-A84F0A46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AB204C-B33D-1027-5495-62E0AE0D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756C7E-EE9D-C302-F2AA-9FF882ED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94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45C19-6649-DD74-6328-A0CBD8AD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4AC8C1-8774-5508-4F5F-5B04FE88B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88B3FE-88FC-8A74-E3C9-24074B8D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45FD38-8F4F-16C6-5355-B1080FE0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F252BA-51B3-FC16-A0D0-519DFFDD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28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71204-974D-6821-9C2B-379E91CA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99236-1F4F-EAC4-4A84-96A128E04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99F1B6-4760-46F9-C9B0-C169D5625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DEB9F2-11C0-B5DE-1472-F6915CE2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442EB9-9C49-3A87-4369-F0CF84E6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ED9504-B21A-659D-C0C9-4D7959EF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387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DE074-6DB2-0D54-A9FE-6E0EAF4C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1849D-2D24-75C0-DB69-1C6D90082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91D67A-174B-68AA-8C43-90B6EA832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F251E4-EF69-4876-38EB-E051E92E1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F6D160-2DDE-14FF-A19B-E57D856AA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CEED73-BAF5-C578-6068-FC517874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DF258E-6FA4-520F-D8C3-0FEC1000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F1A888-1692-2047-3462-EE67E46F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235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8FEB0-3827-8927-0863-E6A0E144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C731B3-2A42-B261-E39F-BB1380C2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78D0D8-9293-2510-0DFA-D9E0ED99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22E301-CB77-9C84-514A-3441B6F6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441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B1B919-E548-C576-FA9F-11DC727D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ECA88EE-2050-CF15-0C8C-FFF46C8D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84B84F-D814-2CE8-9C57-A4BE00C7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0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E078D-7757-595A-7DF2-8A595AB5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263715-38A6-7E89-0A9C-39CFEB294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965A67-6F93-55C9-0BB8-685CB0929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859DAA-900B-1990-B2A1-D874EB0FF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77D1BF-3FFA-29DB-9160-ED52CA1D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B167FE-3BF0-DEAC-C292-B13BC16D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4581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6071A-4A48-211C-82EB-D2E3FCED6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D496A1B-6444-F647-2DAF-B9E9D0973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1D3550-FB7F-C21C-F00A-4527C77AA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4A5311-2F8E-2177-C745-2222B693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EC62BE-F9D0-A273-3959-9FF851DD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96ED02-1BCA-7A68-6685-AC28C4B8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04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CD8FC-BFA5-7C84-FF17-23CE9D12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6373D2-946A-431F-0235-E2D17842B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867373-E006-54BB-A889-C74C3BCF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8F40F-7B59-192A-AEB5-7E207477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902D69-18D8-47D2-7838-58A24AE2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3730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2F5F37-52AF-2F2F-EE06-8112783E0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E6E4C3-50D5-8839-AC8E-6DEA493F4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D5C875-8AA1-FDB1-3731-99E993F4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A65174-C12C-7F87-EC7A-6C1B2989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36ACA8-CBF7-A546-27E7-FDAF8CF5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1944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60A5A39-7EE5-1412-A4F8-E16F0481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F8B509-9D13-AECF-64AA-DCE0610EA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61C14D-9F72-20F9-9284-643197C48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3448D-217A-4D84-BD0A-746C229A78DC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A0AD1B-4B5D-1D65-D7BC-05F954F5C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732F41-5358-8102-175B-3E979AB42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F33EA-DAD0-4AD1-9671-E848A754C9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05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C56FE2-B2B0-F35E-FDA6-F2F4F6FA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5C0623-26EB-0B5A-4B36-6EC84A2CC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BB9958-90BD-8A84-86ED-225AE751E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1F65C-1D91-406A-9A33-585E73AEDA75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99567A-2BC5-4A66-2B7F-50780D2B3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688C7C-3DFE-D582-DCE0-FF2A5DB96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784AC-6702-4064-A647-2DDF1584E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81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pt/image/303949.html" TargetMode="Externa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Pessoas Discutindo">
            <a:extLst>
              <a:ext uri="{FF2B5EF4-FFF2-40B4-BE49-F238E27FC236}">
                <a16:creationId xmlns:a16="http://schemas.microsoft.com/office/drawing/2014/main" id="{2DC18C3E-1C04-44CE-DC11-FD25E912D3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1577F9-6A58-0F54-4680-883CE2A1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pt-BR" sz="5200" b="1" dirty="0">
                <a:solidFill>
                  <a:srgbClr val="FFFFFF"/>
                </a:solidFill>
                <a:latin typeface="Aptos"/>
              </a:rPr>
              <a:t>DIREITO DIGITAL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C0EDD1-4DBE-E7F0-4946-BC1B31D52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PROF. DRA. EVELYN 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FATEC VOTORANTIM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5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3362" y="3759608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 err="1">
                <a:solidFill>
                  <a:srgbClr val="0F172A"/>
                </a:solidFill>
                <a:latin typeface="Aptos"/>
              </a:rPr>
              <a:t>Apresentação</a:t>
            </a:r>
            <a:r>
              <a:rPr lang="en-US" sz="3600" b="1" dirty="0">
                <a:solidFill>
                  <a:srgbClr val="0F172A"/>
                </a:solidFill>
                <a:latin typeface="Aptos"/>
              </a:rPr>
              <a:t> 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1" b="5892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4D41CAE-0A3E-7CBD-850C-A37119A76B32}"/>
              </a:ext>
            </a:extLst>
          </p:cNvPr>
          <p:cNvSpPr txBox="1"/>
          <p:nvPr/>
        </p:nvSpPr>
        <p:spPr>
          <a:xfrm>
            <a:off x="305544" y="4913056"/>
            <a:ext cx="3366521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Dra. Evelyn Santinon Sola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Evelyn.sola@cps.sp.gov.br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09849B-3C37-6CD3-EF99-ED674EBFA78A}"/>
              </a:ext>
            </a:extLst>
          </p:cNvPr>
          <p:cNvSpPr txBox="1"/>
          <p:nvPr/>
        </p:nvSpPr>
        <p:spPr>
          <a:xfrm>
            <a:off x="4601497" y="375960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Advogada em direito preventivo, docente, formada em gestão comercial. Doutora em Ciências pela USP, Mestre em Direito. Master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Economie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 et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Gestion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, Management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Stratégigue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 et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Génie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des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Organisations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 - CAEE - Internacional Manager pela Universidade Pierre Mendes em Grenoble, França. MBA em Comércio Internacional pela Universidade de São Paulo (FEA), Especialista em Metodologia de Educação a Distância: Planejamento, Implantação e Gestão de cursos.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" panose="020F0502020204030204"/>
                <a:ea typeface="+mn-ea"/>
                <a:cs typeface="+mn-cs"/>
              </a:rPr>
              <a:t>Mediadora e conciliadora, com formação para atuação junto aos Tribunais, Câmaras de Arbitragem e Negociação.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58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B5A70-6DF9-0DF7-B4A6-D57B0DBF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Compromissos e Postura Acadêmica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FEBB4E-BCA3-1462-558F-A826B21AE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b="1" dirty="0">
                <a:solidFill>
                  <a:srgbClr val="FFFFFF"/>
                </a:solidFill>
                <a:latin typeface="Aptos"/>
              </a:rPr>
              <a:t>Uso de IA: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Permitido e incentivado para geração de insights. Proibido para copiar respostas prontas de estudos de caso jurídicos. O uso deve ser citado metodologicamente.</a:t>
            </a:r>
          </a:p>
          <a:p>
            <a:pPr lvl="0"/>
            <a:r>
              <a:rPr lang="pt-BR" b="1" dirty="0">
                <a:solidFill>
                  <a:srgbClr val="FFFFFF"/>
                </a:solidFill>
                <a:latin typeface="Aptos"/>
              </a:rPr>
              <a:t>Privacidade em Aula: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É proibido gravar a voz ou imagem do professor e dos colegas sem autorização prévia.</a:t>
            </a:r>
          </a:p>
          <a:p>
            <a:pPr lvl="0"/>
            <a:r>
              <a:rPr lang="pt-BR" b="1" dirty="0">
                <a:solidFill>
                  <a:srgbClr val="FFFFFF"/>
                </a:solidFill>
                <a:latin typeface="Aptos"/>
              </a:rPr>
              <a:t>Pontualidade: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Tolerância máxima de 15 minutos para entrada em sala. Passado esse tempo, o aluno pode assistir à aula, mas a presença na primeira chamada será afetada.</a:t>
            </a:r>
          </a:p>
          <a:p>
            <a:pPr lvl="0"/>
            <a:r>
              <a:rPr lang="pt-BR" b="1" dirty="0">
                <a:solidFill>
                  <a:srgbClr val="FFFFFF"/>
                </a:solidFill>
                <a:latin typeface="Aptos"/>
              </a:rPr>
              <a:t>Debates Éticos: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Respeito absoluto às opiniões divergentes durante a análise de dilemas morais e jurídicos de algoritmos.</a:t>
            </a:r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181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EFA69-9FC4-2FD5-7F3D-BE7E6DAD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Cronograma e entregas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7FE833-0F65-0648-DF9C-5F245A708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>
                <a:solidFill>
                  <a:srgbClr val="0F172A"/>
                </a:solidFill>
                <a:latin typeface="Aptos"/>
              </a:rPr>
              <a:t>Dia da Aula:</a:t>
            </a:r>
            <a:r>
              <a:rPr lang="pt-BR" dirty="0">
                <a:solidFill>
                  <a:srgbClr val="0F172A"/>
                </a:solidFill>
                <a:latin typeface="Aptos"/>
              </a:rPr>
              <a:t> Toda segunda-feira – </a:t>
            </a:r>
            <a:r>
              <a:rPr lang="pt-BR" dirty="0" err="1">
                <a:solidFill>
                  <a:srgbClr val="0F172A"/>
                </a:solidFill>
                <a:latin typeface="Aptos"/>
              </a:rPr>
              <a:t>19h00-22h30</a:t>
            </a:r>
            <a:r>
              <a:rPr lang="pt-BR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 lvl="0"/>
            <a:r>
              <a:rPr lang="pt-BR" dirty="0">
                <a:solidFill>
                  <a:srgbClr val="0F172A"/>
                </a:solidFill>
                <a:latin typeface="Aptos"/>
              </a:rPr>
              <a:t>Intervalo: 20:40 – 20:50</a:t>
            </a:r>
          </a:p>
          <a:p>
            <a:pPr lvl="0"/>
            <a:r>
              <a:rPr lang="pt-BR" b="1" dirty="0">
                <a:solidFill>
                  <a:srgbClr val="0F172A"/>
                </a:solidFill>
                <a:latin typeface="Aptos"/>
              </a:rPr>
              <a:t>Atrasos em Trabalhos:</a:t>
            </a:r>
            <a:r>
              <a:rPr lang="pt-BR" dirty="0">
                <a:solidFill>
                  <a:srgbClr val="0F172A"/>
                </a:solidFill>
                <a:latin typeface="Aptos"/>
              </a:rPr>
              <a:t> não serão tolerados, exceto por justificativa médica/legal.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211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18247-C7EA-C7A4-2F18-148573B0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Datas relevantes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A4F3A8-F920-6D41-9857-AFC90B8F3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28/09/2026 – Prova 1 – Avaliação 1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23/11/2026 – Projeto Integrador (PI)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30/11/2026 – PROVA 2 – Avaliação 2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Trabalhos – enviados nos dias de compensação/ OS ALUNOS SERÃO AVISADOS.  </a:t>
            </a:r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849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FA2DC039-A221-ECDE-1F35-EB772D719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713" y="0"/>
            <a:ext cx="5750166" cy="692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7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5CB4E-C4E3-8F2E-108F-CCFC59711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Objetivos específicos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52A6C2-8271-46DC-747F-ECEFEAF28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Explicar o esquema judiciário brasileiro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Dizer dos desafios e questões do direito digital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Dizer das Leis no Brasil – estrutura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Legislação Internacional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Explicar consequências jurídicas </a:t>
            </a:r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229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DAB52-787E-F21E-6AB2-CFB91EA9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Proposta para o semestre – PLANO DE ENSINO SIGA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4FF298-D0DB-10B8-607B-793C482E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Compreender as leis e regulamentos relacionados à proteção de dados pessoais e privacidade.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Conhecer os direitos e responsabilidades relacionados ao uso, coleta e armazenamento de dados.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Identificar e analisar os aspectos legais envolvidos na coleta e processamento de dados.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Interpretar e aplicar a legislação de proteção de dados em projetos de ciência de dados.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Conhecer as implicações éticas e legais do uso de algoritmos e inteligência artificial. Compreender as implicações legais relacionadas à segurança da informação e proteção contra crimes cibernéticos.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Conhecer os princípios legais relacionados à propriedade intelectual, direitos autorais e uso de software.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Identificar e avaliar os riscos jurídicos envolvidos na implementação de projetos de ciência de dados.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Comunicar-se de forma clara e eficaz sobre questões legais relacionadas à ciência de dados.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 Desenvolver uma consciência crítica em relação às questões legais emergentes no contexto da tecnologia e ciência de dados.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104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B3EF-BDCA-65C4-7967-7BAFBDE3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Brasil e o Direito Digital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526B5A-17EF-2053-E8CA-FEB59FDEB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O Brasil é um país em desenvolvimento, que se destaca principalmente na exportação agroexportadora.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O país enfrenta um processo de desindustrialização, perdendo indústrias para nações com mão de obra mais barata e impostos menores.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Isso contribui para o subdesenvolvimento, com índices de pobreza e um IDH relativamente baixo.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Para aplicar o direito digital de forma eficaz, é crucial entender esse contexto social e econômico.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O Brasil adotou a lógica capitalista, evidenciada em diversos artigos da Constituição, que garantem a livre iniciativa e a proteção da propriedade privada, destacando a função social da propriedade (nos artigos 5º, XXIII e 170, III - deixa de olhar apenas para terras e imóveis físicos e passa a regular os bens intangíveis, dados e infraestruturas digitais).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467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A2F96-931B-1805-0874-7DD403FC9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Precedentes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1D3D5A-EED5-96F5-4D3E-AF0CFF29C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b="1" dirty="0">
                <a:solidFill>
                  <a:srgbClr val="FFFFFF"/>
                </a:solidFill>
                <a:latin typeface="Aptos"/>
              </a:rPr>
              <a:t>O Caso do ECAD vs. IA (Precedente no Brasil): TJSC 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decidiu que músicas geradas por plataformas de inteligência artificial também </a:t>
            </a:r>
            <a:r>
              <a:rPr lang="pt-BR" b="1" dirty="0">
                <a:solidFill>
                  <a:srgbClr val="FFFFFF"/>
                </a:solidFill>
                <a:latin typeface="Aptos"/>
              </a:rPr>
              <a:t>estão sujeitas à cobrança de direitos autorais pelo ECAD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. Isso demonstra que os tribunais nacionais não aceitam o argumento de que a IA está "isenta" das leis de propriedade intelectual existentes.</a:t>
            </a:r>
          </a:p>
          <a:p>
            <a:pPr lvl="0"/>
            <a:endParaRPr lang="pt-BR" dirty="0"/>
          </a:p>
          <a:p>
            <a:pPr lvl="0"/>
            <a:r>
              <a:rPr lang="pt-BR" dirty="0">
                <a:solidFill>
                  <a:srgbClr val="FFFFFF"/>
                </a:solidFill>
                <a:latin typeface="Aptos"/>
              </a:rPr>
              <a:t>Precedente: um caso. </a:t>
            </a:r>
          </a:p>
          <a:p>
            <a:pPr lvl="0"/>
            <a:r>
              <a:rPr lang="pt-BR" dirty="0">
                <a:solidFill>
                  <a:srgbClr val="FFFFFF"/>
                </a:solidFill>
                <a:latin typeface="Aptos"/>
              </a:rPr>
              <a:t>Jurisprudência: conjunto de decisões.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276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41EE2-D53F-6457-0767-18812332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Caso Prático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60D648-EABC-4208-D651-EE50FFBC1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rgbClr val="0F172A"/>
                </a:solidFill>
                <a:latin typeface="Aptos"/>
              </a:rPr>
              <a:t>Uma grande plataforma de inteligência artificial coletou dados públicos de milhões de artistas para treinar sua ferramenta paga, sem pagar direitos autorais, alegando que os dados estavam na internet.</a:t>
            </a:r>
          </a:p>
          <a:p>
            <a:pPr marL="0" indent="0">
              <a:buNone/>
            </a:pPr>
            <a:r>
              <a:rPr lang="pt-BR" dirty="0">
                <a:solidFill>
                  <a:srgbClr val="0F172A"/>
                </a:solidFill>
                <a:latin typeface="Aptos"/>
              </a:rPr>
              <a:t>Pela ótima constitucional como podemos pensar? Foco no slide anterior. </a:t>
            </a:r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821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3F28B-AA79-B2A5-93D0-A86F4F56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Função da CF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95574B-D8B6-1140-95AE-73735ABFE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>
                <a:solidFill>
                  <a:srgbClr val="FFFFFF"/>
                </a:solidFill>
                <a:latin typeface="Aptos"/>
              </a:rPr>
              <a:t>Importante reconhecermos que a Constituição Federal cria regras como um guarda chuva – constitucionais.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Proteção de Dados Pessoais – direito fundamental pela Emenda Constitucional nº 115/2022. Garante aos cidadãos o controle sobre suas próprias informações coletadas por empresas ou pelo Estado.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Liberdade de Expressão e Manifestação do Pensamento - direito de produzir, consumir e compartilhar opiniões e conteúdos na internet, sendo vedado o anonimato na manifestação pública.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Intimidade, Vida Privada, Honra e Imagem: contra vazamentos, exposições não autorizadas ou monitoramentos abusivos. Dá direito à indenização por danos morais ou materiais caso esses limites sejam violados.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7524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8C84C-7BE5-77EB-2612-6C75D9B2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Função CF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86B221-54B2-0292-3026-644AF4467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Inviolabilidade do Sigilo de Correspondência e Comunicações: estendido para as comunicações telemáticas, fluxos de dados e mensagens trocadas por aplicativos (como o WhatsApp). Determina que o acesso às conversas privadas de um indivíduo só pode ocorrer mediante ordem judicial, respeitadas as hipóteses da lei penal.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Direito Fundamental à Inclusão Digital: dever do Poder Público de criar políticas para ampliar o acesso à internet em todo o país, direito democrático. </a:t>
            </a:r>
          </a:p>
          <a:p>
            <a:pPr lvl="0"/>
            <a:r>
              <a:rPr lang="pt-BR" dirty="0">
                <a:solidFill>
                  <a:srgbClr val="0F172A"/>
                </a:solidFill>
                <a:latin typeface="Aptos"/>
              </a:rPr>
              <a:t>Dignidade da Pessoa Humana : que o desenvolvimento tecnológico e o uso de inteligência artificial respeitem os direitos humanos e não promovam discriminações. </a:t>
            </a:r>
          </a:p>
          <a:p>
            <a:pPr lvl="0"/>
            <a:r>
              <a:rPr lang="pt-BR" dirty="0">
                <a:solidFill>
                  <a:srgbClr val="0F172A"/>
                </a:solidFill>
                <a:latin typeface="Aptos"/>
              </a:rPr>
              <a:t>Livre Iniciativa e Inovação: Incentiva o mercado de tecnologia, o empreendedorismo digital e o desenvolvimento científico como deveres do Estado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1676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0068B-5E7E-11E8-571E-2B63F6D5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Internacionalmente – Justiça social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0BFD8A-1254-14E5-1BD4-482FAEED6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Blocos econômicos na Ásia, África, União Europeia e tentativas na América do Sul, como a NAFTA, Unasul e Mercosul trazem novos elementos para o direito digital e evidenciam como empresas bilionárias, como Tesla e </a:t>
            </a:r>
            <a:r>
              <a:rPr lang="pt-BR" dirty="0" err="1">
                <a:solidFill>
                  <a:srgbClr val="FFFFFF"/>
                </a:solidFill>
                <a:latin typeface="Aptos"/>
              </a:rPr>
              <a:t>Amazon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(questão dos ativos intangíveis da era da informação), se tornaram mais poderosas que muitos países.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O papel do Estado está enfraquecido, e a desnacionalização e desfronteirização são evidentes. Exemplo: nômades digitais, apátridas e refugiados, que buscam nacionalidades por conveniência, como famílias russas que vêm ao Brasil para garantir a nacionalidade brasileira para seus filhos.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75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7AF5D-6863-AE85-49E5-083F4E3C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Direito digital e consumismo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76A560-5D05-BA0F-4D33-B34CBB0ED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Direito digital não pode ser dissociado da lógica capitalista e o consumismo.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Ao analisarmos o direito digital em relação à economia, ao direito do consumidor e ao direito tributário, percebe-se que essas áreas estão interligadas.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A lógica do consumismo pode se manifestar de forma consciente (menor) ou exacerbada, levando as pessoas a trocarem de dispositivos eletrônicos com frequência ou a adquirirem bens como uma forma de compensação emocional.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Essa realidade impacta as compras digitais e o funcionamento do e-commerce.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A economia mundial, predominantemente capitalista, busca o lucro e o status, muitas vezes em detrimento da justiça social. O capitalismo, em sua essência, não necessariamente promove a equidade social, o que se reflete nas disparidades econômicas e na pobreza.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9122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E574E-A1FD-AF12-DADE-65582F5B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Direito Digital – Conceitos: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D94AB9-CF68-C01C-3F17-3CD4CDA50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O Direito Digital não é um ramo isolado do direito.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Engloba vários ramos: civil, constitucional, penal, do consumidor, só que aplicado ao ambiente digital e às tecnologias de informação.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1988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6AEDB-6D80-67C0-D7BE-7AC91F61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Direito Digital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AF12D3-3336-7C25-5938-70434BBF9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O direito digital se insere em um contexto interdisciplinar, envolvendo áreas como economia, sociologia, filosofia e matemática.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Demonstra que o direito digital não é uma teoria isolada; ele está profundamente entrelaçado com diversas disciplinas, tanto jurídicas quanto não jurídicas.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Alguns autores defendem que o direito digital possui autonomia e independência, enquanto outros argumentam que ele é, na verdade, uma atualização de ramos tradicionais do direito, como o constitucional, administrativo, tributário, trabalhista, penal e civil, adaptados à realidade do terceiro milênio.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7821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5390F-B9A8-9F6F-D105-67700D6F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Direito Digital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E5537B-38EB-AA78-CB5A-7269BC772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O direito digital é um campo relativamente novo, que atualiza diversas áreas do direito, como o constitucional, administrativo, ambiental, penal, tributário e do trabalho.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Apresenta uma lógica independente e autônoma, com leis, doutrinas, normas, princípios e jurisprudências próprias, formando um ecossistema jurídico digital em constante evolução.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É importante destacar algumas das fontes normativas do direito digital. </a:t>
            </a:r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2829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F7B54-A3AA-CE41-D410-D0EEFCB6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Direito Digital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73F3C1-315F-0ED8-EB8F-5FEE1F16E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Oferecidas pelo Marco Civil, pela LGPD (Lei Geral de Proteção de Dados), pela lei dos games e pela lei das startups.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Essas fontes normativas desempenham um papel crucial em nos salvaguardar no mundo da internet, das redes sociais e da tecnologia, funcionando como um antivírus contra possíveis abusos.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Recentemente, em 2022, a Constituição foi alterada para incluir no artigo 579 a proteção dos dados pessoais.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Existem outras propostas de emenda à Constituição que visam estabelecer a cidadania digital e reconhecer a internet como um direito fundamental.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Países como Alemanha e Finlândia já possuem uma cidadania digital robusta, onde a internet é considerada um direito universal. No entanto, o Brasil ainda não atingiu esse patamar.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Atualmente, a Constituição Brasileira de 1988 não é digital, mas, com as reformas em andamento, podemos vislumbrar um futuro em que ela se torne mais digitalizada, refletindo as necessidades da sociedade contemporânea.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5736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E15B7-BE03-13E8-317A-276B18D6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FFFFFF"/>
                </a:solidFill>
                <a:latin typeface="Aptos"/>
              </a:rPr>
              <a:t>Principais Leis do Direito Digital no Brasil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275FEC-16B8-B01C-C914-41E5C8E5A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O Marco Civil da Internet, criado em 2014, já possui 11 anos de existência, o que o torna uma legislação relativamente recente.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As leis que compõem o </a:t>
            </a:r>
            <a:r>
              <a:rPr lang="pt-BR" dirty="0" err="1">
                <a:solidFill>
                  <a:srgbClr val="FFFFFF"/>
                </a:solidFill>
                <a:latin typeface="Aptos"/>
              </a:rPr>
              <a:t>microsistema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do direito digital também surgiram recentemente, especialmente após 2010.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Embora o Código Civil e o Código de Defesa do Consumidor não tenham sido elaborados especificamente para o ambiente digital, e o CPC trate de peticionamento eletrônico de forma tímida, as leis mais relevantes do direito digital foram criadas nos últimos dez anos.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A Lei Carolina </a:t>
            </a:r>
            <a:r>
              <a:rPr lang="pt-BR" dirty="0" err="1">
                <a:solidFill>
                  <a:srgbClr val="FFFFFF"/>
                </a:solidFill>
                <a:latin typeface="Aptos"/>
              </a:rPr>
              <a:t>Dickmann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, um pouco anterior, é um exemplo disso. As legislações sobre direito digital se intensificaram especialmente entre 2018 e 2020, mostrando que esse campo ainda é novo e em desenvolvimento.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O Marco Civil da Internet, embora tenha sido uma inovação em sua época, já precisa de atualizações e revisões. </a:t>
            </a:r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7133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93C3B-E465-9C2E-32A0-60CB25B2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Principais Leis do Direito Digital no Brasil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3F1D1C-3D73-33B7-6C05-2D4A006AD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A Lei Geral de Proteção de Dados (LGPD) também se destaca, ganhando importância não só no direito, mas em diversos aspectos da vida cotidiana.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 A LGPD, que será abordada em uma aula específica, fundamenta a proteção de dados como um direito essencial, conforme o artigo 5º da Constituição de 2022. Além disso, a recente legislação sobre criptoativos e criptomoedas traz novos desafios, como a tributação das transações e a proteção contra crimes relacionados, como a lavagem de dinheiro, que têm sido facilitados pelo uso dessas moedas digitais.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O direito digital está em constante evolução, com a criação de startups que surgem rapidamente e muitas vezes são adquiridas por grandes empresas.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O Código de Defesa do Consumidor, o Código Civil e a Lei Carolina </a:t>
            </a:r>
            <a:r>
              <a:rPr lang="pt-BR" dirty="0" err="1">
                <a:solidFill>
                  <a:srgbClr val="0F172A"/>
                </a:solidFill>
                <a:latin typeface="Aptos"/>
              </a:rPr>
              <a:t>Dickmann</a:t>
            </a:r>
            <a:r>
              <a:rPr lang="pt-BR" dirty="0">
                <a:solidFill>
                  <a:srgbClr val="0F172A"/>
                </a:solidFill>
                <a:latin typeface="Aptos"/>
              </a:rPr>
              <a:t>, de 2012, que protege contra invasões em dispositivos eletrônicos, são exemplos de legislações que interagem com esse novo cenário.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 Outras leis, como a Lei do Governo Digital, de 2021, e a Lei dos Games, de 2024, também refletem a velocidade das mudanças nesse campo. Portanto, é crucial que conheçamos as bases do direito digital, incluindo o Marco Civil, a LGPD, a legislação sobre criptoativos, startups, e outras normas que continuam a surgir.</a:t>
            </a:r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0294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0A52A-7563-E735-7429-FA9059349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Legislações relacionadas ao Direito Digital no Brasil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389DE5-9CFC-9177-AE41-B18E979A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Emenda Constitucional nº 115/2022: elevou a proteção de dados pessoais ao status de Direito Fundamental na Constituição Federal (Art. 5º, inciso LXXIX), garantindo a tutela da privacidade no mais alto nível hierárquico do direito brasileiro.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Lei Geral de Proteção de Dados Pessoais — LGPD (Lei nº 13.709/2018).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Lei Carolina Dieckmann (Lei nº 12.737/2012) 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Lei do </a:t>
            </a:r>
            <a:r>
              <a:rPr lang="pt-BR" dirty="0" err="1">
                <a:solidFill>
                  <a:srgbClr val="FFFFFF"/>
                </a:solidFill>
                <a:latin typeface="Aptos"/>
              </a:rPr>
              <a:t>Stalking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e Crimes contra a Honra (Lei nº 14.132/2021)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Lei de Crimes Cibernéticos / Estelionato Virtual (Lei nº 14.155/2021)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Decreto do E-commerce (Decreto nº 7.962/2013): o qual regulamenta o Código de Defesa do Consumidor (CDC) para a contratação no comércio eletrônico.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6401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C7069-2DFD-F776-5844-CEDEC19D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Desafios Jurídicos e Provas Eletrônicas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43B9A-0F70-EAB4-A29A-8E073307F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Refletindo sobre a sociedade digital, surge a questão de como construir um direito digital global.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Convenção de Budapeste foi uma tentativa nesse sentido, mas focou apenas em crimes digitais.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 Além disso, é importante considerar como a sociedade digital transformou o modelo de riqueza. Por exemplo, qual seguradora garantiria que um influenciador não seria cancelado? Essas questões são recentes e começaram a ser discutidas apenas na última década, algo impensável há 20 ou 30 anos.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O próprio processo civil e penal também enfrenta novos desafios, especialmente no que diz respeito às provas eletrônicas.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 Antigamente, a testemunha precisava estar presente, mas hoje, a internet se tornou a nova testemunha. O servidor que armazena arquivos perpetua essas evidências para sempre. Assim, as testemunhas atuais são máquinas, enquanto antes eram pessoas físicas. A prova notarial, que exigia a presença em um cartório para a lavratura de uma ata, agora se estende a conversas de WhatsApp, um conceito que ganhou força após o CPC de 2015 e se consolidou nos anos 2000 e 2020.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Funcionamento das provas. Provas admitidas.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048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7844E-29A6-5232-2349-15BF3C61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Caso prático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E9698-07CC-D36D-DBDB-B8430D915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>
                <a:solidFill>
                  <a:srgbClr val="FFFFFF"/>
                </a:solidFill>
                <a:latin typeface="Aptos"/>
              </a:rPr>
              <a:t>Uma startup desenvolveu um sistema de Inteligência Artificial para prever a probabilidade de inadimplência de consumidores.</a:t>
            </a:r>
          </a:p>
          <a:p>
            <a:pPr marL="0" indent="0">
              <a:buNone/>
            </a:pPr>
            <a:r>
              <a:rPr lang="pt-BR" dirty="0">
                <a:solidFill>
                  <a:srgbClr val="FFFFFF"/>
                </a:solidFill>
                <a:latin typeface="Aptos"/>
              </a:rPr>
              <a:t>O sistema utiliza milhões de registros coletados de diferentes fontes digitais.</a:t>
            </a:r>
          </a:p>
          <a:p>
            <a:pPr marL="0" indent="0">
              <a:buNone/>
            </a:pPr>
            <a:r>
              <a:rPr lang="pt-BR" dirty="0">
                <a:solidFill>
                  <a:srgbClr val="FFFFFF"/>
                </a:solidFill>
                <a:latin typeface="Aptos"/>
              </a:rPr>
              <a:t>Após o lançamento do produto, um jornalista publica uma reportagem afirmando que: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Dados pessoais de milhares de pessoas foram utilizados sem consentimento. 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O modelo estaria classificando moradores de determinadas regiões como mais arriscados apenas por seu CEP.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Um ex-funcionário afirma ter copiado uma base de dados de uma empresa concorrente para acelerar o treinamento do algoritmo.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Alguns clientes foram vítimas de tentativas de golpe após parte da base de dados aparecer em fóruns na internet.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A empresa afirma que também foi vítima de um ataque hacker e não sabe exatamente como os dados foram parar na rede.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2868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8207C5-DAA7-ABCA-41B4-6F0014A31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ptos"/>
              </a:rPr>
              <a:t>Quem vocês acham que errou no caso?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C449A-36C6-9352-5038-ED735E875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556" r="10556"/>
          <a:stretch/>
        </p:blipFill>
        <p:spPr>
          <a:xfrm>
            <a:off x="6639818" y="737488"/>
            <a:ext cx="4246560" cy="5383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1153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4E8F00-D9AB-717F-8857-33159F4F7A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C43025-4980-62F3-C6ED-506D5D46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Aptos"/>
              </a:rPr>
              <a:t>O Poder Judiciário Brasileiro </a:t>
            </a:r>
            <a:endParaRPr lang="pt-BR" dirty="0"/>
          </a:p>
        </p:txBody>
      </p:sp>
      <p:graphicFrame>
        <p:nvGraphicFramePr>
          <p:cNvPr id="21" name="Espaço Reservado para Conteúdo 2">
            <a:extLst>
              <a:ext uri="{FF2B5EF4-FFF2-40B4-BE49-F238E27FC236}">
                <a16:creationId xmlns:a16="http://schemas.microsoft.com/office/drawing/2014/main" id="{F4F74E5C-D4EB-CF24-8A8B-4216025FD7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9462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351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00B5A60-B598-E375-A745-5ECA6974C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200" y="457200"/>
            <a:ext cx="5943600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9144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5CEF35-C3AE-202A-ED60-E8019CBFF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Legislações infraconstitucionais principais 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7CEB6F5-06FC-B348-9E60-50BDE402B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540403"/>
            <a:ext cx="7188199" cy="37738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2627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7FC4DF9-13A3-E3FB-C664-791C7AAE6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4740" y="914400"/>
            <a:ext cx="13163189" cy="4837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230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B04A40-3333-1F8B-F30E-B0C37D0F5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4200" b="1" dirty="0">
                <a:solidFill>
                  <a:srgbClr val="FFFFFF"/>
                </a:solidFill>
                <a:latin typeface="Aptos"/>
              </a:rPr>
              <a:t>DEFINIÇÃO JUSTIÇA ESTADUAL X FEDERAL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74311674-0D0F-3EA8-1A94-459EC52CB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pt-BR" sz="2200" b="1" dirty="0">
                <a:solidFill>
                  <a:srgbClr val="FFFFFF"/>
                </a:solidFill>
                <a:latin typeface="Aptos"/>
              </a:rPr>
              <a:t>Justiça Federal – art. 109 CF. Estipula a competência, caso contrário estadual. Verificar fluxograma. </a:t>
            </a:r>
          </a:p>
          <a:p>
            <a:r>
              <a:rPr lang="pt-BR" sz="2200" b="1" dirty="0">
                <a:solidFill>
                  <a:srgbClr val="FFFFFF"/>
                </a:solidFill>
                <a:latin typeface="Aptos"/>
              </a:rPr>
              <a:t>Exemplos da Justiça Estadual: Golpe do Pix, clonagem de WhatsApp, estelionato digital, difamação em redes sociais e invasão de dispositivo eletrônico pessoal. </a:t>
            </a:r>
          </a:p>
          <a:p>
            <a:r>
              <a:rPr lang="pt-BR" sz="2200" b="1" dirty="0">
                <a:solidFill>
                  <a:srgbClr val="FFFFFF"/>
                </a:solidFill>
                <a:latin typeface="Aptos"/>
              </a:rPr>
              <a:t>No direito digital, podemos citar como exemplos os crimes que afetam a União, como ataques hacker a sites do Governo Federal - INSS, fraudes contra a Caixa Econômica Federal, pornografia infantil transnacional e crimes de ódio de repercussão internacional.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4728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512D9-FFED-B725-48AE-8142A457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0F172A"/>
                </a:solidFill>
                <a:latin typeface="Aptos"/>
              </a:rPr>
              <a:t>DIFERENCIAÇÃO PENAL X CIVIL X ADMINISTRATIVO </a:t>
            </a:r>
            <a:endParaRPr lang="pt-BR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324E6D-30D0-D160-4119-430578E9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>
                <a:solidFill>
                  <a:srgbClr val="0F172A"/>
                </a:solidFill>
                <a:latin typeface="Aptos"/>
              </a:rPr>
              <a:t>Esfera administrativa: fiscalizatória. Pela ANPD (Autoridade Nacional de Proteção de Dados), que aplica multas e advertências a empresas ou órgãos públicos, como as previstas na Lei Geral de Proteção de Dados. </a:t>
            </a:r>
          </a:p>
          <a:p>
            <a:r>
              <a:rPr lang="pt-BR">
                <a:solidFill>
                  <a:srgbClr val="0F172A"/>
                </a:solidFill>
                <a:latin typeface="Aptos"/>
              </a:rPr>
              <a:t>Esfera penal (criminal) – sempre seguem o princípio da legalidade - com conduta descrita expressamente no Código Penal ou em leis penais específicas. Crimes previstos no Brasil. Consequências: prisão, multa. </a:t>
            </a:r>
          </a:p>
          <a:p>
            <a:r>
              <a:rPr lang="pt-BR">
                <a:solidFill>
                  <a:srgbClr val="0F172A"/>
                </a:solidFill>
                <a:latin typeface="Aptos"/>
              </a:rPr>
              <a:t>Civil - Esfera indenizatória – alguns exemplos: como reparação de danos morais e materiais (imagem, vazamento de dados – morais ou então ressarcimento financeiro golpes, fraudes). de fotos íntimas ou cyberbullying). </a:t>
            </a:r>
          </a:p>
          <a:p>
            <a:r>
              <a:rPr lang="pt-BR">
                <a:solidFill>
                  <a:srgbClr val="0F172A"/>
                </a:solidFill>
                <a:latin typeface="Aptos"/>
              </a:rPr>
              <a:t>Esfera cível (que é relativo ao direito civil)– remoção de conteúdo e obrigações, provedores que são obrigados a tirar mensagens ofensivas do ar. Possibilidade de liminares, tutelas de urgência.  Obrigação de fazer – opt in x opt out.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0543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92D4A-01F0-B98A-CAC5-C8F07522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Explicações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11E4F-DCCC-6F2C-D7BF-2BFFD5FC0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Direito Preventivo x Direito Contencioso – o compliance digital x direito cibernético – casos. </a:t>
            </a:r>
          </a:p>
          <a:p>
            <a:pPr marL="0" indent="0">
              <a:buNone/>
            </a:pPr>
            <a:r>
              <a:rPr lang="pt-BR" dirty="0">
                <a:solidFill>
                  <a:srgbClr val="FFFFFF"/>
                </a:solidFill>
                <a:latin typeface="Aptos"/>
              </a:rPr>
              <a:t>Quem faz o quê.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0917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546A0-2F72-2716-21E1-CB3B72216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81B7C-1EEC-1B5C-F5F2-1DF66067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VOLTAMOS PARA SOLUÇÃO DO CASO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78067-D0D2-30C9-89E7-9F503A04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>
                <a:solidFill>
                  <a:srgbClr val="0F172A"/>
                </a:solidFill>
                <a:latin typeface="Aptos"/>
              </a:rPr>
              <a:t>Uma startup desenvolveu um sistema de Inteligência Artificial para prever a probabilidade de inadimplência de consumidores.</a:t>
            </a:r>
          </a:p>
          <a:p>
            <a:pPr marL="0" indent="0">
              <a:buNone/>
            </a:pPr>
            <a:r>
              <a:rPr lang="pt-BR" dirty="0">
                <a:solidFill>
                  <a:srgbClr val="0F172A"/>
                </a:solidFill>
                <a:latin typeface="Aptos"/>
              </a:rPr>
              <a:t>O sistema utiliza milhões de registros coletados de diferentes fontes digitais.</a:t>
            </a:r>
          </a:p>
          <a:p>
            <a:r>
              <a:rPr lang="pt-BR" dirty="0">
                <a:solidFill>
                  <a:srgbClr val="0F172A"/>
                </a:solidFill>
                <a:highlight>
                  <a:srgbClr val="FFFF00"/>
                </a:highlight>
                <a:latin typeface="Aptos"/>
              </a:rPr>
              <a:t>Dados pessoais de milhares de pessoas foram utilizados sem consentimento</a:t>
            </a:r>
            <a:r>
              <a:rPr lang="pt-BR" dirty="0">
                <a:solidFill>
                  <a:srgbClr val="0F172A"/>
                </a:solidFill>
                <a:latin typeface="Aptos"/>
              </a:rPr>
              <a:t>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O modelo estaria classificando </a:t>
            </a:r>
            <a:r>
              <a:rPr lang="pt-BR" dirty="0">
                <a:solidFill>
                  <a:srgbClr val="0F172A"/>
                </a:solidFill>
                <a:highlight>
                  <a:srgbClr val="FFFF00"/>
                </a:highlight>
                <a:latin typeface="Aptos"/>
              </a:rPr>
              <a:t>moradores de determinadas regiões como mais arriscados apenas por seu CEP.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Um </a:t>
            </a:r>
            <a:r>
              <a:rPr lang="pt-BR" dirty="0">
                <a:solidFill>
                  <a:srgbClr val="0F172A"/>
                </a:solidFill>
                <a:highlight>
                  <a:srgbClr val="FFFF00"/>
                </a:highlight>
                <a:latin typeface="Aptos"/>
              </a:rPr>
              <a:t>ex-funcionário afirma ter copiado uma base de dados de uma empresa concorrente </a:t>
            </a:r>
            <a:r>
              <a:rPr lang="pt-BR" dirty="0">
                <a:solidFill>
                  <a:srgbClr val="0F172A"/>
                </a:solidFill>
                <a:latin typeface="Aptos"/>
              </a:rPr>
              <a:t>para acelerar o treinamento do algoritmo.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Alguns clientes foram </a:t>
            </a:r>
            <a:r>
              <a:rPr lang="pt-BR" dirty="0">
                <a:solidFill>
                  <a:srgbClr val="0F172A"/>
                </a:solidFill>
                <a:highlight>
                  <a:srgbClr val="FFFF00"/>
                </a:highlight>
                <a:latin typeface="Aptos"/>
              </a:rPr>
              <a:t>vítimas de tentativas de golpe após parte da base de dados aparecer em fóruns </a:t>
            </a:r>
            <a:r>
              <a:rPr lang="pt-BR" dirty="0">
                <a:solidFill>
                  <a:srgbClr val="0F172A"/>
                </a:solidFill>
                <a:latin typeface="Aptos"/>
              </a:rPr>
              <a:t>na internet.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A empresa afirma que também foi vítima de um </a:t>
            </a:r>
            <a:r>
              <a:rPr lang="pt-BR" dirty="0">
                <a:solidFill>
                  <a:srgbClr val="0F172A"/>
                </a:solidFill>
                <a:highlight>
                  <a:srgbClr val="FFFF00"/>
                </a:highlight>
                <a:latin typeface="Aptos"/>
              </a:rPr>
              <a:t>ataque hacker e não sabe exatamente como os dados foram </a:t>
            </a:r>
            <a:r>
              <a:rPr lang="pt-BR" dirty="0">
                <a:solidFill>
                  <a:srgbClr val="0F172A"/>
                </a:solidFill>
                <a:latin typeface="Aptos"/>
              </a:rPr>
              <a:t>parar na rede.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1528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2DEB6-A9FC-9B87-4FEE-935F1F958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Desafios do compliance digital global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A60DF-5C2E-1F54-4F58-3115D69F2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Conflitos regulatórios: A coexistência de normas diversas pode gerar situações complexas, como a necessidade de conciliar obrigações contraditórias;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Transferência internacional de dados: A movimentação de dados pessoais entre países exige mecanismos específicos, como cláusulas contratuais padrão e avaliações de risco;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Cibersegurança: A proteção contra ataques cibernéticos é imprescindível para evitar vazamentos e prejuízos;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Cultura corporativa: A adoção efetiva do compliance depende da conscientização e engajamento de todos os colaboradores.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Tendências e boas práticas para enfrentar os </a:t>
            </a:r>
            <a:r>
              <a:rPr lang="pt-BR" dirty="0" err="1">
                <a:solidFill>
                  <a:srgbClr val="FFFFFF"/>
                </a:solidFill>
                <a:latin typeface="Aptos"/>
              </a:rPr>
              <a:t>desafiosTecnologia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como aliada: Ferramentas de inteligência artificial e análise de dados são cada vez mais utilizadas para monitorar o cumprimento das normas;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Governança integrada: Programas que combinam aspectos jurídicos, técnicos e administrativos têm maior sucesso;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Transparência: Informar claramente os titulares dos dados e stakeholders sobre o tratamento e a proteção das informações fortalece a confiança;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Parcerias estratégicas: Consultorias especializadas e fornecedores de tecnologia podem auxiliar na implementação e manutenção do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4423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F0F70-9532-ABAA-A1E0-6752D659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F172A"/>
                </a:solidFill>
                <a:latin typeface="Aptos"/>
              </a:rPr>
              <a:t>Desafios Legislativos e Perspectivas Futuras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89799A-2155-8DE3-39BF-98D83FDAE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rgbClr val="0F172A"/>
                </a:solidFill>
                <a:latin typeface="Aptos"/>
              </a:rPr>
              <a:t>Existem temas que ainda não foram totalmente explorados no contexto digital.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O Código Civil, o CDC, o CPC, o CPP e o Código Penal não foram criados para o mundo digital; eles ainda se baseiam em um modelo analógico. Portanto, é fundamental atualizar essas legislações. </a:t>
            </a:r>
          </a:p>
          <a:p>
            <a:r>
              <a:rPr lang="pt-BR" dirty="0">
                <a:solidFill>
                  <a:srgbClr val="0F172A"/>
                </a:solidFill>
                <a:latin typeface="Aptos"/>
              </a:rPr>
              <a:t>Cabe ao profissional do direito utilizar sua criatividade e sensibilidade para entender o cenário atual e orientar os legisladores na elaboração de boas leis.</a:t>
            </a:r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288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95B68-D5CF-BD91-067B-F4915FB4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Principais desafios do Direito Digital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E1BC84-6B11-8E77-37B6-F161728C5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>
                <a:solidFill>
                  <a:srgbClr val="FFFFFF"/>
                </a:solidFill>
                <a:latin typeface="Aptos"/>
              </a:rPr>
              <a:t>Regulação de Tecnologias e IA</a:t>
            </a:r>
          </a:p>
          <a:p>
            <a:r>
              <a:rPr lang="pt-BR" b="1" dirty="0">
                <a:solidFill>
                  <a:srgbClr val="FFFFFF"/>
                </a:solidFill>
                <a:latin typeface="Aptos"/>
              </a:rPr>
              <a:t>Inteligência Artificial (IA):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Debate global sobre o uso ético, viés algorítmico e responsabilização por erros de sistemas autônomos.</a:t>
            </a:r>
          </a:p>
          <a:p>
            <a:r>
              <a:rPr lang="pt-BR" b="1" dirty="0">
                <a:solidFill>
                  <a:srgbClr val="FFFFFF"/>
                </a:solidFill>
                <a:latin typeface="Aptos"/>
              </a:rPr>
              <a:t>Modelos Regulatórios: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O impacto de leis pioneiras, a exemplo do padrão estabelecido pelo Regulamento Geral de Proteção de Dados - RGPD na Europa, que servem de base para debates no Brasil e no mundo.</a:t>
            </a:r>
          </a:p>
          <a:p>
            <a:r>
              <a:rPr lang="pt-BR" b="1" dirty="0">
                <a:solidFill>
                  <a:srgbClr val="FFFFFF"/>
                </a:solidFill>
                <a:latin typeface="Aptos"/>
              </a:rPr>
              <a:t>Governo e Big </a:t>
            </a:r>
            <a:r>
              <a:rPr lang="pt-BR" b="1" dirty="0" err="1">
                <a:solidFill>
                  <a:srgbClr val="FFFFFF"/>
                </a:solidFill>
                <a:latin typeface="Aptos"/>
              </a:rPr>
              <a:t>Techs</a:t>
            </a:r>
            <a:r>
              <a:rPr lang="pt-BR" b="1" dirty="0">
                <a:solidFill>
                  <a:srgbClr val="FFFFFF"/>
                </a:solidFill>
                <a:latin typeface="Aptos"/>
              </a:rPr>
              <a:t>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Esforços internacionais para limitar monopólios e impor regras de conduta a grandes empresas de tecnologia. </a:t>
            </a:r>
          </a:p>
          <a:p>
            <a:r>
              <a:rPr lang="pt-BR" b="1" dirty="0">
                <a:solidFill>
                  <a:srgbClr val="FFFFFF"/>
                </a:solidFill>
                <a:latin typeface="Aptos"/>
              </a:rPr>
              <a:t>Fluxo de Dados e Segurança</a:t>
            </a:r>
          </a:p>
          <a:p>
            <a:r>
              <a:rPr lang="pt-BR" b="1" dirty="0">
                <a:solidFill>
                  <a:srgbClr val="FFFFFF"/>
                </a:solidFill>
                <a:latin typeface="Aptos"/>
              </a:rPr>
              <a:t>ia Internacional de Dados: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Conflitos jurídicos sobre onde os dados dos usuários podem ser armazenados e processados.</a:t>
            </a:r>
          </a:p>
          <a:p>
            <a:r>
              <a:rPr lang="pt-BR" b="1" dirty="0">
                <a:solidFill>
                  <a:srgbClr val="FFFFFF"/>
                </a:solidFill>
                <a:latin typeface="Aptos"/>
              </a:rPr>
              <a:t>Crimes Cibernéticos: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Dificuldade de investigação e aplicação de leis penais em ataques virtuais que cruzam fronteiras de diferentes países.</a:t>
            </a:r>
          </a:p>
          <a:p>
            <a:r>
              <a:rPr lang="pt-BR" b="1" dirty="0">
                <a:solidFill>
                  <a:srgbClr val="FFFFFF"/>
                </a:solidFill>
                <a:latin typeface="Aptos"/>
              </a:rPr>
              <a:t>Soberania Digital: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O choque entre o controle estatal de conteúdos locais e a transnacionalidade das redes de comunicação.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4918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0B2BDF-AF6D-E9F7-F1DB-A3194DA6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pt-BR" sz="4000">
                <a:latin typeface="Aptos"/>
              </a:rPr>
              <a:t>Questionamento </a:t>
            </a:r>
          </a:p>
        </p:txBody>
      </p:sp>
      <p:pic>
        <p:nvPicPr>
          <p:cNvPr id="8" name="Graphic 7" descr="Help">
            <a:extLst>
              <a:ext uri="{FF2B5EF4-FFF2-40B4-BE49-F238E27FC236}">
                <a16:creationId xmlns:a16="http://schemas.microsoft.com/office/drawing/2014/main" id="{4DAAE28B-C12F-AD9F-E218-2006679A56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62D88-D196-0396-A2C7-A26091894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>
                <a:latin typeface="Aptos"/>
              </a:rPr>
              <a:t>Exercitar as principais questões que gostariam de ver sanadas da área de vocês. </a:t>
            </a:r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91BA4EB2-AFB2-4390-A3C8-93B490C64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27713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1C735-2454-21D1-8436-B43E7CB4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Bibliografia básica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444A87-18DC-97B3-43F3-F2E913599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FFFFFF"/>
                </a:solidFill>
                <a:latin typeface="Aptos"/>
              </a:rPr>
              <a:t>MACHADO, Charles M.; VILELA, Israel. Direito Digital e Economia Disruptiva. São </a:t>
            </a:r>
            <a:r>
              <a:rPr lang="pt-BR" dirty="0" err="1">
                <a:solidFill>
                  <a:srgbClr val="FFFFFF"/>
                </a:solidFill>
                <a:latin typeface="Aptos"/>
              </a:rPr>
              <a:t>Paulo:Habitus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, 2020. ISBN: 978-65-5035-010-9.	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LOPES, Alan Moreira. Direito Digital e LGPD na Prática. São Paulo: Rumo Jurídico, 2022. ISBN:978-85-6712-041-6.	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Básica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KAMINSKI, Omar. Manual de Direito Digital: Fundamentos, Legislação e Jurisprudência. São Paulo: Saraiva, 2020. ISBN: 978-85-4730-295-5.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Bibliografia Complementar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PINHEIRO, </a:t>
            </a:r>
            <a:r>
              <a:rPr lang="pt-BR" dirty="0" err="1">
                <a:solidFill>
                  <a:srgbClr val="FFFFFF"/>
                </a:solidFill>
                <a:latin typeface="Aptos"/>
              </a:rPr>
              <a:t>Patricia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 Peck. Direito Digital. São Paulo: Saraiva </a:t>
            </a:r>
            <a:r>
              <a:rPr lang="pt-BR" dirty="0" err="1">
                <a:solidFill>
                  <a:srgbClr val="FFFFFF"/>
                </a:solidFill>
                <a:latin typeface="Aptos"/>
              </a:rPr>
              <a:t>Jur</a:t>
            </a:r>
            <a:r>
              <a:rPr lang="pt-BR" dirty="0">
                <a:solidFill>
                  <a:srgbClr val="FFFFFF"/>
                </a:solidFill>
                <a:latin typeface="Aptos"/>
              </a:rPr>
              <a:t>, 2021. ISBN: 978-65-5559-478-2.	</a:t>
            </a:r>
          </a:p>
          <a:p>
            <a:r>
              <a:rPr lang="pt-BR" dirty="0">
                <a:solidFill>
                  <a:srgbClr val="FFFFFF"/>
                </a:solidFill>
                <a:latin typeface="Aptos"/>
              </a:rPr>
              <a:t>GABRIEL, Anderson de Paiva; PORTO, Fábio Ribeiro. Direito Digital. São Paulo: Revista dos Tribunais. 2023. ISBN: 978-65-2600-399-2	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31731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3" ma:contentTypeDescription="Crie um novo documento." ma:contentTypeScope="" ma:versionID="5550be8f1cf58693e992f8ea7bfb4f2b">
  <xsd:schema xmlns:xsd="http://www.w3.org/2001/XMLSchema" xmlns:xs="http://www.w3.org/2001/XMLSchema" xmlns:p="http://schemas.microsoft.com/office/2006/metadata/properties" xmlns:ns2="f534e9f2-b7ec-4ccc-a69c-51d3e3635b48" targetNamespace="http://schemas.microsoft.com/office/2006/metadata/properties" ma:root="true" ma:fieldsID="723e5ea99451f57ad090176ed3370c4a" ns2:_="">
    <xsd:import namespace="f534e9f2-b7ec-4ccc-a69c-51d3e3635b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858408-0790-4D71-AE90-9DDD48F4E95D}"/>
</file>

<file path=customXml/itemProps2.xml><?xml version="1.0" encoding="utf-8"?>
<ds:datastoreItem xmlns:ds="http://schemas.openxmlformats.org/officeDocument/2006/customXml" ds:itemID="{0C407729-D73B-4DFB-9C28-390029607E1F}"/>
</file>

<file path=customXml/itemProps3.xml><?xml version="1.0" encoding="utf-8"?>
<ds:datastoreItem xmlns:ds="http://schemas.openxmlformats.org/officeDocument/2006/customXml" ds:itemID="{2874B6F6-836E-45E9-8601-880AEC5FEFCA}"/>
</file>

<file path=docProps/app.xml><?xml version="1.0" encoding="utf-8"?>
<Properties xmlns="http://schemas.openxmlformats.org/officeDocument/2006/extended-properties" xmlns:vt="http://schemas.openxmlformats.org/officeDocument/2006/docPropsVTypes">
  <TotalTime>2730</TotalTime>
  <Words>3610</Words>
  <Application>Microsoft Office PowerPoint</Application>
  <PresentationFormat>Widescreen</PresentationFormat>
  <Paragraphs>190</Paragraphs>
  <Slides>38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Calibri Light</vt:lpstr>
      <vt:lpstr>Tema do Office</vt:lpstr>
      <vt:lpstr>1_Tema do Office</vt:lpstr>
      <vt:lpstr>DIREITO DIGITAL </vt:lpstr>
      <vt:lpstr>Apresentação </vt:lpstr>
      <vt:lpstr>Compromissos e Postura Acadêmica </vt:lpstr>
      <vt:lpstr>Cronograma e entregas </vt:lpstr>
      <vt:lpstr>Datas relevantes </vt:lpstr>
      <vt:lpstr>Apresentação do PowerPoint</vt:lpstr>
      <vt:lpstr>Objetivos específicos </vt:lpstr>
      <vt:lpstr>Proposta para o semestre – PLANO DE ENSINO SIGA </vt:lpstr>
      <vt:lpstr>Brasil e o Direito Digital </vt:lpstr>
      <vt:lpstr>Precedentes </vt:lpstr>
      <vt:lpstr>Caso Prático </vt:lpstr>
      <vt:lpstr>Função da CF</vt:lpstr>
      <vt:lpstr>Função CF</vt:lpstr>
      <vt:lpstr>Internacionalmente – Justiça social  </vt:lpstr>
      <vt:lpstr>Direito digital e consumismo</vt:lpstr>
      <vt:lpstr>Direito Digital – Conceitos: </vt:lpstr>
      <vt:lpstr>Direito Digital </vt:lpstr>
      <vt:lpstr>Direito Digital </vt:lpstr>
      <vt:lpstr>Direito Digital</vt:lpstr>
      <vt:lpstr>Principais Leis do Direito Digital no Brasil </vt:lpstr>
      <vt:lpstr>Principais Leis do Direito Digital no Brasil </vt:lpstr>
      <vt:lpstr>Legislações relacionadas ao Direito Digital no Brasil </vt:lpstr>
      <vt:lpstr>Desafios Jurídicos e Provas Eletrônicas </vt:lpstr>
      <vt:lpstr>Caso prático </vt:lpstr>
      <vt:lpstr>Apresentação do PowerPoint</vt:lpstr>
      <vt:lpstr>O Poder Judiciário Brasileiro </vt:lpstr>
      <vt:lpstr>Apresentação do PowerPoint</vt:lpstr>
      <vt:lpstr>Legislações infraconstitucionais principais </vt:lpstr>
      <vt:lpstr>Apresentação do PowerPoint</vt:lpstr>
      <vt:lpstr>DEFINIÇÃO JUSTIÇA ESTADUAL X FEDERAL </vt:lpstr>
      <vt:lpstr>DIFERENCIAÇÃO PENAL X CIVIL X ADMINISTRATIVO </vt:lpstr>
      <vt:lpstr>Explicações</vt:lpstr>
      <vt:lpstr>VOLTAMOS PARA SOLUÇÃO DO CASO </vt:lpstr>
      <vt:lpstr>Desafios do compliance digital global</vt:lpstr>
      <vt:lpstr>Desafios Legislativos e Perspectivas Futuras </vt:lpstr>
      <vt:lpstr>Principais desafios do Direito Digital  </vt:lpstr>
      <vt:lpstr>Questionamento </vt:lpstr>
      <vt:lpstr>Bibliografia básica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EVELYN PRISCILA SANTINON SOLA</dc:creator>
  <cp:lastModifiedBy>Eve Santinon</cp:lastModifiedBy>
  <cp:revision>40</cp:revision>
  <dcterms:created xsi:type="dcterms:W3CDTF">2026-08-02T13:27:18Z</dcterms:created>
  <dcterms:modified xsi:type="dcterms:W3CDTF">2026-08-06T15:38:18Z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</Properties>
</file>