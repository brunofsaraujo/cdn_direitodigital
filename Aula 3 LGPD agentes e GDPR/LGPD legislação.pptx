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Slides/notesSlide7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8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0"/>
  </p:notesMasterIdLst>
  <p:sldIdLst>
    <p:sldId id="256" r:id="rId2"/>
    <p:sldId id="257" r:id="rId3"/>
    <p:sldId id="258" r:id="rId4"/>
    <p:sldId id="259" r:id="rId5"/>
    <p:sldId id="285" r:id="rId6"/>
    <p:sldId id="260" r:id="rId7"/>
    <p:sldId id="281" r:id="rId8"/>
    <p:sldId id="287" r:id="rId9"/>
    <p:sldId id="283" r:id="rId10"/>
    <p:sldId id="284" r:id="rId11"/>
    <p:sldId id="261" r:id="rId12"/>
    <p:sldId id="262" r:id="rId13"/>
    <p:sldId id="263" r:id="rId14"/>
    <p:sldId id="264" r:id="rId15"/>
    <p:sldId id="265" r:id="rId16"/>
    <p:sldId id="266" r:id="rId17"/>
    <p:sldId id="286" r:id="rId18"/>
    <p:sldId id="267" r:id="rId19"/>
    <p:sldId id="268" r:id="rId20"/>
    <p:sldId id="270" r:id="rId21"/>
    <p:sldId id="271" r:id="rId22"/>
    <p:sldId id="272" r:id="rId23"/>
    <p:sldId id="273" r:id="rId24"/>
    <p:sldId id="274" r:id="rId25"/>
    <p:sldId id="276" r:id="rId26"/>
    <p:sldId id="277" r:id="rId27"/>
    <p:sldId id="278" r:id="rId28"/>
    <p:sldId id="280" r:id="rId2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37" Type="http://schemas.openxmlformats.org/officeDocument/2006/relationships/customXml" Target="../customXml/item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customXml" Target="../customXml/item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openxmlformats.org/officeDocument/2006/relationships/customXml" Target="../customXml/item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183041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0B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4A0B1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822960" y="15544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DIREITO DIGITAL  ·  PROTEÇÃO DE DADOS PESSOAIS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196596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Legislação de Proteção de Dados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822960" y="30632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E8D9A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Panorama Nacional e Internacional — LGPD e GDPR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822960" y="3977640"/>
            <a:ext cx="2926080" cy="0"/>
          </a:xfrm>
          <a:prstGeom prst="line">
            <a:avLst/>
          </a:prstGeom>
          <a:noFill/>
          <a:ln w="19050">
            <a:solidFill>
              <a:srgbClr val="C9A24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822960" y="416052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DRA. EVELYN P. SANTINON SOLA – DATA DA AULA: 17/08/2026 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676656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 err="1"/>
              <a:t>Roteiro</a:t>
            </a:r>
            <a:r>
              <a:rPr lang="en-US" sz="3000" dirty="0"/>
              <a:t> </a:t>
            </a:r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9496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DCD6C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868680" y="1965960"/>
            <a:ext cx="548640" cy="548640"/>
          </a:xfrm>
          <a:prstGeom prst="ellipse">
            <a:avLst/>
          </a:prstGeom>
          <a:solidFill>
            <a:srgbClr val="6B102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868680" y="1965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68680" y="2697480"/>
            <a:ext cx="48006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 constitucional e contexto histórico</a:t>
            </a:r>
            <a:endParaRPr lang="en-US" sz="1250" dirty="0"/>
          </a:p>
          <a:p>
            <a:pPr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Panorama geral da LGPD (Lei nº 13.709/2018)</a:t>
            </a:r>
            <a:endParaRPr lang="en-US" sz="1250" dirty="0"/>
          </a:p>
          <a:p>
            <a:pPr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Conceitos fundamentais e âmbito de aplicação</a:t>
            </a:r>
            <a:endParaRPr lang="en-US" sz="1250" dirty="0"/>
          </a:p>
          <a:p>
            <a:pPr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Princípios do tratamento de dados (art. 6º)</a:t>
            </a:r>
            <a:endParaRPr lang="en-US" sz="1250" dirty="0"/>
          </a:p>
          <a:p>
            <a:pPr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Bases legais para o tratamento (art. 7º e 11)</a:t>
            </a:r>
            <a:endParaRPr lang="en-US" sz="1250" dirty="0"/>
          </a:p>
          <a:p>
            <a:pPr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Responsabilização civil e sanções da ANPD</a:t>
            </a:r>
            <a:endParaRPr lang="en-US" sz="1250" dirty="0"/>
          </a:p>
          <a:p>
            <a:pPr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Panorama do GDPR e âmbito de aplicação (art. 3º)</a:t>
            </a:r>
            <a:endParaRPr lang="en-US" sz="1250" dirty="0"/>
          </a:p>
          <a:p>
            <a:pPr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LGPD x GDPR: quadro comparativo e quando aplicar cada norma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17920" y="1691640"/>
            <a:ext cx="5394960" cy="4480560"/>
          </a:xfrm>
          <a:prstGeom prst="roundRect">
            <a:avLst>
              <a:gd name="adj" fmla="val 1633"/>
            </a:avLst>
          </a:prstGeom>
          <a:solidFill>
            <a:srgbClr val="6B102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Shape 8"/>
          <p:cNvSpPr/>
          <p:nvPr/>
        </p:nvSpPr>
        <p:spPr>
          <a:xfrm>
            <a:off x="6537960" y="1965960"/>
            <a:ext cx="548640" cy="548640"/>
          </a:xfrm>
          <a:prstGeom prst="ellipse">
            <a:avLst/>
          </a:prstGeom>
          <a:solidFill>
            <a:srgbClr val="C9A24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6537960" y="1965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4A0B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537960" y="2697480"/>
            <a:ext cx="48006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Apresentação de caso real: multa recorde do GDPR (Meta) x primeira sanção da ANPD no Brasil</a:t>
            </a:r>
            <a:endParaRPr lang="en-US" sz="1250" dirty="0"/>
          </a:p>
          <a:p>
            <a:pPr marL="177800" indent="-1778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Perguntas norteadoras sobre proporcionalidade e efetividade da fiscalização</a:t>
            </a:r>
            <a:endParaRPr lang="en-US" sz="1250" dirty="0"/>
          </a:p>
          <a:p>
            <a:pPr marL="177800" indent="-1778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Divisão em grupos com papéis (empresa, titular, autoridade, compliance)</a:t>
            </a:r>
            <a:endParaRPr lang="en-US" sz="1250" dirty="0"/>
          </a:p>
          <a:p>
            <a:pPr marL="177800" indent="-1778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Debate estruturado entre </a:t>
            </a:r>
            <a:r>
              <a:rPr lang="en-US" sz="125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</a:t>
            </a: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grupos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57200" y="65288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29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702552" y="6528816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Legislação de Proteção de Dados — LGPD e GDPR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INTRODUÇÃO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que regular o tratamento de dados pessoais?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6492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multiplicação de bancos de dados digitais, o uso massivo de algoritmos de perfilamento e a circulação internacional de informações pessoais transformaram os dados em ativo econômico central — e, ao mesmo tempo, em fonte de riscos concretos a direitos fundamentais como privacidade, honra, imagem e liberdade.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3246120"/>
            <a:ext cx="6492240" cy="265176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DCD6C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822960" y="342900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6B10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Marco constitucional brasileiro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3840480"/>
            <a:ext cx="5943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spcAft>
                <a:spcPts val="1000"/>
              </a:spcAft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Emenda Constitucional nº 115/2022 incluiu a proteção de dados pessoais entre os direitos e garantias fundamentais, no art. 5º, LXXIX, da Constituição Federal, e fixou a competência privativa da União para legislar sobre o tema.</a:t>
            </a:r>
            <a:endParaRPr lang="en-US" sz="12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LGPD, por sua vez, já indicava esse fundamento no art. 2º, ao listar entre seus alicerces o respeito à privacidade e a autodeterminação informativa.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7315200" y="1600200"/>
            <a:ext cx="4297680" cy="4297680"/>
          </a:xfrm>
          <a:prstGeom prst="roundRect">
            <a:avLst>
              <a:gd name="adj" fmla="val 1702"/>
            </a:avLst>
          </a:prstGeom>
          <a:solidFill>
            <a:srgbClr val="6B102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7589520" y="178308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Linha do tempo essencial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589520" y="2286000"/>
            <a:ext cx="685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2016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275320" y="228600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Aprovação do Regulamento (UE) 2016/679 (GDPR)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589520" y="2862072"/>
            <a:ext cx="685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2018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75320" y="2862072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GDPR entra em vigor (25 de maio) na União Europeia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589520" y="3438144"/>
            <a:ext cx="685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2018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275320" y="3438144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Sanção da Lei nº 13.709/2018 (LGPD), em 14 de agosto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589520" y="4014216"/>
            <a:ext cx="685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2020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275320" y="4014216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Entrada em vigor da parte geral da LGPD (setembro)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7589520" y="4590288"/>
            <a:ext cx="685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2021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275320" y="4590288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Entrada em vigor do capítulo sancionador da LGPD (agosto)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7589520" y="5166360"/>
            <a:ext cx="685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2022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275320" y="516636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 nº 115/2022 — proteção de dados como direito fundamental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57200" y="65288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29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702552" y="6528816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Legislação de Proteção de Dados — LGPD e GDPR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1 · LGPD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Panorama Geral da LGPD (Lei nº 13.709/2018)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6492240" cy="16002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DCD6CC"/>
            </a:solidFill>
            <a:prstDash val="solid"/>
          </a:ln>
          <a:effectLst>
            <a:outerShdw blurRad="76200" dist="25400" dir="5400000" algn="bl" rotWithShape="0">
              <a:srgbClr val="8A7B5C">
                <a:alpha val="1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749808" y="1728216"/>
            <a:ext cx="608990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2200" b="1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</a:t>
            </a:r>
            <a:r>
              <a:rPr lang="en-US" sz="1250" i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Esta Lei dispõe sobre o tratamento de dados pessoais, inclusive nos meios digitais, por pessoa natural ou por pessoa jurídica de direito público ou privado, com o objetivo de proteger os direitos fundamentais de liberdade e de privacidade e o livre desenvolvimento da personalidade da pessoa natural.</a:t>
            </a:r>
            <a:r>
              <a:rPr lang="en-US" sz="2200" b="1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”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49808" y="2889504"/>
            <a:ext cx="60899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B10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Art. 1º, LGPD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548640" y="3337560"/>
            <a:ext cx="6492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B10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Traços centrais da Lei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3703320"/>
            <a:ext cx="64922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Aplica-se a pessoas físicas e jurídicas, públicas e privadas</a:t>
            </a:r>
            <a:endParaRPr lang="en-US" sz="1200" dirty="0"/>
          </a:p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 qualquer meio ou suporte, físico ou digital</a:t>
            </a:r>
            <a:endParaRPr lang="en-US" sz="1200" dirty="0"/>
          </a:p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Estruturada em 10 capítulos: princípios, tratamento, direitos do titular, agentes, segurança, ANPD e sanções</a:t>
            </a:r>
            <a:endParaRPr lang="en-US" sz="1200" dirty="0"/>
          </a:p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Sancionada em 14/08/2018; parte geral em vigor desde set./2020; sanções administrativas desde ago./2021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315200" y="1600200"/>
            <a:ext cx="4297680" cy="429768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 w="12700">
            <a:solidFill>
              <a:srgbClr val="DCD6C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7589520" y="178308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6B10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Fundamentos da disciplina (art. 2º)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7589520" y="2331720"/>
            <a:ext cx="379476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0000"/>
              </a:lnSpc>
              <a:spcAft>
                <a:spcPts val="600"/>
              </a:spcAft>
              <a:buSzPct val="100000"/>
              <a:buChar char="–"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Respeito à privacidade</a:t>
            </a:r>
            <a:endParaRPr lang="en-US" sz="1100" dirty="0"/>
          </a:p>
          <a:p>
            <a:pPr marL="152400" indent="-152400">
              <a:lnSpc>
                <a:spcPct val="100000"/>
              </a:lnSpc>
              <a:spcAft>
                <a:spcPts val="600"/>
              </a:spcAft>
              <a:buSzPct val="100000"/>
              <a:buChar char="–"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Autodeterminação informativa</a:t>
            </a:r>
            <a:endParaRPr lang="en-US" sz="1100" dirty="0"/>
          </a:p>
          <a:p>
            <a:pPr marL="152400" indent="-152400">
              <a:lnSpc>
                <a:spcPct val="100000"/>
              </a:lnSpc>
              <a:spcAft>
                <a:spcPts val="600"/>
              </a:spcAft>
              <a:buSzPct val="100000"/>
              <a:buChar char="–"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Liberdade de expressão, informação e opinião</a:t>
            </a:r>
            <a:endParaRPr lang="en-US" sz="1100" dirty="0"/>
          </a:p>
          <a:p>
            <a:pPr marL="152400" indent="-152400">
              <a:lnSpc>
                <a:spcPct val="100000"/>
              </a:lnSpc>
              <a:spcAft>
                <a:spcPts val="600"/>
              </a:spcAft>
              <a:buSzPct val="100000"/>
              <a:buChar char="–"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Inviolabilidade da intimidade, honra e imagem</a:t>
            </a:r>
            <a:endParaRPr lang="en-US" sz="1100" dirty="0"/>
          </a:p>
          <a:p>
            <a:pPr marL="152400" indent="-152400">
              <a:lnSpc>
                <a:spcPct val="100000"/>
              </a:lnSpc>
              <a:spcAft>
                <a:spcPts val="600"/>
              </a:spcAft>
              <a:buSzPct val="100000"/>
              <a:buChar char="–"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Desenvolvimento econômico, tecnológico e inovação</a:t>
            </a:r>
            <a:endParaRPr lang="en-US" sz="1100" dirty="0"/>
          </a:p>
          <a:p>
            <a:pPr marL="152400" indent="-152400">
              <a:lnSpc>
                <a:spcPct val="100000"/>
              </a:lnSpc>
              <a:spcAft>
                <a:spcPts val="600"/>
              </a:spcAft>
              <a:buSzPct val="100000"/>
              <a:buChar char="–"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Livre iniciativa, livre concorrência e defesa do consumidor</a:t>
            </a:r>
            <a:endParaRPr lang="en-US" sz="1100" dirty="0"/>
          </a:p>
          <a:p>
            <a:pPr marL="152400" indent="-152400">
              <a:lnSpc>
                <a:spcPct val="100000"/>
              </a:lnSpc>
              <a:spcAft>
                <a:spcPts val="600"/>
              </a:spcAft>
              <a:buSzPct val="100000"/>
              <a:buChar char="–"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Direitos humanos e exercício da cidadania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65288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29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702552" y="6528816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Legislação de Proteção de Dados — LGPD e GDPR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/>
        </p:nvSpPr>
        <p:spPr>
          <a:xfrm>
            <a:off x="548640" y="384048"/>
            <a:ext cx="1109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50" b="1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1 · LGPD</a:t>
            </a:r>
          </a:p>
        </p:txBody>
      </p:sp>
      <p:sp>
        <p:nvSpPr>
          <p:cNvPr id="3" name="Text 3"/>
          <p:cNvSpPr/>
          <p:nvPr/>
        </p:nvSpPr>
        <p:spPr>
          <a:xfrm>
            <a:off x="548640" y="676656"/>
            <a:ext cx="1109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30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Quem Precisa Cumprir a LGPD?</a:t>
            </a:r>
          </a:p>
        </p:txBody>
      </p:sp>
      <p:sp>
        <p:nvSpPr>
          <p:cNvPr id="4" name="Shape 4"/>
          <p:cNvSpPr/>
          <p:nvPr/>
        </p:nvSpPr>
        <p:spPr>
          <a:xfrm>
            <a:off x="548640" y="1600200"/>
            <a:ext cx="5410200" cy="352044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DCD6CC"/>
            </a:solidFill>
            <a:prstDash val="solid"/>
          </a:ln>
          <a:effectLst>
            <a:outerShdw blurRad="76200" dist="25400" dir="5400000" algn="bl" rotWithShape="0">
              <a:srgbClr val="8A7B5C">
                <a:alpha val="1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5" name="Text 5"/>
          <p:cNvSpPr/>
          <p:nvPr/>
        </p:nvSpPr>
        <p:spPr>
          <a:xfrm>
            <a:off x="749808" y="1755648"/>
            <a:ext cx="50078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50" b="1" dirty="0">
                <a:solidFill>
                  <a:srgbClr val="6B10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Regra geral: abrangência subjetiva</a:t>
            </a:r>
          </a:p>
        </p:txBody>
      </p:sp>
      <p:sp>
        <p:nvSpPr>
          <p:cNvPr id="6" name="Text 6"/>
          <p:cNvSpPr/>
          <p:nvPr/>
        </p:nvSpPr>
        <p:spPr>
          <a:xfrm>
            <a:off x="749808" y="2167128"/>
            <a:ext cx="5007864" cy="27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spcAft>
                <a:spcPts val="900"/>
              </a:spcAft>
              <a:buNone/>
            </a:pPr>
            <a:r>
              <a:rPr lang="pt-BR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Todas as empresas, independentemente do faturamento, do número de funcionários ou do porte do negócio, devem observar a LGPD.</a:t>
            </a:r>
          </a:p>
          <a:p>
            <a:pPr marL="0" indent="0">
              <a:lnSpc>
                <a:spcPct val="118000"/>
              </a:lnSpc>
              <a:buNone/>
            </a:pPr>
            <a:r>
              <a:rPr lang="pt-BR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Basta tratar dados de pessoas físicas — nome, CPF, e-mail ou telefone de clientes, fornecedores ou funcionários — para que a obrigação de proteção surja, independentemente do porte da empresa.</a:t>
            </a:r>
          </a:p>
        </p:txBody>
      </p:sp>
      <p:sp>
        <p:nvSpPr>
          <p:cNvPr id="7" name="Shape 7"/>
          <p:cNvSpPr/>
          <p:nvPr/>
        </p:nvSpPr>
        <p:spPr>
          <a:xfrm>
            <a:off x="6233160" y="1600200"/>
            <a:ext cx="5410200" cy="3520440"/>
          </a:xfrm>
          <a:prstGeom prst="roundRect">
            <a:avLst>
              <a:gd name="adj" fmla="val 3429"/>
            </a:avLst>
          </a:prstGeom>
          <a:solidFill>
            <a:srgbClr val="6B1029"/>
          </a:solidFill>
          <a:ln>
            <a:noFill/>
          </a:ln>
          <a:effectLst>
            <a:outerShdw blurRad="76200" dist="25400" dir="5400000" algn="bl" rotWithShape="0">
              <a:srgbClr val="8A7B5C">
                <a:alpha val="1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8" name="Text 8"/>
          <p:cNvSpPr/>
          <p:nvPr/>
        </p:nvSpPr>
        <p:spPr>
          <a:xfrm>
            <a:off x="6434328" y="1755648"/>
            <a:ext cx="50078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pt-BR" sz="1350" b="1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Agentes de Tratamento de Pequeno Porte</a:t>
            </a:r>
          </a:p>
        </p:txBody>
      </p:sp>
      <p:sp>
        <p:nvSpPr>
          <p:cNvPr id="9" name="Text 9"/>
          <p:cNvSpPr/>
          <p:nvPr/>
        </p:nvSpPr>
        <p:spPr>
          <a:xfrm>
            <a:off x="6434328" y="2433320"/>
            <a:ext cx="5007864" cy="22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pt-BR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Microempreendedores Individuais (MEI), Microempresas (ME), Empresas de Pequeno Porte (EPP), startups e ONGs têm as regras de tratamento de dados flexibilizadas.</a:t>
            </a:r>
          </a:p>
        </p:txBody>
      </p:sp>
      <p:sp>
        <p:nvSpPr>
          <p:cNvPr id="10" name="Text 10"/>
          <p:cNvSpPr/>
          <p:nvPr/>
        </p:nvSpPr>
        <p:spPr>
          <a:xfrm>
            <a:off x="6434328" y="4700640"/>
            <a:ext cx="50078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50" b="1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Resolução CD/ANPD nº 2/2022</a:t>
            </a:r>
          </a:p>
        </p:txBody>
      </p:sp>
      <p:sp>
        <p:nvSpPr>
          <p:cNvPr id="11" name="Text 11"/>
          <p:cNvSpPr/>
          <p:nvPr/>
        </p:nvSpPr>
        <p:spPr>
          <a:xfrm>
            <a:off x="548640" y="5394960"/>
            <a:ext cx="11094720" cy="5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pt-BR" sz="1250" b="1" dirty="0">
                <a:solidFill>
                  <a:srgbClr val="6B10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Ponto-chave para a turma: </a:t>
            </a:r>
            <a:r>
              <a:rPr lang="pt-BR" sz="1250" i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critério da LGPD não é o porte ou o faturamento da empresa, e sim a natureza da atividade — o simples tratamento de dados de pessoa física já gera obrigações legais.</a:t>
            </a:r>
          </a:p>
        </p:txBody>
      </p:sp>
      <p:sp>
        <p:nvSpPr>
          <p:cNvPr id="12" name="Text 12"/>
          <p:cNvSpPr/>
          <p:nvPr/>
        </p:nvSpPr>
        <p:spPr>
          <a:xfrm>
            <a:off x="457200" y="65288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29</a:t>
            </a:r>
          </a:p>
        </p:txBody>
      </p:sp>
      <p:sp>
        <p:nvSpPr>
          <p:cNvPr id="13" name="Text 13"/>
          <p:cNvSpPr/>
          <p:nvPr/>
        </p:nvSpPr>
        <p:spPr>
          <a:xfrm>
            <a:off x="6702552" y="6528816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Legislação de Proteção de Dados — LGPD e GDPR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1 · LGPD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Conceitos Fundamentais (art. 5º)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440680" cy="1463040"/>
          </a:xfrm>
          <a:prstGeom prst="roundRect">
            <a:avLst>
              <a:gd name="adj" fmla="val 4375"/>
            </a:avLst>
          </a:prstGeom>
          <a:solidFill>
            <a:srgbClr val="FFFFFF"/>
          </a:solidFill>
          <a:ln w="12700">
            <a:solidFill>
              <a:srgbClr val="DCD6C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749808" y="1645920"/>
            <a:ext cx="5038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6B10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Dado pessoal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49808" y="1956816"/>
            <a:ext cx="503834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030" i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“informação relacionada a pessoa natural identificada ou identificável”</a:t>
            </a:r>
            <a:endParaRPr lang="en-US" sz="1030" dirty="0"/>
          </a:p>
        </p:txBody>
      </p:sp>
      <p:sp>
        <p:nvSpPr>
          <p:cNvPr id="7" name="Text 5"/>
          <p:cNvSpPr/>
          <p:nvPr/>
        </p:nvSpPr>
        <p:spPr>
          <a:xfrm>
            <a:off x="749808" y="2743200"/>
            <a:ext cx="5038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A6D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Art. 5º, I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172200" y="1554480"/>
            <a:ext cx="5440680" cy="1463040"/>
          </a:xfrm>
          <a:prstGeom prst="roundRect">
            <a:avLst>
              <a:gd name="adj" fmla="val 4375"/>
            </a:avLst>
          </a:prstGeom>
          <a:solidFill>
            <a:srgbClr val="FFFFFF"/>
          </a:solidFill>
          <a:ln w="12700">
            <a:solidFill>
              <a:srgbClr val="DCD6C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6373368" y="1645920"/>
            <a:ext cx="5038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6B10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Dado pessoal sensível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373368" y="1956816"/>
            <a:ext cx="503834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030" i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 sobre origem racial/étnica, convicção religiosa, opinião política, saúde, vida sexual, dado genético ou biométrico</a:t>
            </a:r>
            <a:endParaRPr lang="en-US" sz="1030" dirty="0"/>
          </a:p>
        </p:txBody>
      </p:sp>
      <p:sp>
        <p:nvSpPr>
          <p:cNvPr id="11" name="Text 9"/>
          <p:cNvSpPr/>
          <p:nvPr/>
        </p:nvSpPr>
        <p:spPr>
          <a:xfrm>
            <a:off x="6373368" y="2743200"/>
            <a:ext cx="5038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A6D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Art. 5º, II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48640" y="3145536"/>
            <a:ext cx="5440680" cy="1463040"/>
          </a:xfrm>
          <a:prstGeom prst="roundRect">
            <a:avLst>
              <a:gd name="adj" fmla="val 4375"/>
            </a:avLst>
          </a:prstGeom>
          <a:solidFill>
            <a:srgbClr val="FFFFFF"/>
          </a:solidFill>
          <a:ln w="12700">
            <a:solidFill>
              <a:srgbClr val="DCD6C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749808" y="3236976"/>
            <a:ext cx="5038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6B10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Titular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749808" y="3547872"/>
            <a:ext cx="503834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030" i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pessoa natural a quem se referem os dados tratados</a:t>
            </a:r>
            <a:endParaRPr lang="en-US" sz="1030" dirty="0"/>
          </a:p>
        </p:txBody>
      </p:sp>
      <p:sp>
        <p:nvSpPr>
          <p:cNvPr id="15" name="Text 13"/>
          <p:cNvSpPr/>
          <p:nvPr/>
        </p:nvSpPr>
        <p:spPr>
          <a:xfrm>
            <a:off x="749808" y="4334256"/>
            <a:ext cx="5038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A6D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Art. 5º, V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172200" y="3145536"/>
            <a:ext cx="5440680" cy="1463040"/>
          </a:xfrm>
          <a:prstGeom prst="roundRect">
            <a:avLst>
              <a:gd name="adj" fmla="val 4375"/>
            </a:avLst>
          </a:prstGeom>
          <a:solidFill>
            <a:srgbClr val="FFFFFF"/>
          </a:solidFill>
          <a:ln w="12700">
            <a:solidFill>
              <a:srgbClr val="DCD6C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6373368" y="3236976"/>
            <a:ext cx="5038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6B10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Controlador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6373368" y="3547872"/>
            <a:ext cx="503834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030" i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decide sobre o tratamento de dados </a:t>
            </a:r>
            <a:r>
              <a:rPr lang="en-US" sz="1030" i="1" dirty="0" err="1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pessoais</a:t>
            </a:r>
            <a:r>
              <a:rPr lang="en-US" sz="1030" i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</a:t>
            </a:r>
            <a:r>
              <a:rPr lang="en-US" sz="1030" i="1" dirty="0" err="1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pode</a:t>
            </a:r>
            <a:r>
              <a:rPr lang="en-US" sz="1030" i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ser </a:t>
            </a:r>
            <a:r>
              <a:rPr lang="en-US" sz="1030" i="1" dirty="0" err="1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pessoa</a:t>
            </a:r>
            <a:r>
              <a:rPr lang="en-US" sz="1030" i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natural </a:t>
            </a:r>
            <a:r>
              <a:rPr lang="en-US" sz="1030" i="1" dirty="0" err="1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</a:t>
            </a:r>
            <a:r>
              <a:rPr lang="en-US" sz="1030" i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30" i="1" dirty="0" err="1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jurídica</a:t>
            </a:r>
            <a:r>
              <a:rPr lang="en-US" sz="1030" i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</a:t>
            </a:r>
          </a:p>
          <a:p>
            <a:pPr marL="0" indent="0">
              <a:lnSpc>
                <a:spcPct val="102000"/>
              </a:lnSpc>
              <a:buNone/>
            </a:pPr>
            <a:endParaRPr lang="en-US" sz="1030" i="1" dirty="0">
              <a:solidFill>
                <a:srgbClr val="2B2B2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6373368" y="4334256"/>
            <a:ext cx="5038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A6D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Art. 5º, VI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48640" y="4736592"/>
            <a:ext cx="5440680" cy="1463040"/>
          </a:xfrm>
          <a:prstGeom prst="roundRect">
            <a:avLst>
              <a:gd name="adj" fmla="val 4375"/>
            </a:avLst>
          </a:prstGeom>
          <a:solidFill>
            <a:srgbClr val="FFFFFF"/>
          </a:solidFill>
          <a:ln w="12700">
            <a:solidFill>
              <a:srgbClr val="DCD6C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/>
          <p:nvPr/>
        </p:nvSpPr>
        <p:spPr>
          <a:xfrm>
            <a:off x="749808" y="4828032"/>
            <a:ext cx="5038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6B10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Operador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749808" y="5138928"/>
            <a:ext cx="503834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030" i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realiza o tratamento em nome do </a:t>
            </a:r>
            <a:r>
              <a:rPr lang="en-US" sz="1030" i="1" dirty="0" err="1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controlador</a:t>
            </a:r>
            <a:r>
              <a:rPr lang="en-US" sz="1030" i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</a:t>
            </a:r>
            <a:r>
              <a:rPr lang="en-US" sz="1030" i="1" dirty="0" err="1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pode</a:t>
            </a:r>
            <a:r>
              <a:rPr lang="en-US" sz="1030" i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ser </a:t>
            </a:r>
            <a:r>
              <a:rPr lang="en-US" sz="1030" i="1" dirty="0" err="1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pessoa</a:t>
            </a:r>
            <a:r>
              <a:rPr lang="en-US" sz="1030" i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natural </a:t>
            </a:r>
            <a:r>
              <a:rPr lang="en-US" sz="1030" i="1" dirty="0" err="1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</a:t>
            </a:r>
            <a:r>
              <a:rPr lang="en-US" sz="1030" i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30" i="1" dirty="0" err="1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jurídica</a:t>
            </a:r>
            <a:r>
              <a:rPr lang="en-US" sz="1030" i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</a:t>
            </a:r>
            <a:endParaRPr lang="en-US" sz="1030" dirty="0"/>
          </a:p>
        </p:txBody>
      </p:sp>
      <p:sp>
        <p:nvSpPr>
          <p:cNvPr id="23" name="Text 21"/>
          <p:cNvSpPr/>
          <p:nvPr/>
        </p:nvSpPr>
        <p:spPr>
          <a:xfrm>
            <a:off x="749808" y="5925312"/>
            <a:ext cx="5038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A6D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Art. 5º, VII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172200" y="4736592"/>
            <a:ext cx="5440680" cy="1463040"/>
          </a:xfrm>
          <a:prstGeom prst="roundRect">
            <a:avLst>
              <a:gd name="adj" fmla="val 4375"/>
            </a:avLst>
          </a:prstGeom>
          <a:solidFill>
            <a:srgbClr val="FFFFFF"/>
          </a:solidFill>
          <a:ln w="12700">
            <a:solidFill>
              <a:srgbClr val="DCD6C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Text 23"/>
          <p:cNvSpPr/>
          <p:nvPr/>
        </p:nvSpPr>
        <p:spPr>
          <a:xfrm>
            <a:off x="6373368" y="4828032"/>
            <a:ext cx="5038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6B10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ANPD – AGÊNCIA NACIONAL DE PROTEÇÃO DE DADOS 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6373368" y="5138928"/>
            <a:ext cx="503834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030" i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autoridade responsável por fiscalizar e implementar a Lei em todo o território nacional</a:t>
            </a:r>
            <a:endParaRPr lang="en-US" sz="1030" dirty="0"/>
          </a:p>
        </p:txBody>
      </p:sp>
      <p:sp>
        <p:nvSpPr>
          <p:cNvPr id="27" name="Text 25"/>
          <p:cNvSpPr/>
          <p:nvPr/>
        </p:nvSpPr>
        <p:spPr>
          <a:xfrm>
            <a:off x="6373368" y="5925312"/>
            <a:ext cx="5038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A6D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Art. 5º, XIX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57200" y="65288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29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702552" y="6528816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Legislação de Proteção de Dados — LGPD e GDPR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/>
        </p:nvSpPr>
        <p:spPr>
          <a:xfrm>
            <a:off x="548640" y="384048"/>
            <a:ext cx="1109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50" b="1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1 · LGPD</a:t>
            </a:r>
          </a:p>
        </p:txBody>
      </p:sp>
      <p:sp>
        <p:nvSpPr>
          <p:cNvPr id="3" name="Text 3"/>
          <p:cNvSpPr/>
          <p:nvPr/>
        </p:nvSpPr>
        <p:spPr>
          <a:xfrm>
            <a:off x="548640" y="676656"/>
            <a:ext cx="1109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28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Figuras-Chave da LGPD: Estrutura e Relações</a:t>
            </a:r>
          </a:p>
        </p:txBody>
      </p:sp>
      <p:sp>
        <p:nvSpPr>
          <p:cNvPr id="4" name="Shape 4"/>
          <p:cNvSpPr/>
          <p:nvPr/>
        </p:nvSpPr>
        <p:spPr>
          <a:xfrm>
            <a:off x="548640" y="1550000"/>
            <a:ext cx="11094720" cy="660000"/>
          </a:xfrm>
          <a:prstGeom prst="roundRect">
            <a:avLst>
              <a:gd name="adj" fmla="val 6000"/>
            </a:avLst>
          </a:prstGeom>
          <a:solidFill>
            <a:srgbClr val="2B2B2B"/>
          </a:solidFill>
          <a:ln>
            <a:noFill/>
          </a:ln>
          <a:effectLst/>
        </p:spPr>
        <p:txBody>
          <a:bodyPr/>
          <a:lstStyle/>
          <a:p>
            <a:endParaRPr lang="pt-BR"/>
          </a:p>
        </p:txBody>
      </p:sp>
      <p:sp>
        <p:nvSpPr>
          <p:cNvPr id="5" name="Text 5"/>
          <p:cNvSpPr/>
          <p:nvPr/>
        </p:nvSpPr>
        <p:spPr>
          <a:xfrm>
            <a:off x="822960" y="1632000"/>
            <a:ext cx="1054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ANPD — Autoridade Nacional de Proteção de Dados</a:t>
            </a:r>
            <a:r>
              <a:rPr lang="pt-BR" sz="110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(art. 5º, XIX)</a:t>
            </a:r>
          </a:p>
        </p:txBody>
      </p:sp>
      <p:sp>
        <p:nvSpPr>
          <p:cNvPr id="6" name="Text 6"/>
          <p:cNvSpPr/>
          <p:nvPr/>
        </p:nvSpPr>
        <p:spPr>
          <a:xfrm>
            <a:off x="822960" y="1950000"/>
            <a:ext cx="10546080" cy="2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100" dirty="0">
                <a:solidFill>
                  <a:srgbClr val="E8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Zela, implementa e fiscaliza a Lei em todo o território nacional</a:t>
            </a:r>
          </a:p>
        </p:txBody>
      </p:sp>
      <p:sp>
        <p:nvSpPr>
          <p:cNvPr id="7" name="Text 7"/>
          <p:cNvSpPr/>
          <p:nvPr/>
        </p:nvSpPr>
        <p:spPr>
          <a:xfrm>
            <a:off x="0" y="2250000"/>
            <a:ext cx="12192000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600" b="1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</a:p>
        </p:txBody>
      </p:sp>
      <p:sp>
        <p:nvSpPr>
          <p:cNvPr id="8" name="Text 8"/>
          <p:cNvSpPr/>
          <p:nvPr/>
        </p:nvSpPr>
        <p:spPr>
          <a:xfrm>
            <a:off x="548640" y="2670000"/>
            <a:ext cx="11094720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95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fornece dados  →  define o tratamento e emite ordens  →  executa o tratamento</a:t>
            </a:r>
          </a:p>
        </p:txBody>
      </p:sp>
      <p:sp>
        <p:nvSpPr>
          <p:cNvPr id="9" name="Shape 9"/>
          <p:cNvSpPr/>
          <p:nvPr/>
        </p:nvSpPr>
        <p:spPr>
          <a:xfrm>
            <a:off x="548640" y="2970000"/>
            <a:ext cx="3431573" cy="1650000"/>
          </a:xfrm>
          <a:prstGeom prst="roundRect">
            <a:avLst>
              <a:gd name="adj" fmla="val 5000"/>
            </a:avLst>
          </a:prstGeom>
          <a:solidFill>
            <a:srgbClr val="6B1029"/>
          </a:solidFill>
          <a:ln>
            <a:noFill/>
          </a:ln>
          <a:effectLst/>
        </p:spPr>
        <p:txBody>
          <a:bodyPr/>
          <a:lstStyle/>
          <a:p>
            <a:endParaRPr lang="pt-BR"/>
          </a:p>
        </p:txBody>
      </p:sp>
      <p:sp>
        <p:nvSpPr>
          <p:cNvPr id="10" name="Text 10"/>
          <p:cNvSpPr/>
          <p:nvPr/>
        </p:nvSpPr>
        <p:spPr>
          <a:xfrm>
            <a:off x="713232" y="3107160"/>
            <a:ext cx="310238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TITULAR</a:t>
            </a:r>
          </a:p>
        </p:txBody>
      </p:sp>
      <p:sp>
        <p:nvSpPr>
          <p:cNvPr id="11" name="Text 11"/>
          <p:cNvSpPr/>
          <p:nvPr/>
        </p:nvSpPr>
        <p:spPr>
          <a:xfrm>
            <a:off x="713232" y="3440000"/>
            <a:ext cx="3102389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950" b="1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Art. 5º, V</a:t>
            </a:r>
          </a:p>
        </p:txBody>
      </p:sp>
      <p:sp>
        <p:nvSpPr>
          <p:cNvPr id="12" name="Text 12"/>
          <p:cNvSpPr/>
          <p:nvPr/>
        </p:nvSpPr>
        <p:spPr>
          <a:xfrm>
            <a:off x="713232" y="3750000"/>
            <a:ext cx="3102389" cy="7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2000"/>
              </a:lnSpc>
              <a:buNone/>
            </a:pPr>
            <a:r>
              <a:rPr lang="pt-BR" sz="1100" dirty="0">
                <a:solidFill>
                  <a:srgbClr val="F2E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Pessoa natural a quem se referem os dados tratados.</a:t>
            </a:r>
          </a:p>
        </p:txBody>
      </p:sp>
      <p:sp>
        <p:nvSpPr>
          <p:cNvPr id="13" name="Text 13"/>
          <p:cNvSpPr/>
          <p:nvPr/>
        </p:nvSpPr>
        <p:spPr>
          <a:xfrm>
            <a:off x="3980213" y="2970000"/>
            <a:ext cx="400000" cy="16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2000" b="1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</a:p>
        </p:txBody>
      </p:sp>
      <p:sp>
        <p:nvSpPr>
          <p:cNvPr id="14" name="Shape 14"/>
          <p:cNvSpPr/>
          <p:nvPr/>
        </p:nvSpPr>
        <p:spPr>
          <a:xfrm>
            <a:off x="4380213" y="2910000"/>
            <a:ext cx="3431573" cy="1770000"/>
          </a:xfrm>
          <a:prstGeom prst="roundRect">
            <a:avLst>
              <a:gd name="adj" fmla="val 5000"/>
            </a:avLst>
          </a:prstGeom>
          <a:solidFill>
            <a:srgbClr val="C9A24B"/>
          </a:solidFill>
          <a:ln>
            <a:noFill/>
          </a:ln>
          <a:effectLst/>
        </p:spPr>
        <p:txBody>
          <a:bodyPr/>
          <a:lstStyle/>
          <a:p>
            <a:endParaRPr lang="pt-BR"/>
          </a:p>
        </p:txBody>
      </p:sp>
      <p:sp>
        <p:nvSpPr>
          <p:cNvPr id="15" name="Text 15"/>
          <p:cNvSpPr/>
          <p:nvPr/>
        </p:nvSpPr>
        <p:spPr>
          <a:xfrm>
            <a:off x="4544805" y="3047160"/>
            <a:ext cx="310238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4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CONTROLADOR</a:t>
            </a:r>
          </a:p>
        </p:txBody>
      </p:sp>
      <p:sp>
        <p:nvSpPr>
          <p:cNvPr id="16" name="Text 16"/>
          <p:cNvSpPr/>
          <p:nvPr/>
        </p:nvSpPr>
        <p:spPr>
          <a:xfrm>
            <a:off x="4544805" y="3380000"/>
            <a:ext cx="3102389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950" b="1" dirty="0">
                <a:solidFill>
                  <a:srgbClr val="6B10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Art. 5º, VI</a:t>
            </a:r>
          </a:p>
        </p:txBody>
      </p:sp>
      <p:sp>
        <p:nvSpPr>
          <p:cNvPr id="17" name="Text 17"/>
          <p:cNvSpPr/>
          <p:nvPr/>
        </p:nvSpPr>
        <p:spPr>
          <a:xfrm>
            <a:off x="4544805" y="3690000"/>
            <a:ext cx="3102389" cy="8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2000"/>
              </a:lnSpc>
              <a:buNone/>
            </a:pPr>
            <a:r>
              <a:rPr lang="pt-BR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 sobre o tratamento de dados (ex.: uma empresa de e-commerce).</a:t>
            </a:r>
          </a:p>
        </p:txBody>
      </p:sp>
      <p:sp>
        <p:nvSpPr>
          <p:cNvPr id="18" name="Text 18"/>
          <p:cNvSpPr/>
          <p:nvPr/>
        </p:nvSpPr>
        <p:spPr>
          <a:xfrm>
            <a:off x="7811786" y="2970000"/>
            <a:ext cx="400000" cy="16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2000" b="1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</a:p>
        </p:txBody>
      </p:sp>
      <p:sp>
        <p:nvSpPr>
          <p:cNvPr id="19" name="Shape 19"/>
          <p:cNvSpPr/>
          <p:nvPr/>
        </p:nvSpPr>
        <p:spPr>
          <a:xfrm>
            <a:off x="8211786" y="2970000"/>
            <a:ext cx="3431573" cy="165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6B1029"/>
            </a:solidFill>
            <a:prstDash val="solid"/>
          </a:ln>
          <a:effectLst/>
        </p:spPr>
        <p:txBody>
          <a:bodyPr/>
          <a:lstStyle/>
          <a:p>
            <a:endParaRPr lang="pt-BR"/>
          </a:p>
        </p:txBody>
      </p:sp>
      <p:sp>
        <p:nvSpPr>
          <p:cNvPr id="20" name="Text 20"/>
          <p:cNvSpPr/>
          <p:nvPr/>
        </p:nvSpPr>
        <p:spPr>
          <a:xfrm>
            <a:off x="8376378" y="3107160"/>
            <a:ext cx="310238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400" b="1" dirty="0">
                <a:solidFill>
                  <a:srgbClr val="6B10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OPERADOR</a:t>
            </a:r>
          </a:p>
        </p:txBody>
      </p:sp>
      <p:sp>
        <p:nvSpPr>
          <p:cNvPr id="21" name="Text 21"/>
          <p:cNvSpPr/>
          <p:nvPr/>
        </p:nvSpPr>
        <p:spPr>
          <a:xfrm>
            <a:off x="8376378" y="3440000"/>
            <a:ext cx="3102389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950" b="1" dirty="0">
                <a:solidFill>
                  <a:srgbClr val="6B10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Art. 5º, VII</a:t>
            </a:r>
          </a:p>
        </p:txBody>
      </p:sp>
      <p:sp>
        <p:nvSpPr>
          <p:cNvPr id="22" name="Text 22"/>
          <p:cNvSpPr/>
          <p:nvPr/>
        </p:nvSpPr>
        <p:spPr>
          <a:xfrm>
            <a:off x="8376378" y="3750000"/>
            <a:ext cx="3102389" cy="7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2000"/>
              </a:lnSpc>
              <a:buNone/>
            </a:pPr>
            <a:r>
              <a:rPr lang="pt-BR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Realiza o tratamento em nome do controlador (ex.: empresa de logística).</a:t>
            </a:r>
          </a:p>
        </p:txBody>
      </p:sp>
      <p:sp>
        <p:nvSpPr>
          <p:cNvPr id="23" name="Text 23"/>
          <p:cNvSpPr/>
          <p:nvPr/>
        </p:nvSpPr>
        <p:spPr>
          <a:xfrm>
            <a:off x="0" y="4740000"/>
            <a:ext cx="12192000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800" b="1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</a:p>
        </p:txBody>
      </p:sp>
      <p:sp>
        <p:nvSpPr>
          <p:cNvPr id="24" name="Text 24"/>
          <p:cNvSpPr/>
          <p:nvPr/>
        </p:nvSpPr>
        <p:spPr>
          <a:xfrm>
            <a:off x="0" y="4970000"/>
            <a:ext cx="1219200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85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orienta e é acionado em incidentes</a:t>
            </a:r>
          </a:p>
        </p:txBody>
      </p:sp>
      <p:sp>
        <p:nvSpPr>
          <p:cNvPr id="25" name="Shape 25"/>
          <p:cNvSpPr/>
          <p:nvPr/>
        </p:nvSpPr>
        <p:spPr>
          <a:xfrm>
            <a:off x="548640" y="5240000"/>
            <a:ext cx="11094720" cy="660000"/>
          </a:xfrm>
          <a:prstGeom prst="roundRect">
            <a:avLst>
              <a:gd name="adj" fmla="val 6000"/>
            </a:avLst>
          </a:prstGeom>
          <a:solidFill>
            <a:srgbClr val="6B1029"/>
          </a:solidFill>
          <a:ln>
            <a:noFill/>
          </a:ln>
          <a:effectLst/>
        </p:spPr>
        <p:txBody>
          <a:bodyPr/>
          <a:lstStyle/>
          <a:p>
            <a:endParaRPr lang="pt-BR"/>
          </a:p>
        </p:txBody>
      </p:sp>
      <p:sp>
        <p:nvSpPr>
          <p:cNvPr id="26" name="Text 26"/>
          <p:cNvSpPr/>
          <p:nvPr/>
        </p:nvSpPr>
        <p:spPr>
          <a:xfrm>
            <a:off x="822960" y="5322000"/>
            <a:ext cx="1054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450" b="1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ENCARREGADO / DPO</a:t>
            </a:r>
            <a:r>
              <a:rPr lang="pt-BR" sz="1100" dirty="0">
                <a:solidFill>
                  <a:srgbClr val="E8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(art. 5º, VIII)</a:t>
            </a:r>
          </a:p>
        </p:txBody>
      </p:sp>
      <p:sp>
        <p:nvSpPr>
          <p:cNvPr id="27" name="Text 27"/>
          <p:cNvSpPr/>
          <p:nvPr/>
        </p:nvSpPr>
        <p:spPr>
          <a:xfrm>
            <a:off x="822960" y="5640000"/>
            <a:ext cx="10546080" cy="2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Canal de comunicação entre Titular, Controlador e ANPD (art. 41)</a:t>
            </a:r>
          </a:p>
        </p:txBody>
      </p:sp>
      <p:sp>
        <p:nvSpPr>
          <p:cNvPr id="28" name="Text 28"/>
          <p:cNvSpPr/>
          <p:nvPr/>
        </p:nvSpPr>
        <p:spPr>
          <a:xfrm>
            <a:off x="457200" y="65288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29</a:t>
            </a:r>
          </a:p>
        </p:txBody>
      </p:sp>
      <p:sp>
        <p:nvSpPr>
          <p:cNvPr id="29" name="Text 29"/>
          <p:cNvSpPr/>
          <p:nvPr/>
        </p:nvSpPr>
        <p:spPr>
          <a:xfrm>
            <a:off x="6702552" y="6528816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Legislação de Proteção de Dados — LGPD e GDPR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/>
        </p:nvSpPr>
        <p:spPr>
          <a:xfrm>
            <a:off x="548640" y="384048"/>
            <a:ext cx="1109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50" b="1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1 · LGPD</a:t>
            </a:r>
          </a:p>
        </p:txBody>
      </p:sp>
      <p:sp>
        <p:nvSpPr>
          <p:cNvPr id="3" name="Text 3"/>
          <p:cNvSpPr/>
          <p:nvPr/>
        </p:nvSpPr>
        <p:spPr>
          <a:xfrm>
            <a:off x="548640" y="676656"/>
            <a:ext cx="1109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30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Quem é Quem na Prática</a:t>
            </a:r>
          </a:p>
        </p:txBody>
      </p:sp>
      <p:sp>
        <p:nvSpPr>
          <p:cNvPr id="4" name="Shape 4"/>
          <p:cNvSpPr/>
          <p:nvPr/>
        </p:nvSpPr>
        <p:spPr>
          <a:xfrm>
            <a:off x="548640" y="1550000"/>
            <a:ext cx="5410200" cy="22700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DCD6CC"/>
            </a:solidFill>
            <a:prstDash val="solid"/>
          </a:ln>
          <a:effectLst>
            <a:outerShdw blurRad="76200" dist="25400" dir="5400000" algn="bl" rotWithShape="0">
              <a:srgbClr val="8A7B5C">
                <a:alpha val="1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5" name="Text 5"/>
          <p:cNvSpPr/>
          <p:nvPr/>
        </p:nvSpPr>
        <p:spPr>
          <a:xfrm>
            <a:off x="768096" y="1723736"/>
            <a:ext cx="49712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b="1" dirty="0">
                <a:solidFill>
                  <a:srgbClr val="6B10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Quem é o Titular?</a:t>
            </a:r>
          </a:p>
        </p:txBody>
      </p:sp>
      <p:sp>
        <p:nvSpPr>
          <p:cNvPr id="6" name="Text 6"/>
          <p:cNvSpPr/>
          <p:nvPr/>
        </p:nvSpPr>
        <p:spPr>
          <a:xfrm>
            <a:off x="768096" y="2116928"/>
            <a:ext cx="4971288" cy="13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6000"/>
              </a:lnSpc>
              <a:buNone/>
            </a:pPr>
            <a:r>
              <a:rPr lang="pt-BR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Você. É a pessoa física dona dos dados pessoais (como CPF, e-mail e foto).</a:t>
            </a:r>
          </a:p>
        </p:txBody>
      </p:sp>
      <p:sp>
        <p:nvSpPr>
          <p:cNvPr id="7" name="Text 7"/>
          <p:cNvSpPr/>
          <p:nvPr/>
        </p:nvSpPr>
        <p:spPr>
          <a:xfrm>
            <a:off x="768096" y="3400000"/>
            <a:ext cx="4971288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pt-BR" sz="1000" i="1" dirty="0">
                <a:solidFill>
                  <a:srgbClr val="6E5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Exemplo: em uma loja virtual, você é o titular ao comprar uma roupa.</a:t>
            </a:r>
          </a:p>
        </p:txBody>
      </p:sp>
      <p:sp>
        <p:nvSpPr>
          <p:cNvPr id="8" name="Shape 8"/>
          <p:cNvSpPr/>
          <p:nvPr/>
        </p:nvSpPr>
        <p:spPr>
          <a:xfrm>
            <a:off x="6233160" y="1550000"/>
            <a:ext cx="5410200" cy="22700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DCD6CC"/>
            </a:solidFill>
            <a:prstDash val="solid"/>
          </a:ln>
          <a:effectLst>
            <a:outerShdw blurRad="76200" dist="25400" dir="5400000" algn="bl" rotWithShape="0">
              <a:srgbClr val="8A7B5C">
                <a:alpha val="1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9" name="Text 9"/>
          <p:cNvSpPr/>
          <p:nvPr/>
        </p:nvSpPr>
        <p:spPr>
          <a:xfrm>
            <a:off x="6452616" y="1723736"/>
            <a:ext cx="49712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b="1" dirty="0">
                <a:solidFill>
                  <a:srgbClr val="6B10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Quem é o Controlador?</a:t>
            </a:r>
          </a:p>
        </p:txBody>
      </p:sp>
      <p:sp>
        <p:nvSpPr>
          <p:cNvPr id="10" name="Text 10"/>
          <p:cNvSpPr/>
          <p:nvPr/>
        </p:nvSpPr>
        <p:spPr>
          <a:xfrm>
            <a:off x="6452616" y="2116928"/>
            <a:ext cx="4971288" cy="13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6000"/>
              </a:lnSpc>
              <a:buNone/>
            </a:pPr>
            <a:r>
              <a:rPr lang="pt-BR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empresa, o banco, o órgão público ou o profissional autônomo que decide o que fazer com os dados. É responsável por tomar as decisões.</a:t>
            </a:r>
          </a:p>
        </p:txBody>
      </p:sp>
      <p:sp>
        <p:nvSpPr>
          <p:cNvPr id="11" name="Text 11"/>
          <p:cNvSpPr/>
          <p:nvPr/>
        </p:nvSpPr>
        <p:spPr>
          <a:xfrm>
            <a:off x="6452616" y="3400000"/>
            <a:ext cx="4971288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pt-BR" sz="1000" i="1" dirty="0">
                <a:solidFill>
                  <a:srgbClr val="6E5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Exemplo: a própria loja virtual, que coleta nome, endereço e CPF para enviar o pacote.</a:t>
            </a:r>
          </a:p>
        </p:txBody>
      </p:sp>
      <p:sp>
        <p:nvSpPr>
          <p:cNvPr id="12" name="Shape 12"/>
          <p:cNvSpPr/>
          <p:nvPr/>
        </p:nvSpPr>
        <p:spPr>
          <a:xfrm>
            <a:off x="548640" y="4048600"/>
            <a:ext cx="5410200" cy="22700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DCD6CC"/>
            </a:solidFill>
            <a:prstDash val="solid"/>
          </a:ln>
          <a:effectLst>
            <a:outerShdw blurRad="76200" dist="25400" dir="5400000" algn="bl" rotWithShape="0">
              <a:srgbClr val="8A7B5C">
                <a:alpha val="1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3" name="Text 13"/>
          <p:cNvSpPr/>
          <p:nvPr/>
        </p:nvSpPr>
        <p:spPr>
          <a:xfrm>
            <a:off x="768096" y="4222336"/>
            <a:ext cx="49712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b="1" dirty="0">
                <a:solidFill>
                  <a:srgbClr val="6B10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Quem é o Operador?</a:t>
            </a:r>
          </a:p>
        </p:txBody>
      </p:sp>
      <p:sp>
        <p:nvSpPr>
          <p:cNvPr id="14" name="Text 14"/>
          <p:cNvSpPr/>
          <p:nvPr/>
        </p:nvSpPr>
        <p:spPr>
          <a:xfrm>
            <a:off x="768096" y="4615528"/>
            <a:ext cx="4971288" cy="13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6000"/>
              </a:lnSpc>
              <a:buNone/>
            </a:pPr>
            <a:r>
              <a:rPr lang="pt-BR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empresa parceira ou o serviço terceirizado contratado pelo Controlador. Executa as ordens recebidas, sem tomar decisões próprias sobre os dados.</a:t>
            </a:r>
          </a:p>
        </p:txBody>
      </p:sp>
      <p:sp>
        <p:nvSpPr>
          <p:cNvPr id="15" name="Text 15"/>
          <p:cNvSpPr/>
          <p:nvPr/>
        </p:nvSpPr>
        <p:spPr>
          <a:xfrm>
            <a:off x="768096" y="5898600"/>
            <a:ext cx="4971288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pt-BR" sz="1000" i="1" dirty="0">
                <a:solidFill>
                  <a:srgbClr val="6E5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Exemplo: a transportadora que recebe os dados apenas para realizar a entrega.</a:t>
            </a:r>
          </a:p>
        </p:txBody>
      </p:sp>
      <p:sp>
        <p:nvSpPr>
          <p:cNvPr id="16" name="Shape 16"/>
          <p:cNvSpPr/>
          <p:nvPr/>
        </p:nvSpPr>
        <p:spPr>
          <a:xfrm>
            <a:off x="6233160" y="4048600"/>
            <a:ext cx="5410200" cy="22700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DCD6CC"/>
            </a:solidFill>
            <a:prstDash val="solid"/>
          </a:ln>
          <a:effectLst>
            <a:outerShdw blurRad="76200" dist="25400" dir="5400000" algn="bl" rotWithShape="0">
              <a:srgbClr val="8A7B5C">
                <a:alpha val="1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7" name="Text 17"/>
          <p:cNvSpPr/>
          <p:nvPr/>
        </p:nvSpPr>
        <p:spPr>
          <a:xfrm>
            <a:off x="6452616" y="4222336"/>
            <a:ext cx="49712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b="1" dirty="0">
                <a:solidFill>
                  <a:srgbClr val="6B10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Quem é o Encarregado (DPO)?</a:t>
            </a:r>
          </a:p>
        </p:txBody>
      </p:sp>
      <p:sp>
        <p:nvSpPr>
          <p:cNvPr id="18" name="Text 18"/>
          <p:cNvSpPr/>
          <p:nvPr/>
        </p:nvSpPr>
        <p:spPr>
          <a:xfrm>
            <a:off x="6452616" y="4615528"/>
            <a:ext cx="4971288" cy="13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6000"/>
              </a:lnSpc>
              <a:buNone/>
            </a:pPr>
            <a:r>
              <a:rPr lang="pt-BR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Pessoa indicada pelo Controlador para ser a ponte de comunicação. Atende reclamações dos titulares, recebe notificações do governo e orienta a empresa.</a:t>
            </a:r>
          </a:p>
        </p:txBody>
      </p:sp>
      <p:sp>
        <p:nvSpPr>
          <p:cNvPr id="19" name="Text 19"/>
          <p:cNvSpPr/>
          <p:nvPr/>
        </p:nvSpPr>
        <p:spPr>
          <a:xfrm>
            <a:off x="6452616" y="5898600"/>
            <a:ext cx="4971288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pt-BR" sz="1000" i="1" dirty="0">
                <a:solidFill>
                  <a:srgbClr val="6E5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Exemplo: se você quiser excluir sua conta, é o DPO quem cuida do pedido.</a:t>
            </a:r>
          </a:p>
        </p:txBody>
      </p:sp>
      <p:sp>
        <p:nvSpPr>
          <p:cNvPr id="20" name="Text 20"/>
          <p:cNvSpPr/>
          <p:nvPr/>
        </p:nvSpPr>
        <p:spPr>
          <a:xfrm>
            <a:off x="457200" y="65288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29</a:t>
            </a:r>
          </a:p>
        </p:txBody>
      </p:sp>
      <p:sp>
        <p:nvSpPr>
          <p:cNvPr id="21" name="Text 21"/>
          <p:cNvSpPr/>
          <p:nvPr/>
        </p:nvSpPr>
        <p:spPr>
          <a:xfrm>
            <a:off x="6702552" y="6528816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Legislação de Proteção de Dados — LGPD e GDPR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/>
        </p:nvSpPr>
        <p:spPr>
          <a:xfrm>
            <a:off x="548640" y="384048"/>
            <a:ext cx="1109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50" b="1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1 · LGPD</a:t>
            </a:r>
          </a:p>
        </p:txBody>
      </p:sp>
      <p:sp>
        <p:nvSpPr>
          <p:cNvPr id="3" name="Text 3"/>
          <p:cNvSpPr/>
          <p:nvPr/>
        </p:nvSpPr>
        <p:spPr>
          <a:xfrm>
            <a:off x="548640" y="676656"/>
            <a:ext cx="1109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28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Direitos do Titular dos Dados (art. 18)</a:t>
            </a:r>
          </a:p>
        </p:txBody>
      </p:sp>
      <p:sp>
        <p:nvSpPr>
          <p:cNvPr id="4" name="Text 4"/>
          <p:cNvSpPr/>
          <p:nvPr/>
        </p:nvSpPr>
        <p:spPr>
          <a:xfrm>
            <a:off x="548640" y="1500000"/>
            <a:ext cx="11094720" cy="5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6000"/>
              </a:lnSpc>
              <a:buNone/>
            </a:pPr>
            <a:r>
              <a:rPr lang="pt-BR" sz="1200" i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“Art. 18. O titular dos dados pessoais tem direito a obter do controlador, em relação aos dados do titular por ele tratados, a qualquer momento e mediante requisição:”</a:t>
            </a:r>
          </a:p>
        </p:txBody>
      </p:sp>
      <p:sp>
        <p:nvSpPr>
          <p:cNvPr id="5" name="Shape 5"/>
          <p:cNvSpPr/>
          <p:nvPr/>
        </p:nvSpPr>
        <p:spPr>
          <a:xfrm>
            <a:off x="548640" y="2120000"/>
            <a:ext cx="5410200" cy="41800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DCD6CC"/>
            </a:solidFill>
            <a:prstDash val="solid"/>
          </a:ln>
          <a:effectLst>
            <a:outerShdw blurRad="76200" dist="25400" dir="5400000" algn="bl" rotWithShape="0">
              <a:srgbClr val="8A7B5C">
                <a:alpha val="1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6" name="Text 6"/>
          <p:cNvSpPr/>
          <p:nvPr/>
        </p:nvSpPr>
        <p:spPr>
          <a:xfrm>
            <a:off x="731520" y="2257160"/>
            <a:ext cx="5044440" cy="2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150" b="1" dirty="0">
                <a:solidFill>
                  <a:srgbClr val="6B10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Incisos I a IX — o titular tem direito a:</a:t>
            </a:r>
          </a:p>
        </p:txBody>
      </p:sp>
      <p:sp>
        <p:nvSpPr>
          <p:cNvPr id="7" name="Text 7"/>
          <p:cNvSpPr/>
          <p:nvPr/>
        </p:nvSpPr>
        <p:spPr>
          <a:xfrm>
            <a:off x="731520" y="2590000"/>
            <a:ext cx="5044440" cy="35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82880" indent="-182880">
              <a:lnSpc>
                <a:spcPct val="110000"/>
              </a:lnSpc>
              <a:spcAft>
                <a:spcPts val="500"/>
              </a:spcAft>
              <a:buNone/>
            </a:pPr>
            <a:r>
              <a:rPr lang="pt-BR" sz="1000" b="1" dirty="0">
                <a:solidFill>
                  <a:srgbClr val="6B10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— </a:t>
            </a:r>
            <a:r>
              <a:rPr lang="pt-BR" sz="1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confirmação da existência de tratamento</a:t>
            </a:r>
          </a:p>
          <a:p>
            <a:pPr marL="182880" indent="-182880">
              <a:lnSpc>
                <a:spcPct val="110000"/>
              </a:lnSpc>
              <a:spcAft>
                <a:spcPts val="500"/>
              </a:spcAft>
              <a:buNone/>
            </a:pPr>
            <a:r>
              <a:rPr lang="pt-BR" sz="1000" b="1" dirty="0">
                <a:solidFill>
                  <a:srgbClr val="6B10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 — </a:t>
            </a:r>
            <a:r>
              <a:rPr lang="pt-BR" sz="1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acesso aos dados</a:t>
            </a:r>
          </a:p>
          <a:p>
            <a:pPr marL="182880" indent="-182880">
              <a:lnSpc>
                <a:spcPct val="110000"/>
              </a:lnSpc>
              <a:spcAft>
                <a:spcPts val="500"/>
              </a:spcAft>
              <a:buNone/>
            </a:pPr>
            <a:r>
              <a:rPr lang="pt-BR" sz="1000" b="1" dirty="0">
                <a:solidFill>
                  <a:srgbClr val="6B10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 — </a:t>
            </a:r>
            <a:r>
              <a:rPr lang="pt-BR" sz="1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correção de dados incompletos, inexatos ou desatualizados</a:t>
            </a:r>
          </a:p>
          <a:p>
            <a:pPr marL="182880" indent="-182880">
              <a:lnSpc>
                <a:spcPct val="110000"/>
              </a:lnSpc>
              <a:spcAft>
                <a:spcPts val="500"/>
              </a:spcAft>
              <a:buNone/>
            </a:pPr>
            <a:r>
              <a:rPr lang="pt-BR" sz="1000" b="1" dirty="0">
                <a:solidFill>
                  <a:srgbClr val="6B10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 — </a:t>
            </a:r>
            <a:r>
              <a:rPr lang="pt-BR" sz="1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anonimização, bloqueio ou eliminação de dados desnecessários, excessivos ou tratados em desconformidade com o disposto nesta Lei</a:t>
            </a:r>
          </a:p>
          <a:p>
            <a:pPr marL="182880" indent="-182880">
              <a:lnSpc>
                <a:spcPct val="110000"/>
              </a:lnSpc>
              <a:spcAft>
                <a:spcPts val="500"/>
              </a:spcAft>
              <a:buNone/>
            </a:pPr>
            <a:r>
              <a:rPr lang="pt-BR" sz="1000" b="1" dirty="0">
                <a:solidFill>
                  <a:srgbClr val="6B10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— </a:t>
            </a:r>
            <a:r>
              <a:rPr lang="pt-BR" sz="1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portabilidade dos dados a outro fornecedor de serviço ou produto, mediante requisição expressa, observados os segredos comercial e industrial</a:t>
            </a:r>
          </a:p>
          <a:p>
            <a:pPr marL="182880" indent="-182880">
              <a:lnSpc>
                <a:spcPct val="110000"/>
              </a:lnSpc>
              <a:spcAft>
                <a:spcPts val="500"/>
              </a:spcAft>
              <a:buNone/>
            </a:pPr>
            <a:r>
              <a:rPr lang="pt-BR" sz="1000" b="1" dirty="0">
                <a:solidFill>
                  <a:srgbClr val="6B10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 — </a:t>
            </a:r>
            <a:r>
              <a:rPr lang="pt-BR" sz="1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eliminação dos dados pessoais tratados com o consentimento do titular, exceto nas hipóteses previstas no art. 16 desta Lei</a:t>
            </a:r>
          </a:p>
          <a:p>
            <a:pPr marL="182880" indent="-182880">
              <a:lnSpc>
                <a:spcPct val="110000"/>
              </a:lnSpc>
              <a:spcAft>
                <a:spcPts val="500"/>
              </a:spcAft>
              <a:buNone/>
            </a:pPr>
            <a:r>
              <a:rPr lang="pt-BR" sz="1000" b="1" dirty="0">
                <a:solidFill>
                  <a:srgbClr val="6B10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VII — </a:t>
            </a:r>
            <a:r>
              <a:rPr lang="pt-BR" sz="1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informação das entidades públicas e privadas com as quais o controlador realizou uso compartilhado de dados</a:t>
            </a:r>
          </a:p>
          <a:p>
            <a:pPr marL="182880" indent="-182880">
              <a:lnSpc>
                <a:spcPct val="110000"/>
              </a:lnSpc>
              <a:spcAft>
                <a:spcPts val="500"/>
              </a:spcAft>
              <a:buNone/>
            </a:pPr>
            <a:r>
              <a:rPr lang="pt-BR" sz="1000" b="1" dirty="0">
                <a:solidFill>
                  <a:srgbClr val="6B10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VIII — </a:t>
            </a:r>
            <a:r>
              <a:rPr lang="pt-BR" sz="1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informação sobre a possibilidade de não fornecer consentimento e sobre as consequências da negativa</a:t>
            </a:r>
          </a:p>
          <a:p>
            <a:pPr marL="182880" indent="-182880">
              <a:lnSpc>
                <a:spcPct val="110000"/>
              </a:lnSpc>
              <a:spcAft>
                <a:spcPts val="500"/>
              </a:spcAft>
              <a:buNone/>
            </a:pPr>
            <a:r>
              <a:rPr lang="pt-BR" sz="1000" b="1" dirty="0">
                <a:solidFill>
                  <a:srgbClr val="6B10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IX — </a:t>
            </a:r>
            <a:r>
              <a:rPr lang="pt-BR" sz="1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revogação do consentimento, nos termos do § 5º do art. 8º desta Lei</a:t>
            </a:r>
          </a:p>
        </p:txBody>
      </p:sp>
      <p:sp>
        <p:nvSpPr>
          <p:cNvPr id="8" name="Shape 8"/>
          <p:cNvSpPr/>
          <p:nvPr/>
        </p:nvSpPr>
        <p:spPr>
          <a:xfrm>
            <a:off x="6233160" y="2120000"/>
            <a:ext cx="5410200" cy="41800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DCD6CC"/>
            </a:solidFill>
            <a:prstDash val="solid"/>
          </a:ln>
          <a:effectLst>
            <a:outerShdw blurRad="76200" dist="25400" dir="5400000" algn="bl" rotWithShape="0">
              <a:srgbClr val="8A7B5C">
                <a:alpha val="1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9" name="Text 9"/>
          <p:cNvSpPr/>
          <p:nvPr/>
        </p:nvSpPr>
        <p:spPr>
          <a:xfrm>
            <a:off x="6416040" y="2257160"/>
            <a:ext cx="5044440" cy="2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150" b="1" dirty="0">
                <a:solidFill>
                  <a:srgbClr val="6B10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Parágrafos 1º a 8º</a:t>
            </a:r>
          </a:p>
        </p:txBody>
      </p:sp>
      <p:sp>
        <p:nvSpPr>
          <p:cNvPr id="10" name="Text 10"/>
          <p:cNvSpPr/>
          <p:nvPr/>
        </p:nvSpPr>
        <p:spPr>
          <a:xfrm>
            <a:off x="6416040" y="2590000"/>
            <a:ext cx="5044440" cy="35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82880" indent="-182880">
              <a:lnSpc>
                <a:spcPct val="108000"/>
              </a:lnSpc>
              <a:spcAft>
                <a:spcPts val="450"/>
              </a:spcAft>
              <a:buNone/>
            </a:pPr>
            <a:r>
              <a:rPr lang="pt-BR" sz="1000" b="1" dirty="0">
                <a:solidFill>
                  <a:srgbClr val="6B10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 1º </a:t>
            </a:r>
            <a:r>
              <a:rPr lang="pt-BR" sz="1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titular tem o direito de peticionar em relação aos seus dados contra o controlador perante a autoridade nacional.</a:t>
            </a:r>
          </a:p>
          <a:p>
            <a:pPr marL="182880" indent="-182880">
              <a:lnSpc>
                <a:spcPct val="108000"/>
              </a:lnSpc>
              <a:spcAft>
                <a:spcPts val="450"/>
              </a:spcAft>
              <a:buNone/>
            </a:pPr>
            <a:r>
              <a:rPr lang="pt-BR" sz="1000" b="1" dirty="0">
                <a:solidFill>
                  <a:srgbClr val="6B10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 2º </a:t>
            </a:r>
            <a:r>
              <a:rPr lang="pt-BR" sz="1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titular pode opor-se a tratamento realizado com fundamento em uma das hipóteses de dispensa de consentimento, em caso de descumprimento ao disposto nesta Lei.</a:t>
            </a:r>
          </a:p>
          <a:p>
            <a:pPr marL="182880" indent="-182880">
              <a:lnSpc>
                <a:spcPct val="108000"/>
              </a:lnSpc>
              <a:spcAft>
                <a:spcPts val="450"/>
              </a:spcAft>
              <a:buNone/>
            </a:pPr>
            <a:r>
              <a:rPr lang="pt-BR" sz="1000" b="1" dirty="0">
                <a:solidFill>
                  <a:srgbClr val="6B10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 3º </a:t>
            </a:r>
            <a:r>
              <a:rPr lang="pt-BR" sz="1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direitos previstos neste artigo serão exercidos mediante requerimento expresso do titular ou de representante legalmente constituído, a agente de tratamento.</a:t>
            </a:r>
          </a:p>
          <a:p>
            <a:pPr marL="182880" indent="-182880">
              <a:lnSpc>
                <a:spcPct val="108000"/>
              </a:lnSpc>
              <a:spcAft>
                <a:spcPts val="450"/>
              </a:spcAft>
              <a:buNone/>
            </a:pPr>
            <a:r>
              <a:rPr lang="pt-BR" sz="1000" b="1" dirty="0">
                <a:solidFill>
                  <a:srgbClr val="6B10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 4º </a:t>
            </a:r>
            <a:r>
              <a:rPr lang="pt-BR" sz="1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caso de impossibilidade de adoção imediata da providência de que trata o § 3º, o controlador enviará ao titular resposta em que poderá: I – comunicar que não é agente de tratamento e indicar, se possível, o agente; ou II – indicar as razões que impedem a providência.</a:t>
            </a:r>
          </a:p>
          <a:p>
            <a:pPr marL="182880" indent="-182880">
              <a:lnSpc>
                <a:spcPct val="108000"/>
              </a:lnSpc>
              <a:spcAft>
                <a:spcPts val="450"/>
              </a:spcAft>
              <a:buNone/>
            </a:pPr>
            <a:r>
              <a:rPr lang="pt-BR" sz="1000" b="1" dirty="0">
                <a:solidFill>
                  <a:srgbClr val="6B10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 5º </a:t>
            </a:r>
            <a:r>
              <a:rPr lang="pt-BR" sz="1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requerimento referido no § 3º será atendido sem custos para o titular, nos prazos e termos previstos em regulamento.</a:t>
            </a:r>
          </a:p>
          <a:p>
            <a:pPr marL="182880" indent="-182880">
              <a:lnSpc>
                <a:spcPct val="108000"/>
              </a:lnSpc>
              <a:spcAft>
                <a:spcPts val="450"/>
              </a:spcAft>
              <a:buNone/>
            </a:pPr>
            <a:r>
              <a:rPr lang="pt-BR" sz="1000" b="1" dirty="0">
                <a:solidFill>
                  <a:srgbClr val="6B10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 6º </a:t>
            </a:r>
            <a:r>
              <a:rPr lang="pt-BR" sz="1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responsável deverá informar, de maneira imediata, aos agentes de tratamento com os quais tenha realizado uso compartilhado a correção, a eliminação, a anonimização ou o bloqueio dos dados, para que repitam idêntico procedimento.</a:t>
            </a:r>
          </a:p>
          <a:p>
            <a:pPr marL="182880" indent="-182880">
              <a:lnSpc>
                <a:spcPct val="108000"/>
              </a:lnSpc>
              <a:spcAft>
                <a:spcPts val="450"/>
              </a:spcAft>
              <a:buNone/>
            </a:pPr>
            <a:r>
              <a:rPr lang="pt-BR" sz="1000" b="1" dirty="0">
                <a:solidFill>
                  <a:srgbClr val="6B10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 7º </a:t>
            </a:r>
            <a:r>
              <a:rPr lang="pt-BR" sz="1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portabilidade a que se refere o inciso V do caput não inclui dados já anonimizados pelo controlador.</a:t>
            </a:r>
          </a:p>
          <a:p>
            <a:pPr marL="182880" indent="-182880">
              <a:lnSpc>
                <a:spcPct val="108000"/>
              </a:lnSpc>
              <a:spcAft>
                <a:spcPts val="450"/>
              </a:spcAft>
              <a:buNone/>
            </a:pPr>
            <a:r>
              <a:rPr lang="pt-BR" sz="1000" b="1" dirty="0">
                <a:solidFill>
                  <a:srgbClr val="6B10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 8º </a:t>
            </a:r>
            <a:r>
              <a:rPr lang="pt-BR" sz="1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direito a que se refere o § 1º também poderá ser exercido perante os organismos de defesa do consumidor.</a:t>
            </a:r>
          </a:p>
        </p:txBody>
      </p:sp>
      <p:sp>
        <p:nvSpPr>
          <p:cNvPr id="11" name="Text 11"/>
          <p:cNvSpPr/>
          <p:nvPr/>
        </p:nvSpPr>
        <p:spPr>
          <a:xfrm>
            <a:off x="457200" y="65288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29</a:t>
            </a:r>
          </a:p>
        </p:txBody>
      </p:sp>
      <p:sp>
        <p:nvSpPr>
          <p:cNvPr id="12" name="Text 12"/>
          <p:cNvSpPr/>
          <p:nvPr/>
        </p:nvSpPr>
        <p:spPr>
          <a:xfrm>
            <a:off x="6702552" y="6528816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Legislação de Proteção de Dados — LGPD e GDPR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/>
        </p:nvSpPr>
        <p:spPr>
          <a:xfrm>
            <a:off x="548640" y="384048"/>
            <a:ext cx="1109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50" b="1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1 · LGPD</a:t>
            </a:r>
          </a:p>
        </p:txBody>
      </p:sp>
      <p:sp>
        <p:nvSpPr>
          <p:cNvPr id="3" name="Text 3"/>
          <p:cNvSpPr/>
          <p:nvPr/>
        </p:nvSpPr>
        <p:spPr>
          <a:xfrm>
            <a:off x="548640" y="676656"/>
            <a:ext cx="1109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26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Exercer os Direitos do Titular na Prática</a:t>
            </a:r>
          </a:p>
        </p:txBody>
      </p:sp>
      <p:sp>
        <p:nvSpPr>
          <p:cNvPr id="4" name="Shape 4"/>
          <p:cNvSpPr/>
          <p:nvPr/>
        </p:nvSpPr>
        <p:spPr>
          <a:xfrm>
            <a:off x="548640" y="1600200"/>
            <a:ext cx="5410200" cy="45500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DCD6CC"/>
            </a:solidFill>
            <a:prstDash val="solid"/>
          </a:ln>
          <a:effectLst>
            <a:outerShdw blurRad="76200" dist="25400" dir="5400000" algn="bl" rotWithShape="0">
              <a:srgbClr val="8A7B5C">
                <a:alpha val="1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5" name="Text 5"/>
          <p:cNvSpPr/>
          <p:nvPr/>
        </p:nvSpPr>
        <p:spPr>
          <a:xfrm>
            <a:off x="749808" y="1755648"/>
            <a:ext cx="5007864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50" b="1" dirty="0">
                <a:solidFill>
                  <a:srgbClr val="6B10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que o titular requisita?</a:t>
            </a:r>
          </a:p>
        </p:txBody>
      </p:sp>
      <p:sp>
        <p:nvSpPr>
          <p:cNvPr id="6" name="Text 6"/>
          <p:cNvSpPr/>
          <p:nvPr/>
        </p:nvSpPr>
        <p:spPr>
          <a:xfrm>
            <a:off x="749808" y="2220200"/>
            <a:ext cx="5007864" cy="37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82880" indent="-182880">
              <a:lnSpc>
                <a:spcPct val="114000"/>
              </a:lnSpc>
              <a:spcAft>
                <a:spcPts val="700"/>
              </a:spcAft>
              <a:buSzPct val="100000"/>
              <a:buChar char="•"/>
            </a:pPr>
            <a:r>
              <a:rPr lang="pt-BR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Proteger a privacidade: parar telemarketing e spam, eliminando dados de uma base definitivamente.</a:t>
            </a:r>
          </a:p>
          <a:p>
            <a:pPr marL="182880" indent="-182880">
              <a:lnSpc>
                <a:spcPct val="114000"/>
              </a:lnSpc>
              <a:spcAft>
                <a:spcPts val="700"/>
              </a:spcAft>
              <a:buSzPct val="100000"/>
              <a:buChar char="•"/>
            </a:pPr>
            <a:r>
              <a:rPr lang="pt-BR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Descobrir vazamentos: identificar se uma empresa compartilhou seus dados com terceiros sem autorização.</a:t>
            </a:r>
          </a:p>
          <a:p>
            <a:pPr marL="182880" indent="-182880">
              <a:lnSpc>
                <a:spcPct val="114000"/>
              </a:lnSpc>
              <a:spcAft>
                <a:spcPts val="700"/>
              </a:spcAft>
              <a:buSzPct val="100000"/>
              <a:buChar char="•"/>
            </a:pPr>
            <a:r>
              <a:rPr lang="pt-BR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Segurança digital: prevenir golpes, pedindo a eliminação de dados após encerrar uma relação bancária ou o uso de um aplicativo.</a:t>
            </a:r>
          </a:p>
          <a:p>
            <a:pPr marL="182880" indent="-182880">
              <a:lnSpc>
                <a:spcPct val="114000"/>
              </a:lnSpc>
              <a:spcAft>
                <a:spcPts val="700"/>
              </a:spcAft>
              <a:buSzPct val="100000"/>
              <a:buChar char="•"/>
            </a:pPr>
            <a:r>
              <a:rPr lang="pt-BR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Corrigir dados desatualizados: solicitar a retificação de um erro diretamente à empresa (ex.: endereço antigo mantido por um birô de crédito).</a:t>
            </a:r>
          </a:p>
        </p:txBody>
      </p:sp>
      <p:sp>
        <p:nvSpPr>
          <p:cNvPr id="7" name="Shape 7"/>
          <p:cNvSpPr/>
          <p:nvPr/>
        </p:nvSpPr>
        <p:spPr>
          <a:xfrm>
            <a:off x="6233160" y="1600200"/>
            <a:ext cx="5410200" cy="4550000"/>
          </a:xfrm>
          <a:prstGeom prst="roundRect">
            <a:avLst>
              <a:gd name="adj" fmla="val 3429"/>
            </a:avLst>
          </a:prstGeom>
          <a:solidFill>
            <a:srgbClr val="6B1029"/>
          </a:solidFill>
          <a:ln>
            <a:noFill/>
          </a:ln>
          <a:effectLst>
            <a:outerShdw blurRad="76200" dist="25400" dir="5400000" algn="bl" rotWithShape="0">
              <a:srgbClr val="8A7B5C">
                <a:alpha val="1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8" name="Text 8"/>
          <p:cNvSpPr/>
          <p:nvPr/>
        </p:nvSpPr>
        <p:spPr>
          <a:xfrm>
            <a:off x="6434328" y="1755648"/>
            <a:ext cx="5007864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50" b="1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requisitar na prática?</a:t>
            </a:r>
          </a:p>
        </p:txBody>
      </p:sp>
      <p:sp>
        <p:nvSpPr>
          <p:cNvPr id="9" name="Text 9"/>
          <p:cNvSpPr/>
          <p:nvPr/>
        </p:nvSpPr>
        <p:spPr>
          <a:xfrm>
            <a:off x="6434328" y="2220200"/>
            <a:ext cx="5007864" cy="33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82880" indent="-182880">
              <a:lnSpc>
                <a:spcPct val="116000"/>
              </a:lnSpc>
              <a:spcAft>
                <a:spcPts val="900"/>
              </a:spcAft>
              <a:buSzPct val="100000"/>
              <a:buChar char="•"/>
            </a:pPr>
            <a:r>
              <a:rPr lang="pt-BR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Procure, no rodapé do site, seções como “Portal de Privacidade”, “Aviso de Privacidade”, “LGPD” ou “Fale Conosco”.</a:t>
            </a:r>
          </a:p>
          <a:p>
            <a:pPr marL="182880" indent="-182880">
              <a:lnSpc>
                <a:spcPct val="116000"/>
              </a:lnSpc>
              <a:spcAft>
                <a:spcPts val="900"/>
              </a:spcAft>
              <a:buSzPct val="100000"/>
              <a:buChar char="•"/>
            </a:pPr>
            <a:r>
              <a:rPr lang="pt-BR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empresa é obrigada a divulgar a identidade e o contato do Encarregado pelo Tratamento de Dados Pessoais (o DPO).</a:t>
            </a:r>
          </a:p>
          <a:p>
            <a:pPr marL="182880" indent="-182880">
              <a:lnSpc>
                <a:spcPct val="116000"/>
              </a:lnSpc>
              <a:spcAft>
                <a:spcPts val="900"/>
              </a:spcAft>
              <a:buSzPct val="100000"/>
              <a:buChar char="•"/>
            </a:pPr>
            <a:r>
              <a:rPr lang="pt-BR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canal costuma ser um formulário próprio ou um e-mail direto para o encarregado.</a:t>
            </a:r>
          </a:p>
        </p:txBody>
      </p:sp>
      <p:sp>
        <p:nvSpPr>
          <p:cNvPr id="10" name="Text 10"/>
          <p:cNvSpPr/>
          <p:nvPr/>
        </p:nvSpPr>
        <p:spPr>
          <a:xfrm>
            <a:off x="6434328" y="5730200"/>
            <a:ext cx="50078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00" i="1" dirty="0">
                <a:solidFill>
                  <a:srgbClr val="F2E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art. 41, LGPD (obrigatoriedade do encarregado)</a:t>
            </a:r>
          </a:p>
        </p:txBody>
      </p:sp>
      <p:sp>
        <p:nvSpPr>
          <p:cNvPr id="11" name="Text 11"/>
          <p:cNvSpPr/>
          <p:nvPr/>
        </p:nvSpPr>
        <p:spPr>
          <a:xfrm>
            <a:off x="457200" y="65288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29</a:t>
            </a:r>
          </a:p>
        </p:txBody>
      </p:sp>
      <p:sp>
        <p:nvSpPr>
          <p:cNvPr id="12" name="Text 12"/>
          <p:cNvSpPr/>
          <p:nvPr/>
        </p:nvSpPr>
        <p:spPr>
          <a:xfrm>
            <a:off x="6702552" y="6528816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Legislação de Proteção de Dados — LGPD e GDPR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1 · LGPD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Âmbito de Aplicação da LGPD (art. 3º e 4º)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B10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Quando a LGPD se aplica — critérios do art. 3º (basta 1 dos 3)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3566160" cy="1691640"/>
          </a:xfrm>
          <a:prstGeom prst="roundRect">
            <a:avLst>
              <a:gd name="adj" fmla="val 3784"/>
            </a:avLst>
          </a:prstGeom>
          <a:solidFill>
            <a:srgbClr val="6B102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731520" y="2121408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2578608"/>
            <a:ext cx="3200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Operação realizada no território nacional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51960" y="2011680"/>
            <a:ext cx="3566160" cy="1691640"/>
          </a:xfrm>
          <a:prstGeom prst="roundRect">
            <a:avLst>
              <a:gd name="adj" fmla="val 3784"/>
            </a:avLst>
          </a:prstGeom>
          <a:solidFill>
            <a:srgbClr val="6B102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4434840" y="2121408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II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434840" y="2578608"/>
            <a:ext cx="3200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Atividade destinada a oferecer bens/serviços ou tratar dados de indivíduos localizados no Brasil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955280" y="2011680"/>
            <a:ext cx="3566160" cy="1691640"/>
          </a:xfrm>
          <a:prstGeom prst="roundRect">
            <a:avLst>
              <a:gd name="adj" fmla="val 3784"/>
            </a:avLst>
          </a:prstGeom>
          <a:solidFill>
            <a:srgbClr val="6B102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8138160" y="2121408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III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8138160" y="2578608"/>
            <a:ext cx="3200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pessoais coletados no território nacional (titular estava no Brasil no momento da coleta)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48640" y="388620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i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LGPD adota, portanto, a territorialidade e a extraterritorialidade: mesmo empresas sediadas no exterior, sem qualquer estabelecimento no Brasil, submetem-se à Lei se oferecerem bens ou serviços a pessoas localizadas em território nacional, ou se tratarem dados de indivíduos aqui localizados.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4754880"/>
            <a:ext cx="10515600" cy="1280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D6C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777240" y="486460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6B10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Principais exceções (art. 4º) — quando a LGPD não se aplica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777240" y="5193792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 exclusivamente particular e não econômico  ·  fins jornalísticos e artísticos  ·  fins acadêmicos (aplicam-se os arts. 7º e 11)  ·  segurança pública, defesa nacional, segurança do Estado e investigação de infrações penais  ·  dados provenientes do exterior sem compartilhamento com agentes brasileiros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57200" y="65288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29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702552" y="6528816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Legislação de Proteção de Dados — LGPD e GDPR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1 · LGPD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Princípios do Tratamento de Dados (art. 6º)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caput do art. 6º exige que toda atividade de tratamento observe a boa-fé, além dos dez princípios listados nos incisos.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3401568" cy="2194560"/>
          </a:xfrm>
          <a:prstGeom prst="roundRect">
            <a:avLst>
              <a:gd name="adj" fmla="val 2917"/>
            </a:avLst>
          </a:prstGeom>
          <a:solidFill>
            <a:srgbClr val="FFFFFF"/>
          </a:solidFill>
          <a:ln w="12700">
            <a:solidFill>
              <a:srgbClr val="DCD6C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713232" y="1975104"/>
            <a:ext cx="384048" cy="384048"/>
          </a:xfrm>
          <a:prstGeom prst="ellipse">
            <a:avLst/>
          </a:prstGeom>
          <a:solidFill>
            <a:srgbClr val="6B102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713232" y="19751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07008" y="1965960"/>
            <a:ext cx="25786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B10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Finalidade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49808" y="2395728"/>
            <a:ext cx="299923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3000"/>
              </a:lnSpc>
              <a:buNone/>
            </a:pPr>
            <a:r>
              <a:rPr lang="en-US" sz="970" i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“realização do tratamento para propósitos legítimos, específicos, explícitos e informados ao titular, sem possibilidade de tratamento posterior de forma incompatível com essas finalidades”</a:t>
            </a:r>
            <a:endParaRPr lang="en-US" sz="970" dirty="0"/>
          </a:p>
        </p:txBody>
      </p:sp>
      <p:sp>
        <p:nvSpPr>
          <p:cNvPr id="10" name="Shape 8"/>
          <p:cNvSpPr/>
          <p:nvPr/>
        </p:nvSpPr>
        <p:spPr>
          <a:xfrm>
            <a:off x="4078224" y="1828800"/>
            <a:ext cx="3401568" cy="2194560"/>
          </a:xfrm>
          <a:prstGeom prst="roundRect">
            <a:avLst>
              <a:gd name="adj" fmla="val 2917"/>
            </a:avLst>
          </a:prstGeom>
          <a:solidFill>
            <a:srgbClr val="FFFFFF"/>
          </a:solidFill>
          <a:ln w="12700">
            <a:solidFill>
              <a:srgbClr val="DCD6C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Shape 9"/>
          <p:cNvSpPr/>
          <p:nvPr/>
        </p:nvSpPr>
        <p:spPr>
          <a:xfrm>
            <a:off x="4242816" y="1975104"/>
            <a:ext cx="384048" cy="384048"/>
          </a:xfrm>
          <a:prstGeom prst="ellipse">
            <a:avLst/>
          </a:prstGeom>
          <a:solidFill>
            <a:srgbClr val="6B102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4242816" y="19751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II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736592" y="1965960"/>
            <a:ext cx="25786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B10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Adequação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279392" y="2395728"/>
            <a:ext cx="299923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3000"/>
              </a:lnSpc>
              <a:buNone/>
            </a:pPr>
            <a:r>
              <a:rPr lang="en-US" sz="970" i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“compatibilidade do tratamento com as finalidades informadas ao titular, de acordo com o contexto do tratamento”</a:t>
            </a:r>
            <a:endParaRPr lang="en-US" sz="970" dirty="0"/>
          </a:p>
        </p:txBody>
      </p:sp>
      <p:sp>
        <p:nvSpPr>
          <p:cNvPr id="15" name="Shape 13"/>
          <p:cNvSpPr/>
          <p:nvPr/>
        </p:nvSpPr>
        <p:spPr>
          <a:xfrm>
            <a:off x="7607808" y="1828800"/>
            <a:ext cx="3401568" cy="2194560"/>
          </a:xfrm>
          <a:prstGeom prst="roundRect">
            <a:avLst>
              <a:gd name="adj" fmla="val 2917"/>
            </a:avLst>
          </a:prstGeom>
          <a:solidFill>
            <a:srgbClr val="FFFFFF"/>
          </a:solidFill>
          <a:ln w="12700">
            <a:solidFill>
              <a:srgbClr val="DCD6C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Shape 14"/>
          <p:cNvSpPr/>
          <p:nvPr/>
        </p:nvSpPr>
        <p:spPr>
          <a:xfrm>
            <a:off x="7772400" y="1975104"/>
            <a:ext cx="384048" cy="384048"/>
          </a:xfrm>
          <a:prstGeom prst="ellipse">
            <a:avLst/>
          </a:prstGeom>
          <a:solidFill>
            <a:srgbClr val="6B102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7772400" y="19751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III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266176" y="1965960"/>
            <a:ext cx="25786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B10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Necessidade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808976" y="2395728"/>
            <a:ext cx="299923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3000"/>
              </a:lnSpc>
              <a:buNone/>
            </a:pPr>
            <a:r>
              <a:rPr lang="en-US" sz="970" i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“limitação do tratamento ao mínimo necessário [...] com abrangência dos dados pertinentes, proporcionais e não excessivos em relação às finalidades”</a:t>
            </a:r>
            <a:endParaRPr lang="en-US" sz="970" dirty="0"/>
          </a:p>
        </p:txBody>
      </p:sp>
      <p:sp>
        <p:nvSpPr>
          <p:cNvPr id="20" name="Shape 18"/>
          <p:cNvSpPr/>
          <p:nvPr/>
        </p:nvSpPr>
        <p:spPr>
          <a:xfrm>
            <a:off x="548640" y="4160520"/>
            <a:ext cx="3401568" cy="2194560"/>
          </a:xfrm>
          <a:prstGeom prst="roundRect">
            <a:avLst>
              <a:gd name="adj" fmla="val 2917"/>
            </a:avLst>
          </a:prstGeom>
          <a:solidFill>
            <a:srgbClr val="FFFFFF"/>
          </a:solidFill>
          <a:ln w="12700">
            <a:solidFill>
              <a:srgbClr val="DCD6C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Shape 19"/>
          <p:cNvSpPr/>
          <p:nvPr/>
        </p:nvSpPr>
        <p:spPr>
          <a:xfrm>
            <a:off x="713232" y="4306824"/>
            <a:ext cx="384048" cy="384048"/>
          </a:xfrm>
          <a:prstGeom prst="ellipse">
            <a:avLst/>
          </a:prstGeom>
          <a:solidFill>
            <a:srgbClr val="6B102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713232" y="43068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IV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207008" y="4297680"/>
            <a:ext cx="25786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B10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Livre acesso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49808" y="4727448"/>
            <a:ext cx="299923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3000"/>
              </a:lnSpc>
              <a:buNone/>
            </a:pPr>
            <a:r>
              <a:rPr lang="en-US" sz="970" i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“garantia, aos titulares, de consulta facilitada e gratuita sobre a forma e a duração do tratamento [...] e sobre a integralidade de seus dados pessoais”</a:t>
            </a:r>
            <a:endParaRPr lang="en-US" sz="970" dirty="0"/>
          </a:p>
        </p:txBody>
      </p:sp>
      <p:sp>
        <p:nvSpPr>
          <p:cNvPr id="25" name="Shape 23"/>
          <p:cNvSpPr/>
          <p:nvPr/>
        </p:nvSpPr>
        <p:spPr>
          <a:xfrm>
            <a:off x="4078224" y="4160520"/>
            <a:ext cx="3401568" cy="2194560"/>
          </a:xfrm>
          <a:prstGeom prst="roundRect">
            <a:avLst>
              <a:gd name="adj" fmla="val 2917"/>
            </a:avLst>
          </a:prstGeom>
          <a:solidFill>
            <a:srgbClr val="FFFFFF"/>
          </a:solidFill>
          <a:ln w="12700">
            <a:solidFill>
              <a:srgbClr val="DCD6C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Shape 24"/>
          <p:cNvSpPr/>
          <p:nvPr/>
        </p:nvSpPr>
        <p:spPr>
          <a:xfrm>
            <a:off x="4242816" y="4306824"/>
            <a:ext cx="384048" cy="384048"/>
          </a:xfrm>
          <a:prstGeom prst="ellipse">
            <a:avLst/>
          </a:prstGeom>
          <a:solidFill>
            <a:srgbClr val="6B102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7" name="Text 25"/>
          <p:cNvSpPr/>
          <p:nvPr/>
        </p:nvSpPr>
        <p:spPr>
          <a:xfrm>
            <a:off x="4242816" y="43068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736592" y="4297680"/>
            <a:ext cx="25786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B10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Qualidade dos dados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279392" y="4727448"/>
            <a:ext cx="299923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3000"/>
              </a:lnSpc>
              <a:buNone/>
            </a:pPr>
            <a:r>
              <a:rPr lang="en-US" sz="970" i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“garantia [...] de exatidão, clareza, relevância e atualização dos dados, de acordo com a necessidade e para o cumprimento da finalidade”</a:t>
            </a:r>
            <a:endParaRPr lang="en-US" sz="970" dirty="0"/>
          </a:p>
        </p:txBody>
      </p:sp>
      <p:sp>
        <p:nvSpPr>
          <p:cNvPr id="30" name="Text 28"/>
          <p:cNvSpPr/>
          <p:nvPr/>
        </p:nvSpPr>
        <p:spPr>
          <a:xfrm>
            <a:off x="457200" y="65288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29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702552" y="6528816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Legislação de Proteção de Dados — LGPD e GDPR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1 · LGPD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Princípios do Tratamento de Dados (art. 6º)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401568" cy="2194560"/>
          </a:xfrm>
          <a:prstGeom prst="roundRect">
            <a:avLst>
              <a:gd name="adj" fmla="val 2917"/>
            </a:avLst>
          </a:prstGeom>
          <a:solidFill>
            <a:srgbClr val="FFFFFF"/>
          </a:solidFill>
          <a:ln w="12700">
            <a:solidFill>
              <a:srgbClr val="DCD6C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713232" y="1837944"/>
            <a:ext cx="384048" cy="384048"/>
          </a:xfrm>
          <a:prstGeom prst="ellipse">
            <a:avLst/>
          </a:prstGeom>
          <a:solidFill>
            <a:srgbClr val="6B102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713232" y="18379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207008" y="1828800"/>
            <a:ext cx="25786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B10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Transparência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49808" y="2258568"/>
            <a:ext cx="299923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3000"/>
              </a:lnSpc>
              <a:buNone/>
            </a:pPr>
            <a:r>
              <a:rPr lang="en-US" sz="970" i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“garantia [...] de informações claras, precisas e facilmente acessíveis sobre a realização do tratamento e os respectivos agentes de tratamento, observados os segredos comercial e industrial”</a:t>
            </a:r>
            <a:endParaRPr lang="en-US" sz="970" dirty="0"/>
          </a:p>
        </p:txBody>
      </p:sp>
      <p:sp>
        <p:nvSpPr>
          <p:cNvPr id="9" name="Shape 7"/>
          <p:cNvSpPr/>
          <p:nvPr/>
        </p:nvSpPr>
        <p:spPr>
          <a:xfrm>
            <a:off x="4078224" y="1691640"/>
            <a:ext cx="3401568" cy="2194560"/>
          </a:xfrm>
          <a:prstGeom prst="roundRect">
            <a:avLst>
              <a:gd name="adj" fmla="val 2917"/>
            </a:avLst>
          </a:prstGeom>
          <a:solidFill>
            <a:srgbClr val="FFFFFF"/>
          </a:solidFill>
          <a:ln w="12700">
            <a:solidFill>
              <a:srgbClr val="DCD6C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Shape 8"/>
          <p:cNvSpPr/>
          <p:nvPr/>
        </p:nvSpPr>
        <p:spPr>
          <a:xfrm>
            <a:off x="4242816" y="1837944"/>
            <a:ext cx="384048" cy="384048"/>
          </a:xfrm>
          <a:prstGeom prst="ellipse">
            <a:avLst/>
          </a:prstGeom>
          <a:solidFill>
            <a:srgbClr val="6B102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4242816" y="18379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VII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736592" y="1828800"/>
            <a:ext cx="25786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B10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Segurança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279392" y="2258568"/>
            <a:ext cx="299923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3000"/>
              </a:lnSpc>
              <a:buNone/>
            </a:pPr>
            <a:r>
              <a:rPr lang="en-US" sz="970" i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“utilização de medidas técnicas e administrativas aptas a proteger os dados pessoais de acessos não autorizados e de situações acidentais ou ilícitas de destruição, perda, alteração, comunicação ou difusão”</a:t>
            </a:r>
            <a:endParaRPr lang="en-US" sz="970" dirty="0"/>
          </a:p>
        </p:txBody>
      </p:sp>
      <p:sp>
        <p:nvSpPr>
          <p:cNvPr id="14" name="Shape 12"/>
          <p:cNvSpPr/>
          <p:nvPr/>
        </p:nvSpPr>
        <p:spPr>
          <a:xfrm>
            <a:off x="7607808" y="1691640"/>
            <a:ext cx="3401568" cy="2194560"/>
          </a:xfrm>
          <a:prstGeom prst="roundRect">
            <a:avLst>
              <a:gd name="adj" fmla="val 2917"/>
            </a:avLst>
          </a:prstGeom>
          <a:solidFill>
            <a:srgbClr val="FFFFFF"/>
          </a:solidFill>
          <a:ln w="12700">
            <a:solidFill>
              <a:srgbClr val="DCD6C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Shape 13"/>
          <p:cNvSpPr/>
          <p:nvPr/>
        </p:nvSpPr>
        <p:spPr>
          <a:xfrm>
            <a:off x="7772400" y="1837944"/>
            <a:ext cx="384048" cy="384048"/>
          </a:xfrm>
          <a:prstGeom prst="ellipse">
            <a:avLst/>
          </a:prstGeom>
          <a:solidFill>
            <a:srgbClr val="6B102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7772400" y="18379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VIII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266176" y="1828800"/>
            <a:ext cx="25786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B10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Prevenção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808976" y="2258568"/>
            <a:ext cx="299923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3000"/>
              </a:lnSpc>
              <a:buNone/>
            </a:pPr>
            <a:r>
              <a:rPr lang="en-US" sz="970" i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“adoção de medidas para prevenir a ocorrência de danos em virtude do tratamento de dados pessoais”</a:t>
            </a:r>
            <a:endParaRPr lang="en-US" sz="970" dirty="0"/>
          </a:p>
        </p:txBody>
      </p:sp>
      <p:sp>
        <p:nvSpPr>
          <p:cNvPr id="19" name="Shape 17"/>
          <p:cNvSpPr/>
          <p:nvPr/>
        </p:nvSpPr>
        <p:spPr>
          <a:xfrm>
            <a:off x="548640" y="4023360"/>
            <a:ext cx="3401568" cy="2194560"/>
          </a:xfrm>
          <a:prstGeom prst="roundRect">
            <a:avLst>
              <a:gd name="adj" fmla="val 2917"/>
            </a:avLst>
          </a:prstGeom>
          <a:solidFill>
            <a:srgbClr val="FFFFFF"/>
          </a:solidFill>
          <a:ln w="12700">
            <a:solidFill>
              <a:srgbClr val="DCD6C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Shape 18"/>
          <p:cNvSpPr/>
          <p:nvPr/>
        </p:nvSpPr>
        <p:spPr>
          <a:xfrm>
            <a:off x="713232" y="4169664"/>
            <a:ext cx="384048" cy="384048"/>
          </a:xfrm>
          <a:prstGeom prst="ellipse">
            <a:avLst/>
          </a:prstGeom>
          <a:solidFill>
            <a:srgbClr val="6B102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/>
          <p:nvPr/>
        </p:nvSpPr>
        <p:spPr>
          <a:xfrm>
            <a:off x="713232" y="41696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IX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207008" y="4160520"/>
            <a:ext cx="25786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B10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Não discriminação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49808" y="4590288"/>
            <a:ext cx="299923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3000"/>
              </a:lnSpc>
              <a:buNone/>
            </a:pPr>
            <a:r>
              <a:rPr lang="en-US" sz="970" i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“impossibilidade de realização do tratamento para fins discriminatórios ilícitos ou abusivos”</a:t>
            </a:r>
            <a:endParaRPr lang="en-US" sz="970" dirty="0"/>
          </a:p>
        </p:txBody>
      </p:sp>
      <p:sp>
        <p:nvSpPr>
          <p:cNvPr id="24" name="Shape 22"/>
          <p:cNvSpPr/>
          <p:nvPr/>
        </p:nvSpPr>
        <p:spPr>
          <a:xfrm>
            <a:off x="4078224" y="4023360"/>
            <a:ext cx="3401568" cy="2194560"/>
          </a:xfrm>
          <a:prstGeom prst="roundRect">
            <a:avLst>
              <a:gd name="adj" fmla="val 2917"/>
            </a:avLst>
          </a:prstGeom>
          <a:solidFill>
            <a:srgbClr val="FFFFFF"/>
          </a:solidFill>
          <a:ln w="12700">
            <a:solidFill>
              <a:srgbClr val="DCD6C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Shape 23"/>
          <p:cNvSpPr/>
          <p:nvPr/>
        </p:nvSpPr>
        <p:spPr>
          <a:xfrm>
            <a:off x="4242816" y="4169664"/>
            <a:ext cx="384048" cy="384048"/>
          </a:xfrm>
          <a:prstGeom prst="ellipse">
            <a:avLst/>
          </a:prstGeom>
          <a:solidFill>
            <a:srgbClr val="6B102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6" name="Text 24"/>
          <p:cNvSpPr/>
          <p:nvPr/>
        </p:nvSpPr>
        <p:spPr>
          <a:xfrm>
            <a:off x="4242816" y="41696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736592" y="4160520"/>
            <a:ext cx="25786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B10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Responsabilização e prestação de contas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279392" y="4590288"/>
            <a:ext cx="299923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3000"/>
              </a:lnSpc>
              <a:buNone/>
            </a:pPr>
            <a:r>
              <a:rPr lang="en-US" sz="970" i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“demonstração, pelo agente, da adoção de medidas eficazes e capazes de comprovar a observância e o cumprimento das normas de proteção de dados pessoais [...] e da eficácia dessas medidas”</a:t>
            </a:r>
            <a:endParaRPr lang="en-US" sz="970" dirty="0"/>
          </a:p>
        </p:txBody>
      </p:sp>
      <p:sp>
        <p:nvSpPr>
          <p:cNvPr id="29" name="Text 27"/>
          <p:cNvSpPr/>
          <p:nvPr/>
        </p:nvSpPr>
        <p:spPr>
          <a:xfrm>
            <a:off x="457200" y="65288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29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702552" y="6528816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Legislação de Proteção de Dados — LGPD e GDPR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PRECEDENTE EM FOCO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Princípio da Segurança na Prática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6537960" cy="4434840"/>
          </a:xfrm>
          <a:prstGeom prst="roundRect">
            <a:avLst>
              <a:gd name="adj" fmla="val 1649"/>
            </a:avLst>
          </a:prstGeom>
          <a:solidFill>
            <a:srgbClr val="FFFFFF"/>
          </a:solidFill>
          <a:ln w="12700">
            <a:solidFill>
              <a:srgbClr val="DCD6C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822960" y="182880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8A6D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JULGADO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22960" y="2121408"/>
            <a:ext cx="5943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B10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TJSP — Facebook Serviços Online do Brasil Ltda. x Bruna Queiroz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2788920"/>
            <a:ext cx="59893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Fatos: </a:t>
            </a: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autora teve sua conta no Instagram invadida por terceiros (hackeamento) e enfrentou dificuldades para recuperar o acesso, mesmo após solicitar ajuda à plataforma.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 jurídico: 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Tribunal de Justiça de São Paulo entendeu que a empresa falhou em cumprir o dever de segurança previsto no art. 6º, VII, da LGPD, ao não proteger adequadamente o sistema contra acessos não autorizados.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Resultado: 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condenação por danos morais no valor de R$ 5.000,00, por desídia da empresa em atender a usuária em situação de urgência.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315200" y="1645920"/>
            <a:ext cx="4297680" cy="4434840"/>
          </a:xfrm>
          <a:prstGeom prst="roundRect">
            <a:avLst>
              <a:gd name="adj" fmla="val 1702"/>
            </a:avLst>
          </a:prstGeom>
          <a:solidFill>
            <a:srgbClr val="6B102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7589520" y="187452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que este caso importa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589520" y="2331720"/>
            <a:ext cx="3749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 que o princípio da segurança não é uma diretriz abstrata: tribunais já o utilizam como fundamento autônomo para responsabilizar controladores por falhas técnicas e administrativas na proteção de dados, mesmo diante de ataques promovidos por terceiros.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7589520" y="4206240"/>
            <a:ext cx="3749040" cy="0"/>
          </a:xfrm>
          <a:prstGeom prst="line">
            <a:avLst/>
          </a:prstGeom>
          <a:noFill/>
          <a:ln w="12700">
            <a:solidFill>
              <a:srgbClr val="C9A24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7589520" y="43434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589520" y="461772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Art. 6º, VII, c/c art. 44 e 46 da LGPD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5288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29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702552" y="6528816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Legislação de Proteção de Dados — LGPD e GDPR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1 · LGPD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Bases Legais para o Tratamento (art. 7º) – </a:t>
            </a:r>
            <a:r>
              <a:rPr lang="en-US" sz="3000" b="1" dirty="0" err="1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Hipóteses</a:t>
            </a:r>
            <a:r>
              <a:rPr lang="en-US" sz="30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3000" b="1" dirty="0" err="1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legais</a:t>
            </a:r>
            <a:r>
              <a:rPr lang="en-US" sz="30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de </a:t>
            </a:r>
            <a:r>
              <a:rPr lang="en-US" sz="3000" b="1" dirty="0" err="1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tratamento</a:t>
            </a:r>
            <a:r>
              <a:rPr lang="en-US" sz="30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tratamento de dados pessoais só é lícito se enquadrado em uma das dez hipóteses do art. 7º. Não há hierarquia entre elas.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3401568" cy="2194560"/>
          </a:xfrm>
          <a:prstGeom prst="roundRect">
            <a:avLst>
              <a:gd name="adj" fmla="val 2917"/>
            </a:avLst>
          </a:prstGeom>
          <a:solidFill>
            <a:srgbClr val="FFFFFF"/>
          </a:solidFill>
          <a:ln w="12700">
            <a:solidFill>
              <a:srgbClr val="DCD6C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713232" y="1975104"/>
            <a:ext cx="365760" cy="365760"/>
          </a:xfrm>
          <a:prstGeom prst="ellipse">
            <a:avLst/>
          </a:prstGeom>
          <a:solidFill>
            <a:srgbClr val="C9A24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713232" y="19751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A0B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70432" y="1965960"/>
            <a:ext cx="26243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6B10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Consentimento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49808" y="2395728"/>
            <a:ext cx="299923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960" i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“mediante o fornecimento de consentimento pelo titular”</a:t>
            </a:r>
            <a:endParaRPr lang="en-US" sz="960" dirty="0"/>
          </a:p>
        </p:txBody>
      </p:sp>
      <p:sp>
        <p:nvSpPr>
          <p:cNvPr id="10" name="Shape 8"/>
          <p:cNvSpPr/>
          <p:nvPr/>
        </p:nvSpPr>
        <p:spPr>
          <a:xfrm>
            <a:off x="4078224" y="1828800"/>
            <a:ext cx="3401568" cy="2194560"/>
          </a:xfrm>
          <a:prstGeom prst="roundRect">
            <a:avLst>
              <a:gd name="adj" fmla="val 2917"/>
            </a:avLst>
          </a:prstGeom>
          <a:solidFill>
            <a:srgbClr val="FFFFFF"/>
          </a:solidFill>
          <a:ln w="12700">
            <a:solidFill>
              <a:srgbClr val="DCD6C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Shape 9"/>
          <p:cNvSpPr/>
          <p:nvPr/>
        </p:nvSpPr>
        <p:spPr>
          <a:xfrm>
            <a:off x="4242816" y="1975104"/>
            <a:ext cx="365760" cy="365760"/>
          </a:xfrm>
          <a:prstGeom prst="ellipse">
            <a:avLst/>
          </a:prstGeom>
          <a:solidFill>
            <a:srgbClr val="C9A24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4242816" y="19751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A0B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II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700016" y="1965960"/>
            <a:ext cx="26243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6B10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Obrigação legal/regulatória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279392" y="2395728"/>
            <a:ext cx="299923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960" i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“para o cumprimento de obrigação legal ou regulatória pelo </a:t>
            </a:r>
            <a:r>
              <a:rPr lang="en-US" sz="960" i="1" dirty="0" err="1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controlador</a:t>
            </a:r>
            <a:r>
              <a:rPr lang="en-US" sz="960" i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”</a:t>
            </a:r>
          </a:p>
          <a:p>
            <a:pPr marL="0" indent="0">
              <a:lnSpc>
                <a:spcPct val="102000"/>
              </a:lnSpc>
              <a:buNone/>
            </a:pPr>
            <a:r>
              <a:rPr lang="en-US" sz="960" i="1" dirty="0" err="1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</a:t>
            </a:r>
            <a:r>
              <a:rPr lang="en-US" sz="960" i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960" i="1" dirty="0" err="1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</a:t>
            </a:r>
            <a:r>
              <a:rPr lang="en-US" sz="960" i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60" i="1" dirty="0" err="1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você</a:t>
            </a:r>
            <a:r>
              <a:rPr lang="en-US" sz="960" i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é </a:t>
            </a:r>
            <a:r>
              <a:rPr lang="en-US" sz="960" i="1" dirty="0" err="1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contratado</a:t>
            </a:r>
            <a:r>
              <a:rPr lang="en-US" sz="960" i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960" i="1" dirty="0" err="1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precisa</a:t>
            </a:r>
            <a:r>
              <a:rPr lang="en-US" sz="960" i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60" i="1" dirty="0" err="1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fornecer</a:t>
            </a:r>
            <a:r>
              <a:rPr lang="en-US" sz="960" i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60" i="1" dirty="0" err="1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seus</a:t>
            </a:r>
            <a:r>
              <a:rPr lang="en-US" sz="960" i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dados, </a:t>
            </a:r>
            <a:r>
              <a:rPr lang="en-US" sz="960" i="1" dirty="0" err="1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isso</a:t>
            </a:r>
            <a:r>
              <a:rPr lang="en-US" sz="960" i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é </a:t>
            </a:r>
            <a:r>
              <a:rPr lang="en-US" sz="960" i="1" dirty="0" err="1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exigido</a:t>
            </a:r>
            <a:r>
              <a:rPr lang="en-US" sz="960" i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60" i="1" dirty="0" err="1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pelo</a:t>
            </a:r>
            <a:r>
              <a:rPr lang="en-US" sz="960" i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Governo. Legal seria </a:t>
            </a:r>
            <a:r>
              <a:rPr lang="en-US" sz="960" i="1" dirty="0" err="1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derivado</a:t>
            </a:r>
            <a:r>
              <a:rPr lang="en-US" sz="960" i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 Lei e </a:t>
            </a:r>
            <a:r>
              <a:rPr lang="en-US" sz="960" i="1" dirty="0" err="1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regulatório</a:t>
            </a:r>
            <a:r>
              <a:rPr lang="en-US" sz="960" i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960" i="1" dirty="0" err="1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</a:t>
            </a:r>
            <a:r>
              <a:rPr lang="en-US" sz="960" i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60" i="1" dirty="0" err="1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agência</a:t>
            </a:r>
            <a:r>
              <a:rPr lang="en-US" sz="960" i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60" i="1" dirty="0" err="1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Regulatória</a:t>
            </a:r>
            <a:r>
              <a:rPr lang="en-US" sz="960" i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(Ex. ANS). </a:t>
            </a:r>
            <a:endParaRPr lang="en-US" sz="960" dirty="0"/>
          </a:p>
        </p:txBody>
      </p:sp>
      <p:sp>
        <p:nvSpPr>
          <p:cNvPr id="15" name="Shape 13"/>
          <p:cNvSpPr/>
          <p:nvPr/>
        </p:nvSpPr>
        <p:spPr>
          <a:xfrm>
            <a:off x="7607808" y="1828800"/>
            <a:ext cx="3401568" cy="2194560"/>
          </a:xfrm>
          <a:prstGeom prst="roundRect">
            <a:avLst>
              <a:gd name="adj" fmla="val 2917"/>
            </a:avLst>
          </a:prstGeom>
          <a:solidFill>
            <a:srgbClr val="FFFFFF"/>
          </a:solidFill>
          <a:ln w="12700">
            <a:solidFill>
              <a:srgbClr val="DCD6C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Shape 14"/>
          <p:cNvSpPr/>
          <p:nvPr/>
        </p:nvSpPr>
        <p:spPr>
          <a:xfrm>
            <a:off x="7772400" y="1975104"/>
            <a:ext cx="365760" cy="365760"/>
          </a:xfrm>
          <a:prstGeom prst="ellipse">
            <a:avLst/>
          </a:prstGeom>
          <a:solidFill>
            <a:srgbClr val="C9A24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7772400" y="19751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A0B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III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229600" y="1965960"/>
            <a:ext cx="26243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6B10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Execução de políticas públicas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7808976" y="2395728"/>
            <a:ext cx="299923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960" i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“pela administração pública, para o tratamento e uso compartilhado de dados necessários à execução de políticas </a:t>
            </a:r>
            <a:r>
              <a:rPr lang="en-US" sz="960" i="1" dirty="0" err="1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públicas</a:t>
            </a:r>
            <a:r>
              <a:rPr lang="en-US" sz="960" i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”</a:t>
            </a:r>
          </a:p>
          <a:p>
            <a:pPr marL="0" indent="0">
              <a:lnSpc>
                <a:spcPct val="102000"/>
              </a:lnSpc>
              <a:buNone/>
            </a:pPr>
            <a:r>
              <a:rPr lang="en-US" sz="960" i="1" dirty="0" err="1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</a:t>
            </a:r>
            <a:r>
              <a:rPr lang="en-US" sz="960" i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960" i="1" dirty="0" err="1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</a:t>
            </a:r>
            <a:r>
              <a:rPr lang="en-US" sz="960" i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base de dados no SUS para </a:t>
            </a:r>
            <a:r>
              <a:rPr lang="en-US" sz="960" i="1" dirty="0" err="1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vacinas</a:t>
            </a:r>
            <a:r>
              <a:rPr lang="en-US" sz="960" i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960" i="1" dirty="0" err="1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matrículas</a:t>
            </a:r>
            <a:r>
              <a:rPr lang="en-US" sz="960" i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60" i="1" dirty="0" err="1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</a:t>
            </a:r>
            <a:r>
              <a:rPr lang="en-US" sz="960" i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60" i="1" dirty="0" err="1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escolas</a:t>
            </a:r>
            <a:r>
              <a:rPr lang="en-US" sz="960" i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60" i="1" dirty="0" err="1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estaduais</a:t>
            </a:r>
            <a:r>
              <a:rPr lang="en-US" sz="960" i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</a:t>
            </a:r>
            <a:r>
              <a:rPr lang="en-US" sz="960" i="1" dirty="0" err="1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Importante</a:t>
            </a:r>
            <a:r>
              <a:rPr lang="en-US" sz="960" i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960" i="1" dirty="0" err="1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só</a:t>
            </a:r>
            <a:r>
              <a:rPr lang="en-US" sz="960" i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serve para Aquilo </a:t>
            </a:r>
            <a:r>
              <a:rPr lang="en-US" sz="960" i="1" dirty="0" err="1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</a:t>
            </a:r>
            <a:r>
              <a:rPr lang="en-US" sz="960" i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é </a:t>
            </a:r>
            <a:r>
              <a:rPr lang="en-US" sz="960" i="1" dirty="0" err="1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aquela</a:t>
            </a:r>
            <a:r>
              <a:rPr lang="en-US" sz="960" i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60" i="1" dirty="0" err="1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política</a:t>
            </a:r>
            <a:r>
              <a:rPr lang="en-US" sz="960" i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60" i="1" dirty="0" err="1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pública</a:t>
            </a:r>
            <a:r>
              <a:rPr lang="en-US" sz="960" i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960" i="1" dirty="0" err="1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</a:t>
            </a:r>
            <a:r>
              <a:rPr lang="en-US" sz="960" i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60" i="1" dirty="0" err="1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pode</a:t>
            </a:r>
            <a:r>
              <a:rPr lang="en-US" sz="960" i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60" i="1" dirty="0" err="1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desvirtuar</a:t>
            </a:r>
            <a:r>
              <a:rPr lang="en-US" sz="960" i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</a:t>
            </a:r>
            <a:endParaRPr lang="en-US" sz="960" dirty="0"/>
          </a:p>
        </p:txBody>
      </p:sp>
      <p:sp>
        <p:nvSpPr>
          <p:cNvPr id="20" name="Shape 18"/>
          <p:cNvSpPr/>
          <p:nvPr/>
        </p:nvSpPr>
        <p:spPr>
          <a:xfrm>
            <a:off x="548640" y="4160520"/>
            <a:ext cx="3401568" cy="2194560"/>
          </a:xfrm>
          <a:prstGeom prst="roundRect">
            <a:avLst>
              <a:gd name="adj" fmla="val 2917"/>
            </a:avLst>
          </a:prstGeom>
          <a:solidFill>
            <a:srgbClr val="FFFFFF"/>
          </a:solidFill>
          <a:ln w="12700">
            <a:solidFill>
              <a:srgbClr val="DCD6C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Shape 19"/>
          <p:cNvSpPr/>
          <p:nvPr/>
        </p:nvSpPr>
        <p:spPr>
          <a:xfrm>
            <a:off x="713232" y="4306824"/>
            <a:ext cx="365760" cy="365760"/>
          </a:xfrm>
          <a:prstGeom prst="ellipse">
            <a:avLst/>
          </a:prstGeom>
          <a:solidFill>
            <a:srgbClr val="C9A24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713232" y="43068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A0B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IV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170432" y="4297680"/>
            <a:ext cx="26243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6B10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Estudos por órgão de pesquisa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749808" y="4727448"/>
            <a:ext cx="299923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960" i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“para a realização de estudos [...], garantida, sempre que possível, a anonimização dos dados </a:t>
            </a:r>
            <a:r>
              <a:rPr lang="en-US" sz="960" i="1" dirty="0" err="1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pessoais</a:t>
            </a:r>
            <a:r>
              <a:rPr lang="en-US" sz="960" i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”</a:t>
            </a:r>
          </a:p>
          <a:p>
            <a:pPr marL="0" indent="0">
              <a:lnSpc>
                <a:spcPct val="102000"/>
              </a:lnSpc>
              <a:buNone/>
            </a:pPr>
            <a:r>
              <a:rPr lang="en-US" sz="960" i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Ex. CENSO, </a:t>
            </a:r>
            <a:r>
              <a:rPr lang="en-US" sz="960" i="1" dirty="0" err="1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estudos</a:t>
            </a:r>
            <a:r>
              <a:rPr lang="en-US" sz="960" i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60" i="1" dirty="0" err="1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urbanos</a:t>
            </a:r>
            <a:r>
              <a:rPr lang="en-US" sz="960" i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960" i="1" dirty="0" err="1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deslocamento</a:t>
            </a:r>
            <a:r>
              <a:rPr lang="en-US" sz="960" i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960" i="1" dirty="0" err="1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pesquisa</a:t>
            </a:r>
            <a:r>
              <a:rPr lang="en-US" sz="960" i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60" i="1" dirty="0" err="1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sobre</a:t>
            </a:r>
            <a:r>
              <a:rPr lang="en-US" sz="960" i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60" i="1" dirty="0" err="1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saúde</a:t>
            </a:r>
            <a:r>
              <a:rPr lang="en-US" sz="960" i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</a:t>
            </a:r>
            <a:r>
              <a:rPr lang="en-US" sz="960" i="1" dirty="0" err="1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medicação</a:t>
            </a:r>
            <a:r>
              <a:rPr lang="en-US" sz="960" i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60" i="1" dirty="0" err="1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</a:t>
            </a:r>
            <a:r>
              <a:rPr lang="en-US" sz="960" i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60" i="1" dirty="0" err="1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Universidades</a:t>
            </a:r>
            <a:r>
              <a:rPr lang="en-US" sz="960" i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</a:t>
            </a:r>
            <a:r>
              <a:rPr lang="en-US" sz="960" i="1" dirty="0" err="1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Importante</a:t>
            </a:r>
            <a:r>
              <a:rPr lang="en-US" sz="960" i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960" i="1" dirty="0" err="1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</a:t>
            </a:r>
            <a:r>
              <a:rPr lang="en-US" sz="960" i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60" i="1" dirty="0" err="1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pode</a:t>
            </a:r>
            <a:r>
              <a:rPr lang="en-US" sz="960" i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ser </a:t>
            </a:r>
            <a:r>
              <a:rPr lang="en-US" sz="960" i="1" dirty="0" err="1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</a:t>
            </a:r>
            <a:r>
              <a:rPr lang="en-US" sz="960" i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commercial e </a:t>
            </a:r>
            <a:r>
              <a:rPr lang="en-US" sz="960" i="1" dirty="0" err="1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</a:t>
            </a:r>
            <a:r>
              <a:rPr lang="en-US" sz="960" i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ser </a:t>
            </a:r>
            <a:r>
              <a:rPr lang="en-US" sz="960" i="1" dirty="0" err="1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guardado</a:t>
            </a:r>
            <a:r>
              <a:rPr lang="en-US" sz="960" i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60" i="1" dirty="0" err="1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devidamente</a:t>
            </a:r>
            <a:r>
              <a:rPr lang="en-US" sz="960" i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pela </a:t>
            </a:r>
            <a:r>
              <a:rPr lang="en-US" sz="960" i="1" dirty="0" err="1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pessoa</a:t>
            </a:r>
            <a:r>
              <a:rPr lang="en-US" sz="960" i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60" i="1" dirty="0" err="1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</a:t>
            </a:r>
            <a:r>
              <a:rPr lang="en-US" sz="960" i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60" i="1" dirty="0" err="1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recebeu</a:t>
            </a:r>
            <a:r>
              <a:rPr lang="en-US" sz="960" i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</a:t>
            </a:r>
            <a:endParaRPr lang="en-US" sz="960" dirty="0"/>
          </a:p>
        </p:txBody>
      </p:sp>
      <p:sp>
        <p:nvSpPr>
          <p:cNvPr id="25" name="Shape 23"/>
          <p:cNvSpPr/>
          <p:nvPr/>
        </p:nvSpPr>
        <p:spPr>
          <a:xfrm>
            <a:off x="4078224" y="4160520"/>
            <a:ext cx="3401568" cy="2194560"/>
          </a:xfrm>
          <a:prstGeom prst="roundRect">
            <a:avLst>
              <a:gd name="adj" fmla="val 2917"/>
            </a:avLst>
          </a:prstGeom>
          <a:solidFill>
            <a:srgbClr val="FFFFFF"/>
          </a:solidFill>
          <a:ln w="12700">
            <a:solidFill>
              <a:srgbClr val="DCD6C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Shape 24"/>
          <p:cNvSpPr/>
          <p:nvPr/>
        </p:nvSpPr>
        <p:spPr>
          <a:xfrm>
            <a:off x="4242816" y="4306824"/>
            <a:ext cx="365760" cy="365760"/>
          </a:xfrm>
          <a:prstGeom prst="ellipse">
            <a:avLst/>
          </a:prstGeom>
          <a:solidFill>
            <a:srgbClr val="C9A24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7" name="Text 25"/>
          <p:cNvSpPr/>
          <p:nvPr/>
        </p:nvSpPr>
        <p:spPr>
          <a:xfrm>
            <a:off x="4242816" y="43068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A0B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700016" y="4297680"/>
            <a:ext cx="26243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6B10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Execução de contrato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4279392" y="4727448"/>
            <a:ext cx="299923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960" i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“quando necessário para a execução de contrato [...] a pedido do titular dos dados”</a:t>
            </a:r>
          </a:p>
          <a:p>
            <a:pPr marL="0" indent="0">
              <a:lnSpc>
                <a:spcPct val="102000"/>
              </a:lnSpc>
              <a:buNone/>
            </a:pPr>
            <a:r>
              <a:rPr lang="en-US" sz="960" i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</a:t>
            </a:r>
            <a:r>
              <a:rPr lang="en-US" sz="960" i="1" dirty="0" err="1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</a:t>
            </a:r>
            <a:r>
              <a:rPr lang="en-US" sz="960" i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dos </a:t>
            </a:r>
            <a:r>
              <a:rPr lang="en-US" sz="960" i="1" dirty="0" err="1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contratos</a:t>
            </a:r>
            <a:r>
              <a:rPr lang="en-US" sz="960" i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60" i="1" dirty="0" err="1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preliminares</a:t>
            </a:r>
            <a:r>
              <a:rPr lang="en-US" sz="960" i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960" i="1" dirty="0" err="1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avanço</a:t>
            </a:r>
            <a:r>
              <a:rPr lang="en-US" sz="960" i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60" i="1" dirty="0" err="1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</a:t>
            </a:r>
            <a:r>
              <a:rPr lang="en-US" sz="960" i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60" i="1" dirty="0" err="1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proposta</a:t>
            </a:r>
            <a:r>
              <a:rPr lang="en-US" sz="960" i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(a </a:t>
            </a:r>
            <a:r>
              <a:rPr lang="en-US" sz="960" i="1" dirty="0" err="1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empresa</a:t>
            </a:r>
            <a:r>
              <a:rPr lang="en-US" sz="960" i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60" i="1" dirty="0" err="1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precisa</a:t>
            </a:r>
            <a:r>
              <a:rPr lang="en-US" sz="960" i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dos dados)/ </a:t>
            </a:r>
            <a:r>
              <a:rPr lang="en-US" sz="960" i="1" dirty="0" err="1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execução</a:t>
            </a:r>
            <a:r>
              <a:rPr lang="en-US" sz="960" i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do </a:t>
            </a:r>
            <a:r>
              <a:rPr lang="en-US" sz="960" i="1" dirty="0" err="1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contrato</a:t>
            </a:r>
            <a:r>
              <a:rPr lang="en-US" sz="960" i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para o </a:t>
            </a:r>
            <a:r>
              <a:rPr lang="en-US" sz="960" i="1" dirty="0" err="1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cumprimento</a:t>
            </a:r>
            <a:r>
              <a:rPr lang="en-US" sz="960" i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ex. Entrega do </a:t>
            </a:r>
            <a:r>
              <a:rPr lang="en-US" sz="960" i="1" dirty="0" err="1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produto</a:t>
            </a:r>
            <a:r>
              <a:rPr lang="en-US" sz="960" i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Ex. Viajar </a:t>
            </a:r>
            <a:r>
              <a:rPr lang="en-US" sz="960" i="1" dirty="0" err="1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precisa</a:t>
            </a:r>
            <a:r>
              <a:rPr lang="en-US" sz="960" i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dos dados para </a:t>
            </a:r>
            <a:r>
              <a:rPr lang="en-US" sz="960" i="1" dirty="0" err="1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voo</a:t>
            </a:r>
            <a:r>
              <a:rPr lang="en-US" sz="960" i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</a:t>
            </a:r>
          </a:p>
          <a:p>
            <a:pPr marL="0" indent="0">
              <a:lnSpc>
                <a:spcPct val="102000"/>
              </a:lnSpc>
              <a:buNone/>
            </a:pPr>
            <a:r>
              <a:rPr lang="en-US" sz="960" i="1" dirty="0" err="1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Somente</a:t>
            </a:r>
            <a:r>
              <a:rPr lang="en-US" sz="960" i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usar o </a:t>
            </a:r>
            <a:r>
              <a:rPr lang="en-US" sz="960" i="1" dirty="0" err="1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necessário</a:t>
            </a:r>
            <a:r>
              <a:rPr lang="en-US" sz="960" i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</a:t>
            </a:r>
            <a:r>
              <a:rPr lang="en-US" sz="960" i="1" dirty="0" err="1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princípios</a:t>
            </a:r>
            <a:r>
              <a:rPr lang="en-US" sz="960" i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). </a:t>
            </a:r>
            <a:endParaRPr lang="en-US" sz="960" dirty="0"/>
          </a:p>
        </p:txBody>
      </p:sp>
      <p:sp>
        <p:nvSpPr>
          <p:cNvPr id="30" name="Text 28"/>
          <p:cNvSpPr/>
          <p:nvPr/>
        </p:nvSpPr>
        <p:spPr>
          <a:xfrm>
            <a:off x="457200" y="65288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29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702552" y="6528816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Legislação de Proteção de Dados — LGPD e GDPR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B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1 · LGPD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Bases Legais para o Tratamento (art. 7º)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401568" cy="2194560"/>
          </a:xfrm>
          <a:prstGeom prst="roundRect">
            <a:avLst>
              <a:gd name="adj" fmla="val 2917"/>
            </a:avLst>
          </a:prstGeom>
          <a:solidFill>
            <a:srgbClr val="FFFFFF"/>
          </a:solidFill>
          <a:ln w="12700">
            <a:solidFill>
              <a:srgbClr val="DCD6C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713232" y="1837944"/>
            <a:ext cx="365760" cy="365760"/>
          </a:xfrm>
          <a:prstGeom prst="ellipse">
            <a:avLst/>
          </a:prstGeom>
          <a:solidFill>
            <a:srgbClr val="C9A24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713232" y="18379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A0B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170432" y="1828800"/>
            <a:ext cx="26243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6B10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Exercício regular de direitos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49808" y="2258568"/>
            <a:ext cx="299923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960" i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“para o exercício regular de direitos em processo judicial, administrativo ou arbitral”</a:t>
            </a:r>
          </a:p>
          <a:p>
            <a:pPr marL="0" indent="0">
              <a:lnSpc>
                <a:spcPct val="102000"/>
              </a:lnSpc>
              <a:buNone/>
            </a:pPr>
            <a:r>
              <a:rPr lang="en-US" sz="960" i="1" dirty="0" err="1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Lembrar</a:t>
            </a:r>
            <a:r>
              <a:rPr lang="en-US" sz="960" i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do </a:t>
            </a:r>
            <a:r>
              <a:rPr lang="en-US" sz="960" i="1" dirty="0" err="1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princípio</a:t>
            </a:r>
            <a:r>
              <a:rPr lang="en-US" sz="960" i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 </a:t>
            </a:r>
            <a:r>
              <a:rPr lang="en-US" sz="960" i="1" dirty="0" err="1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necessidade</a:t>
            </a:r>
            <a:r>
              <a:rPr lang="en-US" sz="960" i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960" i="1" dirty="0" err="1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só</a:t>
            </a:r>
            <a:r>
              <a:rPr lang="en-US" sz="960" i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usar </a:t>
            </a:r>
            <a:r>
              <a:rPr lang="en-US" sz="960" i="1" dirty="0" err="1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</a:t>
            </a:r>
            <a:r>
              <a:rPr lang="en-US" sz="960" i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dados </a:t>
            </a:r>
            <a:r>
              <a:rPr lang="en-US" sz="960" i="1" dirty="0" err="1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</a:t>
            </a:r>
            <a:r>
              <a:rPr lang="en-US" sz="960" i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60" i="1" dirty="0" err="1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</a:t>
            </a:r>
            <a:r>
              <a:rPr lang="en-US" sz="960" i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960" i="1" dirty="0" err="1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necessidade</a:t>
            </a:r>
            <a:r>
              <a:rPr lang="en-US" sz="960" i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no </a:t>
            </a:r>
            <a:r>
              <a:rPr lang="en-US" sz="960" i="1" dirty="0" err="1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</a:t>
            </a:r>
            <a:r>
              <a:rPr lang="en-US" sz="960" i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960" i="1" dirty="0" err="1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prescrição</a:t>
            </a:r>
            <a:r>
              <a:rPr lang="en-US" sz="960" i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960" i="1" dirty="0" err="1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</a:t>
            </a:r>
            <a:r>
              <a:rPr lang="en-US" sz="960" i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-se </a:t>
            </a:r>
            <a:r>
              <a:rPr lang="en-US" sz="960" i="1" dirty="0" err="1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também</a:t>
            </a:r>
            <a:r>
              <a:rPr lang="en-US" sz="960" i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base. </a:t>
            </a:r>
            <a:endParaRPr lang="en-US" sz="960" dirty="0"/>
          </a:p>
        </p:txBody>
      </p:sp>
      <p:sp>
        <p:nvSpPr>
          <p:cNvPr id="9" name="Shape 7"/>
          <p:cNvSpPr/>
          <p:nvPr/>
        </p:nvSpPr>
        <p:spPr>
          <a:xfrm>
            <a:off x="4078224" y="1691640"/>
            <a:ext cx="3401568" cy="2194560"/>
          </a:xfrm>
          <a:prstGeom prst="roundRect">
            <a:avLst>
              <a:gd name="adj" fmla="val 2917"/>
            </a:avLst>
          </a:prstGeom>
          <a:solidFill>
            <a:srgbClr val="FFFFFF"/>
          </a:solidFill>
          <a:ln w="12700">
            <a:solidFill>
              <a:srgbClr val="DCD6C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Shape 8"/>
          <p:cNvSpPr/>
          <p:nvPr/>
        </p:nvSpPr>
        <p:spPr>
          <a:xfrm>
            <a:off x="4242816" y="1837944"/>
            <a:ext cx="365760" cy="365760"/>
          </a:xfrm>
          <a:prstGeom prst="ellipse">
            <a:avLst/>
          </a:prstGeom>
          <a:solidFill>
            <a:srgbClr val="C9A24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4242816" y="18379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A0B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VII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700016" y="1828800"/>
            <a:ext cx="26243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6B10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Proteção da vida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279392" y="2258568"/>
            <a:ext cx="299923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960" i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“para a proteção da vida ou da incolumidade física do titular ou de </a:t>
            </a:r>
            <a:r>
              <a:rPr lang="en-US" sz="960" i="1" dirty="0" err="1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terceiro</a:t>
            </a:r>
            <a:r>
              <a:rPr lang="en-US" sz="960" i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”</a:t>
            </a:r>
          </a:p>
          <a:p>
            <a:pPr marL="0" indent="0">
              <a:lnSpc>
                <a:spcPct val="102000"/>
              </a:lnSpc>
              <a:buNone/>
            </a:pPr>
            <a:r>
              <a:rPr lang="en-US" sz="960" i="1" dirty="0" err="1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</a:t>
            </a:r>
            <a:r>
              <a:rPr lang="en-US" sz="960" i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960" i="1" dirty="0" err="1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</a:t>
            </a:r>
            <a:r>
              <a:rPr lang="en-US" sz="960" i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960" i="1" dirty="0" err="1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desastres</a:t>
            </a:r>
            <a:r>
              <a:rPr lang="en-US" sz="960" i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cede a </a:t>
            </a:r>
            <a:r>
              <a:rPr lang="en-US" sz="960" i="1" dirty="0" err="1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geolocalização</a:t>
            </a:r>
            <a:r>
              <a:rPr lang="en-US" sz="960" i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960" i="1" dirty="0" err="1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</a:t>
            </a:r>
            <a:r>
              <a:rPr lang="en-US" sz="960" i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60" i="1" dirty="0" err="1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</a:t>
            </a:r>
            <a:r>
              <a:rPr lang="en-US" sz="960" i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hospital, cede dados e </a:t>
            </a:r>
            <a:r>
              <a:rPr lang="en-US" sz="960" i="1" dirty="0" err="1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até</a:t>
            </a:r>
            <a:r>
              <a:rPr lang="en-US" sz="960" i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60" i="1" dirty="0" err="1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hospitalares</a:t>
            </a:r>
            <a:r>
              <a:rPr lang="en-US" sz="960" i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</a:t>
            </a:r>
            <a:r>
              <a:rPr lang="en-US" sz="960" i="1" dirty="0" err="1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alergias</a:t>
            </a:r>
            <a:r>
              <a:rPr lang="en-US" sz="960" i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960" i="1" dirty="0" err="1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</a:t>
            </a:r>
            <a:r>
              <a:rPr lang="en-US" sz="960" i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60" i="1" dirty="0" err="1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sanguínio</a:t>
            </a:r>
            <a:r>
              <a:rPr lang="en-US" sz="960" i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). </a:t>
            </a:r>
          </a:p>
          <a:p>
            <a:pPr marL="0" indent="0">
              <a:lnSpc>
                <a:spcPct val="102000"/>
              </a:lnSpc>
              <a:buNone/>
            </a:pPr>
            <a:r>
              <a:rPr lang="en-US" sz="960" i="1" dirty="0" err="1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Acabou</a:t>
            </a:r>
            <a:r>
              <a:rPr lang="en-US" sz="960" i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</a:t>
            </a:r>
            <a:r>
              <a:rPr lang="en-US" sz="960" i="1" dirty="0" err="1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emergencia</a:t>
            </a:r>
            <a:r>
              <a:rPr lang="en-US" sz="960" i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960" i="1" dirty="0" err="1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acabou</a:t>
            </a:r>
            <a:r>
              <a:rPr lang="en-US" sz="960" i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 </a:t>
            </a:r>
            <a:r>
              <a:rPr lang="en-US" sz="960" i="1" dirty="0" err="1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tratamento</a:t>
            </a:r>
            <a:r>
              <a:rPr lang="en-US" sz="960" i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dos dados, o hospital </a:t>
            </a:r>
            <a:r>
              <a:rPr lang="en-US" sz="960" i="1" dirty="0" err="1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</a:t>
            </a:r>
            <a:r>
              <a:rPr lang="en-US" sz="960" i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60" i="1" dirty="0" err="1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guardar</a:t>
            </a:r>
            <a:r>
              <a:rPr lang="en-US" sz="960" i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60" i="1" dirty="0" err="1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</a:t>
            </a:r>
            <a:r>
              <a:rPr lang="en-US" sz="960" i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dados, mas </a:t>
            </a:r>
            <a:r>
              <a:rPr lang="en-US" sz="960" i="1" dirty="0" err="1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</a:t>
            </a:r>
            <a:r>
              <a:rPr lang="en-US" sz="960" i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60" i="1" dirty="0" err="1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outra</a:t>
            </a:r>
            <a:r>
              <a:rPr lang="en-US" sz="960" i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justificative (20 </a:t>
            </a:r>
            <a:r>
              <a:rPr lang="en-US" sz="960" i="1" dirty="0" err="1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anos</a:t>
            </a:r>
            <a:r>
              <a:rPr lang="en-US" sz="960" i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60" i="1" dirty="0" err="1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prontuário</a:t>
            </a:r>
            <a:r>
              <a:rPr lang="en-US" sz="960" i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960" dirty="0"/>
          </a:p>
        </p:txBody>
      </p:sp>
      <p:sp>
        <p:nvSpPr>
          <p:cNvPr id="14" name="Shape 12"/>
          <p:cNvSpPr/>
          <p:nvPr/>
        </p:nvSpPr>
        <p:spPr>
          <a:xfrm>
            <a:off x="7607808" y="1691640"/>
            <a:ext cx="3401568" cy="2194560"/>
          </a:xfrm>
          <a:prstGeom prst="roundRect">
            <a:avLst>
              <a:gd name="adj" fmla="val 2917"/>
            </a:avLst>
          </a:prstGeom>
          <a:solidFill>
            <a:srgbClr val="FFFFFF"/>
          </a:solidFill>
          <a:ln w="12700">
            <a:solidFill>
              <a:srgbClr val="DCD6C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Shape 13"/>
          <p:cNvSpPr/>
          <p:nvPr/>
        </p:nvSpPr>
        <p:spPr>
          <a:xfrm>
            <a:off x="7772400" y="1837944"/>
            <a:ext cx="365760" cy="365760"/>
          </a:xfrm>
          <a:prstGeom prst="ellipse">
            <a:avLst/>
          </a:prstGeom>
          <a:solidFill>
            <a:srgbClr val="C9A24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7772400" y="18379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A0B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VIII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229600" y="1828800"/>
            <a:ext cx="26243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6B10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Tutela da saúde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7808976" y="2258568"/>
            <a:ext cx="299923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960" i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“exclusivamente, em procedimento realizado por profissionais de saúde, serviços de saúde ou autoridade </a:t>
            </a:r>
            <a:r>
              <a:rPr lang="en-US" sz="960" i="1" dirty="0" err="1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sanitária</a:t>
            </a:r>
            <a:r>
              <a:rPr lang="en-US" sz="960" i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”</a:t>
            </a:r>
          </a:p>
          <a:p>
            <a:pPr marL="0" indent="0">
              <a:lnSpc>
                <a:spcPct val="102000"/>
              </a:lnSpc>
              <a:buNone/>
            </a:pPr>
            <a:r>
              <a:rPr lang="en-US" sz="960" i="1" dirty="0" err="1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</a:t>
            </a:r>
            <a:r>
              <a:rPr lang="en-US" sz="960" i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960" i="1" dirty="0" err="1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exames</a:t>
            </a:r>
            <a:r>
              <a:rPr lang="en-US" sz="960" i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</a:t>
            </a:r>
            <a:r>
              <a:rPr lang="en-US" sz="960" i="1" dirty="0" err="1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consultas</a:t>
            </a:r>
            <a:r>
              <a:rPr lang="en-US" sz="960" i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60" i="1" dirty="0" err="1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rotineiras</a:t>
            </a:r>
            <a:r>
              <a:rPr lang="en-US" sz="960" i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960" i="1" dirty="0" err="1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porém</a:t>
            </a:r>
            <a:r>
              <a:rPr lang="en-US" sz="960" i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60" i="1" dirty="0" err="1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</a:t>
            </a:r>
            <a:r>
              <a:rPr lang="en-US" sz="960" i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ser </a:t>
            </a:r>
            <a:r>
              <a:rPr lang="en-US" sz="960" i="1" dirty="0" err="1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só</a:t>
            </a:r>
            <a:r>
              <a:rPr lang="en-US" sz="960" i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 </a:t>
            </a:r>
            <a:r>
              <a:rPr lang="en-US" sz="960" i="1" dirty="0" err="1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necessário</a:t>
            </a:r>
            <a:r>
              <a:rPr lang="en-US" sz="960" i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</a:t>
            </a:r>
            <a:r>
              <a:rPr lang="en-US" sz="960" i="1" dirty="0" err="1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também</a:t>
            </a:r>
            <a:r>
              <a:rPr lang="en-US" sz="960" i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60" i="1" dirty="0" err="1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</a:t>
            </a:r>
            <a:r>
              <a:rPr lang="en-US" sz="960" i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60" i="1" dirty="0" err="1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pode</a:t>
            </a:r>
            <a:r>
              <a:rPr lang="en-US" sz="960" i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ter fins </a:t>
            </a:r>
            <a:r>
              <a:rPr lang="en-US" sz="960" i="1" dirty="0" err="1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comerciais</a:t>
            </a:r>
            <a:r>
              <a:rPr lang="en-US" sz="960" i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60" i="1" dirty="0" err="1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</a:t>
            </a:r>
            <a:r>
              <a:rPr lang="en-US" sz="960" i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usar </a:t>
            </a:r>
            <a:r>
              <a:rPr lang="en-US" sz="960" i="1" dirty="0" err="1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exames</a:t>
            </a:r>
            <a:r>
              <a:rPr lang="en-US" sz="960" i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para mandar propaganda, </a:t>
            </a:r>
            <a:r>
              <a:rPr lang="en-US" sz="960" i="1" dirty="0" err="1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</a:t>
            </a:r>
            <a:r>
              <a:rPr lang="en-US" sz="960" i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60" i="1" dirty="0" err="1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</a:t>
            </a:r>
            <a:r>
              <a:rPr lang="en-US" sz="960" i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</a:t>
            </a:r>
            <a:endParaRPr lang="en-US" sz="960" dirty="0"/>
          </a:p>
        </p:txBody>
      </p:sp>
      <p:sp>
        <p:nvSpPr>
          <p:cNvPr id="19" name="Shape 17"/>
          <p:cNvSpPr/>
          <p:nvPr/>
        </p:nvSpPr>
        <p:spPr>
          <a:xfrm>
            <a:off x="548640" y="4023360"/>
            <a:ext cx="3401568" cy="2194560"/>
          </a:xfrm>
          <a:prstGeom prst="roundRect">
            <a:avLst>
              <a:gd name="adj" fmla="val 2917"/>
            </a:avLst>
          </a:prstGeom>
          <a:solidFill>
            <a:srgbClr val="FFFFFF"/>
          </a:solidFill>
          <a:ln w="12700">
            <a:solidFill>
              <a:srgbClr val="DCD6C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Shape 18"/>
          <p:cNvSpPr/>
          <p:nvPr/>
        </p:nvSpPr>
        <p:spPr>
          <a:xfrm>
            <a:off x="713232" y="4169664"/>
            <a:ext cx="365760" cy="365760"/>
          </a:xfrm>
          <a:prstGeom prst="ellipse">
            <a:avLst/>
          </a:prstGeom>
          <a:solidFill>
            <a:srgbClr val="C9A24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/>
          <p:nvPr/>
        </p:nvSpPr>
        <p:spPr>
          <a:xfrm>
            <a:off x="713232" y="41696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A0B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IX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170432" y="4160520"/>
            <a:ext cx="26243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6B10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Legítimo interesse (art. 7º e 10)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749808" y="4590288"/>
            <a:ext cx="299923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960" i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“quando necessário para atender aos interesses legítimos do controlador ou de terceiro, exceto no caso de prevalecerem direitos e liberdades fundamentais do titular”</a:t>
            </a:r>
          </a:p>
          <a:p>
            <a:pPr marL="0" indent="0">
              <a:lnSpc>
                <a:spcPct val="102000"/>
              </a:lnSpc>
              <a:buNone/>
            </a:pPr>
            <a:r>
              <a:rPr lang="en-US" sz="960" i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 de dados para </a:t>
            </a:r>
            <a:r>
              <a:rPr lang="en-US" sz="960" i="1" dirty="0" err="1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fazer</a:t>
            </a:r>
            <a:r>
              <a:rPr lang="en-US" sz="960" i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 </a:t>
            </a:r>
            <a:r>
              <a:rPr lang="en-US" sz="960" i="1" dirty="0" err="1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negócio</a:t>
            </a:r>
            <a:r>
              <a:rPr lang="en-US" sz="960" i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60" i="1" dirty="0" err="1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prosperar</a:t>
            </a:r>
            <a:r>
              <a:rPr lang="en-US" sz="960" i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(ex. Marketing) e </a:t>
            </a:r>
            <a:r>
              <a:rPr lang="en-US" sz="960" i="1" dirty="0" err="1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proteção</a:t>
            </a:r>
            <a:r>
              <a:rPr lang="en-US" sz="960" i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 propria </a:t>
            </a:r>
            <a:r>
              <a:rPr lang="en-US" sz="960" i="1" dirty="0" err="1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empresa</a:t>
            </a:r>
            <a:r>
              <a:rPr lang="en-US" sz="960" i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no </a:t>
            </a:r>
            <a:r>
              <a:rPr lang="en-US" sz="960" i="1" dirty="0" err="1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exercicio</a:t>
            </a:r>
            <a:r>
              <a:rPr lang="en-US" sz="960" i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960" i="1" dirty="0" err="1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direitos</a:t>
            </a:r>
            <a:r>
              <a:rPr lang="en-US" sz="960" i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(ex. Cameras). </a:t>
            </a:r>
          </a:p>
          <a:p>
            <a:pPr marL="0" indent="0">
              <a:lnSpc>
                <a:spcPct val="102000"/>
              </a:lnSpc>
              <a:buNone/>
            </a:pPr>
            <a:endParaRPr lang="en-US" sz="960" dirty="0"/>
          </a:p>
        </p:txBody>
      </p:sp>
      <p:sp>
        <p:nvSpPr>
          <p:cNvPr id="24" name="Shape 22"/>
          <p:cNvSpPr/>
          <p:nvPr/>
        </p:nvSpPr>
        <p:spPr>
          <a:xfrm>
            <a:off x="4078224" y="4023360"/>
            <a:ext cx="3401568" cy="2194560"/>
          </a:xfrm>
          <a:prstGeom prst="roundRect">
            <a:avLst>
              <a:gd name="adj" fmla="val 2917"/>
            </a:avLst>
          </a:prstGeom>
          <a:solidFill>
            <a:srgbClr val="FFFFFF"/>
          </a:solidFill>
          <a:ln w="12700">
            <a:solidFill>
              <a:srgbClr val="DCD6C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Shape 23"/>
          <p:cNvSpPr/>
          <p:nvPr/>
        </p:nvSpPr>
        <p:spPr>
          <a:xfrm>
            <a:off x="4242816" y="4169664"/>
            <a:ext cx="365760" cy="365760"/>
          </a:xfrm>
          <a:prstGeom prst="ellipse">
            <a:avLst/>
          </a:prstGeom>
          <a:solidFill>
            <a:srgbClr val="C9A24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6" name="Text 24"/>
          <p:cNvSpPr/>
          <p:nvPr/>
        </p:nvSpPr>
        <p:spPr>
          <a:xfrm>
            <a:off x="4242816" y="41696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A0B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700016" y="4160520"/>
            <a:ext cx="26243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6B10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Proteção do crédito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4279392" y="4590288"/>
            <a:ext cx="299923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960" i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“para a proteção do crédito, inclusive quanto ao disposto na legislação </a:t>
            </a:r>
            <a:r>
              <a:rPr lang="en-US" sz="960" i="1" dirty="0" err="1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pertinente</a:t>
            </a:r>
            <a:r>
              <a:rPr lang="en-US" sz="960" i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”</a:t>
            </a:r>
          </a:p>
          <a:p>
            <a:pPr marL="0" indent="0">
              <a:lnSpc>
                <a:spcPct val="102000"/>
              </a:lnSpc>
              <a:buNone/>
            </a:pPr>
            <a:r>
              <a:rPr lang="en-US" sz="960" i="1" dirty="0" err="1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</a:t>
            </a:r>
            <a:r>
              <a:rPr lang="en-US" sz="960" i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dados para </a:t>
            </a:r>
            <a:r>
              <a:rPr lang="en-US" sz="960" i="1" dirty="0" err="1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mediar</a:t>
            </a:r>
            <a:r>
              <a:rPr lang="en-US" sz="960" i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60" i="1" dirty="0" err="1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empréstimos</a:t>
            </a:r>
            <a:r>
              <a:rPr lang="en-US" sz="960" i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etc. </a:t>
            </a:r>
            <a:r>
              <a:rPr lang="en-US" sz="960" i="1" dirty="0" err="1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Porém</a:t>
            </a:r>
            <a:r>
              <a:rPr lang="en-US" sz="960" i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60" i="1" dirty="0" err="1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</a:t>
            </a:r>
            <a:r>
              <a:rPr lang="en-US" sz="960" i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ser </a:t>
            </a:r>
            <a:r>
              <a:rPr lang="en-US" sz="960" i="1" dirty="0" err="1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avaliada</a:t>
            </a:r>
            <a:r>
              <a:rPr lang="en-US" sz="960" i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com Cuidado para </a:t>
            </a:r>
            <a:r>
              <a:rPr lang="en-US" sz="960" i="1" dirty="0" err="1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envetuais</a:t>
            </a:r>
            <a:r>
              <a:rPr lang="en-US" sz="960" i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60" i="1" dirty="0" err="1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correções</a:t>
            </a:r>
            <a:r>
              <a:rPr lang="en-US" sz="960" i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60" i="1" dirty="0" err="1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necessárias</a:t>
            </a:r>
            <a:r>
              <a:rPr lang="en-US" sz="960" i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</a:t>
            </a:r>
            <a:endParaRPr lang="en-US" sz="960" dirty="0"/>
          </a:p>
        </p:txBody>
      </p:sp>
      <p:sp>
        <p:nvSpPr>
          <p:cNvPr id="29" name="Text 27"/>
          <p:cNvSpPr/>
          <p:nvPr/>
        </p:nvSpPr>
        <p:spPr>
          <a:xfrm>
            <a:off x="457200" y="65288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29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702552" y="6528816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Legislação de Proteção de Dados — LGPD e GDPR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B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/>
        </p:nvSpPr>
        <p:spPr>
          <a:xfrm>
            <a:off x="548640" y="384048"/>
            <a:ext cx="1109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50" b="1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1 · LGPD</a:t>
            </a:r>
          </a:p>
        </p:txBody>
      </p:sp>
      <p:sp>
        <p:nvSpPr>
          <p:cNvPr id="3" name="Text 3"/>
          <p:cNvSpPr/>
          <p:nvPr/>
        </p:nvSpPr>
        <p:spPr>
          <a:xfrm>
            <a:off x="548640" y="676656"/>
            <a:ext cx="1109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27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Consentimento do Titular na Prática (art. 8º)</a:t>
            </a:r>
          </a:p>
        </p:txBody>
      </p:sp>
      <p:sp>
        <p:nvSpPr>
          <p:cNvPr id="4" name="Shape 4"/>
          <p:cNvSpPr/>
          <p:nvPr/>
        </p:nvSpPr>
        <p:spPr>
          <a:xfrm>
            <a:off x="548640" y="1650000"/>
            <a:ext cx="5410200" cy="24000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DCD6CC"/>
            </a:solidFill>
            <a:prstDash val="solid"/>
          </a:ln>
          <a:effectLst>
            <a:outerShdw blurRad="76200" dist="25400" dir="5400000" algn="bl" rotWithShape="0">
              <a:srgbClr val="8A7B5C">
                <a:alpha val="1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5" name="Text 5"/>
          <p:cNvSpPr/>
          <p:nvPr/>
        </p:nvSpPr>
        <p:spPr>
          <a:xfrm>
            <a:off x="768096" y="1823736"/>
            <a:ext cx="4971288" cy="17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6000"/>
              </a:lnSpc>
              <a:buNone/>
            </a:pPr>
            <a:r>
              <a:rPr lang="pt-BR" sz="2200" b="1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 </a:t>
            </a:r>
            <a:r>
              <a:rPr lang="pt-BR" sz="1200" i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consentimento deve ser fornecido por escrito ou por outro meio que demonstre a manifestação de vontade do titular, como clique em botões, assinaturas digitais ou biometria.</a:t>
            </a:r>
            <a:r>
              <a:rPr lang="pt-BR" sz="2200" b="1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”</a:t>
            </a:r>
          </a:p>
        </p:txBody>
      </p:sp>
      <p:sp>
        <p:nvSpPr>
          <p:cNvPr id="6" name="Text 6"/>
          <p:cNvSpPr/>
          <p:nvPr/>
        </p:nvSpPr>
        <p:spPr>
          <a:xfrm>
            <a:off x="768096" y="3630000"/>
            <a:ext cx="49712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00" b="1" dirty="0">
                <a:solidFill>
                  <a:srgbClr val="6B10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Art. 8º, § 1º, LGPD</a:t>
            </a:r>
          </a:p>
        </p:txBody>
      </p:sp>
      <p:sp>
        <p:nvSpPr>
          <p:cNvPr id="7" name="Shape 7"/>
          <p:cNvSpPr/>
          <p:nvPr/>
        </p:nvSpPr>
        <p:spPr>
          <a:xfrm>
            <a:off x="6233160" y="1650000"/>
            <a:ext cx="5410200" cy="2400000"/>
          </a:xfrm>
          <a:prstGeom prst="roundRect">
            <a:avLst>
              <a:gd name="adj" fmla="val 3429"/>
            </a:avLst>
          </a:prstGeom>
          <a:solidFill>
            <a:srgbClr val="6B1029"/>
          </a:solidFill>
          <a:ln>
            <a:noFill/>
          </a:ln>
          <a:effectLst>
            <a:outerShdw blurRad="76200" dist="25400" dir="5400000" algn="bl" rotWithShape="0">
              <a:srgbClr val="8A7B5C">
                <a:alpha val="1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8" name="Text 8"/>
          <p:cNvSpPr/>
          <p:nvPr/>
        </p:nvSpPr>
        <p:spPr>
          <a:xfrm>
            <a:off x="6452616" y="1823736"/>
            <a:ext cx="4971288" cy="17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6000"/>
              </a:lnSpc>
              <a:buNone/>
            </a:pPr>
            <a:r>
              <a:rPr lang="pt-BR" sz="2200" b="1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 </a:t>
            </a:r>
            <a:r>
              <a:rPr lang="pt-BR" sz="12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ônus da prova cabe ao controlador. Ou seja, se o titular alegar que não autorizou o uso de seus dados, cabe à empresa comprovar, por meio de registros do sistema (logs), o dia e o horário em que o consentimento foi manifestado.</a:t>
            </a:r>
            <a:r>
              <a:rPr lang="pt-BR" sz="2200" b="1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”</a:t>
            </a:r>
          </a:p>
        </p:txBody>
      </p:sp>
      <p:sp>
        <p:nvSpPr>
          <p:cNvPr id="9" name="Text 9"/>
          <p:cNvSpPr/>
          <p:nvPr/>
        </p:nvSpPr>
        <p:spPr>
          <a:xfrm>
            <a:off x="6452616" y="3630000"/>
            <a:ext cx="49712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00" b="1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Art. 8º, § 2º, LGPD</a:t>
            </a:r>
          </a:p>
        </p:txBody>
      </p:sp>
      <p:sp>
        <p:nvSpPr>
          <p:cNvPr id="10" name="Text 10"/>
          <p:cNvSpPr/>
          <p:nvPr/>
        </p:nvSpPr>
        <p:spPr>
          <a:xfrm>
            <a:off x="548640" y="4370000"/>
            <a:ext cx="11094720" cy="5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pt-BR" sz="1250" b="1" dirty="0">
                <a:solidFill>
                  <a:srgbClr val="6B10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prática: </a:t>
            </a:r>
            <a:r>
              <a:rPr lang="pt-BR" sz="1250" i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consentimento é apenas uma das dez bases legais do art. 7º — e a única em que o ônus probatório recai integralmente sobre o controlador. Por isso, empresas mantêm registros de logs de aceite como evidência.</a:t>
            </a:r>
          </a:p>
        </p:txBody>
      </p:sp>
      <p:sp>
        <p:nvSpPr>
          <p:cNvPr id="11" name="Text 11"/>
          <p:cNvSpPr/>
          <p:nvPr/>
        </p:nvSpPr>
        <p:spPr>
          <a:xfrm>
            <a:off x="457200" y="65288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29</a:t>
            </a:r>
          </a:p>
        </p:txBody>
      </p:sp>
      <p:sp>
        <p:nvSpPr>
          <p:cNvPr id="12" name="Text 12"/>
          <p:cNvSpPr/>
          <p:nvPr/>
        </p:nvSpPr>
        <p:spPr>
          <a:xfrm>
            <a:off x="6702552" y="6528816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Legislação de Proteção de Dados — LGPD e GDPR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B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PRECEDENTE EM FOCO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 Legal na Prática: Proteção ao Crédito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6537960" cy="4434840"/>
          </a:xfrm>
          <a:prstGeom prst="roundRect">
            <a:avLst>
              <a:gd name="adj" fmla="val 1649"/>
            </a:avLst>
          </a:prstGeom>
          <a:solidFill>
            <a:srgbClr val="FFFFFF"/>
          </a:solidFill>
          <a:ln w="12700">
            <a:solidFill>
              <a:srgbClr val="DCD6C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822960" y="182880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8A6D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JULGADO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22960" y="2121408"/>
            <a:ext cx="5943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B10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TJSP — Lucas Perelló dos Reis x Serasa Experian S/A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2788920"/>
            <a:ext cx="59893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Fatos: </a:t>
            </a: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autor buscava indenização e a remoção de seus dados de plataformas de análise de crédito, alegando tratamento de dados pessoais sem consentimento prévio.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 jurídico: 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2ª Câmara de Direito Privado do TJSP confirmou que o tratamento de dados para proteção ao crédito é autorizado pelo art. 7º, X, da LGPD e independe de consentimento do titular, por se tratar de hipótese legal autônoma, também amparada pela Lei nº 12.414/2011.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Resultado: 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pedido julgado improcedente — o tratamento foi considerado lícito.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315200" y="1645920"/>
            <a:ext cx="4297680" cy="4434840"/>
          </a:xfrm>
          <a:prstGeom prst="roundRect">
            <a:avLst>
              <a:gd name="adj" fmla="val 1702"/>
            </a:avLst>
          </a:prstGeom>
          <a:solidFill>
            <a:srgbClr val="6B102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7589520" y="187452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que este caso importa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589520" y="2331720"/>
            <a:ext cx="3749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Ilustra, na prática, um erro comum de interpretação: nem todo tratamento de dados exige consentimento. O caso reforça que as dez hipóteses do art. 7º são alternativas equivalentes entre si — o consentimento é apenas uma delas.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7589520" y="4206240"/>
            <a:ext cx="3749040" cy="0"/>
          </a:xfrm>
          <a:prstGeom prst="line">
            <a:avLst/>
          </a:prstGeom>
          <a:noFill/>
          <a:ln w="12700">
            <a:solidFill>
              <a:srgbClr val="C9A24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7589520" y="43434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589520" y="461772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Art. 7º, X, LGPD c/c Lei nº 12.414/2011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5288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29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702552" y="6528816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Legislação de Proteção de Dados — LGPD e GDPR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B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1 · LGPD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Tratamento de Dados Pessoais Sensíveis (art. 11)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49240" cy="178308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CD6CC"/>
            </a:solidFill>
            <a:prstDash val="solid"/>
          </a:ln>
          <a:effectLst>
            <a:outerShdw blurRad="76200" dist="25400" dir="5400000" algn="bl" rotWithShape="0">
              <a:srgbClr val="8A7B5C">
                <a:alpha val="1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749808" y="1728216"/>
            <a:ext cx="494690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2200" b="1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</a:t>
            </a:r>
            <a:r>
              <a:rPr lang="en-US" sz="1250" i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dado pessoal sobre origem racial ou étnica, convicção religiosa, opinião política, filiação a sindicato ou a organização de caráter religioso, filosófico ou político, dado referente à saúde ou à vida sexual, dado genético ou biométrico, quando vinculado a uma pessoa natural</a:t>
            </a:r>
            <a:r>
              <a:rPr lang="en-US" sz="2200" b="1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”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49808" y="3072384"/>
            <a:ext cx="49469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B10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Art. 5º, II — definição de dado sensível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6035040" y="1600200"/>
            <a:ext cx="5577840" cy="178308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CD6CC"/>
            </a:solidFill>
            <a:prstDash val="solid"/>
          </a:ln>
          <a:effectLst>
            <a:outerShdw blurRad="76200" dist="25400" dir="5400000" algn="bl" rotWithShape="0">
              <a:srgbClr val="8A7B5C">
                <a:alpha val="1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6236208" y="1728216"/>
            <a:ext cx="517550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2200" b="1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</a:t>
            </a:r>
            <a:r>
              <a:rPr lang="en-US" sz="1250" i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somente poderá ocorrer [...] quando o titular [...] consentir, de forma específica e destacada, para finalidades específicas; ou, sem consentimento, nas hipóteses indispensáveis do inciso II</a:t>
            </a:r>
            <a:r>
              <a:rPr lang="en-US" sz="2200" b="1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”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236208" y="3072384"/>
            <a:ext cx="5175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B10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Art. 11, caput — regra geral de tratamento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48640" y="361188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6B10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Hipóteses de dispensa de consentimento (art. 11, II) — indispensáveis para: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548640" y="3977640"/>
            <a:ext cx="1060704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Cumprimento de obrigação legal ou regulatória</a:t>
            </a:r>
            <a:endParaRPr lang="en-US" sz="1150" dirty="0"/>
          </a:p>
          <a:p>
            <a:pPr marL="177800" indent="-1778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Tratamento compartilhado para políticas públicas</a:t>
            </a:r>
            <a:endParaRPr lang="en-US" sz="1150" dirty="0"/>
          </a:p>
          <a:p>
            <a:pPr marL="177800" indent="-1778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Estudos por órgão de pesquisa (com anonimização, quando possível)</a:t>
            </a:r>
            <a:endParaRPr lang="en-US" sz="1150" dirty="0"/>
          </a:p>
          <a:p>
            <a:pPr marL="177800" indent="-1778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Exercício regular de direitos (contratos, processos judiciais)</a:t>
            </a:r>
            <a:endParaRPr lang="en-US" sz="1150" dirty="0"/>
          </a:p>
          <a:p>
            <a:pPr marL="177800" indent="-1778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Proteção da vida ou da incolumidade física</a:t>
            </a:r>
            <a:endParaRPr lang="en-US" sz="1150" dirty="0"/>
          </a:p>
          <a:p>
            <a:pPr marL="177800" indent="-1778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Tutela da saúde, por profissionais e serviços de saúde</a:t>
            </a:r>
            <a:endParaRPr lang="en-US" sz="1150" dirty="0"/>
          </a:p>
          <a:p>
            <a:pPr marL="177800" indent="-1778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Prevenção à fraude e segurança do titular em processos de identificação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57200" y="65288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29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702552" y="6528816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Legislação de Proteção de Dados — LGPD e GDPR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B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1 · LGPD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Fiscalização e Sanções Administrativas (art. 52)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649224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DCD6C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822960" y="1755648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6B10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Principais sanções previstas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822960" y="2121408"/>
            <a:ext cx="6035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07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Advertência, com prazo para medidas corretivas</a:t>
            </a:r>
            <a:endParaRPr lang="en-US" sz="1070" dirty="0"/>
          </a:p>
          <a:p>
            <a:pPr marL="152400" indent="-1524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07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Multa simples de até 2% do faturamento (limite de R$ 50 milhões por infração)</a:t>
            </a:r>
            <a:endParaRPr lang="en-US" sz="1070" dirty="0"/>
          </a:p>
          <a:p>
            <a:pPr marL="152400" indent="-1524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07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Multa diária, observado o mesmo limite total</a:t>
            </a:r>
            <a:endParaRPr lang="en-US" sz="1070" dirty="0"/>
          </a:p>
          <a:p>
            <a:pPr marL="152400" indent="-1524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07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Publicização da infração e bloqueio ou eliminação dos dados</a:t>
            </a:r>
            <a:endParaRPr lang="en-US" sz="1070" dirty="0"/>
          </a:p>
          <a:p>
            <a:pPr marL="152400" indent="-1524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07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Suspensão do banco de dados ou da atividade de tratamento por até 6 meses</a:t>
            </a:r>
            <a:endParaRPr lang="en-US" sz="1070" dirty="0"/>
          </a:p>
          <a:p>
            <a:pPr marL="152400" indent="-1524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07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Proibição parcial ou total do exercício de atividades de tratamento</a:t>
            </a:r>
            <a:endParaRPr lang="en-US" sz="1070" dirty="0"/>
          </a:p>
        </p:txBody>
      </p:sp>
      <p:sp>
        <p:nvSpPr>
          <p:cNvPr id="7" name="Shape 5"/>
          <p:cNvSpPr/>
          <p:nvPr/>
        </p:nvSpPr>
        <p:spPr>
          <a:xfrm>
            <a:off x="548640" y="4069080"/>
            <a:ext cx="6492240" cy="16002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DCD6CC"/>
            </a:solidFill>
            <a:prstDash val="solid"/>
          </a:ln>
          <a:effectLst>
            <a:outerShdw blurRad="76200" dist="25400" dir="5400000" algn="bl" rotWithShape="0">
              <a:srgbClr val="8A7B5C">
                <a:alpha val="1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749808" y="4197096"/>
            <a:ext cx="608990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2200" b="1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</a:t>
            </a:r>
            <a:r>
              <a:rPr lang="en-US" sz="1250" i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multa simples, de até 2% (dois por cento) do faturamento da pessoa jurídica de direito privado, grupo ou conglomerado no Brasil no seu último exercício, excluídos os tributos, limitada, no total, a R$ 50.000.000,00 (cinquenta milhões de reais) por infração</a:t>
            </a:r>
            <a:r>
              <a:rPr lang="en-US" sz="2200" b="1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”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49808" y="5358384"/>
            <a:ext cx="60899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B10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Art. 52, II, LGPD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7315200" y="1600200"/>
            <a:ext cx="4297680" cy="4480560"/>
          </a:xfrm>
          <a:prstGeom prst="roundRect">
            <a:avLst>
              <a:gd name="adj" fmla="val 1702"/>
            </a:avLst>
          </a:prstGeom>
          <a:solidFill>
            <a:srgbClr val="6B102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7589520" y="17830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JULGADO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589520" y="205740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ANPD x Telekall Infoservice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7589520" y="2606040"/>
            <a:ext cx="3749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6 de julho de 2023, a ANPD aplicou sua primeira sanção pecuniária da história, contra uma microempresa de telemarketing que ofertava listas de contatos de WhatsApp de eleitores para fins de campanha política, sem base legal e sem encarregado de dados indicado.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589520" y="4434840"/>
            <a:ext cx="3749040" cy="0"/>
          </a:xfrm>
          <a:prstGeom prst="line">
            <a:avLst/>
          </a:prstGeom>
          <a:noFill/>
          <a:ln w="12700">
            <a:solidFill>
              <a:srgbClr val="C9A24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7589520" y="455371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Infrações: art. 7º e art. 41 da LGPD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589520" y="482803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Multa total: R$ 14.400,00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589520" y="51663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E6D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(2% do faturamento, por ser microempresa)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57200" y="65288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29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702552" y="6528816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Legislação de Proteção de Dados — LGPD e GDPR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B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1 · GDPR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Panorama Geral do GDPR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6492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Regulamento (UE) 2016/679 do Parlamento Europeu e do Conselho — General Data Protection Regulation (GDPR), em português Regulamento Geral sobre a Proteção de Dados (RGPD) — foi aprovado em 27 de abril de 2016 e entrou em vigor em 25 de maio de 2018, revogando a Diretiva 95/46/CE.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3017520"/>
            <a:ext cx="64922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Protege pessoas singulares (naturais), independentemente de nacionalidade ou residência, quanto ao tratamento de dados pessoais</a:t>
            </a:r>
            <a:endParaRPr lang="en-US" sz="1200" dirty="0"/>
          </a:p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diretamente aplicável em todos os Estados-Membros da União Europeia, sem necessidade de lei nacional de internalização</a:t>
            </a:r>
            <a:endParaRPr lang="en-US" sz="1200" dirty="0"/>
          </a:p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 autoridades de controle nacionais independentes (ex.: DPC na Irlanda) e o Comitê Europeu para a Proteção de Dados (EDPB)</a:t>
            </a:r>
            <a:endParaRPr lang="en-US" sz="1200" dirty="0"/>
          </a:p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Prevê multas administrativas que podem chegar a 4% do faturamento global anual do grupo econômico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315200" y="1600200"/>
            <a:ext cx="4297680" cy="4480560"/>
          </a:xfrm>
          <a:prstGeom prst="roundRect">
            <a:avLst>
              <a:gd name="adj" fmla="val 1702"/>
            </a:avLst>
          </a:prstGeom>
          <a:solidFill>
            <a:srgbClr val="6B102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7589520" y="178308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GDPR em números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589520" y="228600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2016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7589520" y="276148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6D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 de aprovação do Regulamento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589520" y="320040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 mai. 2018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7589520" y="367588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6D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de entrada em vigor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589520" y="411480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99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7589520" y="459028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6D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artigos distribuídos em 11 capítulos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589520" y="502920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4%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7589520" y="550468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6D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faturamento global — teto máximo de multa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57200" y="65288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29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702552" y="6528816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Legislação de Proteção de Dados — LGPD e GDPR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B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1 · GDPR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Âmbito de Aplicação do GDPR (art. 3º)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349240" cy="4434840"/>
          </a:xfrm>
          <a:prstGeom prst="roundRect">
            <a:avLst>
              <a:gd name="adj" fmla="val 1649"/>
            </a:avLst>
          </a:prstGeom>
          <a:solidFill>
            <a:srgbClr val="FFFFFF"/>
          </a:solidFill>
          <a:ln w="12700">
            <a:solidFill>
              <a:srgbClr val="DCD6C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822960" y="1828800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6B10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Critério do Estabelecimento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2212848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8A6D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Art. 3º, nº 1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822960" y="2606040"/>
            <a:ext cx="48006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Aplica-se a qualquer tratamento de dados realizado no contexto das atividades de um estabelecimento do responsável ou do subcontratante situado na União Europeia — ainda que o tratamento em si ocorra fora da UE. O estabelecimento pressupõe exercício efetivo e real de atividade, por meio de instalação estável (filial, sucursal ou escritório).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080760" y="1645920"/>
            <a:ext cx="5532120" cy="4434840"/>
          </a:xfrm>
          <a:prstGeom prst="roundRect">
            <a:avLst>
              <a:gd name="adj" fmla="val 1649"/>
            </a:avLst>
          </a:prstGeom>
          <a:solidFill>
            <a:srgbClr val="6B102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6355080" y="182880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Critério do Direcionamento (targeting)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355080" y="221284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8D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Art. 3º, nº 2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355080" y="2606040"/>
            <a:ext cx="50292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Alcança empresas sem qualquer estabelecimento na União Europeia sempre que tratem dados de titulares que se encontrem na UE, em duas hipóteses:
</a:t>
            </a: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Oferta de bens ou serviços </a:t>
            </a: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esses titulares, ainda que gratuita — avaliada pela intenção evidente de atender ao público europeu (uso de idioma, moeda, referência a clientes na UE);
</a:t>
            </a: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Monitoramento do comportamento </a:t>
            </a: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desses titulares, na medida em que ocorra dentro da União Europeia (ex.: rastreamento de navegação, definição de perfis).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57200" y="65288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/ 29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702552" y="6528816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Legislação de Proteção de Dados — LGPD e GDPR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B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COMPARAÇÃO NORMATIVA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LGPD ou GDPR: Quando Aplicar Cada Norma?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i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duas leis podem incidir simultaneamente sobre a mesma operação de tratamento — não são mutuamente excludentes. A pergunta correta não é “qual lei se aplica ao Brasil”, mas “quais elementos de conexão a operação de tratamento apresenta com cada território”.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2423160"/>
            <a:ext cx="5349240" cy="36576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CD6C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822960" y="260604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6B10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Aplica-se a LGPD quando…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822960" y="3017520"/>
            <a:ext cx="48463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tratamento ocorre em território brasileiro</a:t>
            </a:r>
            <a:endParaRPr lang="en-US" sz="1150" dirty="0"/>
          </a:p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Há oferta de bens/serviços a pessoas localizadas no Brasil</a:t>
            </a:r>
            <a:endParaRPr lang="en-US" sz="1150" dirty="0"/>
          </a:p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dados foram coletados de titular que estava no Brasil no momento da coleta</a:t>
            </a:r>
            <a:endParaRPr lang="en-US" sz="1150" dirty="0"/>
          </a:p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há necessidade de estabelecimento da empresa no país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080760" y="2423160"/>
            <a:ext cx="5532120" cy="3657600"/>
          </a:xfrm>
          <a:prstGeom prst="roundRect">
            <a:avLst>
              <a:gd name="adj" fmla="val 2000"/>
            </a:avLst>
          </a:prstGeom>
          <a:solidFill>
            <a:srgbClr val="6B102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6355080" y="26060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Aplica-se o GDPR quando…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6355080" y="3017520"/>
            <a:ext cx="50292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empresa possui estabelecimento na União Europeia — mesmo que o tratamento ocorra fora dela</a:t>
            </a:r>
            <a:endParaRPr lang="en-US" sz="1150" dirty="0"/>
          </a:p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Há oferta de bens/serviços a titulares localizados na UE, ainda que sem estabelecimento europeu</a:t>
            </a:r>
            <a:endParaRPr lang="en-US" sz="1150" dirty="0"/>
          </a:p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Há monitoramento do comportamento de titulares enquanto estiverem na UE</a:t>
            </a:r>
            <a:endParaRPr lang="en-US" sz="1150" dirty="0"/>
          </a:p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direito de um Estado-Membro é aplicável por força do direito internacional público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57200" y="65288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/ 29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702552" y="6528816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Legislação de Proteção de Dados — LGPD e GDPR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B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COMPARAÇÃO NORMATIVA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Quadro Comparativo: LGPD x GDPR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377440" cy="603504"/>
          </a:xfrm>
          <a:prstGeom prst="rect">
            <a:avLst/>
          </a:prstGeom>
          <a:solidFill>
            <a:srgbClr val="6B1029"/>
          </a:solidFill>
          <a:ln w="6350">
            <a:solidFill>
              <a:srgbClr val="DCD6C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658368" y="1691640"/>
            <a:ext cx="215798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Critério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926080" y="1691640"/>
            <a:ext cx="4297680" cy="603504"/>
          </a:xfrm>
          <a:prstGeom prst="rect">
            <a:avLst/>
          </a:prstGeom>
          <a:solidFill>
            <a:srgbClr val="6B1029"/>
          </a:solidFill>
          <a:ln w="6350">
            <a:solidFill>
              <a:srgbClr val="DCD6C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3035808" y="1691640"/>
            <a:ext cx="407822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LGPD (Brasil)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223760" y="1691640"/>
            <a:ext cx="4297680" cy="603504"/>
          </a:xfrm>
          <a:prstGeom prst="rect">
            <a:avLst/>
          </a:prstGeom>
          <a:solidFill>
            <a:srgbClr val="6B1029"/>
          </a:solidFill>
          <a:ln w="6350">
            <a:solidFill>
              <a:srgbClr val="DCD6C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7333488" y="1691640"/>
            <a:ext cx="407822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GDPR (União Europeia)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2295144"/>
            <a:ext cx="2377440" cy="603504"/>
          </a:xfrm>
          <a:prstGeom prst="rect">
            <a:avLst/>
          </a:prstGeom>
          <a:solidFill>
            <a:srgbClr val="F1ECE3"/>
          </a:solidFill>
          <a:ln w="6350">
            <a:solidFill>
              <a:srgbClr val="DCD6C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658368" y="2295144"/>
            <a:ext cx="215798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60" b="1" dirty="0">
                <a:solidFill>
                  <a:srgbClr val="6B10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Vigência</a:t>
            </a:r>
            <a:endParaRPr lang="en-US" sz="1060" dirty="0"/>
          </a:p>
        </p:txBody>
      </p:sp>
      <p:sp>
        <p:nvSpPr>
          <p:cNvPr id="12" name="Shape 10"/>
          <p:cNvSpPr/>
          <p:nvPr/>
        </p:nvSpPr>
        <p:spPr>
          <a:xfrm>
            <a:off x="2926080" y="2295144"/>
            <a:ext cx="4297680" cy="603504"/>
          </a:xfrm>
          <a:prstGeom prst="rect">
            <a:avLst/>
          </a:prstGeom>
          <a:solidFill>
            <a:srgbClr val="F1ECE3"/>
          </a:solidFill>
          <a:ln w="6350">
            <a:solidFill>
              <a:srgbClr val="DCD6C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3035808" y="2295144"/>
            <a:ext cx="407822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6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Ago. 2018 (parte geral: set. 2020)</a:t>
            </a:r>
            <a:endParaRPr lang="en-US" sz="1060" dirty="0"/>
          </a:p>
        </p:txBody>
      </p:sp>
      <p:sp>
        <p:nvSpPr>
          <p:cNvPr id="14" name="Shape 12"/>
          <p:cNvSpPr/>
          <p:nvPr/>
        </p:nvSpPr>
        <p:spPr>
          <a:xfrm>
            <a:off x="7223760" y="2295144"/>
            <a:ext cx="4297680" cy="603504"/>
          </a:xfrm>
          <a:prstGeom prst="rect">
            <a:avLst/>
          </a:prstGeom>
          <a:solidFill>
            <a:srgbClr val="F1ECE3"/>
          </a:solidFill>
          <a:ln w="6350">
            <a:solidFill>
              <a:srgbClr val="DCD6C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7333488" y="2295144"/>
            <a:ext cx="407822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6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Mai. 2018</a:t>
            </a:r>
            <a:endParaRPr lang="en-US" sz="1060" dirty="0"/>
          </a:p>
        </p:txBody>
      </p:sp>
      <p:sp>
        <p:nvSpPr>
          <p:cNvPr id="16" name="Shape 14"/>
          <p:cNvSpPr/>
          <p:nvPr/>
        </p:nvSpPr>
        <p:spPr>
          <a:xfrm>
            <a:off x="548640" y="2898648"/>
            <a:ext cx="2377440" cy="603504"/>
          </a:xfrm>
          <a:prstGeom prst="rect">
            <a:avLst/>
          </a:prstGeom>
          <a:solidFill>
            <a:srgbClr val="FFFFFF"/>
          </a:solidFill>
          <a:ln w="6350">
            <a:solidFill>
              <a:srgbClr val="DCD6C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658368" y="2898648"/>
            <a:ext cx="215798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60" b="1" dirty="0">
                <a:solidFill>
                  <a:srgbClr val="6B10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Autoridade</a:t>
            </a:r>
            <a:endParaRPr lang="en-US" sz="1060" dirty="0"/>
          </a:p>
        </p:txBody>
      </p:sp>
      <p:sp>
        <p:nvSpPr>
          <p:cNvPr id="18" name="Shape 16"/>
          <p:cNvSpPr/>
          <p:nvPr/>
        </p:nvSpPr>
        <p:spPr>
          <a:xfrm>
            <a:off x="2926080" y="2898648"/>
            <a:ext cx="4297680" cy="603504"/>
          </a:xfrm>
          <a:prstGeom prst="rect">
            <a:avLst/>
          </a:prstGeom>
          <a:solidFill>
            <a:srgbClr val="FFFFFF"/>
          </a:solidFill>
          <a:ln w="6350">
            <a:solidFill>
              <a:srgbClr val="DCD6C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/>
          <p:nvPr/>
        </p:nvSpPr>
        <p:spPr>
          <a:xfrm>
            <a:off x="3035808" y="2898648"/>
            <a:ext cx="407822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6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ANPD — autarquia federal única</a:t>
            </a:r>
            <a:endParaRPr lang="en-US" sz="1060" dirty="0"/>
          </a:p>
        </p:txBody>
      </p:sp>
      <p:sp>
        <p:nvSpPr>
          <p:cNvPr id="20" name="Shape 18"/>
          <p:cNvSpPr/>
          <p:nvPr/>
        </p:nvSpPr>
        <p:spPr>
          <a:xfrm>
            <a:off x="7223760" y="2898648"/>
            <a:ext cx="4297680" cy="603504"/>
          </a:xfrm>
          <a:prstGeom prst="rect">
            <a:avLst/>
          </a:prstGeom>
          <a:solidFill>
            <a:srgbClr val="FFFFFF"/>
          </a:solidFill>
          <a:ln w="6350">
            <a:solidFill>
              <a:srgbClr val="DCD6C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/>
          <p:nvPr/>
        </p:nvSpPr>
        <p:spPr>
          <a:xfrm>
            <a:off x="7333488" y="2898648"/>
            <a:ext cx="407822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6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Autoridades </a:t>
            </a:r>
            <a:r>
              <a:rPr lang="en-US" sz="1060" dirty="0" err="1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nacionais</a:t>
            </a:r>
            <a:r>
              <a:rPr lang="en-US" sz="106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60" dirty="0" err="1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locais</a:t>
            </a:r>
            <a:r>
              <a:rPr lang="en-US" sz="106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</a:t>
            </a:r>
            <a:r>
              <a:rPr lang="en-US" sz="1100" dirty="0" err="1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Comitê</a:t>
            </a: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Europeu</a:t>
            </a: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para a </a:t>
            </a:r>
            <a:r>
              <a:rPr lang="en-US" sz="1100" dirty="0" err="1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Proteção</a:t>
            </a: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Dados (EDPB)</a:t>
            </a:r>
            <a:endParaRPr lang="en-US" sz="1100" dirty="0"/>
          </a:p>
          <a:p>
            <a:pPr marL="0" indent="0">
              <a:lnSpc>
                <a:spcPct val="100000"/>
              </a:lnSpc>
              <a:buNone/>
            </a:pPr>
            <a:endParaRPr lang="en-US" sz="1060" dirty="0"/>
          </a:p>
        </p:txBody>
      </p:sp>
      <p:sp>
        <p:nvSpPr>
          <p:cNvPr id="22" name="Shape 20"/>
          <p:cNvSpPr/>
          <p:nvPr/>
        </p:nvSpPr>
        <p:spPr>
          <a:xfrm>
            <a:off x="548640" y="3502152"/>
            <a:ext cx="2377440" cy="603504"/>
          </a:xfrm>
          <a:prstGeom prst="rect">
            <a:avLst/>
          </a:prstGeom>
          <a:solidFill>
            <a:srgbClr val="F1ECE3"/>
          </a:solidFill>
          <a:ln w="6350">
            <a:solidFill>
              <a:srgbClr val="DCD6C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Text 21"/>
          <p:cNvSpPr/>
          <p:nvPr/>
        </p:nvSpPr>
        <p:spPr>
          <a:xfrm>
            <a:off x="658368" y="3502152"/>
            <a:ext cx="215798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60" b="1" dirty="0">
                <a:solidFill>
                  <a:srgbClr val="6B10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Extraterritorialidade</a:t>
            </a:r>
            <a:endParaRPr lang="en-US" sz="1060" dirty="0"/>
          </a:p>
        </p:txBody>
      </p:sp>
      <p:sp>
        <p:nvSpPr>
          <p:cNvPr id="24" name="Shape 22"/>
          <p:cNvSpPr/>
          <p:nvPr/>
        </p:nvSpPr>
        <p:spPr>
          <a:xfrm>
            <a:off x="2926080" y="3502152"/>
            <a:ext cx="4297680" cy="603504"/>
          </a:xfrm>
          <a:prstGeom prst="rect">
            <a:avLst/>
          </a:prstGeom>
          <a:solidFill>
            <a:srgbClr val="F1ECE3"/>
          </a:solidFill>
          <a:ln w="6350">
            <a:solidFill>
              <a:srgbClr val="DCD6C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Text 23"/>
          <p:cNvSpPr/>
          <p:nvPr/>
        </p:nvSpPr>
        <p:spPr>
          <a:xfrm>
            <a:off x="3035808" y="3502152"/>
            <a:ext cx="407822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6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 — art. 3º (territorial e coleta/oferta)</a:t>
            </a:r>
            <a:endParaRPr lang="en-US" sz="1060" dirty="0"/>
          </a:p>
        </p:txBody>
      </p:sp>
      <p:sp>
        <p:nvSpPr>
          <p:cNvPr id="26" name="Shape 24"/>
          <p:cNvSpPr/>
          <p:nvPr/>
        </p:nvSpPr>
        <p:spPr>
          <a:xfrm>
            <a:off x="7223760" y="3502152"/>
            <a:ext cx="4297680" cy="603504"/>
          </a:xfrm>
          <a:prstGeom prst="rect">
            <a:avLst/>
          </a:prstGeom>
          <a:solidFill>
            <a:srgbClr val="F1ECE3"/>
          </a:solidFill>
          <a:ln w="6350">
            <a:solidFill>
              <a:srgbClr val="DCD6C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7" name="Text 25"/>
          <p:cNvSpPr/>
          <p:nvPr/>
        </p:nvSpPr>
        <p:spPr>
          <a:xfrm>
            <a:off x="7333488" y="3502152"/>
            <a:ext cx="407822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6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 — art. 3º (estabelecimento e direcionamento)</a:t>
            </a:r>
            <a:endParaRPr lang="en-US" sz="1060" dirty="0"/>
          </a:p>
        </p:txBody>
      </p:sp>
      <p:sp>
        <p:nvSpPr>
          <p:cNvPr id="28" name="Shape 26"/>
          <p:cNvSpPr/>
          <p:nvPr/>
        </p:nvSpPr>
        <p:spPr>
          <a:xfrm>
            <a:off x="548640" y="4105656"/>
            <a:ext cx="2377440" cy="603504"/>
          </a:xfrm>
          <a:prstGeom prst="rect">
            <a:avLst/>
          </a:prstGeom>
          <a:solidFill>
            <a:srgbClr val="FFFFFF"/>
          </a:solidFill>
          <a:ln w="6350">
            <a:solidFill>
              <a:srgbClr val="DCD6C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9" name="Text 27"/>
          <p:cNvSpPr/>
          <p:nvPr/>
        </p:nvSpPr>
        <p:spPr>
          <a:xfrm>
            <a:off x="658368" y="4105656"/>
            <a:ext cx="215798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60" b="1" dirty="0">
                <a:solidFill>
                  <a:srgbClr val="6B10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Multa máxima</a:t>
            </a:r>
            <a:endParaRPr lang="en-US" sz="1060" dirty="0"/>
          </a:p>
        </p:txBody>
      </p:sp>
      <p:sp>
        <p:nvSpPr>
          <p:cNvPr id="30" name="Shape 28"/>
          <p:cNvSpPr/>
          <p:nvPr/>
        </p:nvSpPr>
        <p:spPr>
          <a:xfrm>
            <a:off x="2926080" y="4105656"/>
            <a:ext cx="4297680" cy="603504"/>
          </a:xfrm>
          <a:prstGeom prst="rect">
            <a:avLst/>
          </a:prstGeom>
          <a:solidFill>
            <a:srgbClr val="FFFFFF"/>
          </a:solidFill>
          <a:ln w="6350">
            <a:solidFill>
              <a:srgbClr val="DCD6C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1" name="Text 29"/>
          <p:cNvSpPr/>
          <p:nvPr/>
        </p:nvSpPr>
        <p:spPr>
          <a:xfrm>
            <a:off x="3035808" y="4105656"/>
            <a:ext cx="407822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6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2% do faturamento, até R$ 50 milhões/infração</a:t>
            </a:r>
            <a:endParaRPr lang="en-US" sz="1060" dirty="0"/>
          </a:p>
        </p:txBody>
      </p:sp>
      <p:sp>
        <p:nvSpPr>
          <p:cNvPr id="32" name="Shape 30"/>
          <p:cNvSpPr/>
          <p:nvPr/>
        </p:nvSpPr>
        <p:spPr>
          <a:xfrm>
            <a:off x="7223760" y="4105656"/>
            <a:ext cx="4297680" cy="603504"/>
          </a:xfrm>
          <a:prstGeom prst="rect">
            <a:avLst/>
          </a:prstGeom>
          <a:solidFill>
            <a:srgbClr val="FFFFFF"/>
          </a:solidFill>
          <a:ln w="6350">
            <a:solidFill>
              <a:srgbClr val="DCD6C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3" name="Text 31"/>
          <p:cNvSpPr/>
          <p:nvPr/>
        </p:nvSpPr>
        <p:spPr>
          <a:xfrm>
            <a:off x="7333488" y="4105656"/>
            <a:ext cx="407822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6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Até 4% do faturamento global anual</a:t>
            </a:r>
            <a:endParaRPr lang="en-US" sz="1060" dirty="0"/>
          </a:p>
        </p:txBody>
      </p:sp>
      <p:sp>
        <p:nvSpPr>
          <p:cNvPr id="34" name="Shape 32"/>
          <p:cNvSpPr/>
          <p:nvPr/>
        </p:nvSpPr>
        <p:spPr>
          <a:xfrm>
            <a:off x="548640" y="4709160"/>
            <a:ext cx="2377440" cy="603504"/>
          </a:xfrm>
          <a:prstGeom prst="rect">
            <a:avLst/>
          </a:prstGeom>
          <a:solidFill>
            <a:srgbClr val="F1ECE3"/>
          </a:solidFill>
          <a:ln w="6350">
            <a:solidFill>
              <a:srgbClr val="DCD6C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5" name="Text 33"/>
          <p:cNvSpPr/>
          <p:nvPr/>
        </p:nvSpPr>
        <p:spPr>
          <a:xfrm>
            <a:off x="658368" y="4709160"/>
            <a:ext cx="215798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60" b="1" dirty="0">
                <a:solidFill>
                  <a:srgbClr val="6B10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Encarregado/DPO</a:t>
            </a:r>
            <a:endParaRPr lang="en-US" sz="1060" dirty="0"/>
          </a:p>
        </p:txBody>
      </p:sp>
      <p:sp>
        <p:nvSpPr>
          <p:cNvPr id="36" name="Shape 34"/>
          <p:cNvSpPr/>
          <p:nvPr/>
        </p:nvSpPr>
        <p:spPr>
          <a:xfrm>
            <a:off x="2926080" y="4709160"/>
            <a:ext cx="4297680" cy="603504"/>
          </a:xfrm>
          <a:prstGeom prst="rect">
            <a:avLst/>
          </a:prstGeom>
          <a:solidFill>
            <a:srgbClr val="F1ECE3"/>
          </a:solidFill>
          <a:ln w="6350">
            <a:solidFill>
              <a:srgbClr val="DCD6C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7" name="Text 35"/>
          <p:cNvSpPr/>
          <p:nvPr/>
        </p:nvSpPr>
        <p:spPr>
          <a:xfrm>
            <a:off x="3035808" y="4709160"/>
            <a:ext cx="407822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6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Obrigatório, com flexibilização por porte</a:t>
            </a:r>
            <a:endParaRPr lang="en-US" sz="1060" dirty="0"/>
          </a:p>
        </p:txBody>
      </p:sp>
      <p:sp>
        <p:nvSpPr>
          <p:cNvPr id="38" name="Shape 36"/>
          <p:cNvSpPr/>
          <p:nvPr/>
        </p:nvSpPr>
        <p:spPr>
          <a:xfrm>
            <a:off x="7223760" y="4709160"/>
            <a:ext cx="4297680" cy="603504"/>
          </a:xfrm>
          <a:prstGeom prst="rect">
            <a:avLst/>
          </a:prstGeom>
          <a:solidFill>
            <a:srgbClr val="F1ECE3"/>
          </a:solidFill>
          <a:ln w="6350">
            <a:solidFill>
              <a:srgbClr val="DCD6C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9" name="Text 37"/>
          <p:cNvSpPr/>
          <p:nvPr/>
        </p:nvSpPr>
        <p:spPr>
          <a:xfrm>
            <a:off x="7333488" y="4709160"/>
            <a:ext cx="407822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6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Obrigatório em hipóteses específicas (art. 37)</a:t>
            </a:r>
            <a:endParaRPr lang="en-US" sz="1060" dirty="0"/>
          </a:p>
        </p:txBody>
      </p:sp>
      <p:sp>
        <p:nvSpPr>
          <p:cNvPr id="40" name="Shape 38"/>
          <p:cNvSpPr/>
          <p:nvPr/>
        </p:nvSpPr>
        <p:spPr>
          <a:xfrm>
            <a:off x="548640" y="5312664"/>
            <a:ext cx="2377440" cy="603504"/>
          </a:xfrm>
          <a:prstGeom prst="rect">
            <a:avLst/>
          </a:prstGeom>
          <a:solidFill>
            <a:srgbClr val="FFFFFF"/>
          </a:solidFill>
          <a:ln w="6350">
            <a:solidFill>
              <a:srgbClr val="DCD6C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1" name="Text 39"/>
          <p:cNvSpPr/>
          <p:nvPr/>
        </p:nvSpPr>
        <p:spPr>
          <a:xfrm>
            <a:off x="658368" y="5312664"/>
            <a:ext cx="215798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60" b="1" dirty="0">
                <a:solidFill>
                  <a:srgbClr val="6B10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Bases legais</a:t>
            </a:r>
            <a:endParaRPr lang="en-US" sz="1060" dirty="0"/>
          </a:p>
        </p:txBody>
      </p:sp>
      <p:sp>
        <p:nvSpPr>
          <p:cNvPr id="42" name="Shape 40"/>
          <p:cNvSpPr/>
          <p:nvPr/>
        </p:nvSpPr>
        <p:spPr>
          <a:xfrm>
            <a:off x="2926080" y="5312664"/>
            <a:ext cx="4297680" cy="603504"/>
          </a:xfrm>
          <a:prstGeom prst="rect">
            <a:avLst/>
          </a:prstGeom>
          <a:solidFill>
            <a:srgbClr val="FFFFFF"/>
          </a:solidFill>
          <a:ln w="6350">
            <a:solidFill>
              <a:srgbClr val="DCD6C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3" name="Text 41"/>
          <p:cNvSpPr/>
          <p:nvPr/>
        </p:nvSpPr>
        <p:spPr>
          <a:xfrm>
            <a:off x="3035808" y="5312664"/>
            <a:ext cx="407822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6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hipóteses (art. 7º) + regras específicas p/ sensíveis (art. 11)</a:t>
            </a:r>
            <a:endParaRPr lang="en-US" sz="1060" dirty="0"/>
          </a:p>
        </p:txBody>
      </p:sp>
      <p:sp>
        <p:nvSpPr>
          <p:cNvPr id="44" name="Shape 42"/>
          <p:cNvSpPr/>
          <p:nvPr/>
        </p:nvSpPr>
        <p:spPr>
          <a:xfrm>
            <a:off x="7223760" y="5312664"/>
            <a:ext cx="4297680" cy="603504"/>
          </a:xfrm>
          <a:prstGeom prst="rect">
            <a:avLst/>
          </a:prstGeom>
          <a:solidFill>
            <a:srgbClr val="FFFFFF"/>
          </a:solidFill>
          <a:ln w="6350">
            <a:solidFill>
              <a:srgbClr val="DCD6C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5" name="Text 43"/>
          <p:cNvSpPr/>
          <p:nvPr/>
        </p:nvSpPr>
        <p:spPr>
          <a:xfrm>
            <a:off x="7333488" y="5312664"/>
            <a:ext cx="407822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6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bases legais (art. 6º) + regras p/ categorias especiais (art. 9º)</a:t>
            </a:r>
            <a:endParaRPr lang="en-US" sz="1060" dirty="0"/>
          </a:p>
        </p:txBody>
      </p:sp>
      <p:sp>
        <p:nvSpPr>
          <p:cNvPr id="46" name="Text 44"/>
          <p:cNvSpPr/>
          <p:nvPr/>
        </p:nvSpPr>
        <p:spPr>
          <a:xfrm>
            <a:off x="457200" y="65288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/ 29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6702552" y="6528816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Legislação de Proteção de Dados — LGPD e GDPR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4A0B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822960" y="251460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Dinâmica de Estudo de Caso e Debate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822960" y="3657600"/>
            <a:ext cx="9144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500" i="1" dirty="0">
                <a:solidFill>
                  <a:srgbClr val="E8D9A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 teoria à prática: vamos confrontar duas respostas muito diferentes ao descumprimento das regras de proteção de dados — uma na União Europeia, outra no Brasil — e debater o que essa distância revela sobre a maturidade da fiscalização em cada território.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65288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/ 29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702552" y="6528816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Legislação de Proteção de Dados — LGPD e GDPR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B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ESTUDO DE CASO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Duas Respostas, Duas Realidades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349240" cy="4480560"/>
          </a:xfrm>
          <a:prstGeom prst="roundRect">
            <a:avLst>
              <a:gd name="adj" fmla="val 1633"/>
            </a:avLst>
          </a:prstGeom>
          <a:solidFill>
            <a:srgbClr val="6B102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822960" y="1828800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UNIÃO EUROPEIA · MAIO 2023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822960" y="2121408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Irish DPC x Meta Platforms Ireland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22960" y="2743200"/>
            <a:ext cx="48463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3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Comissão de Proteção de Dados da Irlanda (DPC), agindo em nome da União Europeia, aplicou à Meta a maior multa já imposta sob o GDPR, por continuar transferindo dados pessoais de usuários europeus do Facebook para os Estados Unidos sem garantias adequadas de proteção, após decisão do Tribunal de Justiça da UE que invalidara o mecanismo de transferência usado.</a:t>
            </a:r>
            <a:endParaRPr lang="en-US" sz="1130" dirty="0"/>
          </a:p>
        </p:txBody>
      </p:sp>
      <p:sp>
        <p:nvSpPr>
          <p:cNvPr id="8" name="Shape 6"/>
          <p:cNvSpPr/>
          <p:nvPr/>
        </p:nvSpPr>
        <p:spPr>
          <a:xfrm>
            <a:off x="822960" y="4526280"/>
            <a:ext cx="4846320" cy="0"/>
          </a:xfrm>
          <a:prstGeom prst="line">
            <a:avLst/>
          </a:prstGeom>
          <a:noFill/>
          <a:ln w="12700">
            <a:solidFill>
              <a:srgbClr val="C9A24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822960" y="4645152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€ 1,2 bilhão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822960" y="516636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i="1" dirty="0">
                <a:solidFill>
                  <a:srgbClr val="E6D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maior multa já aplicada sob o GDPR, além de ordem de suspensão das transferências em até 5 meses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080760" y="1645920"/>
            <a:ext cx="553212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DCD6C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6355080" y="18288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8A6D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BRASIL · JULHO 2023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355080" y="2121408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6B10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ANPD x Telekall Infoservice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355080" y="2743200"/>
            <a:ext cx="5029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3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mesmo ano, a Autoridade Nacional de Proteção de Dados aplicou sua primeira sanção pecuniária desde a entrada em vigor do capítulo sancionador da LGPD — quase três anos após a aprovação da Lei. A infratora era uma microempresa de telemarketing que oferecia listas de contatos de WhatsApp de eleitores, sem base legal e sem encarregado de dados nomeado.</a:t>
            </a:r>
            <a:endParaRPr lang="en-US" sz="1130" dirty="0"/>
          </a:p>
        </p:txBody>
      </p:sp>
      <p:sp>
        <p:nvSpPr>
          <p:cNvPr id="15" name="Shape 13"/>
          <p:cNvSpPr/>
          <p:nvPr/>
        </p:nvSpPr>
        <p:spPr>
          <a:xfrm>
            <a:off x="6355080" y="4526280"/>
            <a:ext cx="5029200" cy="0"/>
          </a:xfrm>
          <a:prstGeom prst="line">
            <a:avLst/>
          </a:prstGeom>
          <a:noFill/>
          <a:ln w="12700">
            <a:solidFill>
              <a:srgbClr val="DCD6C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6355080" y="4645152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6B10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R$ 14.400,00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6355080" y="516636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primeira multa da história da ANPD, calculada como 2% do faturamento da microempresa infratora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57200" y="65288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/ 29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702552" y="6528816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Legislação de Proteção de Dados — LGPD e GDPR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B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DINÂMICA DE DEBATE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Perguntas Norteadoras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0515600" cy="841248"/>
          </a:xfrm>
          <a:prstGeom prst="roundRect">
            <a:avLst>
              <a:gd name="adj" fmla="val 7609"/>
            </a:avLst>
          </a:prstGeom>
          <a:solidFill>
            <a:srgbClr val="FFFFFF"/>
          </a:solidFill>
          <a:ln w="9525">
            <a:solidFill>
              <a:srgbClr val="DCD6C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749808" y="1883664"/>
            <a:ext cx="457200" cy="457200"/>
          </a:xfrm>
          <a:prstGeom prst="ellipse">
            <a:avLst/>
          </a:prstGeom>
          <a:solidFill>
            <a:srgbClr val="6B102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749808" y="18836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17320" y="1691640"/>
            <a:ext cx="94640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7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infrações são de naturezas muito diferentes — mas a disparidade de valores reflete apenas isso, ou também a maturidade das autoridades de fiscalização?</a:t>
            </a:r>
            <a:endParaRPr lang="en-US" sz="1170" dirty="0"/>
          </a:p>
        </p:txBody>
      </p:sp>
      <p:sp>
        <p:nvSpPr>
          <p:cNvPr id="8" name="Shape 6"/>
          <p:cNvSpPr/>
          <p:nvPr/>
        </p:nvSpPr>
        <p:spPr>
          <a:xfrm>
            <a:off x="548640" y="2624328"/>
            <a:ext cx="10515600" cy="841248"/>
          </a:xfrm>
          <a:prstGeom prst="roundRect">
            <a:avLst>
              <a:gd name="adj" fmla="val 7609"/>
            </a:avLst>
          </a:prstGeom>
          <a:solidFill>
            <a:srgbClr val="F1ECE3"/>
          </a:solidFill>
          <a:ln w="9525">
            <a:solidFill>
              <a:srgbClr val="DCD6C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Shape 7"/>
          <p:cNvSpPr/>
          <p:nvPr/>
        </p:nvSpPr>
        <p:spPr>
          <a:xfrm>
            <a:off x="749808" y="2816352"/>
            <a:ext cx="457200" cy="457200"/>
          </a:xfrm>
          <a:prstGeom prst="ellipse">
            <a:avLst/>
          </a:prstGeom>
          <a:solidFill>
            <a:srgbClr val="6B102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749808" y="28163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417320" y="2624328"/>
            <a:ext cx="94640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7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a Telekall tivesse operado também na União Europeia, tratando dados de titulares europeus, o GDPR poderia ter incidido simultaneamente? Em que hipótese do art. 3º do GDPR?</a:t>
            </a:r>
            <a:endParaRPr lang="en-US" sz="1170" dirty="0"/>
          </a:p>
        </p:txBody>
      </p:sp>
      <p:sp>
        <p:nvSpPr>
          <p:cNvPr id="12" name="Shape 10"/>
          <p:cNvSpPr/>
          <p:nvPr/>
        </p:nvSpPr>
        <p:spPr>
          <a:xfrm>
            <a:off x="548640" y="3557016"/>
            <a:ext cx="10515600" cy="841248"/>
          </a:xfrm>
          <a:prstGeom prst="roundRect">
            <a:avLst>
              <a:gd name="adj" fmla="val 7609"/>
            </a:avLst>
          </a:prstGeom>
          <a:solidFill>
            <a:srgbClr val="FFFFFF"/>
          </a:solidFill>
          <a:ln w="9525">
            <a:solidFill>
              <a:srgbClr val="DCD6C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Shape 11"/>
          <p:cNvSpPr/>
          <p:nvPr/>
        </p:nvSpPr>
        <p:spPr>
          <a:xfrm>
            <a:off x="749808" y="3749040"/>
            <a:ext cx="457200" cy="457200"/>
          </a:xfrm>
          <a:prstGeom prst="ellipse">
            <a:avLst/>
          </a:prstGeom>
          <a:solidFill>
            <a:srgbClr val="6B102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749808" y="3749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508760" y="3728233"/>
            <a:ext cx="9464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5000"/>
              </a:lnSpc>
            </a:pPr>
            <a:r>
              <a:rPr lang="en-US" sz="117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LGPD deveria adotar um teto de multa mais próximo do padrão europeu (4% do faturamento global) para ter efeito dissuasório real sobre grandes </a:t>
            </a:r>
            <a:r>
              <a:rPr lang="en-US" sz="1170" dirty="0" err="1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empresas</a:t>
            </a:r>
            <a:r>
              <a:rPr lang="en-US" sz="117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 </a:t>
            </a:r>
            <a:r>
              <a:rPr lang="en-US" sz="1170" dirty="0" err="1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Sanções</a:t>
            </a:r>
            <a:r>
              <a:rPr lang="en-US" sz="117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70" dirty="0" err="1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baixas</a:t>
            </a:r>
            <a:r>
              <a:rPr lang="en-US" sz="117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</a:t>
            </a:r>
            <a:r>
              <a:rPr lang="en-US" sz="1170" dirty="0" err="1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pouco</a:t>
            </a:r>
            <a:r>
              <a:rPr lang="en-US" sz="117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70" dirty="0" err="1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frequentes</a:t>
            </a:r>
            <a:r>
              <a:rPr lang="en-US" sz="117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70" dirty="0" err="1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fortalecem</a:t>
            </a:r>
            <a:r>
              <a:rPr lang="en-US" sz="117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70" dirty="0" err="1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</a:t>
            </a:r>
            <a:r>
              <a:rPr lang="en-US" sz="117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70" dirty="0" err="1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enfraquecem</a:t>
            </a:r>
            <a:r>
              <a:rPr lang="en-US" sz="117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</a:t>
            </a:r>
            <a:r>
              <a:rPr lang="en-US" sz="1170" dirty="0" err="1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cultura</a:t>
            </a:r>
            <a:r>
              <a:rPr lang="en-US" sz="117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compliance </a:t>
            </a:r>
            <a:r>
              <a:rPr lang="en-US" sz="1170" dirty="0" err="1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</a:t>
            </a:r>
            <a:r>
              <a:rPr lang="en-US" sz="117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70" dirty="0" err="1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proteção</a:t>
            </a:r>
            <a:r>
              <a:rPr lang="en-US" sz="117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dados no </a:t>
            </a:r>
            <a:r>
              <a:rPr lang="en-US" sz="1170" dirty="0" err="1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Brasil</a:t>
            </a:r>
            <a:r>
              <a:rPr lang="en-US" sz="117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170" dirty="0"/>
          </a:p>
          <a:p>
            <a:pPr marL="0" indent="0">
              <a:lnSpc>
                <a:spcPct val="105000"/>
              </a:lnSpc>
              <a:buNone/>
            </a:pPr>
            <a:endParaRPr lang="en-US" sz="1170" dirty="0"/>
          </a:p>
        </p:txBody>
      </p:sp>
      <p:sp>
        <p:nvSpPr>
          <p:cNvPr id="23" name="Text 21"/>
          <p:cNvSpPr/>
          <p:nvPr/>
        </p:nvSpPr>
        <p:spPr>
          <a:xfrm>
            <a:off x="1417320" y="5422392"/>
            <a:ext cx="94640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endParaRPr lang="en-US" sz="1170" dirty="0"/>
          </a:p>
        </p:txBody>
      </p:sp>
      <p:sp>
        <p:nvSpPr>
          <p:cNvPr id="24" name="Text 22"/>
          <p:cNvSpPr/>
          <p:nvPr/>
        </p:nvSpPr>
        <p:spPr>
          <a:xfrm>
            <a:off x="457200" y="65288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/ 29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702552" y="6528816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Legislação de Proteção de Dados — LGPD e GDPR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4A0B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640080" y="86868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Referências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600200"/>
            <a:ext cx="1088136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spcAft>
                <a:spcPts val="900"/>
              </a:spcAft>
              <a:buNone/>
            </a:pPr>
            <a:r>
              <a:rPr lang="en-US" sz="930" dirty="0">
                <a:solidFill>
                  <a:srgbClr val="EDE4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ARAÚJO E POLICASTRO ADVOGADOS. ANPD aplica primeiras sanções por violação à LGPD. [S. l.], 2024. Disponível em: https://araujopolicastro.com.br/anpd-aplica-primeiras-sancoes-por-violacao-a-lgpd/. Acesso em: 12 ago. 2026.</a:t>
            </a:r>
            <a:endParaRPr lang="en-US" sz="930" dirty="0"/>
          </a:p>
          <a:p>
            <a:pPr marL="0" indent="0">
              <a:lnSpc>
                <a:spcPct val="108000"/>
              </a:lnSpc>
              <a:spcAft>
                <a:spcPts val="900"/>
              </a:spcAft>
              <a:buNone/>
            </a:pPr>
            <a:r>
              <a:rPr lang="en-US" sz="930" dirty="0">
                <a:solidFill>
                  <a:srgbClr val="EDE4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AUTORIDADE NACIONAL DE PROTEÇÃO DE DADOS (ANPD). ANPD aplica a primeira multa por descumprimento à LGPD. Brasília, DF: ANPD, 6 jul. 2023. Disponível em: https://www.gov.br/anpd/pt-br/assuntos/noticias/anpd-aplica-a-primeira-multa-por-descumprimento-a-lgpd. Acesso em: 12 ago. 2026.</a:t>
            </a:r>
            <a:endParaRPr lang="en-US" sz="930" dirty="0"/>
          </a:p>
          <a:p>
            <a:pPr marL="0" indent="0">
              <a:lnSpc>
                <a:spcPct val="108000"/>
              </a:lnSpc>
              <a:spcAft>
                <a:spcPts val="900"/>
              </a:spcAft>
              <a:buNone/>
            </a:pPr>
            <a:r>
              <a:rPr lang="en-US" sz="930" dirty="0">
                <a:solidFill>
                  <a:srgbClr val="EDE4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BRASIL. Lei nº 13.709, de 14 de agosto de 2018. Lei Geral de Proteção de Dados Pessoais (LGPD). Diário Oficial da União: seção 1, Brasília, DF, 15 ago. 2018.</a:t>
            </a:r>
            <a:endParaRPr lang="en-US" sz="930" dirty="0"/>
          </a:p>
          <a:p>
            <a:pPr marL="0" indent="0">
              <a:lnSpc>
                <a:spcPct val="108000"/>
              </a:lnSpc>
              <a:spcAft>
                <a:spcPts val="900"/>
              </a:spcAft>
              <a:buNone/>
            </a:pPr>
            <a:r>
              <a:rPr lang="en-US" sz="930" dirty="0">
                <a:solidFill>
                  <a:srgbClr val="EDE4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EURONEWS. Meta fined a record €1.2 billion in Europe over EU-US data transfers. [S. l.], 22 maio 2023. Disponível em: https://www.euronews.com/next/2023/05/22/us-tech-giant-meta-fined-a-record-12-billion-in-europe. Acesso em: 12 ago. 2026.</a:t>
            </a:r>
            <a:endParaRPr lang="en-US" sz="930" dirty="0"/>
          </a:p>
          <a:p>
            <a:pPr marL="0" indent="0">
              <a:lnSpc>
                <a:spcPct val="108000"/>
              </a:lnSpc>
              <a:spcAft>
                <a:spcPts val="900"/>
              </a:spcAft>
              <a:buNone/>
            </a:pPr>
            <a:r>
              <a:rPr lang="en-US" sz="930" dirty="0">
                <a:solidFill>
                  <a:srgbClr val="EDE4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JUSBRASIL. Art. 6º da Lei nº 13.709, de 14 de agosto de 2018: jurisprudência. [S. l.], 2024. Disponível em: https://www.jusbrasil.com.br/topicos/200399469/artigo-6-da-lei-n-13709-de-14-de-agosto-de-2018. Acesso em: 12 ago. 2026.</a:t>
            </a:r>
            <a:endParaRPr lang="en-US" sz="930" dirty="0"/>
          </a:p>
          <a:p>
            <a:pPr marL="0" indent="0">
              <a:lnSpc>
                <a:spcPct val="108000"/>
              </a:lnSpc>
              <a:spcAft>
                <a:spcPts val="900"/>
              </a:spcAft>
              <a:buNone/>
            </a:pPr>
            <a:r>
              <a:rPr lang="en-US" sz="930" dirty="0">
                <a:solidFill>
                  <a:srgbClr val="EDE4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JUSBRASIL. Art. 7º da Lei nº 13.709, de 14 de agosto de 2018: jurisprudência. [S. l.], 2024. Disponível em: https://www.jusbrasil.com.br/topicos/200399417/artigo-7-da-lei-n-13709-de-14-de-agosto-de-2018. Acesso em: 12 ago. 2026.</a:t>
            </a:r>
            <a:endParaRPr lang="en-US" sz="930" dirty="0"/>
          </a:p>
          <a:p>
            <a:pPr marL="0" indent="0">
              <a:lnSpc>
                <a:spcPct val="108000"/>
              </a:lnSpc>
              <a:spcAft>
                <a:spcPts val="900"/>
              </a:spcAft>
              <a:buNone/>
            </a:pPr>
            <a:r>
              <a:rPr lang="en-US" sz="930" dirty="0">
                <a:solidFill>
                  <a:srgbClr val="EDE4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SUPERIOR TRIBUNAL DE JUSTIÇA (STJ). Os precedentes do STJ em quatro anos de vigência da LGPD. Brasília, DF: STJ, 27 out. 2024. Disponível em: https://www.stj.jus.br/sites/portalp/Paginas/Comunicacao/Noticias/2024/27102024-Os-precedentes-do-STJ-nos-primeiros-quatro-anos-de-vigencia-da-Lei-Geral-de-Protecao-de-Dados-Pessoais.aspx. Acesso em: 12 ago. 2026.</a:t>
            </a:r>
            <a:endParaRPr lang="en-US" sz="930" dirty="0"/>
          </a:p>
          <a:p>
            <a:pPr marL="0" indent="0">
              <a:lnSpc>
                <a:spcPct val="108000"/>
              </a:lnSpc>
              <a:spcAft>
                <a:spcPts val="900"/>
              </a:spcAft>
              <a:buNone/>
            </a:pPr>
            <a:r>
              <a:rPr lang="en-US" sz="930" dirty="0">
                <a:solidFill>
                  <a:srgbClr val="EDE4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UNIÃO EUROPEIA. Regulamento (UE) 2016/679 do Parlamento Europeu e do Conselho, de 27 de abril de 2016, relativo à proteção das pessoas singulares no que diz respeito ao tratamento de dados pessoais e à livre circulação desses dados e que revoga a Diretiva 95/46/CE (Regulamento Geral sobre a Proteção de Dados). Jornal Oficial da União Europeia, Bruxelas, L 119, p. 1-88, 4 maio 2016. Disponível em: https://eur-lex.europa.eu/legal-content/PT/TXT/?uri=celex%3A32016R0679. Acesso em: 12 ago. 2026.</a:t>
            </a:r>
            <a:endParaRPr lang="en-US" sz="930" dirty="0"/>
          </a:p>
          <a:p>
            <a:pPr marL="0" indent="0">
              <a:lnSpc>
                <a:spcPct val="108000"/>
              </a:lnSpc>
              <a:spcAft>
                <a:spcPts val="900"/>
              </a:spcAft>
              <a:buNone/>
            </a:pPr>
            <a:r>
              <a:rPr lang="en-US" sz="930" dirty="0">
                <a:solidFill>
                  <a:srgbClr val="EDE4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WILSON SONSINI. Meta Receives Record 1.2 Billion EUR Fine and Is Ordered to Suspend Its EU-U.S. Data Transfers. [S. l.], 6 jun. 2023. Disponível em: https://www.wsgr.com/en/insights/meta-receives-record-12-billion-eur-fine-and-is-ordered-to-suspend-its-eu-us-data-transfers.html. Acesso em: 12 ago. 2026.</a:t>
            </a:r>
            <a:endParaRPr lang="en-US" sz="930" dirty="0"/>
          </a:p>
        </p:txBody>
      </p:sp>
      <p:sp>
        <p:nvSpPr>
          <p:cNvPr id="6" name="Text 4"/>
          <p:cNvSpPr/>
          <p:nvPr/>
        </p:nvSpPr>
        <p:spPr>
          <a:xfrm>
            <a:off x="457200" y="65288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 / 29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702552" y="6528816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Legislação de Proteção de Dados — LGPD e GDPR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78A2D2C2733B7342A34F941B973AA6E6" ma:contentTypeVersion="3" ma:contentTypeDescription="Crie um novo documento." ma:contentTypeScope="" ma:versionID="5550be8f1cf58693e992f8ea7bfb4f2b">
  <xsd:schema xmlns:xsd="http://www.w3.org/2001/XMLSchema" xmlns:xs="http://www.w3.org/2001/XMLSchema" xmlns:p="http://schemas.microsoft.com/office/2006/metadata/properties" xmlns:ns2="f534e9f2-b7ec-4ccc-a69c-51d3e3635b48" targetNamespace="http://schemas.microsoft.com/office/2006/metadata/properties" ma:root="true" ma:fieldsID="723e5ea99451f57ad090176ed3370c4a" ns2:_="">
    <xsd:import namespace="f534e9f2-b7ec-4ccc-a69c-51d3e3635b4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534e9f2-b7ec-4ccc-a69c-51d3e3635b4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499F9AEE-C99B-42AA-BDC5-A75039DA025F}"/>
</file>

<file path=customXml/itemProps2.xml><?xml version="1.0" encoding="utf-8"?>
<ds:datastoreItem xmlns:ds="http://schemas.openxmlformats.org/officeDocument/2006/customXml" ds:itemID="{8D2696E8-C288-4E41-B426-31CD70548FC4}"/>
</file>

<file path=customXml/itemProps3.xml><?xml version="1.0" encoding="utf-8"?>
<ds:datastoreItem xmlns:ds="http://schemas.openxmlformats.org/officeDocument/2006/customXml" ds:itemID="{5E970604-99CA-4066-86D1-A5EEB026D97C}"/>
</file>

<file path=docProps/app.xml><?xml version="1.0" encoding="utf-8"?>
<Properties xmlns="http://schemas.openxmlformats.org/officeDocument/2006/extended-properties" xmlns:vt="http://schemas.openxmlformats.org/officeDocument/2006/docPropsVTypes">
  <TotalTime>3087</TotalTime>
  <Words>5755</Words>
  <Application>Microsoft Office PowerPoint</Application>
  <PresentationFormat>Widescreen</PresentationFormat>
  <Paragraphs>482</Paragraphs>
  <Slides>28</Slides>
  <Notes>22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28</vt:i4>
      </vt:variant>
    </vt:vector>
  </HeadingPairs>
  <TitlesOfParts>
    <vt:vector size="32" baseType="lpstr">
      <vt:lpstr>Arial</vt:lpstr>
      <vt:lpstr>Calibri</vt:lpstr>
      <vt:lpstr>Cambria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EVELYN S</dc:creator>
  <cp:lastModifiedBy>Eve Santinon</cp:lastModifiedBy>
  <cp:revision>17</cp:revision>
  <dcterms:created xsi:type="dcterms:W3CDTF">2026-08-12T17:40:36Z</dcterms:created>
  <dcterms:modified xsi:type="dcterms:W3CDTF">2026-08-14T22:00:04Z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0x01010078A2D2C2733B7342A34F941B973AA6E6</vt:lpwstr>
  </property>
</Properties>
</file>