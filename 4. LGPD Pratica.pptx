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8" r:id="rId3"/>
    <p:sldId id="274" r:id="rId4"/>
    <p:sldId id="276" r:id="rId5"/>
    <p:sldId id="259" r:id="rId6"/>
    <p:sldId id="277" r:id="rId7"/>
    <p:sldId id="260" r:id="rId8"/>
    <p:sldId id="261" r:id="rId9"/>
    <p:sldId id="263" r:id="rId10"/>
    <p:sldId id="262" r:id="rId11"/>
    <p:sldId id="264" r:id="rId12"/>
    <p:sldId id="265" r:id="rId13"/>
    <p:sldId id="266" r:id="rId14"/>
    <p:sldId id="267" r:id="rId15"/>
    <p:sldId id="278" r:id="rId16"/>
    <p:sldId id="257" r:id="rId17"/>
    <p:sldId id="279" r:id="rId18"/>
    <p:sldId id="280" r:id="rId19"/>
    <p:sldId id="281" r:id="rId20"/>
    <p:sldId id="282" r:id="rId21"/>
    <p:sldId id="283" r:id="rId22"/>
    <p:sldId id="284" r:id="rId23"/>
    <p:sldId id="285" r:id="rId24"/>
    <p:sldId id="286" r:id="rId25"/>
    <p:sldId id="287" r:id="rId26"/>
    <p:sldId id="268" r:id="rId27"/>
    <p:sldId id="288" r:id="rId28"/>
    <p:sldId id="289" r:id="rId29"/>
    <p:sldId id="290" r:id="rId30"/>
    <p:sldId id="291" r:id="rId31"/>
    <p:sldId id="293" r:id="rId32"/>
    <p:sldId id="292" r:id="rId33"/>
    <p:sldId id="294" r:id="rId34"/>
    <p:sldId id="295" r:id="rId35"/>
    <p:sldId id="296" r:id="rId36"/>
    <p:sldId id="272"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22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5" name="Text 3"/>
          <p:cNvSpPr/>
          <p:nvPr/>
        </p:nvSpPr>
        <p:spPr>
          <a:xfrm>
            <a:off x="822960" y="1417320"/>
            <a:ext cx="8229600" cy="365760"/>
          </a:xfrm>
          <a:prstGeom prst="rect">
            <a:avLst/>
          </a:prstGeom>
          <a:noFill/>
          <a:ln/>
        </p:spPr>
        <p:txBody>
          <a:bodyPr wrap="square"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DISCIPLINA DIREITO DIGITAL· CIENCIA DE DADOS</a:t>
            </a:r>
            <a:endParaRPr lang="en-US" sz="1400" dirty="0"/>
          </a:p>
        </p:txBody>
      </p:sp>
      <p:sp>
        <p:nvSpPr>
          <p:cNvPr id="6" name="Text 4"/>
          <p:cNvSpPr/>
          <p:nvPr/>
        </p:nvSpPr>
        <p:spPr>
          <a:xfrm>
            <a:off x="777240" y="1874520"/>
            <a:ext cx="96012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LGPD </a:t>
            </a:r>
            <a:r>
              <a:rPr lang="en-US" sz="4400" b="1" dirty="0" err="1">
                <a:solidFill>
                  <a:srgbClr val="FFFFFF"/>
                </a:solidFill>
                <a:latin typeface="Cambria" pitchFamily="34" charset="0"/>
                <a:ea typeface="Cambria" pitchFamily="34" charset="-122"/>
                <a:cs typeface="Cambria" pitchFamily="34" charset="-120"/>
              </a:rPr>
              <a:t>na</a:t>
            </a:r>
            <a:r>
              <a:rPr lang="en-US" sz="4400" b="1" dirty="0">
                <a:solidFill>
                  <a:srgbClr val="FFFFFF"/>
                </a:solidFill>
                <a:latin typeface="Cambria" pitchFamily="34" charset="0"/>
                <a:ea typeface="Cambria" pitchFamily="34" charset="-122"/>
                <a:cs typeface="Cambria" pitchFamily="34" charset="-120"/>
              </a:rPr>
              <a:t> </a:t>
            </a:r>
            <a:r>
              <a:rPr lang="en-US" sz="4400" b="1" dirty="0" err="1">
                <a:solidFill>
                  <a:srgbClr val="FFFFFF"/>
                </a:solidFill>
                <a:latin typeface="Cambria" pitchFamily="34" charset="0"/>
                <a:ea typeface="Cambria" pitchFamily="34" charset="-122"/>
                <a:cs typeface="Cambria" pitchFamily="34" charset="-120"/>
              </a:rPr>
              <a:t>Prática</a:t>
            </a:r>
            <a:r>
              <a:rPr lang="en-US" sz="4400" b="1" dirty="0">
                <a:solidFill>
                  <a:srgbClr val="FFFFFF"/>
                </a:solidFill>
                <a:latin typeface="Cambria" pitchFamily="34" charset="0"/>
                <a:ea typeface="Cambria" pitchFamily="34" charset="-122"/>
                <a:cs typeface="Cambria" pitchFamily="34" charset="-120"/>
              </a:rPr>
              <a:t> de Dados</a:t>
            </a:r>
            <a:endParaRPr lang="en-US" sz="4400" dirty="0"/>
          </a:p>
        </p:txBody>
      </p:sp>
      <p:sp>
        <p:nvSpPr>
          <p:cNvPr id="7" name="Text 5"/>
          <p:cNvSpPr/>
          <p:nvPr/>
        </p:nvSpPr>
        <p:spPr>
          <a:xfrm>
            <a:off x="822960" y="2880360"/>
            <a:ext cx="9144000" cy="914400"/>
          </a:xfrm>
          <a:prstGeom prst="rect">
            <a:avLst/>
          </a:prstGeom>
          <a:noFill/>
          <a:ln/>
        </p:spPr>
        <p:txBody>
          <a:bodyPr wrap="square" rtlCol="0" anchor="ctr"/>
          <a:lstStyle/>
          <a:p>
            <a:pPr marL="0" indent="0">
              <a:buNone/>
            </a:pPr>
            <a:r>
              <a:rPr lang="en-US" sz="1900" dirty="0">
                <a:solidFill>
                  <a:srgbClr val="EAF2FF"/>
                </a:solidFill>
                <a:latin typeface="Calibri" pitchFamily="34" charset="0"/>
                <a:ea typeface="Calibri" pitchFamily="34" charset="-122"/>
                <a:cs typeface="Calibri" pitchFamily="34" charset="-120"/>
              </a:rPr>
              <a:t>Direitos dos Titulares, Deveres dos Agentes de Tratamento</a:t>
            </a:r>
            <a:endParaRPr lang="en-US" sz="1900" dirty="0"/>
          </a:p>
          <a:p>
            <a:pPr marL="0" indent="0">
              <a:buNone/>
            </a:pPr>
            <a:r>
              <a:rPr lang="en-US" sz="1900" dirty="0">
                <a:solidFill>
                  <a:srgbClr val="EAF2FF"/>
                </a:solidFill>
                <a:latin typeface="Calibri" pitchFamily="34" charset="0"/>
                <a:ea typeface="Calibri" pitchFamily="34" charset="-122"/>
                <a:cs typeface="Calibri" pitchFamily="34" charset="-120"/>
              </a:rPr>
              <a:t>e o Papel do Encarregado (DPO)</a:t>
            </a:r>
            <a:endParaRPr lang="en-US" sz="1900" dirty="0"/>
          </a:p>
        </p:txBody>
      </p:sp>
      <p:sp>
        <p:nvSpPr>
          <p:cNvPr id="8" name="Shape 6"/>
          <p:cNvSpPr/>
          <p:nvPr/>
        </p:nvSpPr>
        <p:spPr>
          <a:xfrm>
            <a:off x="822960" y="3977640"/>
            <a:ext cx="2926080" cy="0"/>
          </a:xfrm>
          <a:prstGeom prst="line">
            <a:avLst/>
          </a:prstGeom>
          <a:noFill/>
          <a:ln w="19050">
            <a:solidFill>
              <a:srgbClr val="CADCFC"/>
            </a:solidFill>
            <a:prstDash val="solid"/>
          </a:ln>
        </p:spPr>
        <p:txBody>
          <a:bodyPr/>
          <a:lstStyle/>
          <a:p>
            <a:endParaRPr lang="pt-BR"/>
          </a:p>
        </p:txBody>
      </p:sp>
      <p:sp>
        <p:nvSpPr>
          <p:cNvPr id="9" name="Text 7"/>
          <p:cNvSpPr/>
          <p:nvPr/>
        </p:nvSpPr>
        <p:spPr>
          <a:xfrm>
            <a:off x="822960" y="4343400"/>
            <a:ext cx="3108960" cy="502920"/>
          </a:xfrm>
          <a:prstGeom prst="rect">
            <a:avLst/>
          </a:prstGeom>
          <a:noFill/>
          <a:ln/>
        </p:spPr>
        <p:txBody>
          <a:bodyPr wrap="square" rtlCol="0" anchor="ctr"/>
          <a:lstStyle/>
          <a:p>
            <a:pPr marL="0" indent="0">
              <a:buNone/>
            </a:pPr>
            <a:r>
              <a:rPr lang="en-US" sz="2600" b="1" dirty="0">
                <a:solidFill>
                  <a:srgbClr val="CADCFC"/>
                </a:solidFill>
                <a:latin typeface="Cambria" pitchFamily="34" charset="0"/>
                <a:ea typeface="Cambria" pitchFamily="34" charset="-122"/>
              </a:rPr>
              <a:t>Prof. Evelyn S. </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DIREITOS DO TITULAR</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FUNDAMENTO LEGAL</a:t>
            </a:r>
            <a:endParaRPr lang="en-US" sz="1300" dirty="0"/>
          </a:p>
        </p:txBody>
      </p:sp>
      <p:sp>
        <p:nvSpPr>
          <p:cNvPr id="5" name="Text 3"/>
          <p:cNvSpPr/>
          <p:nvPr/>
        </p:nvSpPr>
        <p:spPr>
          <a:xfrm>
            <a:off x="548640" y="777240"/>
            <a:ext cx="8686800" cy="640080"/>
          </a:xfrm>
          <a:prstGeom prst="rect">
            <a:avLst/>
          </a:prstGeom>
          <a:noFill/>
          <a:ln/>
        </p:spPr>
        <p:txBody>
          <a:bodyPr wrap="square" rtlCol="0" anchor="ctr"/>
          <a:lstStyle/>
          <a:p>
            <a:pPr marL="0" indent="0">
              <a:buNone/>
            </a:pPr>
            <a:r>
              <a:rPr lang="en-US" sz="2800" b="1" dirty="0">
                <a:solidFill>
                  <a:srgbClr val="2B2B2E"/>
                </a:solidFill>
                <a:latin typeface="Cambria" pitchFamily="34" charset="0"/>
                <a:ea typeface="Cambria" pitchFamily="34" charset="-122"/>
                <a:cs typeface="Cambria" pitchFamily="34" charset="-120"/>
              </a:rPr>
              <a:t>O titular como ponto de partida</a:t>
            </a:r>
            <a:endParaRPr lang="en-US" sz="2800" dirty="0"/>
          </a:p>
        </p:txBody>
      </p:sp>
      <p:sp>
        <p:nvSpPr>
          <p:cNvPr id="6" name="Shape 4"/>
          <p:cNvSpPr/>
          <p:nvPr/>
        </p:nvSpPr>
        <p:spPr>
          <a:xfrm>
            <a:off x="548640" y="1691640"/>
            <a:ext cx="6492240" cy="2011680"/>
          </a:xfrm>
          <a:prstGeom prst="roundRect">
            <a:avLst>
              <a:gd name="adj" fmla="val 3636"/>
            </a:avLst>
          </a:prstGeom>
          <a:solidFill>
            <a:srgbClr val="1E2761"/>
          </a:solidFill>
          <a:ln/>
        </p:spPr>
        <p:txBody>
          <a:bodyPr/>
          <a:lstStyle/>
          <a:p>
            <a:endParaRPr lang="pt-BR"/>
          </a:p>
        </p:txBody>
      </p:sp>
      <p:sp>
        <p:nvSpPr>
          <p:cNvPr id="7" name="Text 5"/>
          <p:cNvSpPr/>
          <p:nvPr/>
        </p:nvSpPr>
        <p:spPr>
          <a:xfrm>
            <a:off x="868680" y="1920240"/>
            <a:ext cx="5852160" cy="1371600"/>
          </a:xfrm>
          <a:prstGeom prst="rect">
            <a:avLst/>
          </a:prstGeom>
          <a:noFill/>
          <a:ln/>
        </p:spPr>
        <p:txBody>
          <a:bodyPr wrap="square"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“Toda pessoa natural tem assegurada a titularidade de seus dados pessoais e garantidos os direitos fundamentais de liberdade, de intimidade e de privacidade, nos termos desta Lei.”</a:t>
            </a:r>
            <a:endParaRPr lang="en-US" sz="1600" dirty="0"/>
          </a:p>
        </p:txBody>
      </p:sp>
      <p:sp>
        <p:nvSpPr>
          <p:cNvPr id="8" name="Text 6"/>
          <p:cNvSpPr/>
          <p:nvPr/>
        </p:nvSpPr>
        <p:spPr>
          <a:xfrm>
            <a:off x="868680" y="3291840"/>
            <a:ext cx="5852160" cy="320040"/>
          </a:xfrm>
          <a:prstGeom prst="rect">
            <a:avLst/>
          </a:prstGeom>
          <a:noFill/>
          <a:ln/>
        </p:spPr>
        <p:txBody>
          <a:bodyPr wrap="square"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Art. 17, LGPD (Lei no 13.709/2018)</a:t>
            </a:r>
            <a:endParaRPr lang="en-US" sz="1100" dirty="0"/>
          </a:p>
        </p:txBody>
      </p:sp>
      <p:sp>
        <p:nvSpPr>
          <p:cNvPr id="9" name="Shape 7"/>
          <p:cNvSpPr/>
          <p:nvPr/>
        </p:nvSpPr>
        <p:spPr>
          <a:xfrm>
            <a:off x="7315200" y="1691640"/>
            <a:ext cx="4297680" cy="2011680"/>
          </a:xfrm>
          <a:prstGeom prst="roundRect">
            <a:avLst>
              <a:gd name="adj" fmla="val 3636"/>
            </a:avLst>
          </a:prstGeom>
          <a:solidFill>
            <a:srgbClr val="F4F6FB"/>
          </a:solidFill>
          <a:ln/>
        </p:spPr>
        <p:txBody>
          <a:bodyPr/>
          <a:lstStyle/>
          <a:p>
            <a:endParaRPr lang="pt-BR"/>
          </a:p>
        </p:txBody>
      </p:sp>
      <p:sp>
        <p:nvSpPr>
          <p:cNvPr id="10" name="Text 8"/>
          <p:cNvSpPr/>
          <p:nvPr/>
        </p:nvSpPr>
        <p:spPr>
          <a:xfrm>
            <a:off x="7589520" y="1874520"/>
            <a:ext cx="374904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Para quem trabalha com dados</a:t>
            </a:r>
            <a:endParaRPr lang="en-US" sz="1200" dirty="0"/>
          </a:p>
        </p:txBody>
      </p:sp>
      <p:sp>
        <p:nvSpPr>
          <p:cNvPr id="11" name="Text 9"/>
          <p:cNvSpPr/>
          <p:nvPr/>
        </p:nvSpPr>
        <p:spPr>
          <a:xfrm>
            <a:off x="7589520" y="2240280"/>
            <a:ext cx="3749040" cy="1371600"/>
          </a:xfrm>
          <a:prstGeom prst="rect">
            <a:avLst/>
          </a:prstGeom>
          <a:noFill/>
          <a:ln/>
        </p:spPr>
        <p:txBody>
          <a:bodyPr wrap="square" rtlCol="0" anchor="t"/>
          <a:lstStyle/>
          <a:p>
            <a:pPr marL="0" indent="0">
              <a:buNone/>
            </a:pPr>
            <a:r>
              <a:rPr lang="en-US" sz="1150" dirty="0">
                <a:solidFill>
                  <a:srgbClr val="2B2B2E"/>
                </a:solidFill>
                <a:latin typeface="Calibri" pitchFamily="34" charset="0"/>
                <a:ea typeface="Calibri" pitchFamily="34" charset="-122"/>
                <a:cs typeface="Calibri" pitchFamily="34" charset="-120"/>
              </a:rPr>
              <a:t>Todo registro em uma tabela de clientes, todo dado em um pipeline de ETL e toda feature de um modelo referida a uma pessoa identificavel carrega um titular com direitos exigiveis.</a:t>
            </a:r>
            <a:endParaRPr lang="en-US" sz="1150" dirty="0"/>
          </a:p>
        </p:txBody>
      </p:sp>
      <p:sp>
        <p:nvSpPr>
          <p:cNvPr id="12" name="Text 10"/>
          <p:cNvSpPr/>
          <p:nvPr/>
        </p:nvSpPr>
        <p:spPr>
          <a:xfrm>
            <a:off x="548640" y="3977640"/>
            <a:ext cx="11064240" cy="548640"/>
          </a:xfrm>
          <a:prstGeom prst="rect">
            <a:avLst/>
          </a:prstGeom>
          <a:noFill/>
          <a:ln/>
        </p:spPr>
        <p:txBody>
          <a:bodyPr wrap="square" rtlCol="0" anchor="ctr"/>
          <a:lstStyle/>
          <a:p>
            <a:pPr marL="0" indent="0" algn="ctr">
              <a:buNone/>
            </a:pPr>
            <a:r>
              <a:rPr lang="en-US" sz="1400" i="1" dirty="0">
                <a:solidFill>
                  <a:srgbClr val="5A5A5E"/>
                </a:solidFill>
                <a:latin typeface="Calibri" pitchFamily="34" charset="0"/>
                <a:ea typeface="Calibri" pitchFamily="34" charset="-122"/>
                <a:cs typeface="Calibri" pitchFamily="34" charset="-120"/>
              </a:rPr>
              <a:t>O dado nao e apenas um ativo da empresa: e tambem uma extensao juridica da pessoa a quem se refere.</a:t>
            </a:r>
            <a:endParaRPr lang="en-US" sz="1400" dirty="0"/>
          </a:p>
        </p:txBody>
      </p:sp>
      <p:sp>
        <p:nvSpPr>
          <p:cNvPr id="13" name="Shape 11"/>
          <p:cNvSpPr/>
          <p:nvPr/>
        </p:nvSpPr>
        <p:spPr>
          <a:xfrm>
            <a:off x="1180948" y="4892040"/>
            <a:ext cx="1664208" cy="457200"/>
          </a:xfrm>
          <a:prstGeom prst="roundRect">
            <a:avLst>
              <a:gd name="adj" fmla="val 50000"/>
            </a:avLst>
          </a:prstGeom>
          <a:solidFill>
            <a:srgbClr val="2B2B2E"/>
          </a:solidFill>
          <a:ln/>
        </p:spPr>
        <p:txBody>
          <a:bodyPr/>
          <a:lstStyle/>
          <a:p>
            <a:endParaRPr lang="pt-BR"/>
          </a:p>
        </p:txBody>
      </p:sp>
      <p:sp>
        <p:nvSpPr>
          <p:cNvPr id="14" name="Text 12"/>
          <p:cNvSpPr/>
          <p:nvPr/>
        </p:nvSpPr>
        <p:spPr>
          <a:xfrm>
            <a:off x="1180948" y="4892040"/>
            <a:ext cx="1664208"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Data catalog</a:t>
            </a:r>
            <a:endParaRPr lang="en-US" sz="1100" dirty="0"/>
          </a:p>
        </p:txBody>
      </p:sp>
      <p:sp>
        <p:nvSpPr>
          <p:cNvPr id="15" name="Shape 13"/>
          <p:cNvSpPr/>
          <p:nvPr/>
        </p:nvSpPr>
        <p:spPr>
          <a:xfrm>
            <a:off x="3073756" y="4892040"/>
            <a:ext cx="2066544" cy="457200"/>
          </a:xfrm>
          <a:prstGeom prst="roundRect">
            <a:avLst>
              <a:gd name="adj" fmla="val 50000"/>
            </a:avLst>
          </a:prstGeom>
          <a:solidFill>
            <a:srgbClr val="2B2B2E"/>
          </a:solidFill>
          <a:ln/>
        </p:spPr>
        <p:txBody>
          <a:bodyPr/>
          <a:lstStyle/>
          <a:p>
            <a:endParaRPr lang="pt-BR"/>
          </a:p>
        </p:txBody>
      </p:sp>
      <p:sp>
        <p:nvSpPr>
          <p:cNvPr id="16" name="Text 14"/>
          <p:cNvSpPr/>
          <p:nvPr/>
        </p:nvSpPr>
        <p:spPr>
          <a:xfrm>
            <a:off x="3073756" y="4892040"/>
            <a:ext cx="2066544"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Pipelines de ETL</a:t>
            </a:r>
            <a:endParaRPr lang="en-US" sz="1100" dirty="0"/>
          </a:p>
        </p:txBody>
      </p:sp>
      <p:sp>
        <p:nvSpPr>
          <p:cNvPr id="17" name="Shape 15"/>
          <p:cNvSpPr/>
          <p:nvPr/>
        </p:nvSpPr>
        <p:spPr>
          <a:xfrm>
            <a:off x="5368900" y="4892040"/>
            <a:ext cx="1865376" cy="457200"/>
          </a:xfrm>
          <a:prstGeom prst="roundRect">
            <a:avLst>
              <a:gd name="adj" fmla="val 50000"/>
            </a:avLst>
          </a:prstGeom>
          <a:solidFill>
            <a:srgbClr val="2B2B2E"/>
          </a:solidFill>
          <a:ln/>
        </p:spPr>
        <p:txBody>
          <a:bodyPr/>
          <a:lstStyle/>
          <a:p>
            <a:endParaRPr lang="pt-BR"/>
          </a:p>
        </p:txBody>
      </p:sp>
      <p:sp>
        <p:nvSpPr>
          <p:cNvPr id="18" name="Text 16"/>
          <p:cNvSpPr/>
          <p:nvPr/>
        </p:nvSpPr>
        <p:spPr>
          <a:xfrm>
            <a:off x="5368900" y="4892040"/>
            <a:ext cx="1865376"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Feature stores</a:t>
            </a:r>
            <a:endParaRPr lang="en-US" sz="1100" dirty="0"/>
          </a:p>
        </p:txBody>
      </p:sp>
      <p:sp>
        <p:nvSpPr>
          <p:cNvPr id="19" name="Shape 17"/>
          <p:cNvSpPr/>
          <p:nvPr/>
        </p:nvSpPr>
        <p:spPr>
          <a:xfrm>
            <a:off x="7462876" y="4892040"/>
            <a:ext cx="2267712" cy="457200"/>
          </a:xfrm>
          <a:prstGeom prst="roundRect">
            <a:avLst>
              <a:gd name="adj" fmla="val 50000"/>
            </a:avLst>
          </a:prstGeom>
          <a:solidFill>
            <a:srgbClr val="2B2B2E"/>
          </a:solidFill>
          <a:ln/>
        </p:spPr>
        <p:txBody>
          <a:bodyPr/>
          <a:lstStyle/>
          <a:p>
            <a:endParaRPr lang="pt-BR"/>
          </a:p>
        </p:txBody>
      </p:sp>
      <p:sp>
        <p:nvSpPr>
          <p:cNvPr id="20" name="Text 18"/>
          <p:cNvSpPr/>
          <p:nvPr/>
        </p:nvSpPr>
        <p:spPr>
          <a:xfrm>
            <a:off x="7462876" y="4892040"/>
            <a:ext cx="2267712"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Modelos preditivos</a:t>
            </a:r>
            <a:endParaRPr lang="en-US" sz="1100" dirty="0"/>
          </a:p>
        </p:txBody>
      </p:sp>
      <p:sp>
        <p:nvSpPr>
          <p:cNvPr id="21" name="Shape 19"/>
          <p:cNvSpPr/>
          <p:nvPr/>
        </p:nvSpPr>
        <p:spPr>
          <a:xfrm>
            <a:off x="9959188" y="4892040"/>
            <a:ext cx="1965960" cy="457200"/>
          </a:xfrm>
          <a:prstGeom prst="roundRect">
            <a:avLst>
              <a:gd name="adj" fmla="val 50000"/>
            </a:avLst>
          </a:prstGeom>
          <a:solidFill>
            <a:srgbClr val="2B2B2E"/>
          </a:solidFill>
          <a:ln/>
        </p:spPr>
        <p:txBody>
          <a:bodyPr/>
          <a:lstStyle/>
          <a:p>
            <a:endParaRPr lang="pt-BR"/>
          </a:p>
        </p:txBody>
      </p:sp>
      <p:sp>
        <p:nvSpPr>
          <p:cNvPr id="22" name="Text 20"/>
          <p:cNvSpPr/>
          <p:nvPr/>
        </p:nvSpPr>
        <p:spPr>
          <a:xfrm>
            <a:off x="9959188" y="4892040"/>
            <a:ext cx="196596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Data warehouses</a:t>
            </a:r>
            <a:endParaRPr lang="en-US" sz="1100" dirty="0"/>
          </a:p>
        </p:txBody>
      </p:sp>
      <p:sp>
        <p:nvSpPr>
          <p:cNvPr id="24" name="Text 22"/>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Card2"/>
          <p:cNvSpPr/>
          <p:nvPr/>
        </p:nvSpPr>
        <p:spPr>
          <a:xfrm>
            <a:off x="411480" y="3703320"/>
            <a:ext cx="11400000" cy="2606040"/>
          </a:xfrm>
          <a:prstGeom prst="roundRect">
            <a:avLst>
              <a:gd name="adj" fmla="val 5357"/>
            </a:avLst>
          </a:prstGeom>
          <a:solidFill>
            <a:srgbClr val="EAF2FF"/>
          </a:solidFill>
          <a:ln>
            <a:noFill/>
          </a:ln>
        </p:spPr>
        <p:txBody>
          <a:bodyPr/>
          <a:lstStyle/>
          <a:p>
            <a:endParaRPr lang="pt-BR"/>
          </a:p>
        </p:txBody>
      </p:sp>
      <p:sp>
        <p:nvSpPr>
          <p:cNvPr id="12" name="Icon2"/>
          <p:cNvSpPr/>
          <p:nvPr/>
        </p:nvSpPr>
        <p:spPr>
          <a:xfrm>
            <a:off x="640080" y="3931920"/>
            <a:ext cx="502920" cy="502920"/>
          </a:xfrm>
          <a:prstGeom prst="roundRect">
            <a:avLst>
              <a:gd name="adj" fmla="val 44118"/>
            </a:avLst>
          </a:prstGeom>
          <a:solidFill>
            <a:srgbClr val="1E2761"/>
          </a:solidFill>
          <a:ln>
            <a:noFill/>
          </a:ln>
        </p:spPr>
        <p:txBody>
          <a:bodyPr/>
          <a:lstStyle/>
          <a:p>
            <a:endParaRPr lang="pt-BR"/>
          </a:p>
        </p:txBody>
      </p:sp>
      <p:sp>
        <p:nvSpPr>
          <p:cNvPr id="10"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13"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14" name="Card1"/>
          <p:cNvSpPr/>
          <p:nvPr/>
        </p:nvSpPr>
        <p:spPr>
          <a:xfrm>
            <a:off x="411480" y="960120"/>
            <a:ext cx="11400000" cy="2240280"/>
          </a:xfrm>
          <a:prstGeom prst="roundRect">
            <a:avLst>
              <a:gd name="adj" fmla="val 5357"/>
            </a:avLst>
          </a:prstGeom>
          <a:solidFill>
            <a:srgbClr val="F4F6FB"/>
          </a:solidFill>
          <a:ln>
            <a:noFill/>
          </a:ln>
        </p:spPr>
        <p:txBody>
          <a:bodyPr/>
          <a:lstStyle/>
          <a:p>
            <a:endParaRPr lang="pt-BR"/>
          </a:p>
        </p:txBody>
      </p:sp>
      <p:sp>
        <p:nvSpPr>
          <p:cNvPr id="15"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9" name="Card2"/>
          <p:cNvSpPr/>
          <p:nvPr/>
        </p:nvSpPr>
        <p:spPr>
          <a:xfrm>
            <a:off x="411480" y="3703320"/>
            <a:ext cx="11400000" cy="2606040"/>
          </a:xfrm>
          <a:prstGeom prst="roundRect">
            <a:avLst>
              <a:gd name="adj" fmla="val 5357"/>
            </a:avLst>
          </a:prstGeom>
          <a:solidFill>
            <a:srgbClr val="EAF2FF"/>
          </a:solidFill>
          <a:ln>
            <a:noFill/>
          </a:ln>
        </p:spPr>
        <p:txBody>
          <a:bodyPr/>
          <a:lstStyle/>
          <a:p>
            <a:endParaRPr lang="pt-BR"/>
          </a:p>
        </p:txBody>
      </p:sp>
      <p:sp>
        <p:nvSpPr>
          <p:cNvPr id="16" name="Icon2"/>
          <p:cNvSpPr/>
          <p:nvPr/>
        </p:nvSpPr>
        <p:spPr>
          <a:xfrm>
            <a:off x="640080" y="3931920"/>
            <a:ext cx="502920" cy="502920"/>
          </a:xfrm>
          <a:prstGeom prst="roundRect">
            <a:avLst>
              <a:gd name="adj" fmla="val 44118"/>
            </a:avLst>
          </a:prstGeom>
          <a:solidFill>
            <a:srgbClr val="1E2761"/>
          </a:solidFill>
          <a:ln>
            <a:noFill/>
          </a:ln>
        </p:spPr>
        <p:txBody>
          <a:bodyPr/>
          <a:lstStyle/>
          <a:p>
            <a:endParaRPr lang="pt-BR"/>
          </a:p>
        </p:txBody>
      </p:sp>
      <p:sp>
        <p:nvSpPr>
          <p:cNvPr id="8"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17"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18" name="Card1"/>
          <p:cNvSpPr/>
          <p:nvPr/>
        </p:nvSpPr>
        <p:spPr>
          <a:xfrm>
            <a:off x="411480" y="960120"/>
            <a:ext cx="11400000" cy="2240280"/>
          </a:xfrm>
          <a:prstGeom prst="roundRect">
            <a:avLst>
              <a:gd name="adj" fmla="val 5357"/>
            </a:avLst>
          </a:prstGeom>
          <a:solidFill>
            <a:srgbClr val="F4F6FB"/>
          </a:solidFill>
          <a:ln>
            <a:noFill/>
          </a:ln>
        </p:spPr>
        <p:txBody>
          <a:bodyPr/>
          <a:lstStyle/>
          <a:p>
            <a:endParaRPr lang="pt-BR"/>
          </a:p>
        </p:txBody>
      </p:sp>
      <p:sp>
        <p:nvSpPr>
          <p:cNvPr id="19"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7" name="Card2"/>
          <p:cNvSpPr/>
          <p:nvPr/>
        </p:nvSpPr>
        <p:spPr>
          <a:xfrm>
            <a:off x="411480" y="3703320"/>
            <a:ext cx="11400000" cy="2606040"/>
          </a:xfrm>
          <a:prstGeom prst="roundRect">
            <a:avLst>
              <a:gd name="adj" fmla="val 5357"/>
            </a:avLst>
          </a:prstGeom>
          <a:solidFill>
            <a:srgbClr val="EAF2FF"/>
          </a:solidFill>
          <a:ln>
            <a:noFill/>
          </a:ln>
        </p:spPr>
        <p:txBody>
          <a:bodyPr/>
          <a:lstStyle/>
          <a:p>
            <a:endParaRPr lang="pt-BR"/>
          </a:p>
        </p:txBody>
      </p:sp>
      <p:sp>
        <p:nvSpPr>
          <p:cNvPr id="20" name="Icon2"/>
          <p:cNvSpPr/>
          <p:nvPr/>
        </p:nvSpPr>
        <p:spPr>
          <a:xfrm>
            <a:off x="640080" y="3931920"/>
            <a:ext cx="502920" cy="502920"/>
          </a:xfrm>
          <a:prstGeom prst="roundRect">
            <a:avLst>
              <a:gd name="adj" fmla="val 44118"/>
            </a:avLst>
          </a:prstGeom>
          <a:solidFill>
            <a:srgbClr val="1E2761"/>
          </a:solidFill>
          <a:ln>
            <a:noFill/>
          </a:ln>
        </p:spPr>
        <p:txBody>
          <a:bodyPr/>
          <a:lstStyle/>
          <a:p>
            <a:endParaRPr lang="pt-BR"/>
          </a:p>
        </p:txBody>
      </p:sp>
      <p:sp>
        <p:nvSpPr>
          <p:cNvPr id="6"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21"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22" name="Card1"/>
          <p:cNvSpPr/>
          <p:nvPr/>
        </p:nvSpPr>
        <p:spPr>
          <a:xfrm>
            <a:off x="411480" y="960120"/>
            <a:ext cx="11400000" cy="2240280"/>
          </a:xfrm>
          <a:prstGeom prst="roundRect">
            <a:avLst>
              <a:gd name="adj" fmla="val 5357"/>
            </a:avLst>
          </a:prstGeom>
          <a:solidFill>
            <a:srgbClr val="F4F6FB"/>
          </a:solidFill>
          <a:ln>
            <a:noFill/>
          </a:ln>
        </p:spPr>
        <p:txBody>
          <a:bodyPr/>
          <a:lstStyle/>
          <a:p>
            <a:endParaRPr lang="pt-BR"/>
          </a:p>
        </p:txBody>
      </p:sp>
      <p:sp>
        <p:nvSpPr>
          <p:cNvPr id="23"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5" name="Card2"/>
          <p:cNvSpPr/>
          <p:nvPr/>
        </p:nvSpPr>
        <p:spPr>
          <a:xfrm>
            <a:off x="411480" y="3703320"/>
            <a:ext cx="11400000" cy="2606040"/>
          </a:xfrm>
          <a:prstGeom prst="roundRect">
            <a:avLst>
              <a:gd name="adj" fmla="val 5357"/>
            </a:avLst>
          </a:prstGeom>
          <a:solidFill>
            <a:srgbClr val="EAF2FF"/>
          </a:solidFill>
          <a:ln>
            <a:noFill/>
          </a:ln>
        </p:spPr>
        <p:txBody>
          <a:bodyPr/>
          <a:lstStyle/>
          <a:p>
            <a:endParaRPr lang="pt-BR"/>
          </a:p>
        </p:txBody>
      </p:sp>
      <p:sp>
        <p:nvSpPr>
          <p:cNvPr id="24" name="Icon2"/>
          <p:cNvSpPr/>
          <p:nvPr/>
        </p:nvSpPr>
        <p:spPr>
          <a:xfrm>
            <a:off x="640080" y="3931920"/>
            <a:ext cx="502920" cy="502920"/>
          </a:xfrm>
          <a:prstGeom prst="roundRect">
            <a:avLst>
              <a:gd name="adj" fmla="val 44118"/>
            </a:avLst>
          </a:prstGeom>
          <a:solidFill>
            <a:srgbClr val="1E2761"/>
          </a:solidFill>
          <a:ln>
            <a:noFill/>
          </a:ln>
        </p:spPr>
        <p:txBody>
          <a:bodyPr/>
          <a:lstStyle/>
          <a:p>
            <a:endParaRPr lang="pt-BR"/>
          </a:p>
        </p:txBody>
      </p:sp>
      <p:sp>
        <p:nvSpPr>
          <p:cNvPr id="4"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25"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26" name="Card1"/>
          <p:cNvSpPr/>
          <p:nvPr/>
        </p:nvSpPr>
        <p:spPr>
          <a:xfrm>
            <a:off x="411480" y="960120"/>
            <a:ext cx="11400000" cy="2240280"/>
          </a:xfrm>
          <a:prstGeom prst="roundRect">
            <a:avLst>
              <a:gd name="adj" fmla="val 5357"/>
            </a:avLst>
          </a:prstGeom>
          <a:solidFill>
            <a:srgbClr val="F4F6FB"/>
          </a:solidFill>
          <a:ln>
            <a:noFill/>
          </a:ln>
        </p:spPr>
        <p:txBody>
          <a:bodyPr/>
          <a:lstStyle/>
          <a:p>
            <a:endParaRPr lang="pt-BR"/>
          </a:p>
        </p:txBody>
      </p:sp>
      <p:sp>
        <p:nvSpPr>
          <p:cNvPr id="27"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2" name="CaixaDeTexto 1">
            <a:extLst>
              <a:ext uri="{FF2B5EF4-FFF2-40B4-BE49-F238E27FC236}">
                <a16:creationId xmlns:a16="http://schemas.microsoft.com/office/drawing/2014/main" id="{BE387D60-E49C-D690-47B8-D833E2195C11}"/>
              </a:ext>
            </a:extLst>
          </p:cNvPr>
          <p:cNvSpPr txBox="1"/>
          <p:nvPr/>
        </p:nvSpPr>
        <p:spPr>
          <a:xfrm>
            <a:off x="1303020" y="1005840"/>
            <a:ext cx="10228560" cy="2148840"/>
          </a:xfrm>
          <a:prstGeom prst="rect">
            <a:avLst/>
          </a:prstGeom>
          <a:noFill/>
        </p:spPr>
        <p:txBody>
          <a:bodyPr wrap="square" rtlCol="0">
            <a:spAutoFit/>
          </a:bodyPr>
          <a:lstStyle/>
          <a:p>
            <a:r>
              <a:rPr lang="pt-BR" b="1" dirty="0"/>
              <a:t>Data </a:t>
            </a:r>
            <a:r>
              <a:rPr lang="pt-BR" b="1" dirty="0" err="1"/>
              <a:t>catalog</a:t>
            </a:r>
            <a:r>
              <a:rPr lang="pt-BR" b="1" dirty="0"/>
              <a:t> ou catálogo de dados </a:t>
            </a:r>
          </a:p>
          <a:p>
            <a:r>
              <a:rPr lang="pt-BR" dirty="0"/>
              <a:t>Sistema que funciona como inventário central de todos os dados que uma organização possui: quais tabelas existem, em quais bancos, o que cada coluna significa, quem é o dono daquele dado, quando foi atualizado pela última vez, e frequentemente também a sua classificação de sensibilidade (por exemplo, se contém CPF, e-mail ou dado de saúde).</a:t>
            </a:r>
          </a:p>
          <a:p>
            <a:r>
              <a:rPr lang="pt-BR" dirty="0"/>
              <a:t>Ferramentas comuns: Amundsen, </a:t>
            </a:r>
            <a:r>
              <a:rPr lang="pt-BR" dirty="0" err="1"/>
              <a:t>DataHub</a:t>
            </a:r>
            <a:r>
              <a:rPr lang="pt-BR" dirty="0"/>
              <a:t>, </a:t>
            </a:r>
            <a:r>
              <a:rPr lang="pt-BR" dirty="0" err="1"/>
              <a:t>Alation</a:t>
            </a:r>
            <a:r>
              <a:rPr lang="pt-BR" dirty="0"/>
              <a:t>, </a:t>
            </a:r>
            <a:r>
              <a:rPr lang="pt-BR" dirty="0" err="1"/>
              <a:t>Collibra</a:t>
            </a:r>
            <a:r>
              <a:rPr lang="pt-BR" dirty="0"/>
              <a:t>, ou o Data </a:t>
            </a:r>
            <a:r>
              <a:rPr lang="pt-BR" dirty="0" err="1"/>
              <a:t>Catalog</a:t>
            </a:r>
            <a:r>
              <a:rPr lang="pt-BR" dirty="0"/>
              <a:t> do Google Cloud.</a:t>
            </a:r>
          </a:p>
          <a:p>
            <a:r>
              <a:rPr lang="pt-BR" b="1" dirty="0"/>
              <a:t>IMPORTANTE JURIDICAMENTE: </a:t>
            </a:r>
            <a:r>
              <a:rPr lang="pt-BR" dirty="0"/>
              <a:t>é a peça técnica que viabiliza o Art. 37 (registro das operações de tratamento). Sem um catálogo, uma empresa não consegue responder com confiança à pergunta "onde estão os dados desse titular?", que é justamente o que o Art. 18 exige que ela seja capaz de fazer.</a:t>
            </a:r>
          </a:p>
        </p:txBody>
      </p:sp>
      <p:sp>
        <p:nvSpPr>
          <p:cNvPr id="3" name="CaixaDeTexto 2">
            <a:extLst>
              <a:ext uri="{FF2B5EF4-FFF2-40B4-BE49-F238E27FC236}">
                <a16:creationId xmlns:a16="http://schemas.microsoft.com/office/drawing/2014/main" id="{7FA40864-5A08-0A99-5BF0-CB139D5FACD6}"/>
              </a:ext>
            </a:extLst>
          </p:cNvPr>
          <p:cNvSpPr txBox="1"/>
          <p:nvPr/>
        </p:nvSpPr>
        <p:spPr>
          <a:xfrm>
            <a:off x="1303020" y="3749040"/>
            <a:ext cx="10228560" cy="2469480"/>
          </a:xfrm>
          <a:prstGeom prst="rect">
            <a:avLst/>
          </a:prstGeom>
          <a:noFill/>
        </p:spPr>
        <p:txBody>
          <a:bodyPr wrap="square" rtlCol="0">
            <a:spAutoFit/>
          </a:bodyPr>
          <a:lstStyle/>
          <a:p>
            <a:r>
              <a:rPr lang="pt-BR" b="1" dirty="0"/>
              <a:t>Pipelines de ETL (</a:t>
            </a:r>
            <a:r>
              <a:rPr lang="pt-BR" b="1" dirty="0" err="1"/>
              <a:t>Extract</a:t>
            </a:r>
            <a:r>
              <a:rPr lang="pt-BR" b="1" dirty="0"/>
              <a:t>, </a:t>
            </a:r>
            <a:r>
              <a:rPr lang="pt-BR" b="1" dirty="0" err="1"/>
              <a:t>Transform</a:t>
            </a:r>
            <a:r>
              <a:rPr lang="pt-BR" b="1" dirty="0"/>
              <a:t>, </a:t>
            </a:r>
            <a:r>
              <a:rPr lang="pt-BR" b="1" dirty="0" err="1"/>
              <a:t>Load</a:t>
            </a:r>
            <a:r>
              <a:rPr lang="pt-BR" b="1" dirty="0"/>
              <a:t>)</a:t>
            </a:r>
          </a:p>
          <a:p>
            <a:r>
              <a:rPr lang="pt-BR" b="1" dirty="0"/>
              <a:t>P</a:t>
            </a:r>
            <a:r>
              <a:rPr lang="pt-BR" dirty="0"/>
              <a:t>rocessos automatizados que extraem dados de uma origem (um sistema transacional, uma API, um arquivo), transformam esses dados (limpeza, junção, agregação, enriquecimento) e os carregam em um destino (um data </a:t>
            </a:r>
            <a:r>
              <a:rPr lang="pt-BR" dirty="0" err="1"/>
              <a:t>warehouse</a:t>
            </a:r>
            <a:r>
              <a:rPr lang="pt-BR" dirty="0"/>
              <a:t>, por exemplo). </a:t>
            </a:r>
          </a:p>
          <a:p>
            <a:r>
              <a:rPr lang="pt-BR" dirty="0"/>
              <a:t>Ferramentas comuns: Apache </a:t>
            </a:r>
            <a:r>
              <a:rPr lang="pt-BR" dirty="0" err="1"/>
              <a:t>Airflow</a:t>
            </a:r>
            <a:r>
              <a:rPr lang="pt-BR" dirty="0"/>
              <a:t>, </a:t>
            </a:r>
            <a:r>
              <a:rPr lang="pt-BR" dirty="0" err="1"/>
              <a:t>dbt</a:t>
            </a:r>
            <a:r>
              <a:rPr lang="pt-BR" dirty="0"/>
              <a:t>, Apache Spark, </a:t>
            </a:r>
            <a:r>
              <a:rPr lang="pt-BR" dirty="0" err="1"/>
              <a:t>Talend</a:t>
            </a:r>
            <a:r>
              <a:rPr lang="pt-BR" dirty="0"/>
              <a:t>, Azure Data </a:t>
            </a:r>
            <a:r>
              <a:rPr lang="pt-BR" dirty="0" err="1"/>
              <a:t>Factory</a:t>
            </a:r>
            <a:r>
              <a:rPr lang="pt-BR" dirty="0"/>
              <a:t>.</a:t>
            </a:r>
          </a:p>
          <a:p>
            <a:r>
              <a:rPr lang="pt-BR" dirty="0"/>
              <a:t>IMPORTANTE JURIDICAMENTE: Cada etapa que toca um dado pessoal é, tecnicamente, uma "operação de tratamento" no sentido do Art. 5º, X da LGPD. Se uma etapa enriquece um dado com informação incorreta (exemplo: uma renda estimada errada), esse erro se propaga por todo o sistema, e é exatamente por isso que o direito de correção (Art. 18, III) exige rastreabilidade dessas cadeias.</a:t>
            </a:r>
          </a:p>
        </p:txBody>
      </p:sp>
    </p:spTree>
    <p:extLst>
      <p:ext uri="{BB962C8B-B14F-4D97-AF65-F5344CB8AC3E}">
        <p14:creationId xmlns:p14="http://schemas.microsoft.com/office/powerpoint/2010/main" val="2902316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Card2"/>
          <p:cNvSpPr/>
          <p:nvPr/>
        </p:nvSpPr>
        <p:spPr>
          <a:xfrm>
            <a:off x="411480" y="3040920"/>
            <a:ext cx="11400000" cy="3520440"/>
          </a:xfrm>
          <a:prstGeom prst="roundRect">
            <a:avLst>
              <a:gd name="adj" fmla="val 5357"/>
            </a:avLst>
          </a:prstGeom>
          <a:solidFill>
            <a:srgbClr val="EAF2FF"/>
          </a:solidFill>
          <a:ln>
            <a:noFill/>
          </a:ln>
        </p:spPr>
        <p:txBody>
          <a:bodyPr/>
          <a:lstStyle/>
          <a:p>
            <a:endParaRPr lang="pt-BR"/>
          </a:p>
        </p:txBody>
      </p:sp>
      <p:sp>
        <p:nvSpPr>
          <p:cNvPr id="13" name="Icon2"/>
          <p:cNvSpPr/>
          <p:nvPr/>
        </p:nvSpPr>
        <p:spPr>
          <a:xfrm>
            <a:off x="640080" y="3269520"/>
            <a:ext cx="502920" cy="502920"/>
          </a:xfrm>
          <a:prstGeom prst="roundRect">
            <a:avLst>
              <a:gd name="adj" fmla="val 44118"/>
            </a:avLst>
          </a:prstGeom>
          <a:solidFill>
            <a:srgbClr val="1E2761"/>
          </a:solidFill>
          <a:ln>
            <a:noFill/>
          </a:ln>
        </p:spPr>
        <p:txBody>
          <a:bodyPr/>
          <a:lstStyle/>
          <a:p>
            <a:endParaRPr lang="pt-BR"/>
          </a:p>
        </p:txBody>
      </p:sp>
      <p:sp>
        <p:nvSpPr>
          <p:cNvPr id="11" name="Card1"/>
          <p:cNvSpPr/>
          <p:nvPr/>
        </p:nvSpPr>
        <p:spPr>
          <a:xfrm>
            <a:off x="411480" y="960120"/>
            <a:ext cx="11400000" cy="1783080"/>
          </a:xfrm>
          <a:prstGeom prst="roundRect">
            <a:avLst>
              <a:gd name="adj" fmla="val 5357"/>
            </a:avLst>
          </a:prstGeom>
          <a:solidFill>
            <a:srgbClr val="F4F6FB"/>
          </a:solidFill>
          <a:ln>
            <a:noFill/>
          </a:ln>
        </p:spPr>
        <p:txBody>
          <a:bodyPr/>
          <a:lstStyle/>
          <a:p>
            <a:endParaRPr lang="pt-BR"/>
          </a:p>
        </p:txBody>
      </p:sp>
      <p:sp>
        <p:nvSpPr>
          <p:cNvPr id="14"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10"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15"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9" name="Card2"/>
          <p:cNvSpPr/>
          <p:nvPr/>
        </p:nvSpPr>
        <p:spPr>
          <a:xfrm>
            <a:off x="411480" y="3040920"/>
            <a:ext cx="11400000" cy="3520440"/>
          </a:xfrm>
          <a:prstGeom prst="roundRect">
            <a:avLst>
              <a:gd name="adj" fmla="val 5357"/>
            </a:avLst>
          </a:prstGeom>
          <a:solidFill>
            <a:srgbClr val="EAF2FF"/>
          </a:solidFill>
          <a:ln>
            <a:noFill/>
          </a:ln>
        </p:spPr>
        <p:txBody>
          <a:bodyPr/>
          <a:lstStyle/>
          <a:p>
            <a:endParaRPr lang="pt-BR"/>
          </a:p>
        </p:txBody>
      </p:sp>
      <p:sp>
        <p:nvSpPr>
          <p:cNvPr id="16" name="Icon2"/>
          <p:cNvSpPr/>
          <p:nvPr/>
        </p:nvSpPr>
        <p:spPr>
          <a:xfrm>
            <a:off x="640080" y="3269520"/>
            <a:ext cx="502920" cy="502920"/>
          </a:xfrm>
          <a:prstGeom prst="roundRect">
            <a:avLst>
              <a:gd name="adj" fmla="val 44118"/>
            </a:avLst>
          </a:prstGeom>
          <a:solidFill>
            <a:srgbClr val="1E2761"/>
          </a:solidFill>
          <a:ln>
            <a:noFill/>
          </a:ln>
        </p:spPr>
        <p:txBody>
          <a:bodyPr/>
          <a:lstStyle/>
          <a:p>
            <a:endParaRPr lang="pt-BR"/>
          </a:p>
        </p:txBody>
      </p:sp>
      <p:sp>
        <p:nvSpPr>
          <p:cNvPr id="8" name="Card1"/>
          <p:cNvSpPr/>
          <p:nvPr/>
        </p:nvSpPr>
        <p:spPr>
          <a:xfrm>
            <a:off x="411480" y="960120"/>
            <a:ext cx="11400000" cy="1783080"/>
          </a:xfrm>
          <a:prstGeom prst="roundRect">
            <a:avLst>
              <a:gd name="adj" fmla="val 5357"/>
            </a:avLst>
          </a:prstGeom>
          <a:solidFill>
            <a:srgbClr val="F4F6FB"/>
          </a:solidFill>
          <a:ln>
            <a:noFill/>
          </a:ln>
        </p:spPr>
        <p:txBody>
          <a:bodyPr/>
          <a:lstStyle/>
          <a:p>
            <a:endParaRPr lang="pt-BR"/>
          </a:p>
        </p:txBody>
      </p:sp>
      <p:sp>
        <p:nvSpPr>
          <p:cNvPr id="17"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7"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18"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6" name="Card2"/>
          <p:cNvSpPr/>
          <p:nvPr/>
        </p:nvSpPr>
        <p:spPr>
          <a:xfrm>
            <a:off x="411480" y="3040920"/>
            <a:ext cx="11400000" cy="3520440"/>
          </a:xfrm>
          <a:prstGeom prst="roundRect">
            <a:avLst>
              <a:gd name="adj" fmla="val 5357"/>
            </a:avLst>
          </a:prstGeom>
          <a:solidFill>
            <a:srgbClr val="EAF2FF"/>
          </a:solidFill>
          <a:ln>
            <a:noFill/>
          </a:ln>
        </p:spPr>
        <p:txBody>
          <a:bodyPr/>
          <a:lstStyle/>
          <a:p>
            <a:endParaRPr lang="pt-BR"/>
          </a:p>
        </p:txBody>
      </p:sp>
      <p:sp>
        <p:nvSpPr>
          <p:cNvPr id="19" name="Icon2"/>
          <p:cNvSpPr/>
          <p:nvPr/>
        </p:nvSpPr>
        <p:spPr>
          <a:xfrm>
            <a:off x="640080" y="3269520"/>
            <a:ext cx="502920" cy="502920"/>
          </a:xfrm>
          <a:prstGeom prst="roundRect">
            <a:avLst>
              <a:gd name="adj" fmla="val 44118"/>
            </a:avLst>
          </a:prstGeom>
          <a:solidFill>
            <a:srgbClr val="1E2761"/>
          </a:solidFill>
          <a:ln>
            <a:noFill/>
          </a:ln>
        </p:spPr>
        <p:txBody>
          <a:bodyPr/>
          <a:lstStyle/>
          <a:p>
            <a:endParaRPr lang="pt-BR"/>
          </a:p>
        </p:txBody>
      </p:sp>
      <p:sp>
        <p:nvSpPr>
          <p:cNvPr id="5" name="Card1"/>
          <p:cNvSpPr/>
          <p:nvPr/>
        </p:nvSpPr>
        <p:spPr>
          <a:xfrm>
            <a:off x="411480" y="960120"/>
            <a:ext cx="11400000" cy="1783080"/>
          </a:xfrm>
          <a:prstGeom prst="roundRect">
            <a:avLst>
              <a:gd name="adj" fmla="val 5357"/>
            </a:avLst>
          </a:prstGeom>
          <a:solidFill>
            <a:srgbClr val="F4F6FB"/>
          </a:solidFill>
          <a:ln>
            <a:noFill/>
          </a:ln>
        </p:spPr>
        <p:txBody>
          <a:bodyPr/>
          <a:lstStyle/>
          <a:p>
            <a:endParaRPr lang="pt-BR"/>
          </a:p>
        </p:txBody>
      </p:sp>
      <p:sp>
        <p:nvSpPr>
          <p:cNvPr id="20" name="Icon1"/>
          <p:cNvSpPr/>
          <p:nvPr/>
        </p:nvSpPr>
        <p:spPr>
          <a:xfrm>
            <a:off x="640080" y="1188720"/>
            <a:ext cx="502920" cy="502920"/>
          </a:xfrm>
          <a:prstGeom prst="roundRect">
            <a:avLst>
              <a:gd name="adj" fmla="val 44118"/>
            </a:avLst>
          </a:prstGeom>
          <a:solidFill>
            <a:srgbClr val="1E2761"/>
          </a:solidFill>
          <a:ln>
            <a:noFill/>
          </a:ln>
        </p:spPr>
        <p:txBody>
          <a:bodyPr/>
          <a:lstStyle/>
          <a:p>
            <a:endParaRPr lang="pt-BR"/>
          </a:p>
        </p:txBody>
      </p:sp>
      <p:sp>
        <p:nvSpPr>
          <p:cNvPr id="4"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21"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2" name="CaixaDeTexto 1">
            <a:extLst>
              <a:ext uri="{FF2B5EF4-FFF2-40B4-BE49-F238E27FC236}">
                <a16:creationId xmlns:a16="http://schemas.microsoft.com/office/drawing/2014/main" id="{E3807A70-281A-02B5-EA4E-AA15DD33F5C3}"/>
              </a:ext>
            </a:extLst>
          </p:cNvPr>
          <p:cNvSpPr txBox="1"/>
          <p:nvPr/>
        </p:nvSpPr>
        <p:spPr>
          <a:xfrm>
            <a:off x="1303020" y="1005840"/>
            <a:ext cx="10228560" cy="1691640"/>
          </a:xfrm>
          <a:prstGeom prst="rect">
            <a:avLst/>
          </a:prstGeom>
          <a:noFill/>
        </p:spPr>
        <p:txBody>
          <a:bodyPr wrap="square" rtlCol="0">
            <a:spAutoFit/>
          </a:bodyPr>
          <a:lstStyle/>
          <a:p>
            <a:r>
              <a:rPr lang="pt-BR" b="1" dirty="0"/>
              <a:t>Modelos preditivos</a:t>
            </a:r>
          </a:p>
          <a:p>
            <a:r>
              <a:rPr lang="pt-BR" dirty="0"/>
              <a:t>Algoritmos de machine learning propriamente ditos, treinados para prever ou classificar algo a partir de dados históricos (por exemplo, prever se um cliente vai inadimplir, recomendar um produto, ou aprovar/negar um crédito automaticamente).</a:t>
            </a:r>
          </a:p>
          <a:p>
            <a:r>
              <a:rPr lang="pt-BR" b="1" dirty="0"/>
              <a:t>IMPORTANTE JURIDICAMENTE: </a:t>
            </a:r>
            <a:r>
              <a:rPr lang="pt-BR" dirty="0"/>
              <a:t>Art. 20 da LGPD. Quando um modelo "decide" algo sozinho (como negar um cartão de crédito), o titular tem direito a solicitar revisão e a obter explicação sobre os critérios usados.</a:t>
            </a:r>
          </a:p>
        </p:txBody>
      </p:sp>
      <p:sp>
        <p:nvSpPr>
          <p:cNvPr id="3" name="CaixaDeTexto 2">
            <a:extLst>
              <a:ext uri="{FF2B5EF4-FFF2-40B4-BE49-F238E27FC236}">
                <a16:creationId xmlns:a16="http://schemas.microsoft.com/office/drawing/2014/main" id="{3224538E-7CB5-7D1B-77AC-8E8DD4739C96}"/>
              </a:ext>
            </a:extLst>
          </p:cNvPr>
          <p:cNvSpPr txBox="1"/>
          <p:nvPr/>
        </p:nvSpPr>
        <p:spPr>
          <a:xfrm>
            <a:off x="1303020" y="3086640"/>
            <a:ext cx="10228560" cy="3383280"/>
          </a:xfrm>
          <a:prstGeom prst="rect">
            <a:avLst/>
          </a:prstGeom>
          <a:noFill/>
        </p:spPr>
        <p:txBody>
          <a:bodyPr wrap="square" rtlCol="0">
            <a:spAutoFit/>
          </a:bodyPr>
          <a:lstStyle/>
          <a:p>
            <a:r>
              <a:rPr lang="pt-BR" b="1" dirty="0"/>
              <a:t>Data </a:t>
            </a:r>
            <a:r>
              <a:rPr lang="pt-BR" b="1" dirty="0" err="1"/>
              <a:t>warehouses</a:t>
            </a:r>
            <a:endParaRPr lang="pt-BR" b="1" dirty="0"/>
          </a:p>
          <a:p>
            <a:r>
              <a:rPr lang="pt-BR" dirty="0"/>
              <a:t>Bancos de dados otimizados para armazenar grandes volumes de dados já estruturados e organizados para análise (diferente de um banco transacional, que é otimizado para operações do dia a dia de um sistema). É onde ficam consolidados os dados vindos de várias fontes, prontos para relatórios, dashboards e modelos.</a:t>
            </a:r>
          </a:p>
          <a:p>
            <a:r>
              <a:rPr lang="pt-BR" dirty="0"/>
              <a:t>Ferramentas comuns: </a:t>
            </a:r>
            <a:r>
              <a:rPr lang="pt-BR" dirty="0" err="1"/>
              <a:t>Snowflake</a:t>
            </a:r>
            <a:r>
              <a:rPr lang="pt-BR" dirty="0"/>
              <a:t>, Google </a:t>
            </a:r>
            <a:r>
              <a:rPr lang="pt-BR" dirty="0" err="1"/>
              <a:t>BigQuery</a:t>
            </a:r>
            <a:r>
              <a:rPr lang="pt-BR" dirty="0"/>
              <a:t>, </a:t>
            </a:r>
            <a:r>
              <a:rPr lang="pt-BR" dirty="0" err="1"/>
              <a:t>Amazon</a:t>
            </a:r>
            <a:r>
              <a:rPr lang="pt-BR" dirty="0"/>
              <a:t> </a:t>
            </a:r>
            <a:r>
              <a:rPr lang="pt-BR" dirty="0" err="1"/>
              <a:t>Redshift</a:t>
            </a:r>
            <a:r>
              <a:rPr lang="pt-BR" dirty="0"/>
              <a:t>, </a:t>
            </a:r>
            <a:r>
              <a:rPr lang="pt-BR" dirty="0" err="1"/>
              <a:t>Databricks</a:t>
            </a:r>
            <a:r>
              <a:rPr lang="pt-BR" dirty="0"/>
              <a:t>.</a:t>
            </a:r>
          </a:p>
          <a:p>
            <a:r>
              <a:rPr lang="pt-BR" b="1" dirty="0"/>
              <a:t>IMPORTANTE JURIDICAMENTE:</a:t>
            </a:r>
            <a:r>
              <a:rPr lang="pt-BR" dirty="0"/>
              <a:t> é frequentemente o local onde mais cópias de um mesmo dado pessoal se acumulam (histórico, agregações, backups), o que torna o direito de eliminação (Art. 18, IV e VI) tecnicamente desafiador: eliminar um titular do sistema operacional não elimina automaticamente suas réplicas. </a:t>
            </a:r>
          </a:p>
        </p:txBody>
      </p:sp>
    </p:spTree>
    <p:extLst>
      <p:ext uri="{BB962C8B-B14F-4D97-AF65-F5344CB8AC3E}">
        <p14:creationId xmlns:p14="http://schemas.microsoft.com/office/powerpoint/2010/main" val="132520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DIREITOS DO TITULAR</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ART. 18, LGPD</a:t>
            </a:r>
            <a:endParaRPr lang="en-US" sz="1300" dirty="0"/>
          </a:p>
        </p:txBody>
      </p:sp>
      <p:sp>
        <p:nvSpPr>
          <p:cNvPr id="5" name="Text 3"/>
          <p:cNvSpPr/>
          <p:nvPr/>
        </p:nvSpPr>
        <p:spPr>
          <a:xfrm>
            <a:off x="548640" y="777240"/>
            <a:ext cx="8686800" cy="548640"/>
          </a:xfrm>
          <a:prstGeom prst="rect">
            <a:avLst/>
          </a:prstGeom>
          <a:noFill/>
          <a:ln/>
        </p:spPr>
        <p:txBody>
          <a:bodyPr wrap="square" rtlCol="0" anchor="ctr"/>
          <a:lstStyle/>
          <a:p>
            <a:pPr marL="0" indent="0">
              <a:buNone/>
            </a:pPr>
            <a:r>
              <a:rPr lang="en-US" sz="2800" b="1" dirty="0">
                <a:solidFill>
                  <a:srgbClr val="2B2B2E"/>
                </a:solidFill>
                <a:latin typeface="Cambria" pitchFamily="34" charset="0"/>
                <a:ea typeface="Cambria" pitchFamily="34" charset="-122"/>
                <a:cs typeface="Cambria" pitchFamily="34" charset="-120"/>
              </a:rPr>
              <a:t>O rol de direitos do titular</a:t>
            </a:r>
            <a:endParaRPr lang="en-US" sz="2800" dirty="0"/>
          </a:p>
        </p:txBody>
      </p:sp>
      <p:sp>
        <p:nvSpPr>
          <p:cNvPr id="6" name="Text 4"/>
          <p:cNvSpPr/>
          <p:nvPr/>
        </p:nvSpPr>
        <p:spPr>
          <a:xfrm>
            <a:off x="548640" y="1325880"/>
            <a:ext cx="10515600" cy="365760"/>
          </a:xfrm>
          <a:prstGeom prst="rect">
            <a:avLst/>
          </a:prstGeom>
          <a:noFill/>
          <a:ln/>
        </p:spPr>
        <p:txBody>
          <a:bodyPr wrap="square" rtlCol="0" anchor="ctr"/>
          <a:lstStyle/>
          <a:p>
            <a:pPr marL="0" indent="0">
              <a:buNone/>
            </a:pPr>
            <a:r>
              <a:rPr lang="en-US" sz="1250" i="1" dirty="0">
                <a:solidFill>
                  <a:srgbClr val="5A5A5E"/>
                </a:solidFill>
                <a:latin typeface="Calibri" pitchFamily="34" charset="0"/>
                <a:ea typeface="Calibri" pitchFamily="34" charset="-122"/>
                <a:cs typeface="Calibri" pitchFamily="34" charset="-120"/>
              </a:rPr>
              <a:t>O titular pode exigir do controlador, a qualquer momento e mediante requisicao:</a:t>
            </a:r>
            <a:endParaRPr lang="en-US" sz="1250" dirty="0"/>
          </a:p>
        </p:txBody>
      </p:sp>
      <p:sp>
        <p:nvSpPr>
          <p:cNvPr id="7" name="Shape 5"/>
          <p:cNvSpPr/>
          <p:nvPr/>
        </p:nvSpPr>
        <p:spPr>
          <a:xfrm>
            <a:off x="548640" y="1874520"/>
            <a:ext cx="3520440" cy="1170432"/>
          </a:xfrm>
          <a:prstGeom prst="roundRect">
            <a:avLst>
              <a:gd name="adj" fmla="val 5469"/>
            </a:avLst>
          </a:prstGeom>
          <a:solidFill>
            <a:srgbClr val="F4F6FB"/>
          </a:solidFill>
          <a:ln/>
        </p:spPr>
        <p:txBody>
          <a:bodyPr/>
          <a:lstStyle/>
          <a:p>
            <a:endParaRPr lang="pt-BR"/>
          </a:p>
        </p:txBody>
      </p:sp>
      <p:sp>
        <p:nvSpPr>
          <p:cNvPr id="8" name="Shape 6"/>
          <p:cNvSpPr/>
          <p:nvPr/>
        </p:nvSpPr>
        <p:spPr>
          <a:xfrm>
            <a:off x="713232" y="2020824"/>
            <a:ext cx="502920" cy="365760"/>
          </a:xfrm>
          <a:prstGeom prst="roundRect">
            <a:avLst>
              <a:gd name="adj" fmla="val 15000"/>
            </a:avLst>
          </a:prstGeom>
          <a:solidFill>
            <a:srgbClr val="1E2761"/>
          </a:solidFill>
          <a:ln/>
        </p:spPr>
        <p:txBody>
          <a:bodyPr/>
          <a:lstStyle/>
          <a:p>
            <a:endParaRPr lang="pt-BR"/>
          </a:p>
        </p:txBody>
      </p:sp>
      <p:sp>
        <p:nvSpPr>
          <p:cNvPr id="9" name="Text 7"/>
          <p:cNvSpPr/>
          <p:nvPr/>
        </p:nvSpPr>
        <p:spPr>
          <a:xfrm>
            <a:off x="713232" y="2020824"/>
            <a:ext cx="50292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10" name="Text 8"/>
          <p:cNvSpPr/>
          <p:nvPr/>
        </p:nvSpPr>
        <p:spPr>
          <a:xfrm>
            <a:off x="713232" y="2441448"/>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Confirmacao da existencia de tratamento</a:t>
            </a:r>
            <a:endParaRPr lang="en-US" sz="1080" dirty="0"/>
          </a:p>
        </p:txBody>
      </p:sp>
      <p:sp>
        <p:nvSpPr>
          <p:cNvPr id="11" name="Shape 9"/>
          <p:cNvSpPr/>
          <p:nvPr/>
        </p:nvSpPr>
        <p:spPr>
          <a:xfrm>
            <a:off x="4251960" y="1874520"/>
            <a:ext cx="3520440" cy="1170432"/>
          </a:xfrm>
          <a:prstGeom prst="roundRect">
            <a:avLst>
              <a:gd name="adj" fmla="val 5469"/>
            </a:avLst>
          </a:prstGeom>
          <a:solidFill>
            <a:srgbClr val="F4F6FB"/>
          </a:solidFill>
          <a:ln/>
        </p:spPr>
        <p:txBody>
          <a:bodyPr/>
          <a:lstStyle/>
          <a:p>
            <a:endParaRPr lang="pt-BR"/>
          </a:p>
        </p:txBody>
      </p:sp>
      <p:sp>
        <p:nvSpPr>
          <p:cNvPr id="12" name="Shape 10"/>
          <p:cNvSpPr/>
          <p:nvPr/>
        </p:nvSpPr>
        <p:spPr>
          <a:xfrm>
            <a:off x="4416552" y="2020824"/>
            <a:ext cx="502920" cy="365760"/>
          </a:xfrm>
          <a:prstGeom prst="roundRect">
            <a:avLst>
              <a:gd name="adj" fmla="val 15000"/>
            </a:avLst>
          </a:prstGeom>
          <a:solidFill>
            <a:srgbClr val="1E2761"/>
          </a:solidFill>
          <a:ln/>
        </p:spPr>
        <p:txBody>
          <a:bodyPr/>
          <a:lstStyle/>
          <a:p>
            <a:endParaRPr lang="pt-BR"/>
          </a:p>
        </p:txBody>
      </p:sp>
      <p:sp>
        <p:nvSpPr>
          <p:cNvPr id="13" name="Text 11"/>
          <p:cNvSpPr/>
          <p:nvPr/>
        </p:nvSpPr>
        <p:spPr>
          <a:xfrm>
            <a:off x="4416552" y="2020824"/>
            <a:ext cx="50292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14" name="Text 12"/>
          <p:cNvSpPr/>
          <p:nvPr/>
        </p:nvSpPr>
        <p:spPr>
          <a:xfrm>
            <a:off x="4416552" y="2441448"/>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Acesso aos dados</a:t>
            </a:r>
            <a:endParaRPr lang="en-US" sz="1080" dirty="0"/>
          </a:p>
        </p:txBody>
      </p:sp>
      <p:sp>
        <p:nvSpPr>
          <p:cNvPr id="15" name="Shape 13"/>
          <p:cNvSpPr/>
          <p:nvPr/>
        </p:nvSpPr>
        <p:spPr>
          <a:xfrm>
            <a:off x="7955280" y="1874520"/>
            <a:ext cx="3520440" cy="1170432"/>
          </a:xfrm>
          <a:prstGeom prst="roundRect">
            <a:avLst>
              <a:gd name="adj" fmla="val 5469"/>
            </a:avLst>
          </a:prstGeom>
          <a:solidFill>
            <a:srgbClr val="F4F6FB"/>
          </a:solidFill>
          <a:ln/>
        </p:spPr>
        <p:txBody>
          <a:bodyPr/>
          <a:lstStyle/>
          <a:p>
            <a:endParaRPr lang="pt-BR"/>
          </a:p>
        </p:txBody>
      </p:sp>
      <p:sp>
        <p:nvSpPr>
          <p:cNvPr id="16" name="Shape 14"/>
          <p:cNvSpPr/>
          <p:nvPr/>
        </p:nvSpPr>
        <p:spPr>
          <a:xfrm>
            <a:off x="8119872" y="2020824"/>
            <a:ext cx="777240" cy="365760"/>
          </a:xfrm>
          <a:prstGeom prst="roundRect">
            <a:avLst>
              <a:gd name="adj" fmla="val 15000"/>
            </a:avLst>
          </a:prstGeom>
          <a:solidFill>
            <a:srgbClr val="1E2761"/>
          </a:solidFill>
          <a:ln/>
        </p:spPr>
        <p:txBody>
          <a:bodyPr/>
          <a:lstStyle/>
          <a:p>
            <a:endParaRPr lang="pt-BR"/>
          </a:p>
        </p:txBody>
      </p:sp>
      <p:sp>
        <p:nvSpPr>
          <p:cNvPr id="17" name="Text 15"/>
          <p:cNvSpPr/>
          <p:nvPr/>
        </p:nvSpPr>
        <p:spPr>
          <a:xfrm>
            <a:off x="8119872" y="2020824"/>
            <a:ext cx="77724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III</a:t>
            </a:r>
            <a:endParaRPr lang="en-US" sz="1200" dirty="0"/>
          </a:p>
        </p:txBody>
      </p:sp>
      <p:sp>
        <p:nvSpPr>
          <p:cNvPr id="18" name="Text 16"/>
          <p:cNvSpPr/>
          <p:nvPr/>
        </p:nvSpPr>
        <p:spPr>
          <a:xfrm>
            <a:off x="8119872" y="2441448"/>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Correcao de dados incompletos, inexatos ou desatualizados</a:t>
            </a:r>
            <a:endParaRPr lang="en-US" sz="1080" dirty="0"/>
          </a:p>
        </p:txBody>
      </p:sp>
      <p:sp>
        <p:nvSpPr>
          <p:cNvPr id="19" name="Shape 17"/>
          <p:cNvSpPr/>
          <p:nvPr/>
        </p:nvSpPr>
        <p:spPr>
          <a:xfrm>
            <a:off x="548640" y="3227832"/>
            <a:ext cx="3520440" cy="1170432"/>
          </a:xfrm>
          <a:prstGeom prst="roundRect">
            <a:avLst>
              <a:gd name="adj" fmla="val 5469"/>
            </a:avLst>
          </a:prstGeom>
          <a:solidFill>
            <a:srgbClr val="F4F6FB"/>
          </a:solidFill>
          <a:ln/>
        </p:spPr>
        <p:txBody>
          <a:bodyPr/>
          <a:lstStyle/>
          <a:p>
            <a:endParaRPr lang="pt-BR"/>
          </a:p>
        </p:txBody>
      </p:sp>
      <p:sp>
        <p:nvSpPr>
          <p:cNvPr id="20" name="Shape 18"/>
          <p:cNvSpPr/>
          <p:nvPr/>
        </p:nvSpPr>
        <p:spPr>
          <a:xfrm>
            <a:off x="713232" y="3374136"/>
            <a:ext cx="502920" cy="365760"/>
          </a:xfrm>
          <a:prstGeom prst="roundRect">
            <a:avLst>
              <a:gd name="adj" fmla="val 15000"/>
            </a:avLst>
          </a:prstGeom>
          <a:solidFill>
            <a:srgbClr val="1E2761"/>
          </a:solidFill>
          <a:ln/>
        </p:spPr>
        <p:txBody>
          <a:bodyPr/>
          <a:lstStyle/>
          <a:p>
            <a:endParaRPr lang="pt-BR"/>
          </a:p>
        </p:txBody>
      </p:sp>
      <p:sp>
        <p:nvSpPr>
          <p:cNvPr id="21" name="Text 19"/>
          <p:cNvSpPr/>
          <p:nvPr/>
        </p:nvSpPr>
        <p:spPr>
          <a:xfrm>
            <a:off x="713232" y="3374136"/>
            <a:ext cx="50292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IV</a:t>
            </a:r>
            <a:endParaRPr lang="en-US" sz="1200" dirty="0"/>
          </a:p>
        </p:txBody>
      </p:sp>
      <p:sp>
        <p:nvSpPr>
          <p:cNvPr id="22" name="Text 20"/>
          <p:cNvSpPr/>
          <p:nvPr/>
        </p:nvSpPr>
        <p:spPr>
          <a:xfrm>
            <a:off x="713232" y="3794760"/>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Anonimizacao, bloqueio ou eliminacao de dados desnecessarios ou excessivos</a:t>
            </a:r>
            <a:endParaRPr lang="en-US" sz="1080" dirty="0"/>
          </a:p>
        </p:txBody>
      </p:sp>
      <p:sp>
        <p:nvSpPr>
          <p:cNvPr id="23" name="Shape 21"/>
          <p:cNvSpPr/>
          <p:nvPr/>
        </p:nvSpPr>
        <p:spPr>
          <a:xfrm>
            <a:off x="4251960" y="3227832"/>
            <a:ext cx="3520440" cy="1170432"/>
          </a:xfrm>
          <a:prstGeom prst="roundRect">
            <a:avLst>
              <a:gd name="adj" fmla="val 5469"/>
            </a:avLst>
          </a:prstGeom>
          <a:solidFill>
            <a:srgbClr val="F4F6FB"/>
          </a:solidFill>
          <a:ln/>
        </p:spPr>
        <p:txBody>
          <a:bodyPr/>
          <a:lstStyle/>
          <a:p>
            <a:endParaRPr lang="pt-BR"/>
          </a:p>
        </p:txBody>
      </p:sp>
      <p:sp>
        <p:nvSpPr>
          <p:cNvPr id="24" name="Shape 22"/>
          <p:cNvSpPr/>
          <p:nvPr/>
        </p:nvSpPr>
        <p:spPr>
          <a:xfrm>
            <a:off x="4416552" y="3374136"/>
            <a:ext cx="502920" cy="365760"/>
          </a:xfrm>
          <a:prstGeom prst="roundRect">
            <a:avLst>
              <a:gd name="adj" fmla="val 15000"/>
            </a:avLst>
          </a:prstGeom>
          <a:solidFill>
            <a:srgbClr val="1E2761"/>
          </a:solidFill>
          <a:ln/>
        </p:spPr>
        <p:txBody>
          <a:bodyPr/>
          <a:lstStyle/>
          <a:p>
            <a:endParaRPr lang="pt-BR"/>
          </a:p>
        </p:txBody>
      </p:sp>
      <p:sp>
        <p:nvSpPr>
          <p:cNvPr id="25" name="Text 23"/>
          <p:cNvSpPr/>
          <p:nvPr/>
        </p:nvSpPr>
        <p:spPr>
          <a:xfrm>
            <a:off x="4416552" y="3374136"/>
            <a:ext cx="50292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V</a:t>
            </a:r>
            <a:endParaRPr lang="en-US" sz="1200" dirty="0"/>
          </a:p>
        </p:txBody>
      </p:sp>
      <p:sp>
        <p:nvSpPr>
          <p:cNvPr id="26" name="Text 24"/>
          <p:cNvSpPr/>
          <p:nvPr/>
        </p:nvSpPr>
        <p:spPr>
          <a:xfrm>
            <a:off x="4416552" y="3794760"/>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Portabilidade a outro fornecedor</a:t>
            </a:r>
            <a:endParaRPr lang="en-US" sz="1080" dirty="0"/>
          </a:p>
        </p:txBody>
      </p:sp>
      <p:sp>
        <p:nvSpPr>
          <p:cNvPr id="27" name="Shape 25"/>
          <p:cNvSpPr/>
          <p:nvPr/>
        </p:nvSpPr>
        <p:spPr>
          <a:xfrm>
            <a:off x="7955280" y="3227832"/>
            <a:ext cx="3520440" cy="1170432"/>
          </a:xfrm>
          <a:prstGeom prst="roundRect">
            <a:avLst>
              <a:gd name="adj" fmla="val 5469"/>
            </a:avLst>
          </a:prstGeom>
          <a:solidFill>
            <a:srgbClr val="F4F6FB"/>
          </a:solidFill>
          <a:ln/>
        </p:spPr>
        <p:txBody>
          <a:bodyPr/>
          <a:lstStyle/>
          <a:p>
            <a:endParaRPr lang="pt-BR"/>
          </a:p>
        </p:txBody>
      </p:sp>
      <p:sp>
        <p:nvSpPr>
          <p:cNvPr id="28" name="Shape 26"/>
          <p:cNvSpPr/>
          <p:nvPr/>
        </p:nvSpPr>
        <p:spPr>
          <a:xfrm>
            <a:off x="8119872" y="3374136"/>
            <a:ext cx="502920" cy="365760"/>
          </a:xfrm>
          <a:prstGeom prst="roundRect">
            <a:avLst>
              <a:gd name="adj" fmla="val 15000"/>
            </a:avLst>
          </a:prstGeom>
          <a:solidFill>
            <a:srgbClr val="1E2761"/>
          </a:solidFill>
          <a:ln/>
        </p:spPr>
        <p:txBody>
          <a:bodyPr/>
          <a:lstStyle/>
          <a:p>
            <a:endParaRPr lang="pt-BR"/>
          </a:p>
        </p:txBody>
      </p:sp>
      <p:sp>
        <p:nvSpPr>
          <p:cNvPr id="29" name="Text 27"/>
          <p:cNvSpPr/>
          <p:nvPr/>
        </p:nvSpPr>
        <p:spPr>
          <a:xfrm>
            <a:off x="8119872" y="3374136"/>
            <a:ext cx="50292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VI</a:t>
            </a:r>
            <a:endParaRPr lang="en-US" sz="1200" dirty="0"/>
          </a:p>
        </p:txBody>
      </p:sp>
      <p:sp>
        <p:nvSpPr>
          <p:cNvPr id="30" name="Text 28"/>
          <p:cNvSpPr/>
          <p:nvPr/>
        </p:nvSpPr>
        <p:spPr>
          <a:xfrm>
            <a:off x="8119872" y="3794760"/>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Eliminacao dos dados tratados com consentimento</a:t>
            </a:r>
            <a:endParaRPr lang="en-US" sz="1080" dirty="0"/>
          </a:p>
        </p:txBody>
      </p:sp>
      <p:sp>
        <p:nvSpPr>
          <p:cNvPr id="31" name="Shape 29"/>
          <p:cNvSpPr/>
          <p:nvPr/>
        </p:nvSpPr>
        <p:spPr>
          <a:xfrm>
            <a:off x="548640" y="4581144"/>
            <a:ext cx="3520440" cy="1170432"/>
          </a:xfrm>
          <a:prstGeom prst="roundRect">
            <a:avLst>
              <a:gd name="adj" fmla="val 5469"/>
            </a:avLst>
          </a:prstGeom>
          <a:solidFill>
            <a:srgbClr val="F4F6FB"/>
          </a:solidFill>
          <a:ln/>
        </p:spPr>
        <p:txBody>
          <a:bodyPr/>
          <a:lstStyle/>
          <a:p>
            <a:endParaRPr lang="pt-BR"/>
          </a:p>
        </p:txBody>
      </p:sp>
      <p:sp>
        <p:nvSpPr>
          <p:cNvPr id="32" name="Shape 30"/>
          <p:cNvSpPr/>
          <p:nvPr/>
        </p:nvSpPr>
        <p:spPr>
          <a:xfrm>
            <a:off x="713232" y="4727448"/>
            <a:ext cx="777240" cy="365760"/>
          </a:xfrm>
          <a:prstGeom prst="roundRect">
            <a:avLst>
              <a:gd name="adj" fmla="val 15000"/>
            </a:avLst>
          </a:prstGeom>
          <a:solidFill>
            <a:srgbClr val="1E2761"/>
          </a:solidFill>
          <a:ln/>
        </p:spPr>
        <p:txBody>
          <a:bodyPr/>
          <a:lstStyle/>
          <a:p>
            <a:endParaRPr lang="pt-BR"/>
          </a:p>
        </p:txBody>
      </p:sp>
      <p:sp>
        <p:nvSpPr>
          <p:cNvPr id="33" name="Text 31"/>
          <p:cNvSpPr/>
          <p:nvPr/>
        </p:nvSpPr>
        <p:spPr>
          <a:xfrm>
            <a:off x="713232" y="4727448"/>
            <a:ext cx="777240"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VII-IX</a:t>
            </a:r>
            <a:endParaRPr lang="en-US" sz="1200" dirty="0"/>
          </a:p>
        </p:txBody>
      </p:sp>
      <p:sp>
        <p:nvSpPr>
          <p:cNvPr id="34" name="Text 32"/>
          <p:cNvSpPr/>
          <p:nvPr/>
        </p:nvSpPr>
        <p:spPr>
          <a:xfrm>
            <a:off x="713232" y="5148072"/>
            <a:ext cx="3191256" cy="530352"/>
          </a:xfrm>
          <a:prstGeom prst="rect">
            <a:avLst/>
          </a:prstGeom>
          <a:noFill/>
          <a:ln/>
        </p:spPr>
        <p:txBody>
          <a:bodyPr wrap="square" rtlCol="0" anchor="t"/>
          <a:lstStyle/>
          <a:p>
            <a:pPr marL="0" indent="0">
              <a:buNone/>
            </a:pPr>
            <a:r>
              <a:rPr lang="en-US" sz="1080" dirty="0">
                <a:solidFill>
                  <a:srgbClr val="2B2B2E"/>
                </a:solidFill>
                <a:latin typeface="Calibri" pitchFamily="34" charset="0"/>
                <a:ea typeface="Calibri" pitchFamily="34" charset="-122"/>
                <a:cs typeface="Calibri" pitchFamily="34" charset="-120"/>
              </a:rPr>
              <a:t>Informacao sobre compartilhamento, sobre nao consentir e revogacao do consentimento</a:t>
            </a:r>
            <a:endParaRPr lang="en-US" sz="1080" dirty="0"/>
          </a:p>
        </p:txBody>
      </p:sp>
      <p:sp>
        <p:nvSpPr>
          <p:cNvPr id="36" name="Text 34"/>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hape Badge"/>
          <p:cNvSpPr/>
          <p:nvPr/>
        </p:nvSpPr>
        <p:spPr>
          <a:xfrm>
            <a:off x="9448495" y="411480"/>
            <a:ext cx="2194560" cy="384048"/>
          </a:xfrm>
          <a:prstGeom prst="roundRect">
            <a:avLst>
              <a:gd name="adj" fmla="val 19048"/>
            </a:avLst>
          </a:prstGeom>
          <a:solidFill>
            <a:srgbClr val="2B2B2E"/>
          </a:solidFill>
          <a:ln>
            <a:noFill/>
          </a:ln>
        </p:spPr>
        <p:txBody>
          <a:bodyPr/>
          <a:lstStyle/>
          <a:p>
            <a:endParaRPr lang="pt-BR"/>
          </a:p>
        </p:txBody>
      </p:sp>
      <p:sp>
        <p:nvSpPr>
          <p:cNvPr id="2" name="Text Badge"/>
          <p:cNvSpPr txBox="1"/>
          <p:nvPr/>
        </p:nvSpPr>
        <p:spPr>
          <a:xfrm>
            <a:off x="9448495" y="411480"/>
            <a:ext cx="2194560" cy="384048"/>
          </a:xfrm>
          <a:prstGeom prst="rect">
            <a:avLst/>
          </a:prstGeom>
          <a:noFill/>
        </p:spPr>
        <p:txBody>
          <a:bodyPr wrap="square" rtlCol="0" anchor="ctr"/>
          <a:lstStyle/>
          <a:p>
            <a:pPr marL="0" indent="0" algn="ctr">
              <a:buNone/>
            </a:pPr>
            <a:r>
              <a:rPr lang="pt-BR" sz="1000" b="1" dirty="0">
                <a:solidFill>
                  <a:srgbClr val="FFFFFF"/>
                </a:solidFill>
                <a:latin typeface="Calibri"/>
                <a:ea typeface="Calibri"/>
                <a:cs typeface="Calibri"/>
              </a:rPr>
              <a:t>·  DIREITOS DO TITULAR</a:t>
            </a:r>
          </a:p>
        </p:txBody>
      </p:sp>
      <p:sp>
        <p:nvSpPr>
          <p:cNvPr id="3" name="Kicker"/>
          <p:cNvSpPr txBox="1"/>
          <p:nvPr/>
        </p:nvSpPr>
        <p:spPr>
          <a:xfrm>
            <a:off x="548640" y="411480"/>
            <a:ext cx="5000000" cy="320040"/>
          </a:xfrm>
          <a:prstGeom prst="rect">
            <a:avLst/>
          </a:prstGeom>
          <a:noFill/>
        </p:spPr>
        <p:txBody>
          <a:bodyPr wrap="square" rtlCol="0" anchor="ctr"/>
          <a:lstStyle/>
          <a:p>
            <a:pPr marL="0" indent="0" algn="l">
              <a:buNone/>
            </a:pPr>
            <a:r>
              <a:rPr lang="pt-BR" sz="1300" b="1" spc="200" dirty="0">
                <a:solidFill>
                  <a:srgbClr val="1E2761"/>
                </a:solidFill>
                <a:latin typeface="Calibri"/>
                <a:ea typeface="Calibri"/>
                <a:cs typeface="Calibri"/>
              </a:rPr>
              <a:t>ART. 18, LGPD</a:t>
            </a:r>
          </a:p>
        </p:txBody>
      </p:sp>
      <p:sp>
        <p:nvSpPr>
          <p:cNvPr id="4" name="CardBG"/>
          <p:cNvSpPr/>
          <p:nvPr/>
        </p:nvSpPr>
        <p:spPr>
          <a:xfrm>
            <a:off x="411480" y="960120"/>
            <a:ext cx="11400000" cy="5760000"/>
          </a:xfrm>
          <a:prstGeom prst="roundRect">
            <a:avLst>
              <a:gd name="adj" fmla="val 1500"/>
            </a:avLst>
          </a:prstGeom>
          <a:solidFill>
            <a:srgbClr val="EAF2FF"/>
          </a:solidFill>
          <a:ln>
            <a:noFill/>
          </a:ln>
        </p:spPr>
        <p:txBody>
          <a:bodyPr/>
          <a:lstStyle/>
          <a:p>
            <a:endParaRPr lang="pt-BR"/>
          </a:p>
        </p:txBody>
      </p:sp>
      <p:sp>
        <p:nvSpPr>
          <p:cNvPr id="6" name="ColText6"/>
          <p:cNvSpPr txBox="1"/>
          <p:nvPr/>
        </p:nvSpPr>
        <p:spPr>
          <a:xfrm>
            <a:off x="733680" y="1188720"/>
            <a:ext cx="5285360" cy="5400000"/>
          </a:xfrm>
          <a:prstGeom prst="rect">
            <a:avLst/>
          </a:prstGeom>
          <a:noFill/>
        </p:spPr>
        <p:txBody>
          <a:bodyPr wrap="square"/>
          <a:lstStyle/>
          <a:p>
            <a:r>
              <a:rPr lang="pt-BR" sz="900" dirty="0"/>
              <a:t>Art. 18. O titular dos dados pessoais tem direito a obter do controlador, em relação aos dados do titular por ele tratados, a qualquer momento e mediante requisição:</a:t>
            </a:r>
          </a:p>
          <a:p>
            <a:endParaRPr lang="pt-BR" sz="900" dirty="0"/>
          </a:p>
          <a:p>
            <a:r>
              <a:rPr lang="pt-BR" sz="900" dirty="0"/>
              <a:t>I - confirmação da existência de tratamento;</a:t>
            </a:r>
          </a:p>
          <a:p>
            <a:endParaRPr lang="pt-BR" sz="900" dirty="0"/>
          </a:p>
          <a:p>
            <a:r>
              <a:rPr lang="pt-BR" sz="900" dirty="0"/>
              <a:t>II - acesso aos dados;</a:t>
            </a:r>
          </a:p>
          <a:p>
            <a:endParaRPr lang="pt-BR" sz="900" dirty="0"/>
          </a:p>
          <a:p>
            <a:r>
              <a:rPr lang="pt-BR" sz="900" dirty="0"/>
              <a:t>III - correção de dados incompletos, inexatos ou desatualizados;</a:t>
            </a:r>
          </a:p>
          <a:p>
            <a:endParaRPr lang="pt-BR" sz="900" dirty="0"/>
          </a:p>
          <a:p>
            <a:r>
              <a:rPr lang="pt-BR" sz="900" dirty="0"/>
              <a:t>IV - anonimização, bloqueio ou eliminação de dados desnecessários, excessivos ou tratados em desconformidade com o disposto nesta Lei;</a:t>
            </a:r>
          </a:p>
          <a:p>
            <a:endParaRPr lang="pt-BR" sz="900" dirty="0"/>
          </a:p>
          <a:p>
            <a:r>
              <a:rPr lang="pt-BR" sz="900" dirty="0"/>
              <a:t>V - portabilidade dos dados a outro fornecedor de serviço ou produto, mediante requisição expressa e observados os segredos comercial e industrial, de acordo com a regulamentação do órgão controlador;</a:t>
            </a:r>
          </a:p>
          <a:p>
            <a:endParaRPr lang="pt-BR" sz="900" dirty="0"/>
          </a:p>
          <a:p>
            <a:r>
              <a:rPr lang="pt-BR" sz="900" dirty="0"/>
              <a:t>V - portabilidade dos dados a outro fornecedor de serviço ou produto, mediante requisição expressa, de acordo com a regulamentação da autoridade nacional, observados os segredos comercial e industrial;    (Redação dada pela Lei nº 13.853, de 2019)     Vigência</a:t>
            </a:r>
          </a:p>
          <a:p>
            <a:endParaRPr lang="pt-BR" sz="900" dirty="0"/>
          </a:p>
          <a:p>
            <a:r>
              <a:rPr lang="pt-BR" sz="900" dirty="0"/>
              <a:t>VI - eliminação dos dados pessoais tratados com o consentimento do titular, exceto nas hipóteses previstas no art. 16 desta Lei;</a:t>
            </a:r>
          </a:p>
          <a:p>
            <a:endParaRPr lang="pt-BR" sz="900" dirty="0"/>
          </a:p>
          <a:p>
            <a:r>
              <a:rPr lang="pt-BR" sz="900" dirty="0"/>
              <a:t>VII - informação das entidades públicas e privadas com as quais o controlador realizou uso compartilhado de dados;</a:t>
            </a:r>
          </a:p>
          <a:p>
            <a:endParaRPr lang="pt-BR" sz="900" dirty="0"/>
          </a:p>
          <a:p>
            <a:r>
              <a:rPr lang="pt-BR" sz="900" dirty="0"/>
              <a:t>VIII - informação sobre a possibilidade de não fornecer consentimento e sobre as consequências da negativa;</a:t>
            </a:r>
          </a:p>
          <a:p>
            <a:endParaRPr lang="pt-BR" sz="900" dirty="0"/>
          </a:p>
        </p:txBody>
      </p:sp>
      <p:sp>
        <p:nvSpPr>
          <p:cNvPr id="7" name="ColText6"/>
          <p:cNvSpPr txBox="1"/>
          <p:nvPr/>
        </p:nvSpPr>
        <p:spPr>
          <a:xfrm>
            <a:off x="6309360" y="1188720"/>
            <a:ext cx="5285360" cy="5400000"/>
          </a:xfrm>
          <a:prstGeom prst="rect">
            <a:avLst/>
          </a:prstGeom>
          <a:noFill/>
        </p:spPr>
        <p:txBody>
          <a:bodyPr wrap="square"/>
          <a:lstStyle/>
          <a:p>
            <a:r>
              <a:rPr lang="pt-BR" sz="900" dirty="0"/>
              <a:t>IX - revogação do consentimento, nos termos do § 5º do art. 8º desta Lei.</a:t>
            </a:r>
          </a:p>
          <a:p>
            <a:endParaRPr lang="pt-BR" sz="900" dirty="0"/>
          </a:p>
          <a:p>
            <a:r>
              <a:rPr lang="pt-BR" sz="900" dirty="0"/>
              <a:t>§ 1º O titular dos dados pessoais tem o direito de peticionar em relação aos seus dados contra o controlador perante a autoridade nacional.</a:t>
            </a:r>
          </a:p>
          <a:p>
            <a:endParaRPr lang="pt-BR" sz="900" dirty="0"/>
          </a:p>
          <a:p>
            <a:r>
              <a:rPr lang="pt-BR" sz="900" dirty="0"/>
              <a:t>§ 2º O titular pode opor-se a tratamento realizado com fundamento em uma das hipóteses de dispensa de consentimento, em caso de descumprimento ao disposto nesta Lei.</a:t>
            </a:r>
          </a:p>
          <a:p>
            <a:endParaRPr lang="pt-BR" sz="900" dirty="0"/>
          </a:p>
          <a:p>
            <a:r>
              <a:rPr lang="pt-BR" sz="900" dirty="0"/>
              <a:t>§ 3º Os direitos previstos neste artigo serão exercidos mediante requerimento expresso do titular ou de representante legalmente constituído, a agente de tratamento.</a:t>
            </a:r>
          </a:p>
          <a:p>
            <a:endParaRPr lang="pt-BR" sz="900" dirty="0"/>
          </a:p>
          <a:p>
            <a:r>
              <a:rPr lang="pt-BR" sz="900" dirty="0"/>
              <a:t>§ 4º Em caso de impossibilidade de adoção imediata da providência de que trata o § 3º deste artigo, o controlador enviará ao titular resposta em que poderá:</a:t>
            </a:r>
          </a:p>
          <a:p>
            <a:endParaRPr lang="pt-BR" sz="900" dirty="0"/>
          </a:p>
          <a:p>
            <a:r>
              <a:rPr lang="pt-BR" sz="900" dirty="0"/>
              <a:t>I - comunicar que não é agente de tratamento dos dados e indicar, sempre que possível, o agente; ou</a:t>
            </a:r>
          </a:p>
          <a:p>
            <a:endParaRPr lang="pt-BR" sz="900" dirty="0"/>
          </a:p>
          <a:p>
            <a:r>
              <a:rPr lang="pt-BR" sz="900" dirty="0"/>
              <a:t>II - indicar as razões de fato ou de direito que impedem a adoção imediata da providência.</a:t>
            </a:r>
          </a:p>
          <a:p>
            <a:endParaRPr lang="pt-BR" sz="900" dirty="0"/>
          </a:p>
          <a:p>
            <a:r>
              <a:rPr lang="pt-BR" sz="900" dirty="0"/>
              <a:t>§ 5º O requerimento referido no § 3º deste artigo será atendido sem custos para o titular, nos prazos e nos termos previstos em regulamento.</a:t>
            </a:r>
          </a:p>
          <a:p>
            <a:endParaRPr lang="pt-BR" sz="900" dirty="0"/>
          </a:p>
          <a:p>
            <a:r>
              <a:rPr lang="pt-BR" sz="900" dirty="0"/>
              <a:t>§ 6º O responsável deverá informar, de maneira imediata, aos agentes de tratamento com os quais tenha realizado uso compartilhado de dados a correção, a eliminação, a anonimização ou o bloqueio dos dados, para que repitam idêntico procedimento, exceto nos casos em que esta comunicação seja comprovadamente impossível ou implique esforço desproporcional.      (Redação dada pela Lei nº 13.853, de 2019)      Vigência</a:t>
            </a:r>
          </a:p>
          <a:p>
            <a:endParaRPr lang="pt-BR" sz="900" dirty="0"/>
          </a:p>
          <a:p>
            <a:r>
              <a:rPr lang="pt-BR" sz="900" dirty="0"/>
              <a:t>§ 7º A portabilidade dos dados pessoais a que se refere o inciso V do caput deste artigo não inclui dados que já tenham sido anonimizados pelo controlador.</a:t>
            </a:r>
          </a:p>
          <a:p>
            <a:endParaRPr lang="pt-BR" sz="900" dirty="0"/>
          </a:p>
          <a:p>
            <a:r>
              <a:rPr lang="pt-BR" sz="900" dirty="0"/>
              <a:t>§ 8º O direito a que se refere o § 1º deste artigo também poderá ser exercido perante os organismos de defesa do consumidor.</a:t>
            </a:r>
            <a:endParaRPr lang="pt-BR" dirty="0"/>
          </a:p>
        </p:txBody>
      </p:sp>
    </p:spTree>
    <p:extLst>
      <p:ext uri="{BB962C8B-B14F-4D97-AF65-F5344CB8AC3E}">
        <p14:creationId xmlns:p14="http://schemas.microsoft.com/office/powerpoint/2010/main" val="209200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DIREITOS DO TITULAR</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APLICACAO PRATICA</a:t>
            </a:r>
            <a:endParaRPr lang="en-US" sz="1300" dirty="0"/>
          </a:p>
        </p:txBody>
      </p:sp>
      <p:sp>
        <p:nvSpPr>
          <p:cNvPr id="5" name="Text 3"/>
          <p:cNvSpPr/>
          <p:nvPr/>
        </p:nvSpPr>
        <p:spPr>
          <a:xfrm>
            <a:off x="548640" y="777240"/>
            <a:ext cx="9601200" cy="548640"/>
          </a:xfrm>
          <a:prstGeom prst="rect">
            <a:avLst/>
          </a:prstGeom>
          <a:noFill/>
          <a:ln/>
        </p:spPr>
        <p:txBody>
          <a:bodyPr wrap="square" rtlCol="0" anchor="ctr"/>
          <a:lstStyle/>
          <a:p>
            <a:pPr marL="0" indent="0">
              <a:buNone/>
            </a:pPr>
            <a:r>
              <a:rPr lang="en-US" sz="2600" b="1" dirty="0">
                <a:solidFill>
                  <a:srgbClr val="2B2B2E"/>
                </a:solidFill>
                <a:latin typeface="Cambria" pitchFamily="34" charset="0"/>
                <a:ea typeface="Cambria" pitchFamily="34" charset="-122"/>
                <a:cs typeface="Cambria" pitchFamily="34" charset="-120"/>
              </a:rPr>
              <a:t>Direitos do titular na engenharia de dados</a:t>
            </a:r>
            <a:endParaRPr lang="en-US" sz="2600" dirty="0"/>
          </a:p>
        </p:txBody>
      </p:sp>
      <p:sp>
        <p:nvSpPr>
          <p:cNvPr id="6" name="Shape 4"/>
          <p:cNvSpPr/>
          <p:nvPr/>
        </p:nvSpPr>
        <p:spPr>
          <a:xfrm>
            <a:off x="548640" y="1600200"/>
            <a:ext cx="11064240" cy="1024128"/>
          </a:xfrm>
          <a:prstGeom prst="roundRect">
            <a:avLst>
              <a:gd name="adj" fmla="val 5357"/>
            </a:avLst>
          </a:prstGeom>
          <a:solidFill>
            <a:srgbClr val="F4F6FB"/>
          </a:solidFill>
          <a:ln/>
        </p:spPr>
        <p:txBody>
          <a:bodyPr/>
          <a:lstStyle/>
          <a:p>
            <a:endParaRPr lang="pt-BR"/>
          </a:p>
        </p:txBody>
      </p:sp>
      <p:sp>
        <p:nvSpPr>
          <p:cNvPr id="7" name="Shape 5"/>
          <p:cNvSpPr/>
          <p:nvPr/>
        </p:nvSpPr>
        <p:spPr>
          <a:xfrm>
            <a:off x="777240" y="1801368"/>
            <a:ext cx="1920240" cy="621792"/>
          </a:xfrm>
          <a:prstGeom prst="roundRect">
            <a:avLst>
              <a:gd name="adj" fmla="val 44118"/>
            </a:avLst>
          </a:prstGeom>
          <a:solidFill>
            <a:srgbClr val="1E2761"/>
          </a:solidFill>
          <a:ln/>
        </p:spPr>
        <p:txBody>
          <a:bodyPr/>
          <a:lstStyle/>
          <a:p>
            <a:endParaRPr lang="pt-BR"/>
          </a:p>
        </p:txBody>
      </p:sp>
      <p:sp>
        <p:nvSpPr>
          <p:cNvPr id="8" name="Text 6"/>
          <p:cNvSpPr/>
          <p:nvPr/>
        </p:nvSpPr>
        <p:spPr>
          <a:xfrm>
            <a:off x="777240" y="1801368"/>
            <a:ext cx="19202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Acesso (II)</a:t>
            </a:r>
            <a:endParaRPr lang="en-US" sz="1150" dirty="0"/>
          </a:p>
        </p:txBody>
      </p:sp>
      <p:sp>
        <p:nvSpPr>
          <p:cNvPr id="9" name="Text 7"/>
          <p:cNvSpPr/>
          <p:nvPr/>
        </p:nvSpPr>
        <p:spPr>
          <a:xfrm>
            <a:off x="2971800" y="1691640"/>
            <a:ext cx="8412480" cy="868680"/>
          </a:xfrm>
          <a:prstGeom prst="rect">
            <a:avLst/>
          </a:prstGeom>
          <a:noFill/>
          <a:ln/>
        </p:spPr>
        <p:txBody>
          <a:bodyPr wrap="square" rtlCol="0" anchor="ctr"/>
          <a:lstStyle/>
          <a:p>
            <a:pPr marL="0" indent="0">
              <a:buNone/>
            </a:pPr>
            <a:r>
              <a:rPr lang="en-US" sz="1150" dirty="0" err="1">
                <a:solidFill>
                  <a:srgbClr val="2B2B2E"/>
                </a:solidFill>
                <a:latin typeface="Calibri" pitchFamily="34" charset="0"/>
                <a:ea typeface="Calibri" pitchFamily="34" charset="-122"/>
                <a:cs typeface="Calibri" pitchFamily="34" charset="-120"/>
              </a:rPr>
              <a:t>Necessidade</a:t>
            </a:r>
            <a:r>
              <a:rPr lang="en-US" sz="1150" dirty="0">
                <a:solidFill>
                  <a:srgbClr val="2B2B2E"/>
                </a:solidFill>
                <a:latin typeface="Calibri" pitchFamily="34" charset="0"/>
                <a:ea typeface="Calibri" pitchFamily="34" charset="-122"/>
                <a:cs typeface="Calibri" pitchFamily="34" charset="-120"/>
              </a:rPr>
              <a:t> de um </a:t>
            </a:r>
            <a:r>
              <a:rPr lang="en-US" sz="1150" dirty="0" err="1">
                <a:solidFill>
                  <a:srgbClr val="2B2B2E"/>
                </a:solidFill>
                <a:latin typeface="Calibri" pitchFamily="34" charset="0"/>
                <a:ea typeface="Calibri" pitchFamily="34" charset="-122"/>
                <a:cs typeface="Calibri" pitchFamily="34" charset="-120"/>
              </a:rPr>
              <a:t>datalog</a:t>
            </a:r>
            <a:r>
              <a:rPr lang="en-US" sz="1150" dirty="0">
                <a:solidFill>
                  <a:srgbClr val="2B2B2E"/>
                </a:solidFill>
                <a:latin typeface="Calibri" pitchFamily="34" charset="0"/>
                <a:ea typeface="Calibri" pitchFamily="34" charset="-122"/>
                <a:cs typeface="Calibri" pitchFamily="34" charset="-120"/>
              </a:rPr>
              <a:t>. Mapa </a:t>
            </a:r>
            <a:r>
              <a:rPr lang="en-US" sz="1150" dirty="0" err="1">
                <a:solidFill>
                  <a:srgbClr val="2B2B2E"/>
                </a:solidFill>
                <a:latin typeface="Calibri" pitchFamily="34" charset="0"/>
                <a:ea typeface="Calibri" pitchFamily="34" charset="-122"/>
                <a:cs typeface="Calibri" pitchFamily="34" charset="-120"/>
              </a:rPr>
              <a:t>identificado</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onde</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eles</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gravam</a:t>
            </a:r>
            <a:r>
              <a:rPr lang="en-US" sz="1150" dirty="0">
                <a:solidFill>
                  <a:srgbClr val="2B2B2E"/>
                </a:solidFill>
                <a:latin typeface="Calibri" pitchFamily="34" charset="0"/>
                <a:ea typeface="Calibri" pitchFamily="34" charset="-122"/>
                <a:cs typeface="Calibri" pitchFamily="34" charset="-120"/>
              </a:rPr>
              <a:t> as </a:t>
            </a:r>
            <a:r>
              <a:rPr lang="en-US" sz="1150" dirty="0" err="1">
                <a:solidFill>
                  <a:srgbClr val="2B2B2E"/>
                </a:solidFill>
                <a:latin typeface="Calibri" pitchFamily="34" charset="0"/>
                <a:ea typeface="Calibri" pitchFamily="34" charset="-122"/>
                <a:cs typeface="Calibri" pitchFamily="34" charset="-120"/>
              </a:rPr>
              <a:t>informações</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pessoais</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identificáveis</a:t>
            </a:r>
            <a:r>
              <a:rPr lang="en-US" sz="1150" dirty="0">
                <a:solidFill>
                  <a:srgbClr val="2B2B2E"/>
                </a:solidFill>
                <a:latin typeface="Calibri" pitchFamily="34" charset="0"/>
                <a:ea typeface="Calibri" pitchFamily="34" charset="-122"/>
                <a:cs typeface="Calibri" pitchFamily="34" charset="-120"/>
              </a:rPr>
              <a:t>. </a:t>
            </a:r>
            <a:endParaRPr lang="en-US" sz="1150" dirty="0"/>
          </a:p>
        </p:txBody>
      </p:sp>
      <p:sp>
        <p:nvSpPr>
          <p:cNvPr id="10" name="Shape 8"/>
          <p:cNvSpPr/>
          <p:nvPr/>
        </p:nvSpPr>
        <p:spPr>
          <a:xfrm>
            <a:off x="548640" y="2770632"/>
            <a:ext cx="11064240" cy="1024128"/>
          </a:xfrm>
          <a:prstGeom prst="roundRect">
            <a:avLst>
              <a:gd name="adj" fmla="val 5357"/>
            </a:avLst>
          </a:prstGeom>
          <a:solidFill>
            <a:srgbClr val="EAF2FF"/>
          </a:solidFill>
          <a:ln/>
        </p:spPr>
        <p:txBody>
          <a:bodyPr/>
          <a:lstStyle/>
          <a:p>
            <a:endParaRPr lang="pt-BR"/>
          </a:p>
        </p:txBody>
      </p:sp>
      <p:sp>
        <p:nvSpPr>
          <p:cNvPr id="11" name="Shape 9"/>
          <p:cNvSpPr/>
          <p:nvPr/>
        </p:nvSpPr>
        <p:spPr>
          <a:xfrm>
            <a:off x="777240" y="2971800"/>
            <a:ext cx="1920240" cy="621792"/>
          </a:xfrm>
          <a:prstGeom prst="roundRect">
            <a:avLst>
              <a:gd name="adj" fmla="val 44118"/>
            </a:avLst>
          </a:prstGeom>
          <a:solidFill>
            <a:srgbClr val="1E2761"/>
          </a:solidFill>
          <a:ln/>
        </p:spPr>
        <p:txBody>
          <a:bodyPr/>
          <a:lstStyle/>
          <a:p>
            <a:endParaRPr lang="pt-BR"/>
          </a:p>
        </p:txBody>
      </p:sp>
      <p:sp>
        <p:nvSpPr>
          <p:cNvPr id="12" name="Text 10"/>
          <p:cNvSpPr/>
          <p:nvPr/>
        </p:nvSpPr>
        <p:spPr>
          <a:xfrm>
            <a:off x="777240" y="2971800"/>
            <a:ext cx="19202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Correcao (III)</a:t>
            </a:r>
            <a:endParaRPr lang="en-US" sz="1150" dirty="0"/>
          </a:p>
        </p:txBody>
      </p:sp>
      <p:sp>
        <p:nvSpPr>
          <p:cNvPr id="13" name="Text 11"/>
          <p:cNvSpPr/>
          <p:nvPr/>
        </p:nvSpPr>
        <p:spPr>
          <a:xfrm>
            <a:off x="2971800" y="2862072"/>
            <a:ext cx="8412480" cy="868680"/>
          </a:xfrm>
          <a:prstGeom prst="rect">
            <a:avLst/>
          </a:prstGeom>
          <a:noFill/>
          <a:ln/>
        </p:spPr>
        <p:txBody>
          <a:bodyPr wrap="square" rtlCol="0" anchor="ctr"/>
          <a:lstStyle/>
          <a:p>
            <a:pPr marL="0" indent="0">
              <a:buNone/>
            </a:pPr>
            <a:r>
              <a:rPr lang="en-US" sz="1150" dirty="0">
                <a:solidFill>
                  <a:srgbClr val="2B2B2E"/>
                </a:solidFill>
                <a:latin typeface="Calibri" pitchFamily="34" charset="0"/>
                <a:ea typeface="Calibri" pitchFamily="34" charset="-122"/>
                <a:cs typeface="Calibri" pitchFamily="34" charset="-120"/>
              </a:rPr>
              <a:t>Se um pipeline de enriquecimento atribuiu renda estimada incorreta, e essa informacao alimenta um modelo de credito, a correcao deve </a:t>
            </a:r>
            <a:r>
              <a:rPr lang="en-US" sz="1150" dirty="0" err="1">
                <a:solidFill>
                  <a:srgbClr val="2B2B2E"/>
                </a:solidFill>
                <a:latin typeface="Calibri" pitchFamily="34" charset="0"/>
                <a:ea typeface="Calibri" pitchFamily="34" charset="-122"/>
                <a:cs typeface="Calibri" pitchFamily="34" charset="-120"/>
              </a:rPr>
              <a:t>propagar</a:t>
            </a:r>
            <a:r>
              <a:rPr lang="en-US" sz="1150" dirty="0">
                <a:solidFill>
                  <a:srgbClr val="2B2B2E"/>
                </a:solidFill>
                <a:latin typeface="Calibri" pitchFamily="34" charset="0"/>
                <a:ea typeface="Calibri" pitchFamily="34" charset="-122"/>
                <a:cs typeface="Calibri" pitchFamily="34" charset="-120"/>
              </a:rPr>
              <a:t> </a:t>
            </a:r>
            <a:r>
              <a:rPr lang="en-US" sz="1150" dirty="0" err="1">
                <a:solidFill>
                  <a:srgbClr val="2B2B2E"/>
                </a:solidFill>
                <a:latin typeface="Calibri" pitchFamily="34" charset="0"/>
                <a:ea typeface="Calibri" pitchFamily="34" charset="-122"/>
                <a:cs typeface="Calibri" pitchFamily="34" charset="-120"/>
              </a:rPr>
              <a:t>ao</a:t>
            </a:r>
            <a:r>
              <a:rPr lang="en-US" sz="1150" dirty="0">
                <a:solidFill>
                  <a:srgbClr val="2B2B2E"/>
                </a:solidFill>
                <a:latin typeface="Calibri" pitchFamily="34" charset="0"/>
                <a:ea typeface="Calibri" pitchFamily="34" charset="-122"/>
                <a:cs typeface="Calibri" pitchFamily="34" charset="-120"/>
              </a:rPr>
              <a:t> Sistema. </a:t>
            </a:r>
            <a:r>
              <a:rPr lang="en-US" sz="1150" dirty="0" err="1">
                <a:solidFill>
                  <a:srgbClr val="2B2B2E"/>
                </a:solidFill>
                <a:latin typeface="Calibri" pitchFamily="34" charset="0"/>
                <a:ea typeface="Calibri" pitchFamily="34" charset="-122"/>
                <a:cs typeface="Calibri" pitchFamily="34" charset="-120"/>
              </a:rPr>
              <a:t>Importante</a:t>
            </a:r>
            <a:r>
              <a:rPr lang="en-US" sz="1150" dirty="0">
                <a:solidFill>
                  <a:srgbClr val="2B2B2E"/>
                </a:solidFill>
                <a:latin typeface="Calibri" pitchFamily="34" charset="0"/>
                <a:ea typeface="Calibri" pitchFamily="34" charset="-122"/>
                <a:cs typeface="Calibri" pitchFamily="34" charset="-120"/>
              </a:rPr>
              <a:t>: </a:t>
            </a:r>
            <a:r>
              <a:rPr lang="pt-BR" sz="1150" dirty="0">
                <a:solidFill>
                  <a:srgbClr val="2B2B2E"/>
                </a:solidFill>
                <a:latin typeface="Calibri" pitchFamily="34" charset="0"/>
                <a:ea typeface="Calibri" pitchFamily="34" charset="-122"/>
                <a:cs typeface="Calibri" pitchFamily="34" charset="-120"/>
              </a:rPr>
              <a:t>o algoritmo é da empresa, mas o resultado numérico atrelado ao CPF é um dado pessoal derivado e o titular tem o direito de saber o que a empresa deduziu sobre ele.</a:t>
            </a:r>
            <a:endParaRPr lang="en-US" sz="1150" dirty="0"/>
          </a:p>
        </p:txBody>
      </p:sp>
      <p:sp>
        <p:nvSpPr>
          <p:cNvPr id="14" name="Shape 12"/>
          <p:cNvSpPr/>
          <p:nvPr/>
        </p:nvSpPr>
        <p:spPr>
          <a:xfrm>
            <a:off x="548640" y="3941064"/>
            <a:ext cx="11064240" cy="1024128"/>
          </a:xfrm>
          <a:prstGeom prst="roundRect">
            <a:avLst>
              <a:gd name="adj" fmla="val 5357"/>
            </a:avLst>
          </a:prstGeom>
          <a:solidFill>
            <a:srgbClr val="F4F6FB"/>
          </a:solidFill>
          <a:ln/>
        </p:spPr>
        <p:txBody>
          <a:bodyPr/>
          <a:lstStyle/>
          <a:p>
            <a:endParaRPr lang="pt-BR"/>
          </a:p>
        </p:txBody>
      </p:sp>
      <p:sp>
        <p:nvSpPr>
          <p:cNvPr id="15" name="Shape 13"/>
          <p:cNvSpPr/>
          <p:nvPr/>
        </p:nvSpPr>
        <p:spPr>
          <a:xfrm>
            <a:off x="777240" y="4142232"/>
            <a:ext cx="1920240" cy="621792"/>
          </a:xfrm>
          <a:prstGeom prst="roundRect">
            <a:avLst>
              <a:gd name="adj" fmla="val 44118"/>
            </a:avLst>
          </a:prstGeom>
          <a:solidFill>
            <a:srgbClr val="1E2761"/>
          </a:solidFill>
          <a:ln/>
        </p:spPr>
        <p:txBody>
          <a:bodyPr/>
          <a:lstStyle/>
          <a:p>
            <a:endParaRPr lang="pt-BR"/>
          </a:p>
        </p:txBody>
      </p:sp>
      <p:sp>
        <p:nvSpPr>
          <p:cNvPr id="16" name="Text 14"/>
          <p:cNvSpPr/>
          <p:nvPr/>
        </p:nvSpPr>
        <p:spPr>
          <a:xfrm>
            <a:off x="777240" y="4142232"/>
            <a:ext cx="19202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Eliminacao (IV, VI)</a:t>
            </a:r>
            <a:endParaRPr lang="en-US" sz="1150" dirty="0"/>
          </a:p>
        </p:txBody>
      </p:sp>
      <p:sp>
        <p:nvSpPr>
          <p:cNvPr id="17" name="Text 15"/>
          <p:cNvSpPr/>
          <p:nvPr/>
        </p:nvSpPr>
        <p:spPr>
          <a:xfrm>
            <a:off x="2971800" y="4032504"/>
            <a:ext cx="8412480" cy="868680"/>
          </a:xfrm>
          <a:prstGeom prst="rect">
            <a:avLst/>
          </a:prstGeom>
          <a:noFill/>
          <a:ln/>
        </p:spPr>
        <p:txBody>
          <a:bodyPr wrap="square" rtlCol="0" anchor="ctr"/>
          <a:lstStyle/>
          <a:p>
            <a:pPr marL="0" indent="0">
              <a:buNone/>
            </a:pPr>
            <a:r>
              <a:rPr lang="en-US" sz="1150" dirty="0">
                <a:solidFill>
                  <a:srgbClr val="2B2B2E"/>
                </a:solidFill>
                <a:latin typeface="Calibri" pitchFamily="34" charset="0"/>
                <a:ea typeface="Calibri" pitchFamily="34" charset="-122"/>
                <a:cs typeface="Calibri" pitchFamily="34" charset="-120"/>
              </a:rPr>
              <a:t>Processo definido para bloquear ou eliminar um dataset especifico sem afetar o restante da base, incluindo copias, backups e replicas.</a:t>
            </a:r>
            <a:endParaRPr lang="en-US" sz="1150" dirty="0"/>
          </a:p>
        </p:txBody>
      </p:sp>
      <p:sp>
        <p:nvSpPr>
          <p:cNvPr id="18" name="Shape 16"/>
          <p:cNvSpPr/>
          <p:nvPr/>
        </p:nvSpPr>
        <p:spPr>
          <a:xfrm>
            <a:off x="548640" y="5111496"/>
            <a:ext cx="11064240" cy="1024128"/>
          </a:xfrm>
          <a:prstGeom prst="roundRect">
            <a:avLst>
              <a:gd name="adj" fmla="val 5357"/>
            </a:avLst>
          </a:prstGeom>
          <a:solidFill>
            <a:srgbClr val="EAF2FF"/>
          </a:solidFill>
          <a:ln/>
        </p:spPr>
        <p:txBody>
          <a:bodyPr/>
          <a:lstStyle/>
          <a:p>
            <a:endParaRPr lang="pt-BR"/>
          </a:p>
        </p:txBody>
      </p:sp>
      <p:sp>
        <p:nvSpPr>
          <p:cNvPr id="19" name="Shape 17"/>
          <p:cNvSpPr/>
          <p:nvPr/>
        </p:nvSpPr>
        <p:spPr>
          <a:xfrm>
            <a:off x="777240" y="5312664"/>
            <a:ext cx="1920240" cy="621792"/>
          </a:xfrm>
          <a:prstGeom prst="roundRect">
            <a:avLst>
              <a:gd name="adj" fmla="val 44118"/>
            </a:avLst>
          </a:prstGeom>
          <a:solidFill>
            <a:srgbClr val="1E2761"/>
          </a:solidFill>
          <a:ln/>
        </p:spPr>
        <p:txBody>
          <a:bodyPr/>
          <a:lstStyle/>
          <a:p>
            <a:endParaRPr lang="pt-BR"/>
          </a:p>
        </p:txBody>
      </p:sp>
      <p:sp>
        <p:nvSpPr>
          <p:cNvPr id="20" name="Text 18"/>
          <p:cNvSpPr/>
          <p:nvPr/>
        </p:nvSpPr>
        <p:spPr>
          <a:xfrm>
            <a:off x="777240" y="5312664"/>
            <a:ext cx="19202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Portabilidade (V)</a:t>
            </a:r>
            <a:endParaRPr lang="en-US" sz="1150" dirty="0"/>
          </a:p>
        </p:txBody>
      </p:sp>
      <p:sp>
        <p:nvSpPr>
          <p:cNvPr id="21" name="Text 19"/>
          <p:cNvSpPr/>
          <p:nvPr/>
        </p:nvSpPr>
        <p:spPr>
          <a:xfrm>
            <a:off x="2971800" y="5202936"/>
            <a:ext cx="8412480" cy="868680"/>
          </a:xfrm>
          <a:prstGeom prst="rect">
            <a:avLst/>
          </a:prstGeom>
          <a:noFill/>
          <a:ln/>
        </p:spPr>
        <p:txBody>
          <a:bodyPr wrap="square" rtlCol="0" anchor="ctr"/>
          <a:lstStyle/>
          <a:p>
            <a:pPr marL="0" indent="0">
              <a:buNone/>
            </a:pPr>
            <a:r>
              <a:rPr lang="en-US" sz="1150" dirty="0">
                <a:solidFill>
                  <a:srgbClr val="2B2B2E"/>
                </a:solidFill>
                <a:latin typeface="Calibri" pitchFamily="34" charset="0"/>
                <a:ea typeface="Calibri" pitchFamily="34" charset="-122"/>
                <a:cs typeface="Calibri" pitchFamily="34" charset="-120"/>
              </a:rPr>
              <a:t>Exportacao em formato </a:t>
            </a:r>
            <a:r>
              <a:rPr lang="en-US" sz="1150" dirty="0" err="1">
                <a:solidFill>
                  <a:srgbClr val="2B2B2E"/>
                </a:solidFill>
                <a:latin typeface="Calibri" pitchFamily="34" charset="0"/>
                <a:ea typeface="Calibri" pitchFamily="34" charset="-122"/>
                <a:cs typeface="Calibri" pitchFamily="34" charset="-120"/>
              </a:rPr>
              <a:t>estruturado</a:t>
            </a:r>
            <a:r>
              <a:rPr lang="en-US" sz="1150" dirty="0">
                <a:solidFill>
                  <a:srgbClr val="2B2B2E"/>
                </a:solidFill>
                <a:latin typeface="Calibri" pitchFamily="34" charset="0"/>
                <a:ea typeface="Calibri" pitchFamily="34" charset="-122"/>
                <a:cs typeface="Calibri" pitchFamily="34" charset="-120"/>
              </a:rPr>
              <a:t>  (CSV), nao uma captura de tela ou PDF nao estruturado.</a:t>
            </a:r>
            <a:endParaRPr lang="en-US" sz="1150" dirty="0"/>
          </a:p>
        </p:txBody>
      </p:sp>
      <p:sp>
        <p:nvSpPr>
          <p:cNvPr id="23" name="Text 21"/>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2B2B2E"/>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DIREITOS DO TITULAR</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ART. 20, LGPD</a:t>
            </a:r>
            <a:endParaRPr lang="en-US" sz="1300" dirty="0"/>
          </a:p>
        </p:txBody>
      </p:sp>
      <p:sp>
        <p:nvSpPr>
          <p:cNvPr id="5" name="Text 3"/>
          <p:cNvSpPr/>
          <p:nvPr/>
        </p:nvSpPr>
        <p:spPr>
          <a:xfrm>
            <a:off x="548640" y="777240"/>
            <a:ext cx="96012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Revisao de decisoes automatizadas</a:t>
            </a:r>
            <a:endParaRPr lang="en-US" sz="2800" dirty="0"/>
          </a:p>
        </p:txBody>
      </p:sp>
      <p:sp>
        <p:nvSpPr>
          <p:cNvPr id="6" name="Text 4"/>
          <p:cNvSpPr/>
          <p:nvPr/>
        </p:nvSpPr>
        <p:spPr>
          <a:xfrm>
            <a:off x="548640" y="1371600"/>
            <a:ext cx="10515600" cy="365760"/>
          </a:xfrm>
          <a:prstGeom prst="rect">
            <a:avLst/>
          </a:prstGeom>
          <a:noFill/>
          <a:ln/>
        </p:spPr>
        <p:txBody>
          <a:bodyPr wrap="square" rtlCol="0" anchor="ctr"/>
          <a:lstStyle/>
          <a:p>
            <a:pPr marL="0" indent="0">
              <a:buNone/>
            </a:pPr>
            <a:r>
              <a:rPr lang="en-US" sz="1250" i="1" dirty="0" err="1">
                <a:solidFill>
                  <a:srgbClr val="EAF2FF"/>
                </a:solidFill>
                <a:latin typeface="Calibri" pitchFamily="34" charset="0"/>
                <a:ea typeface="Calibri" pitchFamily="34" charset="-122"/>
                <a:cs typeface="Calibri" pitchFamily="34" charset="-120"/>
              </a:rPr>
              <a:t>relevancia</a:t>
            </a:r>
            <a:r>
              <a:rPr lang="en-US" sz="1250" i="1" dirty="0">
                <a:solidFill>
                  <a:srgbClr val="EAF2FF"/>
                </a:solidFill>
                <a:latin typeface="Calibri" pitchFamily="34" charset="0"/>
                <a:ea typeface="Calibri" pitchFamily="34" charset="-122"/>
                <a:cs typeface="Calibri" pitchFamily="34" charset="-120"/>
              </a:rPr>
              <a:t> direta para quem constroi modelos preditivos, scoring ou triagem automatizada.</a:t>
            </a:r>
            <a:endParaRPr lang="en-US" sz="1250" dirty="0"/>
          </a:p>
        </p:txBody>
      </p:sp>
      <p:sp>
        <p:nvSpPr>
          <p:cNvPr id="7" name="Shape 5"/>
          <p:cNvSpPr/>
          <p:nvPr/>
        </p:nvSpPr>
        <p:spPr>
          <a:xfrm>
            <a:off x="548640" y="1920240"/>
            <a:ext cx="11064240" cy="1600200"/>
          </a:xfrm>
          <a:prstGeom prst="roundRect">
            <a:avLst>
              <a:gd name="adj" fmla="val 4571"/>
            </a:avLst>
          </a:prstGeom>
          <a:solidFill>
            <a:srgbClr val="141A47"/>
          </a:solidFill>
          <a:ln w="9525">
            <a:solidFill>
              <a:srgbClr val="1E2761"/>
            </a:solidFill>
            <a:prstDash val="solid"/>
          </a:ln>
        </p:spPr>
        <p:txBody>
          <a:bodyPr/>
          <a:lstStyle/>
          <a:p>
            <a:endParaRPr lang="pt-BR"/>
          </a:p>
        </p:txBody>
      </p:sp>
      <p:sp>
        <p:nvSpPr>
          <p:cNvPr id="8" name="Text 6"/>
          <p:cNvSpPr/>
          <p:nvPr/>
        </p:nvSpPr>
        <p:spPr>
          <a:xfrm>
            <a:off x="868680" y="2103120"/>
            <a:ext cx="10424160" cy="1234440"/>
          </a:xfrm>
          <a:prstGeom prst="rect">
            <a:avLst/>
          </a:prstGeom>
          <a:noFill/>
          <a:ln/>
        </p:spPr>
        <p:txBody>
          <a:bodyPr wrap="square" rtlCol="0" anchor="ctr"/>
          <a:lstStyle/>
          <a:p>
            <a:pPr marL="0" indent="0">
              <a:buNone/>
            </a:pPr>
            <a:r>
              <a:rPr lang="en-US" sz="1400" i="1" dirty="0">
                <a:solidFill>
                  <a:srgbClr val="FFFFFF"/>
                </a:solidFill>
                <a:latin typeface="Cambria" pitchFamily="34" charset="0"/>
                <a:ea typeface="Cambria" pitchFamily="34" charset="-122"/>
                <a:cs typeface="Cambria" pitchFamily="34" charset="-120"/>
              </a:rPr>
              <a:t>“O titular dos dados tem direito a solicitar a revisao de decisoes tomadas unicamente com base em tratamento automatizado de dados pessoais que afetem seus interesses, incluidas as decisoes destinadas a definir o seu perfil pessoal, profissional, de consumo e de credito ou os aspectos de sua personalidade.”</a:t>
            </a:r>
            <a:endParaRPr lang="en-US" sz="1400" dirty="0"/>
          </a:p>
        </p:txBody>
      </p:sp>
      <p:sp>
        <p:nvSpPr>
          <p:cNvPr id="9" name="Text 7"/>
          <p:cNvSpPr/>
          <p:nvPr/>
        </p:nvSpPr>
        <p:spPr>
          <a:xfrm>
            <a:off x="548640" y="3657600"/>
            <a:ext cx="11064240" cy="32004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Art. 20, caput  |  Art. 20, par. 1: informacoes claras sobre criterios e procedimentos da decisao automatizada, observados os segredos comercial e industrial</a:t>
            </a:r>
            <a:endParaRPr lang="en-US" sz="1050" dirty="0"/>
          </a:p>
        </p:txBody>
      </p:sp>
      <p:sp>
        <p:nvSpPr>
          <p:cNvPr id="10" name="Shape 8"/>
          <p:cNvSpPr/>
          <p:nvPr/>
        </p:nvSpPr>
        <p:spPr>
          <a:xfrm>
            <a:off x="548640" y="4160520"/>
            <a:ext cx="5349240" cy="1691640"/>
          </a:xfrm>
          <a:prstGeom prst="roundRect">
            <a:avLst>
              <a:gd name="adj" fmla="val 4324"/>
            </a:avLst>
          </a:prstGeom>
          <a:solidFill>
            <a:srgbClr val="5A5A5E"/>
          </a:solidFill>
          <a:ln/>
        </p:spPr>
        <p:txBody>
          <a:bodyPr/>
          <a:lstStyle/>
          <a:p>
            <a:endParaRPr lang="pt-BR"/>
          </a:p>
        </p:txBody>
      </p:sp>
      <p:sp>
        <p:nvSpPr>
          <p:cNvPr id="11" name="Text 9"/>
          <p:cNvSpPr/>
          <p:nvPr/>
        </p:nvSpPr>
        <p:spPr>
          <a:xfrm>
            <a:off x="822960" y="4315968"/>
            <a:ext cx="4846320" cy="320040"/>
          </a:xfrm>
          <a:prstGeom prst="rect">
            <a:avLst/>
          </a:prstGeom>
          <a:noFill/>
          <a:ln/>
        </p:spPr>
        <p:txBody>
          <a:bodyPr wrap="square"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O debate da revisao humana</a:t>
            </a:r>
            <a:endParaRPr lang="en-US" sz="1250" dirty="0"/>
          </a:p>
        </p:txBody>
      </p:sp>
      <p:sp>
        <p:nvSpPr>
          <p:cNvPr id="12" name="Text 10"/>
          <p:cNvSpPr/>
          <p:nvPr/>
        </p:nvSpPr>
        <p:spPr>
          <a:xfrm>
            <a:off x="822960" y="4617720"/>
            <a:ext cx="4846320" cy="1143000"/>
          </a:xfrm>
          <a:prstGeom prst="rect">
            <a:avLst/>
          </a:prstGeom>
          <a:noFill/>
          <a:ln/>
        </p:spPr>
        <p:txBody>
          <a:bodyPr wrap="square" rtlCol="0" anchor="t"/>
          <a:lstStyle/>
          <a:p>
            <a:pPr marL="0" indent="0">
              <a:buNone/>
            </a:pPr>
            <a:r>
              <a:rPr lang="en-US" sz="1050" dirty="0">
                <a:solidFill>
                  <a:srgbClr val="EAF2FF"/>
                </a:solidFill>
                <a:latin typeface="Calibri" pitchFamily="34" charset="0"/>
                <a:ea typeface="Calibri" pitchFamily="34" charset="-122"/>
                <a:cs typeface="Calibri" pitchFamily="34" charset="-120"/>
              </a:rPr>
              <a:t>A redacao original previa revisao “por pessoa natural”. A expressao foi retirada na tramitacao, o que gera divergencia sobre se a revisao pode ser feita por outro sistema automatizado. ANPD conduziu tomada de subsidios sobre IA e revisao automatizada (nov. 2024 a jan. 2025).</a:t>
            </a:r>
            <a:endParaRPr lang="en-US" sz="1050" dirty="0"/>
          </a:p>
        </p:txBody>
      </p:sp>
      <p:sp>
        <p:nvSpPr>
          <p:cNvPr id="13" name="Shape 11"/>
          <p:cNvSpPr/>
          <p:nvPr/>
        </p:nvSpPr>
        <p:spPr>
          <a:xfrm>
            <a:off x="6080760" y="4160520"/>
            <a:ext cx="5532120" cy="1691640"/>
          </a:xfrm>
          <a:prstGeom prst="roundRect">
            <a:avLst>
              <a:gd name="adj" fmla="val 4324"/>
            </a:avLst>
          </a:prstGeom>
          <a:solidFill>
            <a:srgbClr val="5A5A5E"/>
          </a:solidFill>
          <a:ln/>
        </p:spPr>
        <p:txBody>
          <a:bodyPr/>
          <a:lstStyle/>
          <a:p>
            <a:endParaRPr lang="pt-BR"/>
          </a:p>
        </p:txBody>
      </p:sp>
      <p:sp>
        <p:nvSpPr>
          <p:cNvPr id="14" name="Text 12"/>
          <p:cNvSpPr/>
          <p:nvPr/>
        </p:nvSpPr>
        <p:spPr>
          <a:xfrm>
            <a:off x="6355080" y="4315968"/>
            <a:ext cx="5029200" cy="320040"/>
          </a:xfrm>
          <a:prstGeom prst="rect">
            <a:avLst/>
          </a:prstGeom>
          <a:noFill/>
          <a:ln/>
        </p:spPr>
        <p:txBody>
          <a:bodyPr wrap="square"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Aplicacao para a turma</a:t>
            </a:r>
            <a:endParaRPr lang="en-US" sz="1250" dirty="0"/>
          </a:p>
        </p:txBody>
      </p:sp>
      <p:sp>
        <p:nvSpPr>
          <p:cNvPr id="15" name="Text 13"/>
          <p:cNvSpPr/>
          <p:nvPr/>
        </p:nvSpPr>
        <p:spPr>
          <a:xfrm>
            <a:off x="6355080" y="4617720"/>
            <a:ext cx="5029200" cy="1143000"/>
          </a:xfrm>
          <a:prstGeom prst="rect">
            <a:avLst/>
          </a:prstGeom>
          <a:noFill/>
          <a:ln/>
        </p:spPr>
        <p:txBody>
          <a:bodyPr wrap="square" rtlCol="0" anchor="t"/>
          <a:lstStyle/>
          <a:p>
            <a:pPr marL="0" indent="0">
              <a:buNone/>
            </a:pPr>
            <a:r>
              <a:rPr lang="en-US" sz="1050" dirty="0">
                <a:solidFill>
                  <a:srgbClr val="EAF2FF"/>
                </a:solidFill>
                <a:latin typeface="Calibri" pitchFamily="34" charset="0"/>
                <a:ea typeface="Calibri" pitchFamily="34" charset="-122"/>
                <a:cs typeface="Calibri" pitchFamily="34" charset="-120"/>
              </a:rPr>
              <a:t>Sempre que um modelo decide sozinho sobre credito, triagem ou precificacao, a equipe precisa explicar quais variaveis pesaram na decisao. Isso aproxima a LGPD de praticas de explainable AI, como SHAP e LIME.</a:t>
            </a:r>
            <a:endParaRPr lang="en-US" sz="1050" dirty="0"/>
          </a:p>
        </p:txBody>
      </p:sp>
      <p:sp>
        <p:nvSpPr>
          <p:cNvPr id="17" name="Text 15"/>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BLOCO 2  ·  DEVERES E DPO</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ART. 5, LGPD</a:t>
            </a:r>
            <a:endParaRPr lang="en-US" sz="1300" dirty="0"/>
          </a:p>
        </p:txBody>
      </p:sp>
      <p:sp>
        <p:nvSpPr>
          <p:cNvPr id="5" name="Text 3"/>
          <p:cNvSpPr/>
          <p:nvPr/>
        </p:nvSpPr>
        <p:spPr>
          <a:xfrm>
            <a:off x="548640" y="777240"/>
            <a:ext cx="10515600" cy="640080"/>
          </a:xfrm>
          <a:prstGeom prst="rect">
            <a:avLst/>
          </a:prstGeom>
          <a:noFill/>
          <a:ln/>
        </p:spPr>
        <p:txBody>
          <a:bodyPr wrap="square" rtlCol="0" anchor="ctr"/>
          <a:lstStyle/>
          <a:p>
            <a:pPr marL="0" indent="0">
              <a:buNone/>
            </a:pPr>
            <a:r>
              <a:rPr lang="en-US" sz="2600" b="1" dirty="0">
                <a:solidFill>
                  <a:srgbClr val="2B2B2E"/>
                </a:solidFill>
                <a:latin typeface="Cambria" pitchFamily="34" charset="0"/>
                <a:ea typeface="Cambria" pitchFamily="34" charset="-122"/>
                <a:cs typeface="Cambria" pitchFamily="34" charset="-120"/>
              </a:rPr>
              <a:t>Controlador e Operador: quem decide, quem executa</a:t>
            </a:r>
            <a:endParaRPr lang="en-US" sz="2600" dirty="0"/>
          </a:p>
        </p:txBody>
      </p:sp>
      <p:sp>
        <p:nvSpPr>
          <p:cNvPr id="6" name="Shape 4"/>
          <p:cNvSpPr/>
          <p:nvPr/>
        </p:nvSpPr>
        <p:spPr>
          <a:xfrm>
            <a:off x="548640" y="1737360"/>
            <a:ext cx="5349240" cy="3566160"/>
          </a:xfrm>
          <a:prstGeom prst="roundRect">
            <a:avLst>
              <a:gd name="adj" fmla="val 2308"/>
            </a:avLst>
          </a:prstGeom>
          <a:solidFill>
            <a:srgbClr val="1E2761"/>
          </a:solidFill>
          <a:ln/>
        </p:spPr>
        <p:txBody>
          <a:bodyPr/>
          <a:lstStyle/>
          <a:p>
            <a:endParaRPr lang="pt-BR"/>
          </a:p>
        </p:txBody>
      </p:sp>
      <p:sp>
        <p:nvSpPr>
          <p:cNvPr id="7" name="Text 5"/>
          <p:cNvSpPr/>
          <p:nvPr/>
        </p:nvSpPr>
        <p:spPr>
          <a:xfrm>
            <a:off x="822960" y="1920240"/>
            <a:ext cx="4754880" cy="365760"/>
          </a:xfrm>
          <a:prstGeom prst="rect">
            <a:avLst/>
          </a:prstGeom>
          <a:noFill/>
          <a:ln/>
        </p:spPr>
        <p:txBody>
          <a:bodyPr wrap="square" rtlCol="0" anchor="ctr"/>
          <a:lstStyle/>
          <a:p>
            <a:pPr marL="0" indent="0">
              <a:buNone/>
            </a:pPr>
            <a:r>
              <a:rPr lang="en-US" sz="1300" b="1" kern="0" spc="100" dirty="0">
                <a:solidFill>
                  <a:srgbClr val="CADCFC"/>
                </a:solidFill>
                <a:latin typeface="Calibri" pitchFamily="34" charset="0"/>
                <a:ea typeface="Calibri" pitchFamily="34" charset="-122"/>
                <a:cs typeface="Calibri" pitchFamily="34" charset="-120"/>
              </a:rPr>
              <a:t>CONTROLADOR</a:t>
            </a:r>
            <a:endParaRPr lang="en-US" sz="1300" dirty="0"/>
          </a:p>
        </p:txBody>
      </p:sp>
      <p:sp>
        <p:nvSpPr>
          <p:cNvPr id="8" name="Text 6"/>
          <p:cNvSpPr/>
          <p:nvPr/>
        </p:nvSpPr>
        <p:spPr>
          <a:xfrm>
            <a:off x="822960" y="2331720"/>
            <a:ext cx="4754880" cy="1188720"/>
          </a:xfrm>
          <a:prstGeom prst="rect">
            <a:avLst/>
          </a:prstGeom>
          <a:noFill/>
          <a:ln/>
        </p:spPr>
        <p:txBody>
          <a:bodyPr wrap="square" rtlCol="0" anchor="t"/>
          <a:lstStyle/>
          <a:p>
            <a:pPr marL="0" indent="0">
              <a:buNone/>
            </a:pPr>
            <a:r>
              <a:rPr lang="en-US" sz="1350" i="1" dirty="0">
                <a:solidFill>
                  <a:srgbClr val="FFFFFF"/>
                </a:solidFill>
                <a:latin typeface="Cambria" pitchFamily="34" charset="0"/>
                <a:ea typeface="Cambria" pitchFamily="34" charset="-122"/>
                <a:cs typeface="Cambria" pitchFamily="34" charset="-120"/>
              </a:rPr>
              <a:t>“Pessoa natural ou juridica, de direito publico ou privado, a quem compete as decisoes referentes ao tratamento de dados pessoais.”</a:t>
            </a:r>
            <a:endParaRPr lang="en-US" sz="1350" dirty="0"/>
          </a:p>
        </p:txBody>
      </p:sp>
      <p:sp>
        <p:nvSpPr>
          <p:cNvPr id="9" name="Text 7"/>
          <p:cNvSpPr/>
          <p:nvPr/>
        </p:nvSpPr>
        <p:spPr>
          <a:xfrm>
            <a:off x="822960" y="3520440"/>
            <a:ext cx="475488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Art. 5, inciso VI</a:t>
            </a:r>
            <a:endParaRPr lang="en-US" sz="1000" dirty="0"/>
          </a:p>
        </p:txBody>
      </p:sp>
      <p:sp>
        <p:nvSpPr>
          <p:cNvPr id="10" name="Text 8"/>
          <p:cNvSpPr/>
          <p:nvPr/>
        </p:nvSpPr>
        <p:spPr>
          <a:xfrm>
            <a:off x="822960" y="3977640"/>
            <a:ext cx="4754880" cy="1188720"/>
          </a:xfrm>
          <a:prstGeom prst="rect">
            <a:avLst/>
          </a:prstGeom>
          <a:noFill/>
          <a:ln/>
        </p:spPr>
        <p:txBody>
          <a:bodyPr wrap="square" rtlCol="0" anchor="t"/>
          <a:lstStyle/>
          <a:p>
            <a:pPr marL="0" indent="0">
              <a:buNone/>
            </a:pPr>
            <a:r>
              <a:rPr lang="en-US" sz="1150" dirty="0">
                <a:solidFill>
                  <a:srgbClr val="EAF2FF"/>
                </a:solidFill>
                <a:latin typeface="Calibri" pitchFamily="34" charset="0"/>
                <a:ea typeface="Calibri" pitchFamily="34" charset="-122"/>
                <a:cs typeface="Calibri" pitchFamily="34" charset="-120"/>
              </a:rPr>
              <a:t>Decide finalidade e meios essenciais do tratamento. Em uma empresa de dados, geralmente e a propria organizacao, representada pela area de negocio ou produto.</a:t>
            </a:r>
            <a:endParaRPr lang="en-US" sz="1150" dirty="0"/>
          </a:p>
        </p:txBody>
      </p:sp>
      <p:sp>
        <p:nvSpPr>
          <p:cNvPr id="11" name="Shape 9"/>
          <p:cNvSpPr/>
          <p:nvPr/>
        </p:nvSpPr>
        <p:spPr>
          <a:xfrm>
            <a:off x="6080760" y="1737360"/>
            <a:ext cx="5532120" cy="3566160"/>
          </a:xfrm>
          <a:prstGeom prst="roundRect">
            <a:avLst>
              <a:gd name="adj" fmla="val 2308"/>
            </a:avLst>
          </a:prstGeom>
          <a:solidFill>
            <a:srgbClr val="2B2B2E"/>
          </a:solidFill>
          <a:ln/>
        </p:spPr>
        <p:txBody>
          <a:bodyPr/>
          <a:lstStyle/>
          <a:p>
            <a:endParaRPr lang="pt-BR"/>
          </a:p>
        </p:txBody>
      </p:sp>
      <p:sp>
        <p:nvSpPr>
          <p:cNvPr id="12" name="Text 10"/>
          <p:cNvSpPr/>
          <p:nvPr/>
        </p:nvSpPr>
        <p:spPr>
          <a:xfrm>
            <a:off x="6355080" y="1920240"/>
            <a:ext cx="4937760" cy="365760"/>
          </a:xfrm>
          <a:prstGeom prst="rect">
            <a:avLst/>
          </a:prstGeom>
          <a:noFill/>
          <a:ln/>
        </p:spPr>
        <p:txBody>
          <a:bodyPr wrap="square" rtlCol="0" anchor="ctr"/>
          <a:lstStyle/>
          <a:p>
            <a:pPr marL="0" indent="0">
              <a:buNone/>
            </a:pPr>
            <a:r>
              <a:rPr lang="en-US" sz="1300" b="1" kern="0" spc="100" dirty="0">
                <a:solidFill>
                  <a:srgbClr val="CADCFC"/>
                </a:solidFill>
                <a:latin typeface="Calibri" pitchFamily="34" charset="0"/>
                <a:ea typeface="Calibri" pitchFamily="34" charset="-122"/>
                <a:cs typeface="Calibri" pitchFamily="34" charset="-120"/>
              </a:rPr>
              <a:t>OPERADOR</a:t>
            </a:r>
            <a:endParaRPr lang="en-US" sz="1300" dirty="0"/>
          </a:p>
        </p:txBody>
      </p:sp>
      <p:sp>
        <p:nvSpPr>
          <p:cNvPr id="13" name="Text 11"/>
          <p:cNvSpPr/>
          <p:nvPr/>
        </p:nvSpPr>
        <p:spPr>
          <a:xfrm>
            <a:off x="6355080" y="2331720"/>
            <a:ext cx="4937760" cy="1188720"/>
          </a:xfrm>
          <a:prstGeom prst="rect">
            <a:avLst/>
          </a:prstGeom>
          <a:noFill/>
          <a:ln/>
        </p:spPr>
        <p:txBody>
          <a:bodyPr wrap="square" rtlCol="0" anchor="t"/>
          <a:lstStyle/>
          <a:p>
            <a:pPr marL="0" indent="0">
              <a:buNone/>
            </a:pPr>
            <a:r>
              <a:rPr lang="en-US" sz="1350" i="1" dirty="0">
                <a:solidFill>
                  <a:srgbClr val="FFFFFF"/>
                </a:solidFill>
                <a:latin typeface="Cambria" pitchFamily="34" charset="0"/>
                <a:ea typeface="Cambria" pitchFamily="34" charset="-122"/>
                <a:cs typeface="Cambria" pitchFamily="34" charset="-120"/>
              </a:rPr>
              <a:t>“Pessoa natural ou juridica, de direito publico ou privado, que realiza o tratamento de dados pessoais em nome do controlador.”</a:t>
            </a:r>
            <a:endParaRPr lang="en-US" sz="1350" dirty="0"/>
          </a:p>
        </p:txBody>
      </p:sp>
      <p:sp>
        <p:nvSpPr>
          <p:cNvPr id="14" name="Text 12"/>
          <p:cNvSpPr/>
          <p:nvPr/>
        </p:nvSpPr>
        <p:spPr>
          <a:xfrm>
            <a:off x="6355080" y="3520440"/>
            <a:ext cx="493776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Art. 5, inciso VII</a:t>
            </a:r>
            <a:endParaRPr lang="en-US" sz="1000" dirty="0"/>
          </a:p>
        </p:txBody>
      </p:sp>
      <p:sp>
        <p:nvSpPr>
          <p:cNvPr id="15" name="Text 13"/>
          <p:cNvSpPr/>
          <p:nvPr/>
        </p:nvSpPr>
        <p:spPr>
          <a:xfrm>
            <a:off x="6355080" y="3977640"/>
            <a:ext cx="4937760" cy="1188720"/>
          </a:xfrm>
          <a:prstGeom prst="rect">
            <a:avLst/>
          </a:prstGeom>
          <a:noFill/>
          <a:ln/>
        </p:spPr>
        <p:txBody>
          <a:bodyPr wrap="square" rtlCol="0" anchor="t"/>
          <a:lstStyle/>
          <a:p>
            <a:pPr marL="0" indent="0">
              <a:buNone/>
            </a:pPr>
            <a:r>
              <a:rPr lang="en-US" sz="1150" dirty="0">
                <a:solidFill>
                  <a:srgbClr val="EAF2FF"/>
                </a:solidFill>
                <a:latin typeface="Calibri" pitchFamily="34" charset="0"/>
                <a:ea typeface="Calibri" pitchFamily="34" charset="-122"/>
                <a:cs typeface="Calibri" pitchFamily="34" charset="-120"/>
              </a:rPr>
              <a:t>Exemplo direto: provedor de cloud, plataforma de CRM contratada ou consultoria de analytics que processa dados por conta de um cliente.</a:t>
            </a:r>
            <a:endParaRPr lang="en-US" sz="1150" dirty="0"/>
          </a:p>
        </p:txBody>
      </p:sp>
      <p:sp>
        <p:nvSpPr>
          <p:cNvPr id="16" name="Text 14"/>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5A5A5E"/>
                </a:solidFill>
                <a:latin typeface="Calibri" pitchFamily="34" charset="0"/>
                <a:ea typeface="Calibri" pitchFamily="34" charset="-122"/>
                <a:cs typeface="Calibri" pitchFamily="34" charset="-120"/>
              </a:rPr>
              <a:t>LGPD PARA CIENCIA DE DADOS</a:t>
            </a:r>
            <a:endParaRPr lang="en-US" sz="900" dirty="0"/>
          </a:p>
        </p:txBody>
      </p:sp>
      <p:sp>
        <p:nvSpPr>
          <p:cNvPr id="17" name="Text 15"/>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DIREITOS DO TITULAR</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EXERCICIO RAPIDO · 5 MIN</a:t>
            </a:r>
            <a:endParaRPr lang="en-US" sz="1300" dirty="0"/>
          </a:p>
        </p:txBody>
      </p:sp>
      <p:sp>
        <p:nvSpPr>
          <p:cNvPr id="5" name="Text 3"/>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2B2B2E"/>
                </a:solidFill>
                <a:latin typeface="Cambria" pitchFamily="34" charset="0"/>
                <a:ea typeface="Cambria" pitchFamily="34" charset="-122"/>
                <a:cs typeface="Cambria" pitchFamily="34" charset="-120"/>
              </a:rPr>
              <a:t>Mini-caso para reflexao</a:t>
            </a:r>
            <a:endParaRPr lang="en-US" sz="2800" dirty="0"/>
          </a:p>
        </p:txBody>
      </p:sp>
      <p:sp>
        <p:nvSpPr>
          <p:cNvPr id="6" name="Shape 4"/>
          <p:cNvSpPr/>
          <p:nvPr/>
        </p:nvSpPr>
        <p:spPr>
          <a:xfrm>
            <a:off x="548640" y="1600200"/>
            <a:ext cx="11064240" cy="1737360"/>
          </a:xfrm>
          <a:prstGeom prst="roundRect">
            <a:avLst>
              <a:gd name="adj" fmla="val 4737"/>
            </a:avLst>
          </a:prstGeom>
          <a:solidFill>
            <a:srgbClr val="FFFFFF"/>
          </a:solidFill>
          <a:ln/>
        </p:spPr>
        <p:txBody>
          <a:bodyPr/>
          <a:lstStyle/>
          <a:p>
            <a:endParaRPr lang="pt-BR"/>
          </a:p>
        </p:txBody>
      </p:sp>
      <p:sp>
        <p:nvSpPr>
          <p:cNvPr id="7" name="Text 5"/>
          <p:cNvSpPr/>
          <p:nvPr/>
        </p:nvSpPr>
        <p:spPr>
          <a:xfrm>
            <a:off x="914400" y="1783080"/>
            <a:ext cx="10332720" cy="685800"/>
          </a:xfrm>
          <a:prstGeom prst="rect">
            <a:avLst/>
          </a:prstGeom>
          <a:noFill/>
          <a:ln/>
        </p:spPr>
        <p:txBody>
          <a:bodyPr wrap="square" rtlCol="0" anchor="ctr"/>
          <a:lstStyle/>
          <a:p>
            <a:pPr marL="0" indent="0">
              <a:buNone/>
            </a:pPr>
            <a:r>
              <a:rPr lang="en-US" sz="1800" i="1" dirty="0">
                <a:solidFill>
                  <a:srgbClr val="1E2761"/>
                </a:solidFill>
                <a:latin typeface="Cambria" pitchFamily="34" charset="0"/>
                <a:ea typeface="Cambria" pitchFamily="34" charset="-122"/>
                <a:cs typeface="Cambria" pitchFamily="34" charset="-120"/>
              </a:rPr>
              <a:t>Uma fintech usa um modelo de machine learning para negar automaticamente um pedido de cartao de credito.</a:t>
            </a:r>
            <a:endParaRPr lang="en-US" sz="1800" dirty="0"/>
          </a:p>
        </p:txBody>
      </p:sp>
      <p:sp>
        <p:nvSpPr>
          <p:cNvPr id="8" name="Shape 6"/>
          <p:cNvSpPr/>
          <p:nvPr/>
        </p:nvSpPr>
        <p:spPr>
          <a:xfrm>
            <a:off x="914400" y="2514600"/>
            <a:ext cx="10332720" cy="0"/>
          </a:xfrm>
          <a:prstGeom prst="line">
            <a:avLst/>
          </a:prstGeom>
          <a:noFill/>
          <a:ln w="12700">
            <a:solidFill>
              <a:srgbClr val="1E2761"/>
            </a:solidFill>
            <a:prstDash val="solid"/>
          </a:ln>
        </p:spPr>
        <p:txBody>
          <a:bodyPr/>
          <a:lstStyle/>
          <a:p>
            <a:endParaRPr lang="pt-BR"/>
          </a:p>
        </p:txBody>
      </p:sp>
      <p:sp>
        <p:nvSpPr>
          <p:cNvPr id="9" name="Text 7"/>
          <p:cNvSpPr/>
          <p:nvPr/>
        </p:nvSpPr>
        <p:spPr>
          <a:xfrm>
            <a:off x="914400" y="2651760"/>
            <a:ext cx="10332720" cy="548640"/>
          </a:xfrm>
          <a:prstGeom prst="rect">
            <a:avLst/>
          </a:prstGeom>
          <a:noFill/>
          <a:ln/>
        </p:spPr>
        <p:txBody>
          <a:bodyPr wrap="square" rtlCol="0" anchor="ctr"/>
          <a:lstStyle/>
          <a:p>
            <a:pPr marL="0" indent="0">
              <a:buNone/>
            </a:pPr>
            <a:r>
              <a:rPr lang="en-US" sz="1350" dirty="0">
                <a:solidFill>
                  <a:srgbClr val="2B2B2E"/>
                </a:solidFill>
                <a:latin typeface="Calibri" pitchFamily="34" charset="0"/>
                <a:ea typeface="Calibri" pitchFamily="34" charset="-122"/>
                <a:cs typeface="Calibri" pitchFamily="34" charset="-120"/>
              </a:rPr>
              <a:t>Quais direitos dos Art. 18 e Art. 20 esse titular pode exercer?</a:t>
            </a:r>
            <a:endParaRPr lang="en-US" sz="1350" dirty="0"/>
          </a:p>
        </p:txBody>
      </p:sp>
      <p:sp>
        <p:nvSpPr>
          <p:cNvPr id="10" name="Text 8"/>
          <p:cNvSpPr/>
          <p:nvPr/>
        </p:nvSpPr>
        <p:spPr>
          <a:xfrm>
            <a:off x="548640" y="3749040"/>
            <a:ext cx="11064240" cy="9144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O que a equipe de dados precisaria ter preparado de antemao para responder a essas exigencias?</a:t>
            </a:r>
            <a:endParaRPr lang="en-US" sz="1600" dirty="0"/>
          </a:p>
        </p:txBody>
      </p:sp>
      <p:sp>
        <p:nvSpPr>
          <p:cNvPr id="12" name="Text 10"/>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DEVERES E DPO</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ART. 39, LGPD</a:t>
            </a:r>
            <a:endParaRPr lang="en-US" sz="1300" dirty="0"/>
          </a:p>
        </p:txBody>
      </p:sp>
      <p:sp>
        <p:nvSpPr>
          <p:cNvPr id="5" name="Text 3"/>
          <p:cNvSpPr/>
          <p:nvPr/>
        </p:nvSpPr>
        <p:spPr>
          <a:xfrm>
            <a:off x="548640" y="777240"/>
            <a:ext cx="9601200" cy="548640"/>
          </a:xfrm>
          <a:prstGeom prst="rect">
            <a:avLst/>
          </a:prstGeom>
          <a:noFill/>
          <a:ln/>
        </p:spPr>
        <p:txBody>
          <a:bodyPr wrap="square" rtlCol="0" anchor="ctr"/>
          <a:lstStyle/>
          <a:p>
            <a:pPr marL="0" indent="0">
              <a:buNone/>
            </a:pPr>
            <a:r>
              <a:rPr lang="en-US" sz="2700" b="1" dirty="0">
                <a:solidFill>
                  <a:srgbClr val="2B2B2E"/>
                </a:solidFill>
                <a:latin typeface="Cambria" pitchFamily="34" charset="0"/>
                <a:ea typeface="Cambria" pitchFamily="34" charset="-122"/>
                <a:cs typeface="Cambria" pitchFamily="34" charset="-120"/>
              </a:rPr>
              <a:t>A relacao entre controlador e operador</a:t>
            </a:r>
            <a:endParaRPr lang="en-US" sz="2700" dirty="0"/>
          </a:p>
        </p:txBody>
      </p:sp>
      <p:sp>
        <p:nvSpPr>
          <p:cNvPr id="6" name="Shape 4"/>
          <p:cNvSpPr/>
          <p:nvPr/>
        </p:nvSpPr>
        <p:spPr>
          <a:xfrm>
            <a:off x="548640" y="1691640"/>
            <a:ext cx="11064240" cy="1600200"/>
          </a:xfrm>
          <a:prstGeom prst="roundRect">
            <a:avLst>
              <a:gd name="adj" fmla="val 4571"/>
            </a:avLst>
          </a:prstGeom>
          <a:solidFill>
            <a:srgbClr val="F4F6FB"/>
          </a:solidFill>
          <a:ln/>
        </p:spPr>
        <p:txBody>
          <a:bodyPr/>
          <a:lstStyle/>
          <a:p>
            <a:endParaRPr lang="pt-BR"/>
          </a:p>
        </p:txBody>
      </p:sp>
      <p:sp>
        <p:nvSpPr>
          <p:cNvPr id="7" name="Text 5"/>
          <p:cNvSpPr/>
          <p:nvPr/>
        </p:nvSpPr>
        <p:spPr>
          <a:xfrm>
            <a:off x="868680" y="1874520"/>
            <a:ext cx="10424160" cy="1234440"/>
          </a:xfrm>
          <a:prstGeom prst="rect">
            <a:avLst/>
          </a:prstGeom>
          <a:noFill/>
          <a:ln/>
        </p:spPr>
        <p:txBody>
          <a:bodyPr wrap="square" rtlCol="0" anchor="ctr"/>
          <a:lstStyle/>
          <a:p>
            <a:pPr marL="0" indent="0">
              <a:buNone/>
            </a:pPr>
            <a:r>
              <a:rPr lang="en-US" sz="1500" i="1" dirty="0">
                <a:solidFill>
                  <a:srgbClr val="1E2761"/>
                </a:solidFill>
                <a:latin typeface="Cambria" pitchFamily="34" charset="0"/>
                <a:ea typeface="Cambria" pitchFamily="34" charset="-122"/>
                <a:cs typeface="Cambria" pitchFamily="34" charset="-120"/>
              </a:rPr>
              <a:t>“O operador devera realizar o tratamento segundo as instrucoes fornecidas pelo controlador, que verificara a observancia das proprias instrucoes e das normas sobre a materia.”</a:t>
            </a:r>
            <a:endParaRPr lang="en-US" sz="1500" dirty="0"/>
          </a:p>
        </p:txBody>
      </p:sp>
      <p:sp>
        <p:nvSpPr>
          <p:cNvPr id="8" name="Text 6"/>
          <p:cNvSpPr/>
          <p:nvPr/>
        </p:nvSpPr>
        <p:spPr>
          <a:xfrm>
            <a:off x="548640" y="3520440"/>
            <a:ext cx="11064240" cy="457200"/>
          </a:xfrm>
          <a:prstGeom prst="rect">
            <a:avLst/>
          </a:prstGeom>
          <a:noFill/>
          <a:ln/>
        </p:spPr>
        <p:txBody>
          <a:bodyPr wrap="square" rtlCol="0" anchor="ctr"/>
          <a:lstStyle/>
          <a:p>
            <a:pPr marL="0" indent="0">
              <a:buNone/>
            </a:pPr>
            <a:r>
              <a:rPr lang="en-US" sz="1300" i="1" dirty="0">
                <a:solidFill>
                  <a:srgbClr val="5A5A5E"/>
                </a:solidFill>
                <a:latin typeface="Calibri" pitchFamily="34" charset="0"/>
                <a:ea typeface="Calibri" pitchFamily="34" charset="-122"/>
                <a:cs typeface="Calibri" pitchFamily="34" charset="-120"/>
              </a:rPr>
              <a:t>Na pratica: o operador nao decide, apenas executa segundo instrucao documentada. O controlador tem o dever de fiscalizar essa execucao.</a:t>
            </a:r>
            <a:endParaRPr lang="en-US" sz="1300" dirty="0"/>
          </a:p>
        </p:txBody>
      </p:sp>
      <p:sp>
        <p:nvSpPr>
          <p:cNvPr id="9" name="Shape 7"/>
          <p:cNvSpPr/>
          <p:nvPr/>
        </p:nvSpPr>
        <p:spPr>
          <a:xfrm>
            <a:off x="548640" y="4206240"/>
            <a:ext cx="11064240" cy="1691640"/>
          </a:xfrm>
          <a:prstGeom prst="roundRect">
            <a:avLst>
              <a:gd name="adj" fmla="val 4324"/>
            </a:avLst>
          </a:prstGeom>
          <a:solidFill>
            <a:srgbClr val="2B2B2E"/>
          </a:solidFill>
          <a:ln/>
        </p:spPr>
        <p:txBody>
          <a:bodyPr/>
          <a:lstStyle/>
          <a:p>
            <a:endParaRPr lang="pt-BR"/>
          </a:p>
        </p:txBody>
      </p:sp>
      <p:sp>
        <p:nvSpPr>
          <p:cNvPr id="10" name="Text 8"/>
          <p:cNvSpPr/>
          <p:nvPr/>
        </p:nvSpPr>
        <p:spPr>
          <a:xfrm>
            <a:off x="868680" y="4389120"/>
            <a:ext cx="10424160" cy="36576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Data Processing Agreements (DPA)</a:t>
            </a:r>
            <a:endParaRPr lang="en-US" sz="1300" dirty="0"/>
          </a:p>
        </p:txBody>
      </p:sp>
      <p:sp>
        <p:nvSpPr>
          <p:cNvPr id="11" name="Text 9"/>
          <p:cNvSpPr/>
          <p:nvPr/>
        </p:nvSpPr>
        <p:spPr>
          <a:xfrm>
            <a:off x="868680" y="4800600"/>
            <a:ext cx="10424160" cy="1005840"/>
          </a:xfrm>
          <a:prstGeom prst="rect">
            <a:avLst/>
          </a:prstGeom>
          <a:noFill/>
          <a:ln/>
        </p:spPr>
        <p:txBody>
          <a:bodyPr wrap="square" rtlCol="0" anchor="t"/>
          <a:lstStyle/>
          <a:p>
            <a:pPr marL="0" indent="0">
              <a:buNone/>
            </a:pPr>
            <a:r>
              <a:rPr lang="en-US" sz="1200" dirty="0">
                <a:solidFill>
                  <a:srgbClr val="EAF2FF"/>
                </a:solidFill>
                <a:latin typeface="Calibri" pitchFamily="34" charset="0"/>
                <a:ea typeface="Calibri" pitchFamily="34" charset="-122"/>
                <a:cs typeface="Calibri" pitchFamily="34" charset="-120"/>
              </a:rPr>
              <a:t>Essa distincao determina responsabilidades e exposicao a sancoes distintas. Na pratica, corresponde a clausulas contratuais de protecao de dados entre empresas de tecnologia e seus fornecedores de infraestrutura ou servicos de dados, definindo escopo, finalidade e limites do tratamento delegado.</a:t>
            </a:r>
            <a:endParaRPr lang="en-US" sz="1200" dirty="0"/>
          </a:p>
        </p:txBody>
      </p:sp>
      <p:sp>
        <p:nvSpPr>
          <p:cNvPr id="13" name="Text 11"/>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BLOCO 2  ·  DEVERES E DPO</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DEVERES COM IMPLICACAO TECNICA DIRETA</a:t>
            </a:r>
            <a:endParaRPr lang="en-US" sz="1300" dirty="0"/>
          </a:p>
        </p:txBody>
      </p:sp>
      <p:sp>
        <p:nvSpPr>
          <p:cNvPr id="5" name="Text 3"/>
          <p:cNvSpPr/>
          <p:nvPr/>
        </p:nvSpPr>
        <p:spPr>
          <a:xfrm>
            <a:off x="548640" y="777240"/>
            <a:ext cx="10515600" cy="594360"/>
          </a:xfrm>
          <a:prstGeom prst="rect">
            <a:avLst/>
          </a:prstGeom>
          <a:noFill/>
          <a:ln/>
        </p:spPr>
        <p:txBody>
          <a:bodyPr wrap="square" rtlCol="0" anchor="ctr"/>
          <a:lstStyle/>
          <a:p>
            <a:pPr marL="0" indent="0">
              <a:buNone/>
            </a:pPr>
            <a:r>
              <a:rPr lang="en-US" sz="2500" b="1" dirty="0">
                <a:solidFill>
                  <a:srgbClr val="2B2B2E"/>
                </a:solidFill>
                <a:latin typeface="Cambria" pitchFamily="34" charset="0"/>
                <a:ea typeface="Cambria" pitchFamily="34" charset="-122"/>
                <a:cs typeface="Cambria" pitchFamily="34" charset="-120"/>
              </a:rPr>
              <a:t>Registro, seguranca e comunicacao de incidentes</a:t>
            </a:r>
            <a:endParaRPr lang="en-US" sz="2500" dirty="0"/>
          </a:p>
        </p:txBody>
      </p:sp>
      <p:sp>
        <p:nvSpPr>
          <p:cNvPr id="6" name="Shape 4"/>
          <p:cNvSpPr/>
          <p:nvPr/>
        </p:nvSpPr>
        <p:spPr>
          <a:xfrm>
            <a:off x="548640" y="1554480"/>
            <a:ext cx="3611880" cy="4343400"/>
          </a:xfrm>
          <a:prstGeom prst="roundRect">
            <a:avLst>
              <a:gd name="adj" fmla="val 2025"/>
            </a:avLst>
          </a:prstGeom>
          <a:solidFill>
            <a:srgbClr val="F4F6FB"/>
          </a:solidFill>
          <a:ln/>
        </p:spPr>
        <p:txBody>
          <a:bodyPr/>
          <a:lstStyle/>
          <a:p>
            <a:endParaRPr lang="pt-BR"/>
          </a:p>
        </p:txBody>
      </p:sp>
      <p:sp>
        <p:nvSpPr>
          <p:cNvPr id="7" name="Shape 5"/>
          <p:cNvSpPr/>
          <p:nvPr/>
        </p:nvSpPr>
        <p:spPr>
          <a:xfrm>
            <a:off x="749808" y="1755648"/>
            <a:ext cx="1188720" cy="384048"/>
          </a:xfrm>
          <a:prstGeom prst="roundRect">
            <a:avLst>
              <a:gd name="adj" fmla="val 47619"/>
            </a:avLst>
          </a:prstGeom>
          <a:solidFill>
            <a:srgbClr val="1E2761"/>
          </a:solidFill>
          <a:ln/>
        </p:spPr>
        <p:txBody>
          <a:bodyPr/>
          <a:lstStyle/>
          <a:p>
            <a:endParaRPr lang="pt-BR"/>
          </a:p>
        </p:txBody>
      </p:sp>
      <p:sp>
        <p:nvSpPr>
          <p:cNvPr id="8" name="Text 6"/>
          <p:cNvSpPr/>
          <p:nvPr/>
        </p:nvSpPr>
        <p:spPr>
          <a:xfrm>
            <a:off x="749808" y="1755648"/>
            <a:ext cx="118872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Art. 37</a:t>
            </a:r>
            <a:endParaRPr lang="en-US" sz="1150" dirty="0"/>
          </a:p>
        </p:txBody>
      </p:sp>
      <p:sp>
        <p:nvSpPr>
          <p:cNvPr id="9" name="Text 7"/>
          <p:cNvSpPr/>
          <p:nvPr/>
        </p:nvSpPr>
        <p:spPr>
          <a:xfrm>
            <a:off x="749808" y="2267712"/>
            <a:ext cx="3209544" cy="502920"/>
          </a:xfrm>
          <a:prstGeom prst="rect">
            <a:avLst/>
          </a:prstGeom>
          <a:noFill/>
          <a:ln/>
        </p:spPr>
        <p:txBody>
          <a:bodyPr wrap="square" rtlCol="0" anchor="t"/>
          <a:lstStyle/>
          <a:p>
            <a:pPr marL="0" indent="0">
              <a:buNone/>
            </a:pPr>
            <a:r>
              <a:rPr lang="en-US" sz="1550" b="1" dirty="0">
                <a:solidFill>
                  <a:srgbClr val="2B2B2E"/>
                </a:solidFill>
                <a:latin typeface="Cambria" pitchFamily="34" charset="0"/>
                <a:ea typeface="Cambria" pitchFamily="34" charset="-122"/>
                <a:cs typeface="Cambria" pitchFamily="34" charset="-120"/>
              </a:rPr>
              <a:t>Registro das operacoes</a:t>
            </a:r>
            <a:endParaRPr lang="en-US" sz="1550" dirty="0"/>
          </a:p>
        </p:txBody>
      </p:sp>
      <p:sp>
        <p:nvSpPr>
          <p:cNvPr id="10" name="Text 8"/>
          <p:cNvSpPr/>
          <p:nvPr/>
        </p:nvSpPr>
        <p:spPr>
          <a:xfrm>
            <a:off x="749808" y="2788920"/>
            <a:ext cx="3209544" cy="1691640"/>
          </a:xfrm>
          <a:prstGeom prst="rect">
            <a:avLst/>
          </a:prstGeom>
          <a:noFill/>
          <a:ln/>
        </p:spPr>
        <p:txBody>
          <a:bodyPr wrap="square" rtlCol="0" anchor="t"/>
          <a:lstStyle/>
          <a:p>
            <a:pPr marL="0" indent="0">
              <a:buNone/>
            </a:pPr>
            <a:r>
              <a:rPr lang="en-US" sz="1000" i="1" dirty="0">
                <a:solidFill>
                  <a:srgbClr val="5A5A5E"/>
                </a:solidFill>
                <a:latin typeface="Calibri" pitchFamily="34" charset="0"/>
                <a:ea typeface="Calibri" pitchFamily="34" charset="-122"/>
                <a:cs typeface="Calibri" pitchFamily="34" charset="-120"/>
              </a:rPr>
              <a:t>“O controlador e o operador devem manter registro das operacoes de tratamento de dados pessoais que realizarem, especialmente quando baseado no legitimo interesse.”</a:t>
            </a:r>
            <a:endParaRPr lang="en-US" sz="1000" dirty="0"/>
          </a:p>
        </p:txBody>
      </p:sp>
      <p:sp>
        <p:nvSpPr>
          <p:cNvPr id="11" name="Shape 9"/>
          <p:cNvSpPr/>
          <p:nvPr/>
        </p:nvSpPr>
        <p:spPr>
          <a:xfrm>
            <a:off x="749808" y="4526280"/>
            <a:ext cx="3209544" cy="0"/>
          </a:xfrm>
          <a:prstGeom prst="line">
            <a:avLst/>
          </a:prstGeom>
          <a:noFill/>
          <a:ln w="9525">
            <a:solidFill>
              <a:srgbClr val="1E2761"/>
            </a:solidFill>
            <a:prstDash val="solid"/>
          </a:ln>
        </p:spPr>
        <p:txBody>
          <a:bodyPr/>
          <a:lstStyle/>
          <a:p>
            <a:endParaRPr lang="pt-BR"/>
          </a:p>
        </p:txBody>
      </p:sp>
      <p:sp>
        <p:nvSpPr>
          <p:cNvPr id="12" name="Text 10"/>
          <p:cNvSpPr/>
          <p:nvPr/>
        </p:nvSpPr>
        <p:spPr>
          <a:xfrm>
            <a:off x="749808" y="4663440"/>
            <a:ext cx="3209544" cy="1143000"/>
          </a:xfrm>
          <a:prstGeom prst="rect">
            <a:avLst/>
          </a:prstGeom>
          <a:noFill/>
          <a:ln/>
        </p:spPr>
        <p:txBody>
          <a:bodyPr wrap="square" rtlCol="0" anchor="t"/>
          <a:lstStyle/>
          <a:p>
            <a:pPr marL="0" indent="0">
              <a:buNone/>
            </a:pPr>
            <a:r>
              <a:rPr lang="en-US" sz="1000" dirty="0">
                <a:solidFill>
                  <a:srgbClr val="2B2B2E"/>
                </a:solidFill>
                <a:latin typeface="Calibri" pitchFamily="34" charset="0"/>
                <a:ea typeface="Calibri" pitchFamily="34" charset="-122"/>
                <a:cs typeface="Calibri" pitchFamily="34" charset="-120"/>
              </a:rPr>
              <a:t>Inventario de dados (data mapping): quais dados, com qual finalidade, base legal, retencao e compartilhamento. Data catalog: </a:t>
            </a:r>
            <a:r>
              <a:rPr lang="en-US" sz="1000" dirty="0" err="1">
                <a:solidFill>
                  <a:srgbClr val="2B2B2E"/>
                </a:solidFill>
                <a:latin typeface="Calibri" pitchFamily="34" charset="0"/>
                <a:ea typeface="Calibri" pitchFamily="34" charset="-122"/>
                <a:cs typeface="Calibri" pitchFamily="34" charset="-120"/>
              </a:rPr>
              <a:t>infraestrutura</a:t>
            </a:r>
            <a:r>
              <a:rPr lang="en-US" sz="1000" dirty="0">
                <a:solidFill>
                  <a:srgbClr val="2B2B2E"/>
                </a:solidFill>
                <a:latin typeface="Calibri" pitchFamily="34" charset="0"/>
                <a:ea typeface="Calibri" pitchFamily="34" charset="-122"/>
                <a:cs typeface="Calibri" pitchFamily="34" charset="-120"/>
              </a:rPr>
              <a:t> tecnica desse dever.</a:t>
            </a:r>
            <a:endParaRPr lang="en-US" sz="1000" dirty="0"/>
          </a:p>
        </p:txBody>
      </p:sp>
      <p:sp>
        <p:nvSpPr>
          <p:cNvPr id="13" name="Shape 11"/>
          <p:cNvSpPr/>
          <p:nvPr/>
        </p:nvSpPr>
        <p:spPr>
          <a:xfrm>
            <a:off x="4343400" y="1554480"/>
            <a:ext cx="3611880" cy="4343400"/>
          </a:xfrm>
          <a:prstGeom prst="roundRect">
            <a:avLst>
              <a:gd name="adj" fmla="val 2025"/>
            </a:avLst>
          </a:prstGeom>
          <a:solidFill>
            <a:srgbClr val="F4F6FB"/>
          </a:solidFill>
          <a:ln/>
        </p:spPr>
        <p:txBody>
          <a:bodyPr/>
          <a:lstStyle/>
          <a:p>
            <a:endParaRPr lang="pt-BR"/>
          </a:p>
        </p:txBody>
      </p:sp>
      <p:sp>
        <p:nvSpPr>
          <p:cNvPr id="14" name="Shape 12"/>
          <p:cNvSpPr/>
          <p:nvPr/>
        </p:nvSpPr>
        <p:spPr>
          <a:xfrm>
            <a:off x="4544568" y="1755648"/>
            <a:ext cx="1188720" cy="384048"/>
          </a:xfrm>
          <a:prstGeom prst="roundRect">
            <a:avLst>
              <a:gd name="adj" fmla="val 47619"/>
            </a:avLst>
          </a:prstGeom>
          <a:solidFill>
            <a:srgbClr val="1E2761"/>
          </a:solidFill>
          <a:ln/>
        </p:spPr>
        <p:txBody>
          <a:bodyPr/>
          <a:lstStyle/>
          <a:p>
            <a:endParaRPr lang="pt-BR"/>
          </a:p>
        </p:txBody>
      </p:sp>
      <p:sp>
        <p:nvSpPr>
          <p:cNvPr id="15" name="Text 13"/>
          <p:cNvSpPr/>
          <p:nvPr/>
        </p:nvSpPr>
        <p:spPr>
          <a:xfrm>
            <a:off x="4544568" y="1755648"/>
            <a:ext cx="118872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Art. 46</a:t>
            </a:r>
            <a:endParaRPr lang="en-US" sz="1150" dirty="0"/>
          </a:p>
        </p:txBody>
      </p:sp>
      <p:sp>
        <p:nvSpPr>
          <p:cNvPr id="16" name="Text 14"/>
          <p:cNvSpPr/>
          <p:nvPr/>
        </p:nvSpPr>
        <p:spPr>
          <a:xfrm>
            <a:off x="4544568" y="2267712"/>
            <a:ext cx="3209544" cy="502920"/>
          </a:xfrm>
          <a:prstGeom prst="rect">
            <a:avLst/>
          </a:prstGeom>
          <a:noFill/>
          <a:ln/>
        </p:spPr>
        <p:txBody>
          <a:bodyPr wrap="square" rtlCol="0" anchor="t"/>
          <a:lstStyle/>
          <a:p>
            <a:pPr marL="0" indent="0">
              <a:buNone/>
            </a:pPr>
            <a:r>
              <a:rPr lang="en-US" sz="1550" b="1" dirty="0">
                <a:solidFill>
                  <a:srgbClr val="2B2B2E"/>
                </a:solidFill>
                <a:latin typeface="Cambria" pitchFamily="34" charset="0"/>
                <a:ea typeface="Cambria" pitchFamily="34" charset="-122"/>
                <a:cs typeface="Cambria" pitchFamily="34" charset="-120"/>
              </a:rPr>
              <a:t>Seguranca da informacao</a:t>
            </a:r>
            <a:endParaRPr lang="en-US" sz="1550" dirty="0"/>
          </a:p>
        </p:txBody>
      </p:sp>
      <p:sp>
        <p:nvSpPr>
          <p:cNvPr id="17" name="Text 15"/>
          <p:cNvSpPr/>
          <p:nvPr/>
        </p:nvSpPr>
        <p:spPr>
          <a:xfrm>
            <a:off x="4544568" y="2788920"/>
            <a:ext cx="3209544" cy="1691640"/>
          </a:xfrm>
          <a:prstGeom prst="rect">
            <a:avLst/>
          </a:prstGeom>
          <a:noFill/>
          <a:ln/>
        </p:spPr>
        <p:txBody>
          <a:bodyPr wrap="square" rtlCol="0" anchor="t"/>
          <a:lstStyle/>
          <a:p>
            <a:pPr marL="0" indent="0">
              <a:buNone/>
            </a:pPr>
            <a:r>
              <a:rPr lang="en-US" sz="1000" i="1" dirty="0">
                <a:solidFill>
                  <a:srgbClr val="5A5A5E"/>
                </a:solidFill>
                <a:latin typeface="Calibri" pitchFamily="34" charset="0"/>
                <a:ea typeface="Calibri" pitchFamily="34" charset="-122"/>
                <a:cs typeface="Calibri" pitchFamily="34" charset="-120"/>
              </a:rPr>
              <a:t>“Os agentes de tratamento devem adotar medidas de seguranca, tecnicas e administrativas aptas a proteger os dados pessoais de acessos nao autorizados e de situacoes acidentais ou ilicitas.”</a:t>
            </a:r>
            <a:endParaRPr lang="en-US" sz="1000" dirty="0"/>
          </a:p>
        </p:txBody>
      </p:sp>
      <p:sp>
        <p:nvSpPr>
          <p:cNvPr id="18" name="Shape 16"/>
          <p:cNvSpPr/>
          <p:nvPr/>
        </p:nvSpPr>
        <p:spPr>
          <a:xfrm>
            <a:off x="4544568" y="4526280"/>
            <a:ext cx="3209544" cy="0"/>
          </a:xfrm>
          <a:prstGeom prst="line">
            <a:avLst/>
          </a:prstGeom>
          <a:noFill/>
          <a:ln w="9525">
            <a:solidFill>
              <a:srgbClr val="1E2761"/>
            </a:solidFill>
            <a:prstDash val="solid"/>
          </a:ln>
        </p:spPr>
        <p:txBody>
          <a:bodyPr/>
          <a:lstStyle/>
          <a:p>
            <a:endParaRPr lang="pt-BR"/>
          </a:p>
        </p:txBody>
      </p:sp>
      <p:sp>
        <p:nvSpPr>
          <p:cNvPr id="19" name="Text 17"/>
          <p:cNvSpPr/>
          <p:nvPr/>
        </p:nvSpPr>
        <p:spPr>
          <a:xfrm>
            <a:off x="4544568" y="4663440"/>
            <a:ext cx="3209544" cy="1143000"/>
          </a:xfrm>
          <a:prstGeom prst="rect">
            <a:avLst/>
          </a:prstGeom>
          <a:noFill/>
          <a:ln/>
        </p:spPr>
        <p:txBody>
          <a:bodyPr wrap="square" rtlCol="0" anchor="t"/>
          <a:lstStyle/>
          <a:p>
            <a:pPr marL="0" indent="0">
              <a:buNone/>
            </a:pPr>
            <a:r>
              <a:rPr lang="en-US" sz="1000" dirty="0" err="1">
                <a:solidFill>
                  <a:srgbClr val="2B2B2E"/>
                </a:solidFill>
                <a:latin typeface="Calibri" pitchFamily="34" charset="0"/>
                <a:ea typeface="Calibri" pitchFamily="34" charset="-122"/>
                <a:cs typeface="Calibri" pitchFamily="34" charset="-120"/>
              </a:rPr>
              <a:t>Criptografia</a:t>
            </a:r>
            <a:r>
              <a:rPr lang="en-US" sz="1000" dirty="0">
                <a:solidFill>
                  <a:srgbClr val="2B2B2E"/>
                </a:solidFill>
                <a:latin typeface="Calibri" pitchFamily="34" charset="0"/>
                <a:ea typeface="Calibri" pitchFamily="34" charset="-122"/>
                <a:cs typeface="Calibri" pitchFamily="34" charset="-120"/>
              </a:rPr>
              <a:t> em repouso e em transito, mascaramento de dados sensiveis em dev/teste e logs de auditoria de acesso a bases com dados pessoais.</a:t>
            </a:r>
            <a:endParaRPr lang="en-US" sz="1000" dirty="0"/>
          </a:p>
        </p:txBody>
      </p:sp>
      <p:sp>
        <p:nvSpPr>
          <p:cNvPr id="20" name="Shape 18"/>
          <p:cNvSpPr/>
          <p:nvPr/>
        </p:nvSpPr>
        <p:spPr>
          <a:xfrm>
            <a:off x="8138160" y="1554480"/>
            <a:ext cx="3611880" cy="4343400"/>
          </a:xfrm>
          <a:prstGeom prst="roundRect">
            <a:avLst>
              <a:gd name="adj" fmla="val 2025"/>
            </a:avLst>
          </a:prstGeom>
          <a:solidFill>
            <a:srgbClr val="F4F6FB"/>
          </a:solidFill>
          <a:ln/>
        </p:spPr>
        <p:txBody>
          <a:bodyPr/>
          <a:lstStyle/>
          <a:p>
            <a:endParaRPr lang="pt-BR"/>
          </a:p>
        </p:txBody>
      </p:sp>
      <p:sp>
        <p:nvSpPr>
          <p:cNvPr id="21" name="Shape 19"/>
          <p:cNvSpPr/>
          <p:nvPr/>
        </p:nvSpPr>
        <p:spPr>
          <a:xfrm>
            <a:off x="8339328" y="1755648"/>
            <a:ext cx="1188720" cy="384048"/>
          </a:xfrm>
          <a:prstGeom prst="roundRect">
            <a:avLst>
              <a:gd name="adj" fmla="val 47619"/>
            </a:avLst>
          </a:prstGeom>
          <a:solidFill>
            <a:srgbClr val="1E2761"/>
          </a:solidFill>
          <a:ln/>
        </p:spPr>
        <p:txBody>
          <a:bodyPr/>
          <a:lstStyle/>
          <a:p>
            <a:endParaRPr lang="pt-BR"/>
          </a:p>
        </p:txBody>
      </p:sp>
      <p:sp>
        <p:nvSpPr>
          <p:cNvPr id="22" name="Text 20"/>
          <p:cNvSpPr/>
          <p:nvPr/>
        </p:nvSpPr>
        <p:spPr>
          <a:xfrm>
            <a:off x="8339328" y="1755648"/>
            <a:ext cx="118872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Art. 48</a:t>
            </a:r>
            <a:endParaRPr lang="en-US" sz="1150" dirty="0"/>
          </a:p>
        </p:txBody>
      </p:sp>
      <p:sp>
        <p:nvSpPr>
          <p:cNvPr id="23" name="Text 21"/>
          <p:cNvSpPr/>
          <p:nvPr/>
        </p:nvSpPr>
        <p:spPr>
          <a:xfrm>
            <a:off x="8339328" y="2267712"/>
            <a:ext cx="3209544" cy="502920"/>
          </a:xfrm>
          <a:prstGeom prst="rect">
            <a:avLst/>
          </a:prstGeom>
          <a:noFill/>
          <a:ln/>
        </p:spPr>
        <p:txBody>
          <a:bodyPr wrap="square" rtlCol="0" anchor="t"/>
          <a:lstStyle/>
          <a:p>
            <a:pPr marL="0" indent="0">
              <a:buNone/>
            </a:pPr>
            <a:r>
              <a:rPr lang="en-US" sz="1550" b="1" dirty="0">
                <a:solidFill>
                  <a:srgbClr val="2B2B2E"/>
                </a:solidFill>
                <a:latin typeface="Cambria" pitchFamily="34" charset="0"/>
                <a:ea typeface="Cambria" pitchFamily="34" charset="-122"/>
                <a:cs typeface="Cambria" pitchFamily="34" charset="-120"/>
              </a:rPr>
              <a:t>Comunicacao de incidentes</a:t>
            </a:r>
            <a:endParaRPr lang="en-US" sz="1550" dirty="0"/>
          </a:p>
        </p:txBody>
      </p:sp>
      <p:sp>
        <p:nvSpPr>
          <p:cNvPr id="24" name="Text 22"/>
          <p:cNvSpPr/>
          <p:nvPr/>
        </p:nvSpPr>
        <p:spPr>
          <a:xfrm>
            <a:off x="8339328" y="2788920"/>
            <a:ext cx="3209544" cy="1691640"/>
          </a:xfrm>
          <a:prstGeom prst="rect">
            <a:avLst/>
          </a:prstGeom>
          <a:noFill/>
          <a:ln/>
        </p:spPr>
        <p:txBody>
          <a:bodyPr wrap="square" rtlCol="0" anchor="t"/>
          <a:lstStyle/>
          <a:p>
            <a:pPr marL="0" indent="0">
              <a:buNone/>
            </a:pPr>
            <a:r>
              <a:rPr lang="en-US" sz="1000" i="1" dirty="0">
                <a:solidFill>
                  <a:srgbClr val="5A5A5E"/>
                </a:solidFill>
                <a:latin typeface="Calibri" pitchFamily="34" charset="0"/>
                <a:ea typeface="Calibri" pitchFamily="34" charset="-122"/>
                <a:cs typeface="Calibri" pitchFamily="34" charset="-120"/>
              </a:rPr>
              <a:t>“O controlador devera comunicar a autoridade nacional e ao titular a ocorrencia de incidente de seguranca que possa acarretar risco ou dano relevante aos titulares.”</a:t>
            </a:r>
            <a:endParaRPr lang="en-US" sz="1000" dirty="0"/>
          </a:p>
        </p:txBody>
      </p:sp>
      <p:sp>
        <p:nvSpPr>
          <p:cNvPr id="25" name="Shape 23"/>
          <p:cNvSpPr/>
          <p:nvPr/>
        </p:nvSpPr>
        <p:spPr>
          <a:xfrm>
            <a:off x="8339328" y="4526280"/>
            <a:ext cx="3209544" cy="0"/>
          </a:xfrm>
          <a:prstGeom prst="line">
            <a:avLst/>
          </a:prstGeom>
          <a:noFill/>
          <a:ln w="9525">
            <a:solidFill>
              <a:srgbClr val="1E2761"/>
            </a:solidFill>
            <a:prstDash val="solid"/>
          </a:ln>
        </p:spPr>
        <p:txBody>
          <a:bodyPr/>
          <a:lstStyle/>
          <a:p>
            <a:endParaRPr lang="pt-BR"/>
          </a:p>
        </p:txBody>
      </p:sp>
      <p:sp>
        <p:nvSpPr>
          <p:cNvPr id="26" name="Text 24"/>
          <p:cNvSpPr/>
          <p:nvPr/>
        </p:nvSpPr>
        <p:spPr>
          <a:xfrm>
            <a:off x="8339328" y="4663440"/>
            <a:ext cx="3209544" cy="1143000"/>
          </a:xfrm>
          <a:prstGeom prst="rect">
            <a:avLst/>
          </a:prstGeom>
          <a:noFill/>
          <a:ln/>
        </p:spPr>
        <p:txBody>
          <a:bodyPr wrap="square" rtlCol="0" anchor="t"/>
          <a:lstStyle/>
          <a:p>
            <a:pPr marL="0" indent="0">
              <a:buNone/>
            </a:pPr>
            <a:r>
              <a:rPr lang="en-US" sz="1000" dirty="0">
                <a:solidFill>
                  <a:srgbClr val="2B2B2E"/>
                </a:solidFill>
                <a:latin typeface="Calibri" pitchFamily="34" charset="0"/>
                <a:ea typeface="Calibri" pitchFamily="34" charset="-122"/>
                <a:cs typeface="Calibri" pitchFamily="34" charset="-120"/>
              </a:rPr>
              <a:t>Um vazamento identificado em um data lake mal configurado e, juridicamente, um incidente de seguranca sujeito a esse dever de comunicacao em prazo razoavel.</a:t>
            </a:r>
            <a:endParaRPr lang="en-US" sz="1000" dirty="0"/>
          </a:p>
        </p:txBody>
      </p:sp>
      <p:sp>
        <p:nvSpPr>
          <p:cNvPr id="28" name="Text 26"/>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DEVERES E DPO</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ART. 5, VIII E ART. 41, LGPD</a:t>
            </a:r>
            <a:endParaRPr lang="en-US" sz="1300" dirty="0"/>
          </a:p>
        </p:txBody>
      </p:sp>
      <p:sp>
        <p:nvSpPr>
          <p:cNvPr id="5" name="Text 3"/>
          <p:cNvSpPr/>
          <p:nvPr/>
        </p:nvSpPr>
        <p:spPr>
          <a:xfrm>
            <a:off x="548640" y="777240"/>
            <a:ext cx="105156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O Encarregado pelo Tratamento de Dados (DPO)</a:t>
            </a:r>
            <a:endParaRPr lang="en-US" sz="2600" dirty="0"/>
          </a:p>
        </p:txBody>
      </p:sp>
      <p:sp>
        <p:nvSpPr>
          <p:cNvPr id="6" name="Shape 4"/>
          <p:cNvSpPr/>
          <p:nvPr/>
        </p:nvSpPr>
        <p:spPr>
          <a:xfrm>
            <a:off x="548640" y="1600200"/>
            <a:ext cx="11064240" cy="1234440"/>
          </a:xfrm>
          <a:prstGeom prst="roundRect">
            <a:avLst>
              <a:gd name="adj" fmla="val 5926"/>
            </a:avLst>
          </a:prstGeom>
          <a:solidFill>
            <a:srgbClr val="1E2761"/>
          </a:solidFill>
          <a:ln/>
        </p:spPr>
        <p:txBody>
          <a:bodyPr/>
          <a:lstStyle/>
          <a:p>
            <a:endParaRPr lang="pt-BR"/>
          </a:p>
        </p:txBody>
      </p:sp>
      <p:sp>
        <p:nvSpPr>
          <p:cNvPr id="7" name="Text 5"/>
          <p:cNvSpPr/>
          <p:nvPr/>
        </p:nvSpPr>
        <p:spPr>
          <a:xfrm>
            <a:off x="868680" y="1737360"/>
            <a:ext cx="10424160" cy="960120"/>
          </a:xfrm>
          <a:prstGeom prst="rect">
            <a:avLst/>
          </a:prstGeom>
          <a:noFill/>
          <a:ln/>
        </p:spPr>
        <p:txBody>
          <a:bodyPr wrap="square" rtlCol="0" anchor="ctr"/>
          <a:lstStyle/>
          <a:p>
            <a:pPr marL="0" indent="0">
              <a:buNone/>
            </a:pPr>
            <a:r>
              <a:rPr lang="en-US" sz="1350" i="1" dirty="0">
                <a:solidFill>
                  <a:srgbClr val="FFFFFF"/>
                </a:solidFill>
                <a:latin typeface="Cambria" pitchFamily="34" charset="0"/>
                <a:ea typeface="Cambria" pitchFamily="34" charset="-122"/>
                <a:cs typeface="Cambria" pitchFamily="34" charset="-120"/>
              </a:rPr>
              <a:t>“Pessoa indicada pelo controlador e operador para atuar como canal de comunicacao entre o controlador, os titulares dos dados e a Autoridade Nacional de Protecao de Dados (ANPD).”</a:t>
            </a:r>
            <a:endParaRPr lang="en-US" sz="1350" dirty="0"/>
          </a:p>
        </p:txBody>
      </p:sp>
      <p:sp>
        <p:nvSpPr>
          <p:cNvPr id="8" name="Shape 6"/>
          <p:cNvSpPr/>
          <p:nvPr/>
        </p:nvSpPr>
        <p:spPr>
          <a:xfrm>
            <a:off x="548640" y="3017520"/>
            <a:ext cx="11064240" cy="868680"/>
          </a:xfrm>
          <a:prstGeom prst="roundRect">
            <a:avLst>
              <a:gd name="adj" fmla="val 8421"/>
            </a:avLst>
          </a:prstGeom>
          <a:solidFill>
            <a:srgbClr val="5A5A5E"/>
          </a:solidFill>
          <a:ln/>
        </p:spPr>
        <p:txBody>
          <a:bodyPr/>
          <a:lstStyle/>
          <a:p>
            <a:endParaRPr lang="pt-BR"/>
          </a:p>
        </p:txBody>
      </p:sp>
      <p:sp>
        <p:nvSpPr>
          <p:cNvPr id="9" name="Text 7"/>
          <p:cNvSpPr/>
          <p:nvPr/>
        </p:nvSpPr>
        <p:spPr>
          <a:xfrm>
            <a:off x="822960" y="3127248"/>
            <a:ext cx="10515600" cy="658368"/>
          </a:xfrm>
          <a:prstGeom prst="rect">
            <a:avLst/>
          </a:prstGeom>
          <a:noFill/>
          <a:ln/>
        </p:spPr>
        <p:txBody>
          <a:bodyPr wrap="square" rtlCol="0" anchor="ctr"/>
          <a:lstStyle/>
          <a:p>
            <a:pPr marL="0" indent="0">
              <a:buNone/>
            </a:pPr>
            <a:r>
              <a:rPr lang="en-US" sz="1100" dirty="0">
                <a:solidFill>
                  <a:srgbClr val="EAF2FF"/>
                </a:solidFill>
                <a:latin typeface="Calibri" pitchFamily="34" charset="0"/>
                <a:ea typeface="Calibri" pitchFamily="34" charset="-122"/>
                <a:cs typeface="Calibri" pitchFamily="34" charset="-120"/>
              </a:rPr>
              <a:t>Art. 41, caput: “O controlador devera indicar encarregado pelo tratamento de dados pessoais.” Art. 41, par. 1: identidade e contato divulgados publicamente, preferencialmente no site do controlador.</a:t>
            </a:r>
            <a:endParaRPr lang="en-US" sz="1100" dirty="0"/>
          </a:p>
        </p:txBody>
      </p:sp>
      <p:sp>
        <p:nvSpPr>
          <p:cNvPr id="10" name="Text 8"/>
          <p:cNvSpPr/>
          <p:nvPr/>
        </p:nvSpPr>
        <p:spPr>
          <a:xfrm>
            <a:off x="548640" y="4114800"/>
            <a:ext cx="7315200" cy="32004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As atividades do encarregado (Art. 41, par. 2)</a:t>
            </a:r>
            <a:endParaRPr lang="en-US" sz="1300" dirty="0"/>
          </a:p>
        </p:txBody>
      </p:sp>
      <p:sp>
        <p:nvSpPr>
          <p:cNvPr id="11" name="Shape 9"/>
          <p:cNvSpPr/>
          <p:nvPr/>
        </p:nvSpPr>
        <p:spPr>
          <a:xfrm>
            <a:off x="548640" y="4526280"/>
            <a:ext cx="457200" cy="384048"/>
          </a:xfrm>
          <a:prstGeom prst="roundRect">
            <a:avLst>
              <a:gd name="adj" fmla="val 14286"/>
            </a:avLst>
          </a:prstGeom>
          <a:solidFill>
            <a:srgbClr val="CADCFC"/>
          </a:solidFill>
          <a:ln/>
        </p:spPr>
        <p:txBody>
          <a:bodyPr/>
          <a:lstStyle/>
          <a:p>
            <a:endParaRPr lang="pt-BR"/>
          </a:p>
        </p:txBody>
      </p:sp>
      <p:sp>
        <p:nvSpPr>
          <p:cNvPr id="12" name="Text 10"/>
          <p:cNvSpPr/>
          <p:nvPr/>
        </p:nvSpPr>
        <p:spPr>
          <a:xfrm>
            <a:off x="548640" y="4526280"/>
            <a:ext cx="457200" cy="384048"/>
          </a:xfrm>
          <a:prstGeom prst="rect">
            <a:avLst/>
          </a:prstGeom>
          <a:noFill/>
          <a:ln/>
        </p:spPr>
        <p:txBody>
          <a:bodyPr wrap="square" rtlCol="0" anchor="ctr"/>
          <a:lstStyle/>
          <a:p>
            <a:pPr marL="0" indent="0" algn="ctr">
              <a:buNone/>
            </a:pPr>
            <a:r>
              <a:rPr lang="en-US" sz="1200" b="1" dirty="0">
                <a:solidFill>
                  <a:srgbClr val="1B2340"/>
                </a:solidFill>
                <a:latin typeface="Cambria" pitchFamily="34" charset="0"/>
                <a:ea typeface="Cambria" pitchFamily="34" charset="-122"/>
                <a:cs typeface="Cambria" pitchFamily="34" charset="-120"/>
              </a:rPr>
              <a:t>I</a:t>
            </a:r>
            <a:endParaRPr lang="en-US" sz="1200" dirty="0"/>
          </a:p>
        </p:txBody>
      </p:sp>
      <p:sp>
        <p:nvSpPr>
          <p:cNvPr id="13" name="Text 11"/>
          <p:cNvSpPr/>
          <p:nvPr/>
        </p:nvSpPr>
        <p:spPr>
          <a:xfrm>
            <a:off x="1143000" y="4526280"/>
            <a:ext cx="1042416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Aceitar reclamacoes e comunicacoes dos titulares, prestar esclarecimentos e adotar providencias</a:t>
            </a:r>
            <a:endParaRPr lang="en-US" sz="1100" dirty="0"/>
          </a:p>
        </p:txBody>
      </p:sp>
      <p:sp>
        <p:nvSpPr>
          <p:cNvPr id="14" name="Shape 12"/>
          <p:cNvSpPr/>
          <p:nvPr/>
        </p:nvSpPr>
        <p:spPr>
          <a:xfrm>
            <a:off x="548640" y="4965192"/>
            <a:ext cx="457200" cy="384048"/>
          </a:xfrm>
          <a:prstGeom prst="roundRect">
            <a:avLst>
              <a:gd name="adj" fmla="val 14286"/>
            </a:avLst>
          </a:prstGeom>
          <a:solidFill>
            <a:srgbClr val="CADCFC"/>
          </a:solidFill>
          <a:ln/>
        </p:spPr>
        <p:txBody>
          <a:bodyPr/>
          <a:lstStyle/>
          <a:p>
            <a:endParaRPr lang="pt-BR"/>
          </a:p>
        </p:txBody>
      </p:sp>
      <p:sp>
        <p:nvSpPr>
          <p:cNvPr id="15" name="Text 13"/>
          <p:cNvSpPr/>
          <p:nvPr/>
        </p:nvSpPr>
        <p:spPr>
          <a:xfrm>
            <a:off x="548640" y="4965192"/>
            <a:ext cx="457200" cy="384048"/>
          </a:xfrm>
          <a:prstGeom prst="rect">
            <a:avLst/>
          </a:prstGeom>
          <a:noFill/>
          <a:ln/>
        </p:spPr>
        <p:txBody>
          <a:bodyPr wrap="square" rtlCol="0" anchor="ctr"/>
          <a:lstStyle/>
          <a:p>
            <a:pPr marL="0" indent="0" algn="ctr">
              <a:buNone/>
            </a:pPr>
            <a:r>
              <a:rPr lang="en-US" sz="1200" b="1" dirty="0">
                <a:solidFill>
                  <a:srgbClr val="1B2340"/>
                </a:solidFill>
                <a:latin typeface="Cambria" pitchFamily="34" charset="0"/>
                <a:ea typeface="Cambria" pitchFamily="34" charset="-122"/>
                <a:cs typeface="Cambria" pitchFamily="34" charset="-120"/>
              </a:rPr>
              <a:t>II</a:t>
            </a:r>
            <a:endParaRPr lang="en-US" sz="1200" dirty="0"/>
          </a:p>
        </p:txBody>
      </p:sp>
      <p:sp>
        <p:nvSpPr>
          <p:cNvPr id="16" name="Text 14"/>
          <p:cNvSpPr/>
          <p:nvPr/>
        </p:nvSpPr>
        <p:spPr>
          <a:xfrm>
            <a:off x="1143000" y="4965192"/>
            <a:ext cx="1042416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Receber comunicacoes da autoridade nacional e adotar providencias</a:t>
            </a:r>
            <a:endParaRPr lang="en-US" sz="1100" dirty="0"/>
          </a:p>
        </p:txBody>
      </p:sp>
      <p:sp>
        <p:nvSpPr>
          <p:cNvPr id="17" name="Shape 15"/>
          <p:cNvSpPr/>
          <p:nvPr/>
        </p:nvSpPr>
        <p:spPr>
          <a:xfrm>
            <a:off x="548640" y="5404104"/>
            <a:ext cx="457200" cy="384048"/>
          </a:xfrm>
          <a:prstGeom prst="roundRect">
            <a:avLst>
              <a:gd name="adj" fmla="val 14286"/>
            </a:avLst>
          </a:prstGeom>
          <a:solidFill>
            <a:srgbClr val="CADCFC"/>
          </a:solidFill>
          <a:ln/>
        </p:spPr>
        <p:txBody>
          <a:bodyPr/>
          <a:lstStyle/>
          <a:p>
            <a:endParaRPr lang="pt-BR"/>
          </a:p>
        </p:txBody>
      </p:sp>
      <p:sp>
        <p:nvSpPr>
          <p:cNvPr id="18" name="Text 16"/>
          <p:cNvSpPr/>
          <p:nvPr/>
        </p:nvSpPr>
        <p:spPr>
          <a:xfrm>
            <a:off x="548640" y="5404104"/>
            <a:ext cx="457200" cy="384048"/>
          </a:xfrm>
          <a:prstGeom prst="rect">
            <a:avLst/>
          </a:prstGeom>
          <a:noFill/>
          <a:ln/>
        </p:spPr>
        <p:txBody>
          <a:bodyPr wrap="square" rtlCol="0" anchor="ctr"/>
          <a:lstStyle/>
          <a:p>
            <a:pPr marL="0" indent="0" algn="ctr">
              <a:buNone/>
            </a:pPr>
            <a:r>
              <a:rPr lang="en-US" sz="1200" b="1" dirty="0">
                <a:solidFill>
                  <a:srgbClr val="1B2340"/>
                </a:solidFill>
                <a:latin typeface="Cambria" pitchFamily="34" charset="0"/>
                <a:ea typeface="Cambria" pitchFamily="34" charset="-122"/>
                <a:cs typeface="Cambria" pitchFamily="34" charset="-120"/>
              </a:rPr>
              <a:t>III</a:t>
            </a:r>
            <a:endParaRPr lang="en-US" sz="1200" dirty="0"/>
          </a:p>
        </p:txBody>
      </p:sp>
      <p:sp>
        <p:nvSpPr>
          <p:cNvPr id="19" name="Text 17"/>
          <p:cNvSpPr/>
          <p:nvPr/>
        </p:nvSpPr>
        <p:spPr>
          <a:xfrm>
            <a:off x="1143000" y="5404104"/>
            <a:ext cx="1042416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Orientar funcionarios e contratados sobre praticas de protecao de dados</a:t>
            </a:r>
            <a:endParaRPr lang="en-US" sz="1100" dirty="0"/>
          </a:p>
        </p:txBody>
      </p:sp>
      <p:sp>
        <p:nvSpPr>
          <p:cNvPr id="20" name="Shape 18"/>
          <p:cNvSpPr/>
          <p:nvPr/>
        </p:nvSpPr>
        <p:spPr>
          <a:xfrm>
            <a:off x="548640" y="5843016"/>
            <a:ext cx="457200" cy="384048"/>
          </a:xfrm>
          <a:prstGeom prst="roundRect">
            <a:avLst>
              <a:gd name="adj" fmla="val 14286"/>
            </a:avLst>
          </a:prstGeom>
          <a:solidFill>
            <a:srgbClr val="CADCFC"/>
          </a:solidFill>
          <a:ln/>
        </p:spPr>
        <p:txBody>
          <a:bodyPr/>
          <a:lstStyle/>
          <a:p>
            <a:endParaRPr lang="pt-BR"/>
          </a:p>
        </p:txBody>
      </p:sp>
      <p:sp>
        <p:nvSpPr>
          <p:cNvPr id="21" name="Text 19"/>
          <p:cNvSpPr/>
          <p:nvPr/>
        </p:nvSpPr>
        <p:spPr>
          <a:xfrm>
            <a:off x="548640" y="5843016"/>
            <a:ext cx="457200" cy="384048"/>
          </a:xfrm>
          <a:prstGeom prst="rect">
            <a:avLst/>
          </a:prstGeom>
          <a:noFill/>
          <a:ln/>
        </p:spPr>
        <p:txBody>
          <a:bodyPr wrap="square" rtlCol="0" anchor="ctr"/>
          <a:lstStyle/>
          <a:p>
            <a:pPr marL="0" indent="0" algn="ctr">
              <a:buNone/>
            </a:pPr>
            <a:r>
              <a:rPr lang="en-US" sz="1200" b="1" dirty="0">
                <a:solidFill>
                  <a:srgbClr val="1B2340"/>
                </a:solidFill>
                <a:latin typeface="Cambria" pitchFamily="34" charset="0"/>
                <a:ea typeface="Cambria" pitchFamily="34" charset="-122"/>
                <a:cs typeface="Cambria" pitchFamily="34" charset="-120"/>
              </a:rPr>
              <a:t>IV</a:t>
            </a:r>
            <a:endParaRPr lang="en-US" sz="1200" dirty="0"/>
          </a:p>
        </p:txBody>
      </p:sp>
      <p:sp>
        <p:nvSpPr>
          <p:cNvPr id="22" name="Text 20"/>
          <p:cNvSpPr/>
          <p:nvPr/>
        </p:nvSpPr>
        <p:spPr>
          <a:xfrm>
            <a:off x="1143000" y="5843016"/>
            <a:ext cx="1042416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Executar demais atribuicoes determinadas pelo controlador ou em normas complementares</a:t>
            </a:r>
            <a:endParaRPr lang="en-US" sz="1100" dirty="0"/>
          </a:p>
        </p:txBody>
      </p:sp>
      <p:sp>
        <p:nvSpPr>
          <p:cNvPr id="24" name="Text 22"/>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48495" y="411480"/>
            <a:ext cx="2194560" cy="384048"/>
          </a:xfrm>
          <a:prstGeom prst="roundRect">
            <a:avLst>
              <a:gd name="adj" fmla="val 19048"/>
            </a:avLst>
          </a:prstGeom>
          <a:solidFill>
            <a:srgbClr val="2B2B2E"/>
          </a:solidFill>
          <a:ln/>
        </p:spPr>
        <p:txBody>
          <a:bodyPr/>
          <a:lstStyle/>
          <a:p>
            <a:endParaRPr lang="pt-BR"/>
          </a:p>
        </p:txBody>
      </p:sp>
      <p:sp>
        <p:nvSpPr>
          <p:cNvPr id="3" name="Text 1"/>
          <p:cNvSpPr/>
          <p:nvPr/>
        </p:nvSpPr>
        <p:spPr>
          <a:xfrm>
            <a:off x="9448495" y="411480"/>
            <a:ext cx="21945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DEVERES E DPO</a:t>
            </a:r>
            <a:endParaRPr lang="en-US" sz="1000" dirty="0"/>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GOVERNANCA E EXCECOES</a:t>
            </a:r>
            <a:endParaRPr lang="en-US" sz="1300" dirty="0"/>
          </a:p>
        </p:txBody>
      </p:sp>
      <p:sp>
        <p:nvSpPr>
          <p:cNvPr id="5" name="Text 3"/>
          <p:cNvSpPr/>
          <p:nvPr/>
        </p:nvSpPr>
        <p:spPr>
          <a:xfrm>
            <a:off x="548640" y="777240"/>
            <a:ext cx="9144000" cy="548640"/>
          </a:xfrm>
          <a:prstGeom prst="rect">
            <a:avLst/>
          </a:prstGeom>
          <a:noFill/>
          <a:ln/>
        </p:spPr>
        <p:txBody>
          <a:bodyPr wrap="square" rtlCol="0" anchor="ctr"/>
          <a:lstStyle/>
          <a:p>
            <a:pPr marL="0" indent="0">
              <a:buNone/>
            </a:pPr>
            <a:r>
              <a:rPr lang="en-US" sz="2700" b="1" dirty="0">
                <a:solidFill>
                  <a:srgbClr val="2B2B2E"/>
                </a:solidFill>
                <a:latin typeface="Cambria" pitchFamily="34" charset="0"/>
                <a:ea typeface="Cambria" pitchFamily="34" charset="-122"/>
                <a:cs typeface="Cambria" pitchFamily="34" charset="-120"/>
              </a:rPr>
              <a:t>O que o DPO faz e o que ele nao faz</a:t>
            </a:r>
            <a:endParaRPr lang="en-US" sz="2700" dirty="0"/>
          </a:p>
        </p:txBody>
      </p:sp>
      <p:sp>
        <p:nvSpPr>
          <p:cNvPr id="6" name="Shape 4"/>
          <p:cNvSpPr/>
          <p:nvPr/>
        </p:nvSpPr>
        <p:spPr>
          <a:xfrm>
            <a:off x="548640" y="1600200"/>
            <a:ext cx="5349240" cy="2331720"/>
          </a:xfrm>
          <a:prstGeom prst="roundRect">
            <a:avLst>
              <a:gd name="adj" fmla="val 3137"/>
            </a:avLst>
          </a:prstGeom>
          <a:solidFill>
            <a:srgbClr val="F4F6FB"/>
          </a:solidFill>
          <a:ln/>
        </p:spPr>
        <p:txBody>
          <a:bodyPr/>
          <a:lstStyle/>
          <a:p>
            <a:endParaRPr lang="pt-BR"/>
          </a:p>
        </p:txBody>
      </p:sp>
      <p:sp>
        <p:nvSpPr>
          <p:cNvPr id="7" name="Text 5"/>
          <p:cNvSpPr/>
          <p:nvPr/>
        </p:nvSpPr>
        <p:spPr>
          <a:xfrm>
            <a:off x="822960" y="1783080"/>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Governanca, nao decisao de negocio</a:t>
            </a:r>
            <a:endParaRPr lang="en-US" sz="1300" dirty="0"/>
          </a:p>
        </p:txBody>
      </p:sp>
      <p:sp>
        <p:nvSpPr>
          <p:cNvPr id="8" name="Text 6"/>
          <p:cNvSpPr/>
          <p:nvPr/>
        </p:nvSpPr>
        <p:spPr>
          <a:xfrm>
            <a:off x="822960" y="2194560"/>
            <a:ext cx="4800600" cy="1645920"/>
          </a:xfrm>
          <a:prstGeom prst="rect">
            <a:avLst/>
          </a:prstGeom>
          <a:noFill/>
          <a:ln/>
        </p:spPr>
        <p:txBody>
          <a:bodyPr wrap="square" rtlCol="0" anchor="t"/>
          <a:lstStyle/>
          <a:p>
            <a:pPr marL="0" indent="0">
              <a:buNone/>
            </a:pPr>
            <a:r>
              <a:rPr lang="en-US" sz="1150" dirty="0">
                <a:solidFill>
                  <a:srgbClr val="2B2B2E"/>
                </a:solidFill>
                <a:latin typeface="Calibri" pitchFamily="34" charset="0"/>
                <a:ea typeface="Calibri" pitchFamily="34" charset="-122"/>
                <a:cs typeface="Calibri" pitchFamily="34" charset="-120"/>
              </a:rPr>
              <a:t>O DPO orienta e monitora, mas nao decide sobre o tratamento de dados. A decisao de negocio continua sendo do controlador. Na pratica, trabalha junto de engenharia de dados, seguranca da informacao e juridico, formando um comite de privacidade.</a:t>
            </a:r>
            <a:endParaRPr lang="en-US" sz="1150" dirty="0"/>
          </a:p>
        </p:txBody>
      </p:sp>
      <p:sp>
        <p:nvSpPr>
          <p:cNvPr id="9" name="Shape 7"/>
          <p:cNvSpPr/>
          <p:nvPr/>
        </p:nvSpPr>
        <p:spPr>
          <a:xfrm>
            <a:off x="6080760" y="1600200"/>
            <a:ext cx="5532120" cy="2331720"/>
          </a:xfrm>
          <a:prstGeom prst="roundRect">
            <a:avLst>
              <a:gd name="adj" fmla="val 3137"/>
            </a:avLst>
          </a:prstGeom>
          <a:solidFill>
            <a:srgbClr val="2B2B2E"/>
          </a:solidFill>
          <a:ln/>
        </p:spPr>
        <p:txBody>
          <a:bodyPr/>
          <a:lstStyle/>
          <a:p>
            <a:endParaRPr lang="pt-BR"/>
          </a:p>
        </p:txBody>
      </p:sp>
      <p:sp>
        <p:nvSpPr>
          <p:cNvPr id="10" name="Text 8"/>
          <p:cNvSpPr/>
          <p:nvPr/>
        </p:nvSpPr>
        <p:spPr>
          <a:xfrm>
            <a:off x="6355080" y="1783080"/>
            <a:ext cx="5029200" cy="36576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Excecao: pequenas empresas</a:t>
            </a:r>
            <a:endParaRPr lang="en-US" sz="1300" dirty="0"/>
          </a:p>
        </p:txBody>
      </p:sp>
      <p:sp>
        <p:nvSpPr>
          <p:cNvPr id="11" name="Text 9"/>
          <p:cNvSpPr/>
          <p:nvPr/>
        </p:nvSpPr>
        <p:spPr>
          <a:xfrm>
            <a:off x="6355080" y="2194560"/>
            <a:ext cx="5029200" cy="1645920"/>
          </a:xfrm>
          <a:prstGeom prst="rect">
            <a:avLst/>
          </a:prstGeom>
          <a:noFill/>
          <a:ln/>
        </p:spPr>
        <p:txBody>
          <a:bodyPr wrap="square" rtlCol="0" anchor="t"/>
          <a:lstStyle/>
          <a:p>
            <a:pPr marL="0" indent="0">
              <a:buNone/>
            </a:pPr>
            <a:r>
              <a:rPr lang="en-US" sz="1150" dirty="0">
                <a:solidFill>
                  <a:srgbClr val="EAF2FF"/>
                </a:solidFill>
                <a:latin typeface="Calibri" pitchFamily="34" charset="0"/>
                <a:ea typeface="Calibri" pitchFamily="34" charset="-122"/>
                <a:cs typeface="Calibri" pitchFamily="34" charset="-120"/>
              </a:rPr>
              <a:t>A Resolucao CD/ANPD no 2, de 27 de janeiro de 2022, dispensa agentes de tratamento de pequeno porte (microempresas, startups, pessoas naturais) da obrigacao de indicar encarregado, desde que mantenham canal de comunicacao eficiente com os titulares (Art. 11).</a:t>
            </a:r>
            <a:endParaRPr lang="en-US" sz="1150" dirty="0"/>
          </a:p>
        </p:txBody>
      </p:sp>
      <p:sp>
        <p:nvSpPr>
          <p:cNvPr id="12" name="Shape 10"/>
          <p:cNvSpPr/>
          <p:nvPr/>
        </p:nvSpPr>
        <p:spPr>
          <a:xfrm>
            <a:off x="548640" y="4160520"/>
            <a:ext cx="11064240" cy="1737360"/>
          </a:xfrm>
          <a:prstGeom prst="roundRect">
            <a:avLst>
              <a:gd name="adj" fmla="val 4211"/>
            </a:avLst>
          </a:prstGeom>
          <a:solidFill>
            <a:srgbClr val="1E2761"/>
          </a:solidFill>
          <a:ln/>
        </p:spPr>
        <p:txBody>
          <a:bodyPr/>
          <a:lstStyle/>
          <a:p>
            <a:endParaRPr lang="pt-BR"/>
          </a:p>
        </p:txBody>
      </p:sp>
      <p:sp>
        <p:nvSpPr>
          <p:cNvPr id="13" name="Text 11"/>
          <p:cNvSpPr/>
          <p:nvPr/>
        </p:nvSpPr>
        <p:spPr>
          <a:xfrm>
            <a:off x="868680" y="4343400"/>
            <a:ext cx="10424160" cy="320040"/>
          </a:xfrm>
          <a:prstGeom prst="rect">
            <a:avLst/>
          </a:prstGeom>
          <a:noFill/>
          <a:ln/>
        </p:spPr>
        <p:txBody>
          <a:bodyPr wrap="square"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Atencao</a:t>
            </a:r>
            <a:endParaRPr lang="en-US" sz="1250" dirty="0"/>
          </a:p>
        </p:txBody>
      </p:sp>
      <p:sp>
        <p:nvSpPr>
          <p:cNvPr id="14" name="Text 12"/>
          <p:cNvSpPr/>
          <p:nvPr/>
        </p:nvSpPr>
        <p:spPr>
          <a:xfrm>
            <a:off x="868680" y="4709160"/>
            <a:ext cx="10424160" cy="1097280"/>
          </a:xfrm>
          <a:prstGeom prst="rect">
            <a:avLst/>
          </a:prstGeom>
          <a:noFill/>
          <a:ln/>
        </p:spPr>
        <p:txBody>
          <a:bodyPr wrap="square" rtlCol="0" anchor="t"/>
          <a:lstStyle/>
          <a:p>
            <a:pPr marL="0" indent="0">
              <a:buNone/>
            </a:pPr>
            <a:r>
              <a:rPr lang="en-US" sz="1250" dirty="0">
                <a:solidFill>
                  <a:srgbClr val="FFFFFF"/>
                </a:solidFill>
                <a:latin typeface="Calibri" pitchFamily="34" charset="0"/>
                <a:ea typeface="Calibri" pitchFamily="34" charset="-122"/>
                <a:cs typeface="Calibri" pitchFamily="34" charset="-120"/>
              </a:rPr>
              <a:t>A dispensa nao isenta esses agentes das demais obrigacoes da LGPD, incluindo bases legais e principios. E ainda: se o tratamento realizado for de alto risco, o agente precisa comprovar essa condicao para manter a dispensa, como se vera no caso a seguir.</a:t>
            </a:r>
            <a:endParaRPr lang="en-US" sz="1250" dirty="0"/>
          </a:p>
        </p:txBody>
      </p:sp>
      <p:sp>
        <p:nvSpPr>
          <p:cNvPr id="16" name="Text 14"/>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3" name="Circ"/>
          <p:cNvSpPr/>
          <p:nvPr/>
        </p:nvSpPr>
        <p:spPr>
          <a:xfrm>
            <a:off x="5595360" y="1005840"/>
            <a:ext cx="1000440" cy="1000440"/>
          </a:xfrm>
          <a:prstGeom prst="ellipse">
            <a:avLst/>
          </a:prstGeom>
          <a:solidFill>
            <a:srgbClr val="1B2340"/>
          </a:solidFill>
          <a:ln>
            <a:noFill/>
          </a:ln>
        </p:spPr>
        <p:txBody>
          <a:bodyPr/>
          <a:lstStyle/>
          <a:p>
            <a:endParaRPr lang="pt-BR"/>
          </a:p>
        </p:txBody>
      </p:sp>
      <p:sp>
        <p:nvSpPr>
          <p:cNvPr id="2" name="CaixaDeTexto 1">
            <a:extLst>
              <a:ext uri="{FF2B5EF4-FFF2-40B4-BE49-F238E27FC236}">
                <a16:creationId xmlns:a16="http://schemas.microsoft.com/office/drawing/2014/main" id="{EE599001-D3D6-F0FD-15D0-143FDDE13742}"/>
              </a:ext>
            </a:extLst>
          </p:cNvPr>
          <p:cNvSpPr txBox="1"/>
          <p:nvPr/>
        </p:nvSpPr>
        <p:spPr>
          <a:xfrm>
            <a:off x="914400" y="2743200"/>
            <a:ext cx="10363200" cy="1600200"/>
          </a:xfrm>
          <a:prstGeom prst="rect">
            <a:avLst/>
          </a:prstGeom>
          <a:noFill/>
        </p:spPr>
        <p:txBody>
          <a:bodyPr wrap="square" rtlCol="0" anchor="ctr">
            <a:spAutoFit/>
          </a:bodyPr>
          <a:lstStyle/>
          <a:p>
            <a:pPr algn="ctr"/>
            <a:r>
              <a:rPr lang="pt-BR" sz="1600" dirty="0">
                <a:solidFill>
                  <a:srgbClr val="CADCFC"/>
                </a:solidFill>
                <a:latin typeface="Calibri"/>
                <a:ea typeface="Calibri"/>
                <a:cs typeface="Calibri"/>
              </a:rPr>
              <a:t>Revisão de alguns pontos...</a:t>
            </a:r>
          </a:p>
          <a:p>
            <a:pPr algn="ctr"/>
            <a:endParaRPr lang="pt-BR" dirty="0"/>
          </a:p>
          <a:p>
            <a:pPr algn="ctr"/>
            <a:r>
              <a:rPr lang="pt-BR" sz="2800" b="1" dirty="0">
                <a:solidFill>
                  <a:srgbClr val="FFFFFF"/>
                </a:solidFill>
                <a:latin typeface="Cambria"/>
                <a:ea typeface="Cambria"/>
                <a:cs typeface="Cambria"/>
              </a:rPr>
              <a:t>PRINCÍPIO DA FINALIDADE, ART. 6º, I DA LGPD – detectar qual é a situação que autorizou os dados para finalidade esperada. </a:t>
            </a:r>
          </a:p>
          <a:p>
            <a:pPr algn="ctr"/>
            <a:endParaRPr lang="pt-BR" dirty="0"/>
          </a:p>
          <a:p>
            <a:pPr algn="ctr"/>
            <a:endParaRPr lang="pt-BR" dirty="0"/>
          </a:p>
        </p:txBody>
      </p:sp>
    </p:spTree>
    <p:extLst>
      <p:ext uri="{BB962C8B-B14F-4D97-AF65-F5344CB8AC3E}">
        <p14:creationId xmlns:p14="http://schemas.microsoft.com/office/powerpoint/2010/main" val="789154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0228" y="411480"/>
            <a:ext cx="10058400" cy="548640"/>
          </a:xfrm>
          <a:prstGeom prst="rect">
            <a:avLst/>
          </a:prstGeom>
          <a:noFill/>
          <a:ln/>
        </p:spPr>
        <p:txBody>
          <a:bodyPr wrap="square" rtlCol="0" anchor="ctr"/>
          <a:lstStyle/>
          <a:p>
            <a:r>
              <a:rPr lang="en-US" sz="3000" b="1" dirty="0">
                <a:solidFill>
                  <a:srgbClr val="1B2340"/>
                </a:solidFill>
                <a:latin typeface="Cambria" pitchFamily="34" charset="0"/>
                <a:ea typeface="Cambria" pitchFamily="34" charset="-122"/>
                <a:cs typeface="Cambria" pitchFamily="34" charset="-120"/>
              </a:rPr>
              <a:t>O que é o Art. 7º da LGPD</a:t>
            </a:r>
            <a:endParaRPr lang="en-US" sz="3000" dirty="0">
              <a:solidFill>
                <a:prstClr val="black"/>
              </a:solidFill>
              <a:latin typeface="Calibri" panose="020F0502020204030204"/>
            </a:endParaRPr>
          </a:p>
        </p:txBody>
      </p:sp>
      <p:sp>
        <p:nvSpPr>
          <p:cNvPr id="3" name="Text 1"/>
          <p:cNvSpPr/>
          <p:nvPr/>
        </p:nvSpPr>
        <p:spPr>
          <a:xfrm>
            <a:off x="550228" y="1051560"/>
            <a:ext cx="10515600" cy="822960"/>
          </a:xfrm>
          <a:prstGeom prst="rect">
            <a:avLst/>
          </a:prstGeom>
          <a:noFill/>
          <a:ln/>
        </p:spPr>
        <p:txBody>
          <a:bodyPr wrap="square" rtlCol="0" anchor="ctr"/>
          <a:lstStyle/>
          <a:p>
            <a:r>
              <a:rPr lang="en-US" sz="1400" dirty="0">
                <a:solidFill>
                  <a:srgbClr val="5B6B8C"/>
                </a:solidFill>
                <a:latin typeface="Calibri" pitchFamily="34" charset="0"/>
                <a:ea typeface="Calibri" pitchFamily="34" charset="-122"/>
                <a:cs typeface="Calibri" pitchFamily="34" charset="-120"/>
              </a:rPr>
              <a:t>O art. 7º da Lei Geral de Proteção de Dados (Lei 13.709/2018) lista, de forma taxativa, as únicas 10 hipóteses que autorizam o tratamento de dados pessoais comuns. Fora dessas hipóteses (chamadas de "bases legais"), o tratamento é considerado irregular.</a:t>
            </a:r>
            <a:endParaRPr lang="en-US" sz="1400" dirty="0">
              <a:solidFill>
                <a:prstClr val="black"/>
              </a:solidFill>
              <a:latin typeface="Calibri" panose="020F0502020204030204"/>
            </a:endParaRPr>
          </a:p>
        </p:txBody>
      </p:sp>
      <p:sp>
        <p:nvSpPr>
          <p:cNvPr id="4" name="Shape 2"/>
          <p:cNvSpPr/>
          <p:nvPr/>
        </p:nvSpPr>
        <p:spPr>
          <a:xfrm>
            <a:off x="550228" y="2148840"/>
            <a:ext cx="2084832" cy="1600200"/>
          </a:xfrm>
          <a:prstGeom prst="roundRect">
            <a:avLst>
              <a:gd name="adj" fmla="val 4571"/>
            </a:avLst>
          </a:prstGeom>
          <a:solidFill>
            <a:srgbClr val="EAF2FF"/>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5" name="Shape 3"/>
          <p:cNvSpPr/>
          <p:nvPr/>
        </p:nvSpPr>
        <p:spPr>
          <a:xfrm>
            <a:off x="1336612" y="2313432"/>
            <a:ext cx="512064" cy="512064"/>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451827" y="2428647"/>
            <a:ext cx="281635" cy="281635"/>
          </a:xfrm>
          <a:prstGeom prst="rect">
            <a:avLst/>
          </a:prstGeom>
        </p:spPr>
      </p:pic>
      <p:sp>
        <p:nvSpPr>
          <p:cNvPr id="7" name="Text 4"/>
          <p:cNvSpPr/>
          <p:nvPr/>
        </p:nvSpPr>
        <p:spPr>
          <a:xfrm>
            <a:off x="550228" y="2862072"/>
            <a:ext cx="2084832" cy="274320"/>
          </a:xfrm>
          <a:prstGeom prst="rect">
            <a:avLst/>
          </a:prstGeom>
          <a:noFill/>
          <a:ln/>
        </p:spPr>
        <p:txBody>
          <a:bodyPr wrap="square" rtlCol="0" anchor="ctr"/>
          <a:lstStyle/>
          <a:p>
            <a:pPr algn="ctr"/>
            <a:r>
              <a:rPr lang="en-US" sz="1200" b="1" dirty="0">
                <a:solidFill>
                  <a:srgbClr val="0E7C7B"/>
                </a:solidFill>
                <a:latin typeface="Calibri" pitchFamily="34" charset="0"/>
                <a:ea typeface="Calibri" pitchFamily="34" charset="-122"/>
                <a:cs typeface="Calibri" pitchFamily="34" charset="-120"/>
              </a:rPr>
              <a:t>I</a:t>
            </a:r>
            <a:endParaRPr lang="en-US" sz="1200" dirty="0">
              <a:solidFill>
                <a:prstClr val="black"/>
              </a:solidFill>
              <a:latin typeface="Calibri" panose="020F0502020204030204"/>
            </a:endParaRPr>
          </a:p>
        </p:txBody>
      </p:sp>
      <p:sp>
        <p:nvSpPr>
          <p:cNvPr id="8" name="Text 5"/>
          <p:cNvSpPr/>
          <p:nvPr/>
        </p:nvSpPr>
        <p:spPr>
          <a:xfrm>
            <a:off x="623380" y="3136392"/>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Consentimento</a:t>
            </a:r>
            <a:endParaRPr lang="en-US" sz="1050" dirty="0">
              <a:solidFill>
                <a:prstClr val="black"/>
              </a:solidFill>
              <a:latin typeface="Calibri" panose="020F0502020204030204"/>
            </a:endParaRPr>
          </a:p>
        </p:txBody>
      </p:sp>
      <p:sp>
        <p:nvSpPr>
          <p:cNvPr id="9" name="Shape 6"/>
          <p:cNvSpPr/>
          <p:nvPr/>
        </p:nvSpPr>
        <p:spPr>
          <a:xfrm>
            <a:off x="2763076" y="2148840"/>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10" name="Shape 7"/>
          <p:cNvSpPr/>
          <p:nvPr/>
        </p:nvSpPr>
        <p:spPr>
          <a:xfrm>
            <a:off x="3549460" y="2313432"/>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1" name="Image 1" descr="preencoded.png"/>
          <p:cNvPicPr>
            <a:picLocks noChangeAspect="1"/>
          </p:cNvPicPr>
          <p:nvPr/>
        </p:nvPicPr>
        <p:blipFill>
          <a:blip r:embed="rId4"/>
          <a:stretch>
            <a:fillRect/>
          </a:stretch>
        </p:blipFill>
        <p:spPr>
          <a:xfrm>
            <a:off x="3664675" y="2428647"/>
            <a:ext cx="281635" cy="281635"/>
          </a:xfrm>
          <a:prstGeom prst="rect">
            <a:avLst/>
          </a:prstGeom>
        </p:spPr>
      </p:pic>
      <p:sp>
        <p:nvSpPr>
          <p:cNvPr id="12" name="Text 8"/>
          <p:cNvSpPr/>
          <p:nvPr/>
        </p:nvSpPr>
        <p:spPr>
          <a:xfrm>
            <a:off x="2763076" y="2862072"/>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II</a:t>
            </a:r>
            <a:endParaRPr lang="en-US" sz="1200" dirty="0">
              <a:solidFill>
                <a:prstClr val="black"/>
              </a:solidFill>
              <a:latin typeface="Calibri" panose="020F0502020204030204"/>
            </a:endParaRPr>
          </a:p>
        </p:txBody>
      </p:sp>
      <p:sp>
        <p:nvSpPr>
          <p:cNvPr id="13" name="Text 9"/>
          <p:cNvSpPr/>
          <p:nvPr/>
        </p:nvSpPr>
        <p:spPr>
          <a:xfrm>
            <a:off x="2836228" y="3136392"/>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Obrigação legal / regulatória</a:t>
            </a:r>
            <a:endParaRPr lang="en-US" sz="1050" dirty="0">
              <a:solidFill>
                <a:prstClr val="black"/>
              </a:solidFill>
              <a:latin typeface="Calibri" panose="020F0502020204030204"/>
            </a:endParaRPr>
          </a:p>
        </p:txBody>
      </p:sp>
      <p:sp>
        <p:nvSpPr>
          <p:cNvPr id="14" name="Shape 10"/>
          <p:cNvSpPr/>
          <p:nvPr/>
        </p:nvSpPr>
        <p:spPr>
          <a:xfrm>
            <a:off x="4975924" y="2148840"/>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15" name="Shape 11"/>
          <p:cNvSpPr/>
          <p:nvPr/>
        </p:nvSpPr>
        <p:spPr>
          <a:xfrm>
            <a:off x="5762308" y="2313432"/>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6" name="Image 2" descr="preencoded.png"/>
          <p:cNvPicPr>
            <a:picLocks noChangeAspect="1"/>
          </p:cNvPicPr>
          <p:nvPr/>
        </p:nvPicPr>
        <p:blipFill>
          <a:blip r:embed="rId5"/>
          <a:stretch>
            <a:fillRect/>
          </a:stretch>
        </p:blipFill>
        <p:spPr>
          <a:xfrm>
            <a:off x="5877523" y="2428647"/>
            <a:ext cx="281635" cy="281635"/>
          </a:xfrm>
          <a:prstGeom prst="rect">
            <a:avLst/>
          </a:prstGeom>
        </p:spPr>
      </p:pic>
      <p:sp>
        <p:nvSpPr>
          <p:cNvPr id="17" name="Text 12"/>
          <p:cNvSpPr/>
          <p:nvPr/>
        </p:nvSpPr>
        <p:spPr>
          <a:xfrm>
            <a:off x="4975924" y="2862072"/>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III</a:t>
            </a:r>
            <a:endParaRPr lang="en-US" sz="1200" dirty="0">
              <a:solidFill>
                <a:prstClr val="black"/>
              </a:solidFill>
              <a:latin typeface="Calibri" panose="020F0502020204030204"/>
            </a:endParaRPr>
          </a:p>
        </p:txBody>
      </p:sp>
      <p:sp>
        <p:nvSpPr>
          <p:cNvPr id="18" name="Text 13"/>
          <p:cNvSpPr/>
          <p:nvPr/>
        </p:nvSpPr>
        <p:spPr>
          <a:xfrm>
            <a:off x="5049076" y="3136392"/>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Políticas públicas (adm. pública)</a:t>
            </a:r>
            <a:endParaRPr lang="en-US" sz="1050" dirty="0">
              <a:solidFill>
                <a:prstClr val="black"/>
              </a:solidFill>
              <a:latin typeface="Calibri" panose="020F0502020204030204"/>
            </a:endParaRPr>
          </a:p>
        </p:txBody>
      </p:sp>
      <p:sp>
        <p:nvSpPr>
          <p:cNvPr id="19" name="Shape 14"/>
          <p:cNvSpPr/>
          <p:nvPr/>
        </p:nvSpPr>
        <p:spPr>
          <a:xfrm>
            <a:off x="7188772" y="2148840"/>
            <a:ext cx="2084832" cy="1600200"/>
          </a:xfrm>
          <a:prstGeom prst="roundRect">
            <a:avLst>
              <a:gd name="adj" fmla="val 4571"/>
            </a:avLst>
          </a:prstGeom>
          <a:solidFill>
            <a:srgbClr val="EAF2FF"/>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20" name="Shape 15"/>
          <p:cNvSpPr/>
          <p:nvPr/>
        </p:nvSpPr>
        <p:spPr>
          <a:xfrm>
            <a:off x="7975156" y="2313432"/>
            <a:ext cx="512064" cy="512064"/>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21" name="Image 3" descr="preencoded.png"/>
          <p:cNvPicPr>
            <a:picLocks noChangeAspect="1"/>
          </p:cNvPicPr>
          <p:nvPr/>
        </p:nvPicPr>
        <p:blipFill>
          <a:blip r:embed="rId6"/>
          <a:stretch>
            <a:fillRect/>
          </a:stretch>
        </p:blipFill>
        <p:spPr>
          <a:xfrm>
            <a:off x="8090371" y="2428647"/>
            <a:ext cx="281635" cy="281635"/>
          </a:xfrm>
          <a:prstGeom prst="rect">
            <a:avLst/>
          </a:prstGeom>
        </p:spPr>
      </p:pic>
      <p:sp>
        <p:nvSpPr>
          <p:cNvPr id="22" name="Text 16"/>
          <p:cNvSpPr/>
          <p:nvPr/>
        </p:nvSpPr>
        <p:spPr>
          <a:xfrm>
            <a:off x="7188772" y="2862072"/>
            <a:ext cx="2084832" cy="274320"/>
          </a:xfrm>
          <a:prstGeom prst="rect">
            <a:avLst/>
          </a:prstGeom>
          <a:noFill/>
          <a:ln/>
        </p:spPr>
        <p:txBody>
          <a:bodyPr wrap="square" rtlCol="0" anchor="ctr"/>
          <a:lstStyle/>
          <a:p>
            <a:pPr algn="ctr"/>
            <a:r>
              <a:rPr lang="en-US" sz="1200" b="1" dirty="0">
                <a:solidFill>
                  <a:srgbClr val="0E7C7B"/>
                </a:solidFill>
                <a:latin typeface="Calibri" pitchFamily="34" charset="0"/>
                <a:ea typeface="Calibri" pitchFamily="34" charset="-122"/>
                <a:cs typeface="Calibri" pitchFamily="34" charset="-120"/>
              </a:rPr>
              <a:t>IV</a:t>
            </a:r>
            <a:endParaRPr lang="en-US" sz="1200" dirty="0">
              <a:solidFill>
                <a:prstClr val="black"/>
              </a:solidFill>
              <a:latin typeface="Calibri" panose="020F0502020204030204"/>
            </a:endParaRPr>
          </a:p>
        </p:txBody>
      </p:sp>
      <p:sp>
        <p:nvSpPr>
          <p:cNvPr id="23" name="Text 17"/>
          <p:cNvSpPr/>
          <p:nvPr/>
        </p:nvSpPr>
        <p:spPr>
          <a:xfrm>
            <a:off x="7261924" y="3136392"/>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Estudos por órgão de pesquisa</a:t>
            </a:r>
            <a:endParaRPr lang="en-US" sz="1050" dirty="0">
              <a:solidFill>
                <a:prstClr val="black"/>
              </a:solidFill>
              <a:latin typeface="Calibri" panose="020F0502020204030204"/>
            </a:endParaRPr>
          </a:p>
        </p:txBody>
      </p:sp>
      <p:sp>
        <p:nvSpPr>
          <p:cNvPr id="24" name="Shape 18"/>
          <p:cNvSpPr/>
          <p:nvPr/>
        </p:nvSpPr>
        <p:spPr>
          <a:xfrm>
            <a:off x="9401620" y="2148840"/>
            <a:ext cx="2084832" cy="1600200"/>
          </a:xfrm>
          <a:prstGeom prst="roundRect">
            <a:avLst>
              <a:gd name="adj" fmla="val 4571"/>
            </a:avLst>
          </a:prstGeom>
          <a:solidFill>
            <a:srgbClr val="EAF2FF"/>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25" name="Shape 19"/>
          <p:cNvSpPr/>
          <p:nvPr/>
        </p:nvSpPr>
        <p:spPr>
          <a:xfrm>
            <a:off x="10188004" y="2313432"/>
            <a:ext cx="512064" cy="512064"/>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26" name="Image 4" descr="preencoded.png"/>
          <p:cNvPicPr>
            <a:picLocks noChangeAspect="1"/>
          </p:cNvPicPr>
          <p:nvPr/>
        </p:nvPicPr>
        <p:blipFill>
          <a:blip r:embed="rId7"/>
          <a:stretch>
            <a:fillRect/>
          </a:stretch>
        </p:blipFill>
        <p:spPr>
          <a:xfrm>
            <a:off x="10303219" y="2428647"/>
            <a:ext cx="281635" cy="281635"/>
          </a:xfrm>
          <a:prstGeom prst="rect">
            <a:avLst/>
          </a:prstGeom>
        </p:spPr>
      </p:pic>
      <p:sp>
        <p:nvSpPr>
          <p:cNvPr id="27" name="Text 20"/>
          <p:cNvSpPr/>
          <p:nvPr/>
        </p:nvSpPr>
        <p:spPr>
          <a:xfrm>
            <a:off x="9401620" y="2862072"/>
            <a:ext cx="2084832" cy="274320"/>
          </a:xfrm>
          <a:prstGeom prst="rect">
            <a:avLst/>
          </a:prstGeom>
          <a:noFill/>
          <a:ln/>
        </p:spPr>
        <p:txBody>
          <a:bodyPr wrap="square" rtlCol="0" anchor="ctr"/>
          <a:lstStyle/>
          <a:p>
            <a:pPr algn="ctr"/>
            <a:r>
              <a:rPr lang="en-US" sz="1200" b="1" dirty="0">
                <a:solidFill>
                  <a:srgbClr val="0E7C7B"/>
                </a:solidFill>
                <a:latin typeface="Calibri" pitchFamily="34" charset="0"/>
                <a:ea typeface="Calibri" pitchFamily="34" charset="-122"/>
                <a:cs typeface="Calibri" pitchFamily="34" charset="-120"/>
              </a:rPr>
              <a:t>V</a:t>
            </a:r>
            <a:endParaRPr lang="en-US" sz="1200" dirty="0">
              <a:solidFill>
                <a:prstClr val="black"/>
              </a:solidFill>
              <a:latin typeface="Calibri" panose="020F0502020204030204"/>
            </a:endParaRPr>
          </a:p>
        </p:txBody>
      </p:sp>
      <p:sp>
        <p:nvSpPr>
          <p:cNvPr id="28" name="Text 21"/>
          <p:cNvSpPr/>
          <p:nvPr/>
        </p:nvSpPr>
        <p:spPr>
          <a:xfrm>
            <a:off x="9474772" y="3136392"/>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Execução de contrato</a:t>
            </a:r>
            <a:endParaRPr lang="en-US" sz="1050" dirty="0">
              <a:solidFill>
                <a:prstClr val="black"/>
              </a:solidFill>
              <a:latin typeface="Calibri" panose="020F0502020204030204"/>
            </a:endParaRPr>
          </a:p>
        </p:txBody>
      </p:sp>
      <p:sp>
        <p:nvSpPr>
          <p:cNvPr id="29" name="Shape 22"/>
          <p:cNvSpPr/>
          <p:nvPr/>
        </p:nvSpPr>
        <p:spPr>
          <a:xfrm>
            <a:off x="550228" y="3913632"/>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30" name="Shape 23"/>
          <p:cNvSpPr/>
          <p:nvPr/>
        </p:nvSpPr>
        <p:spPr>
          <a:xfrm>
            <a:off x="1336612" y="4078224"/>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31" name="Image 5" descr="preencoded.png"/>
          <p:cNvPicPr>
            <a:picLocks noChangeAspect="1"/>
          </p:cNvPicPr>
          <p:nvPr/>
        </p:nvPicPr>
        <p:blipFill>
          <a:blip r:embed="rId8"/>
          <a:stretch>
            <a:fillRect/>
          </a:stretch>
        </p:blipFill>
        <p:spPr>
          <a:xfrm>
            <a:off x="1451827" y="4193439"/>
            <a:ext cx="281635" cy="281635"/>
          </a:xfrm>
          <a:prstGeom prst="rect">
            <a:avLst/>
          </a:prstGeom>
        </p:spPr>
      </p:pic>
      <p:sp>
        <p:nvSpPr>
          <p:cNvPr id="32" name="Text 24"/>
          <p:cNvSpPr/>
          <p:nvPr/>
        </p:nvSpPr>
        <p:spPr>
          <a:xfrm>
            <a:off x="550228" y="4626864"/>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VI</a:t>
            </a:r>
            <a:endParaRPr lang="en-US" sz="1200" dirty="0">
              <a:solidFill>
                <a:prstClr val="black"/>
              </a:solidFill>
              <a:latin typeface="Calibri" panose="020F0502020204030204"/>
            </a:endParaRPr>
          </a:p>
        </p:txBody>
      </p:sp>
      <p:sp>
        <p:nvSpPr>
          <p:cNvPr id="33" name="Text 25"/>
          <p:cNvSpPr/>
          <p:nvPr/>
        </p:nvSpPr>
        <p:spPr>
          <a:xfrm>
            <a:off x="623380" y="4901184"/>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Exercício de direitos em processo</a:t>
            </a:r>
            <a:endParaRPr lang="en-US" sz="1050" dirty="0">
              <a:solidFill>
                <a:prstClr val="black"/>
              </a:solidFill>
              <a:latin typeface="Calibri" panose="020F0502020204030204"/>
            </a:endParaRPr>
          </a:p>
        </p:txBody>
      </p:sp>
      <p:sp>
        <p:nvSpPr>
          <p:cNvPr id="34" name="Shape 26"/>
          <p:cNvSpPr/>
          <p:nvPr/>
        </p:nvSpPr>
        <p:spPr>
          <a:xfrm>
            <a:off x="2763076" y="3913632"/>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35" name="Shape 27"/>
          <p:cNvSpPr/>
          <p:nvPr/>
        </p:nvSpPr>
        <p:spPr>
          <a:xfrm>
            <a:off x="3549460" y="4078224"/>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36" name="Image 6" descr="preencoded.png"/>
          <p:cNvPicPr>
            <a:picLocks noChangeAspect="1"/>
          </p:cNvPicPr>
          <p:nvPr/>
        </p:nvPicPr>
        <p:blipFill>
          <a:blip r:embed="rId9"/>
          <a:stretch>
            <a:fillRect/>
          </a:stretch>
        </p:blipFill>
        <p:spPr>
          <a:xfrm>
            <a:off x="3664675" y="4193439"/>
            <a:ext cx="281635" cy="281635"/>
          </a:xfrm>
          <a:prstGeom prst="rect">
            <a:avLst/>
          </a:prstGeom>
        </p:spPr>
      </p:pic>
      <p:sp>
        <p:nvSpPr>
          <p:cNvPr id="37" name="Text 28"/>
          <p:cNvSpPr/>
          <p:nvPr/>
        </p:nvSpPr>
        <p:spPr>
          <a:xfrm>
            <a:off x="2763076" y="4626864"/>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VII</a:t>
            </a:r>
            <a:endParaRPr lang="en-US" sz="1200" dirty="0">
              <a:solidFill>
                <a:prstClr val="black"/>
              </a:solidFill>
              <a:latin typeface="Calibri" panose="020F0502020204030204"/>
            </a:endParaRPr>
          </a:p>
        </p:txBody>
      </p:sp>
      <p:sp>
        <p:nvSpPr>
          <p:cNvPr id="38" name="Text 29"/>
          <p:cNvSpPr/>
          <p:nvPr/>
        </p:nvSpPr>
        <p:spPr>
          <a:xfrm>
            <a:off x="2836228" y="4901184"/>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Proteção da vida</a:t>
            </a:r>
            <a:endParaRPr lang="en-US" sz="1050" dirty="0">
              <a:solidFill>
                <a:prstClr val="black"/>
              </a:solidFill>
              <a:latin typeface="Calibri" panose="020F0502020204030204"/>
            </a:endParaRPr>
          </a:p>
        </p:txBody>
      </p:sp>
      <p:sp>
        <p:nvSpPr>
          <p:cNvPr id="39" name="Shape 30"/>
          <p:cNvSpPr/>
          <p:nvPr/>
        </p:nvSpPr>
        <p:spPr>
          <a:xfrm>
            <a:off x="4975924" y="3913632"/>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40" name="Shape 31"/>
          <p:cNvSpPr/>
          <p:nvPr/>
        </p:nvSpPr>
        <p:spPr>
          <a:xfrm>
            <a:off x="5762308" y="4078224"/>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41" name="Image 7" descr="preencoded.png"/>
          <p:cNvPicPr>
            <a:picLocks noChangeAspect="1"/>
          </p:cNvPicPr>
          <p:nvPr/>
        </p:nvPicPr>
        <p:blipFill>
          <a:blip r:embed="rId10"/>
          <a:stretch>
            <a:fillRect/>
          </a:stretch>
        </p:blipFill>
        <p:spPr>
          <a:xfrm>
            <a:off x="5877523" y="4193439"/>
            <a:ext cx="281635" cy="281635"/>
          </a:xfrm>
          <a:prstGeom prst="rect">
            <a:avLst/>
          </a:prstGeom>
        </p:spPr>
      </p:pic>
      <p:sp>
        <p:nvSpPr>
          <p:cNvPr id="42" name="Text 32"/>
          <p:cNvSpPr/>
          <p:nvPr/>
        </p:nvSpPr>
        <p:spPr>
          <a:xfrm>
            <a:off x="4975924" y="4626864"/>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VIII</a:t>
            </a:r>
            <a:endParaRPr lang="en-US" sz="1200" dirty="0">
              <a:solidFill>
                <a:prstClr val="black"/>
              </a:solidFill>
              <a:latin typeface="Calibri" panose="020F0502020204030204"/>
            </a:endParaRPr>
          </a:p>
        </p:txBody>
      </p:sp>
      <p:sp>
        <p:nvSpPr>
          <p:cNvPr id="43" name="Text 33"/>
          <p:cNvSpPr/>
          <p:nvPr/>
        </p:nvSpPr>
        <p:spPr>
          <a:xfrm>
            <a:off x="5049076" y="4901184"/>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Tutela da saúde</a:t>
            </a:r>
            <a:endParaRPr lang="en-US" sz="1050" dirty="0">
              <a:solidFill>
                <a:prstClr val="black"/>
              </a:solidFill>
              <a:latin typeface="Calibri" panose="020F0502020204030204"/>
            </a:endParaRPr>
          </a:p>
        </p:txBody>
      </p:sp>
      <p:sp>
        <p:nvSpPr>
          <p:cNvPr id="44" name="Shape 34"/>
          <p:cNvSpPr/>
          <p:nvPr/>
        </p:nvSpPr>
        <p:spPr>
          <a:xfrm>
            <a:off x="7188772" y="3913632"/>
            <a:ext cx="2084832" cy="1600200"/>
          </a:xfrm>
          <a:prstGeom prst="roundRect">
            <a:avLst>
              <a:gd name="adj" fmla="val 4571"/>
            </a:avLst>
          </a:prstGeom>
          <a:solidFill>
            <a:srgbClr val="EAF2FF"/>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45" name="Shape 35"/>
          <p:cNvSpPr/>
          <p:nvPr/>
        </p:nvSpPr>
        <p:spPr>
          <a:xfrm>
            <a:off x="7975156" y="4078224"/>
            <a:ext cx="512064" cy="512064"/>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6" name="Image 8" descr="preencoded.png"/>
          <p:cNvPicPr>
            <a:picLocks noChangeAspect="1"/>
          </p:cNvPicPr>
          <p:nvPr/>
        </p:nvPicPr>
        <p:blipFill>
          <a:blip r:embed="rId11"/>
          <a:stretch>
            <a:fillRect/>
          </a:stretch>
        </p:blipFill>
        <p:spPr>
          <a:xfrm>
            <a:off x="8090371" y="4193439"/>
            <a:ext cx="281635" cy="281635"/>
          </a:xfrm>
          <a:prstGeom prst="rect">
            <a:avLst/>
          </a:prstGeom>
        </p:spPr>
      </p:pic>
      <p:sp>
        <p:nvSpPr>
          <p:cNvPr id="47" name="Text 36"/>
          <p:cNvSpPr/>
          <p:nvPr/>
        </p:nvSpPr>
        <p:spPr>
          <a:xfrm>
            <a:off x="7188772" y="4626864"/>
            <a:ext cx="2084832" cy="274320"/>
          </a:xfrm>
          <a:prstGeom prst="rect">
            <a:avLst/>
          </a:prstGeom>
          <a:noFill/>
          <a:ln/>
        </p:spPr>
        <p:txBody>
          <a:bodyPr wrap="square" rtlCol="0" anchor="ctr"/>
          <a:lstStyle/>
          <a:p>
            <a:pPr algn="ctr"/>
            <a:r>
              <a:rPr lang="en-US" sz="1200" b="1" dirty="0">
                <a:solidFill>
                  <a:srgbClr val="0E7C7B"/>
                </a:solidFill>
                <a:latin typeface="Calibri" pitchFamily="34" charset="0"/>
                <a:ea typeface="Calibri" pitchFamily="34" charset="-122"/>
                <a:cs typeface="Calibri" pitchFamily="34" charset="-120"/>
              </a:rPr>
              <a:t>IX</a:t>
            </a:r>
            <a:endParaRPr lang="en-US" sz="1200" dirty="0">
              <a:solidFill>
                <a:prstClr val="black"/>
              </a:solidFill>
              <a:latin typeface="Calibri" panose="020F0502020204030204"/>
            </a:endParaRPr>
          </a:p>
        </p:txBody>
      </p:sp>
      <p:sp>
        <p:nvSpPr>
          <p:cNvPr id="48" name="Text 37"/>
          <p:cNvSpPr/>
          <p:nvPr/>
        </p:nvSpPr>
        <p:spPr>
          <a:xfrm>
            <a:off x="7261924" y="4901184"/>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Legítimo interesse</a:t>
            </a:r>
            <a:endParaRPr lang="en-US" sz="1050" dirty="0">
              <a:solidFill>
                <a:prstClr val="black"/>
              </a:solidFill>
              <a:latin typeface="Calibri" panose="020F0502020204030204"/>
            </a:endParaRPr>
          </a:p>
        </p:txBody>
      </p:sp>
      <p:sp>
        <p:nvSpPr>
          <p:cNvPr id="49" name="Shape 38"/>
          <p:cNvSpPr/>
          <p:nvPr/>
        </p:nvSpPr>
        <p:spPr>
          <a:xfrm>
            <a:off x="9401620" y="3913632"/>
            <a:ext cx="2084832" cy="1600200"/>
          </a:xfrm>
          <a:prstGeom prst="roundRect">
            <a:avLst>
              <a:gd name="adj" fmla="val 4571"/>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50" name="Shape 39"/>
          <p:cNvSpPr/>
          <p:nvPr/>
        </p:nvSpPr>
        <p:spPr>
          <a:xfrm>
            <a:off x="10188004" y="4078224"/>
            <a:ext cx="512064" cy="512064"/>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51" name="Image 9" descr="preencoded.png"/>
          <p:cNvPicPr>
            <a:picLocks noChangeAspect="1"/>
          </p:cNvPicPr>
          <p:nvPr/>
        </p:nvPicPr>
        <p:blipFill>
          <a:blip r:embed="rId12"/>
          <a:stretch>
            <a:fillRect/>
          </a:stretch>
        </p:blipFill>
        <p:spPr>
          <a:xfrm>
            <a:off x="10303219" y="4193439"/>
            <a:ext cx="281635" cy="281635"/>
          </a:xfrm>
          <a:prstGeom prst="rect">
            <a:avLst/>
          </a:prstGeom>
        </p:spPr>
      </p:pic>
      <p:sp>
        <p:nvSpPr>
          <p:cNvPr id="52" name="Text 40"/>
          <p:cNvSpPr/>
          <p:nvPr/>
        </p:nvSpPr>
        <p:spPr>
          <a:xfrm>
            <a:off x="9401620" y="4626864"/>
            <a:ext cx="2084832" cy="274320"/>
          </a:xfrm>
          <a:prstGeom prst="rect">
            <a:avLst/>
          </a:prstGeom>
          <a:noFill/>
          <a:ln/>
        </p:spPr>
        <p:txBody>
          <a:bodyPr wrap="square" rtlCol="0" anchor="ctr"/>
          <a:lstStyle/>
          <a:p>
            <a:pPr algn="ctr"/>
            <a:r>
              <a:rPr lang="en-US" sz="1200" b="1" dirty="0">
                <a:solidFill>
                  <a:srgbClr val="1E2761"/>
                </a:solidFill>
                <a:latin typeface="Calibri" pitchFamily="34" charset="0"/>
                <a:ea typeface="Calibri" pitchFamily="34" charset="-122"/>
                <a:cs typeface="Calibri" pitchFamily="34" charset="-120"/>
              </a:rPr>
              <a:t>X</a:t>
            </a:r>
            <a:endParaRPr lang="en-US" sz="1200" dirty="0">
              <a:solidFill>
                <a:prstClr val="black"/>
              </a:solidFill>
              <a:latin typeface="Calibri" panose="020F0502020204030204"/>
            </a:endParaRPr>
          </a:p>
        </p:txBody>
      </p:sp>
      <p:sp>
        <p:nvSpPr>
          <p:cNvPr id="53" name="Text 41"/>
          <p:cNvSpPr/>
          <p:nvPr/>
        </p:nvSpPr>
        <p:spPr>
          <a:xfrm>
            <a:off x="9474772" y="4901184"/>
            <a:ext cx="1938528" cy="548640"/>
          </a:xfrm>
          <a:prstGeom prst="rect">
            <a:avLst/>
          </a:prstGeom>
          <a:noFill/>
          <a:ln/>
        </p:spPr>
        <p:txBody>
          <a:bodyPr wrap="square" rtlCol="0" anchor="t"/>
          <a:lstStyle/>
          <a:p>
            <a:pPr algn="ctr"/>
            <a:r>
              <a:rPr lang="en-US" sz="1050" dirty="0">
                <a:solidFill>
                  <a:srgbClr val="1B2340"/>
                </a:solidFill>
                <a:latin typeface="Calibri" pitchFamily="34" charset="0"/>
                <a:ea typeface="Calibri" pitchFamily="34" charset="-122"/>
                <a:cs typeface="Calibri" pitchFamily="34" charset="-120"/>
              </a:rPr>
              <a:t>Proteção do crédito</a:t>
            </a:r>
            <a:endParaRPr lang="en-US" sz="1050" dirty="0">
              <a:solidFill>
                <a:prstClr val="black"/>
              </a:solidFill>
              <a:latin typeface="Calibri" panose="020F0502020204030204"/>
            </a:endParaRPr>
          </a:p>
        </p:txBody>
      </p:sp>
      <p:sp>
        <p:nvSpPr>
          <p:cNvPr id="55" name="Text 43"/>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56" name="Text 44"/>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02</a:t>
            </a:r>
            <a:endParaRPr lang="en-US" sz="900"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Consentimento</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“Mediante o fornecimento de consentimento pelo titular” (art. 7º, 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Quando não há outra base legal mais adequada. Exige manifestação livre, informada e inequívoca do titular, para finalidade determinada e informada previamente (art. 5º, XII e art. 8º).</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Clientes da empresa assinam termo específico autorizando que seus dados </a:t>
            </a:r>
            <a:r>
              <a:rPr lang="en-US" sz="1150" dirty="0" err="1">
                <a:solidFill>
                  <a:srgbClr val="1B2340"/>
                </a:solidFill>
                <a:latin typeface="Calibri" pitchFamily="34" charset="0"/>
                <a:ea typeface="Calibri" pitchFamily="34" charset="-122"/>
                <a:cs typeface="Calibri" pitchFamily="34" charset="-120"/>
              </a:rPr>
              <a:t>sejam</a:t>
            </a:r>
            <a:r>
              <a:rPr lang="en-US" sz="1150" dirty="0">
                <a:solidFill>
                  <a:srgbClr val="1B2340"/>
                </a:solidFill>
                <a:latin typeface="Calibri" pitchFamily="34" charset="0"/>
                <a:ea typeface="Calibri" pitchFamily="34" charset="-122"/>
                <a:cs typeface="Calibri" pitchFamily="34" charset="-120"/>
              </a:rPr>
              <a:t> </a:t>
            </a:r>
            <a:r>
              <a:rPr lang="en-US" sz="1150" dirty="0" err="1">
                <a:solidFill>
                  <a:srgbClr val="1B2340"/>
                </a:solidFill>
                <a:latin typeface="Calibri" pitchFamily="34" charset="0"/>
                <a:ea typeface="Calibri" pitchFamily="34" charset="-122"/>
                <a:cs typeface="Calibri" pitchFamily="34" charset="-120"/>
              </a:rPr>
              <a:t>usados</a:t>
            </a:r>
            <a:r>
              <a:rPr lang="en-US" sz="1150" dirty="0">
                <a:solidFill>
                  <a:srgbClr val="1B2340"/>
                </a:solidFill>
                <a:latin typeface="Calibri" pitchFamily="34" charset="0"/>
                <a:ea typeface="Calibri" pitchFamily="34" charset="-122"/>
                <a:cs typeface="Calibri" pitchFamily="34" charset="-120"/>
              </a:rPr>
              <a:t>. Ciencia do </a:t>
            </a:r>
            <a:r>
              <a:rPr lang="en-US" sz="1150" dirty="0" err="1">
                <a:solidFill>
                  <a:srgbClr val="1B2340"/>
                </a:solidFill>
                <a:latin typeface="Calibri" pitchFamily="34" charset="0"/>
                <a:ea typeface="Calibri" pitchFamily="34" charset="-122"/>
                <a:cs typeface="Calibri" pitchFamily="34" charset="-120"/>
              </a:rPr>
              <a:t>objetivo</a:t>
            </a:r>
            <a:r>
              <a:rPr lang="en-US" sz="1150" dirty="0">
                <a:solidFill>
                  <a:srgbClr val="1B2340"/>
                </a:solidFill>
                <a:latin typeface="Calibri" pitchFamily="34" charset="0"/>
                <a:ea typeface="Calibri" pitchFamily="34" charset="-122"/>
                <a:cs typeface="Calibri" pitchFamily="34" charset="-120"/>
              </a:rPr>
              <a:t>. </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Deve ser específico — consentimento genérico ("aceite os termos") não vale para uma nova finalidade de pesquisa.</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Pode ser revogado a qualquer momento pelo titular, a qualquer momento.</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O ônus de provar que houve consentimento válido é do controlador (a empresa).</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03</a:t>
            </a:r>
            <a:endParaRPr lang="en-US" sz="900" dirty="0">
              <a:solidFill>
                <a:prstClr val="black"/>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II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Obrigação legal ou regulatória</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o cumprimento de obrigação legal ou regulatória pelo controlador” (art. 7º, II)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Quando uma lei ou norma setorial obriga a empresa a coletar, manter ou tratar determinado dado (ex.: obrigações fiscais, trabalhistas, prudenciais).</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Dados de funcionários mantidos para cumprir obrigações trabalhistas e do eSocial.</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Cobre apenas a finalidade prevista na norma — não serve para justificar o reuso do dado em pesquisa acadêmica.</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Não aplicável, isoladamente, ao seu TCC.</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04</a:t>
            </a:r>
            <a:endParaRPr lang="en-US" sz="900"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III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Políticas públicas pela Administração Pública</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“Pela administração pública, para o tratamento e uso compartilhado de dados necessários à execução de políticas públicas” (art. 7º, III)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Exclusiva para órgãos e entidades públicas, no exercício de políticas públicas previstas em lei ou regulamento.</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IBGE, Receita Federal ou SUS tratando dados para políticas públicas de saúde ou estatística.</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Não se aplica a empresas privadas.</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Irrelevante para o seu TCC, salvo se a organização parceira for órgão público.</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05</a:t>
            </a:r>
            <a:endParaRPr lang="en-US" sz="900" dirty="0">
              <a:solidFill>
                <a:prstClr val="black"/>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IV</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Estudos por órgão de pesquisa</a:t>
            </a:r>
            <a:endParaRPr lang="en-US" sz="2600" dirty="0">
              <a:solidFill>
                <a:prstClr val="black"/>
              </a:solidFill>
              <a:latin typeface="Calibri" panose="020F0502020204030204"/>
            </a:endParaRPr>
          </a:p>
        </p:txBody>
      </p:sp>
      <p:sp>
        <p:nvSpPr>
          <p:cNvPr id="8" name="Text 5"/>
          <p:cNvSpPr/>
          <p:nvPr/>
        </p:nvSpPr>
        <p:spPr>
          <a:xfrm>
            <a:off x="10197148" y="457200"/>
            <a:ext cx="1554480" cy="384048"/>
          </a:xfrm>
          <a:prstGeom prst="rect">
            <a:avLst/>
          </a:prstGeom>
          <a:noFill/>
          <a:ln/>
        </p:spPr>
        <p:txBody>
          <a:bodyPr wrap="square" rtlCol="0" anchor="ctr"/>
          <a:lstStyle/>
          <a:p>
            <a:pPr algn="ctr">
              <a:lnSpc>
                <a:spcPct val="95000"/>
              </a:lnSpc>
            </a:pPr>
            <a:endParaRPr lang="en-US" sz="800" dirty="0">
              <a:solidFill>
                <a:prstClr val="black"/>
              </a:solidFill>
              <a:latin typeface="Calibri" panose="020F0502020204030204"/>
            </a:endParaRPr>
          </a:p>
        </p:txBody>
      </p:sp>
      <p:sp>
        <p:nvSpPr>
          <p:cNvPr id="9" name="Shape 6"/>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10" name="Text 7"/>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a realização de estudos por órgão de pesquisa, garantida, sempre que possível, a anonimização dos dados pessoais” (art. 7º, IV)</a:t>
            </a:r>
            <a:endParaRPr lang="en-US" sz="1250" dirty="0">
              <a:solidFill>
                <a:prstClr val="black"/>
              </a:solidFill>
              <a:latin typeface="Calibri" panose="020F0502020204030204"/>
            </a:endParaRPr>
          </a:p>
        </p:txBody>
      </p:sp>
      <p:sp>
        <p:nvSpPr>
          <p:cNvPr id="11" name="Text 8"/>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2" name="Text 9"/>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Quando o tratamento é conduzido por um “órgão de pesquisa” — entidade pública ou privada que realiza pesquisa básica/aplicada de caráter histórico, científico, tecnológico ou estatístico (art. 5º, XVIII).</a:t>
            </a:r>
            <a:endParaRPr lang="en-US" sz="1250" dirty="0">
              <a:solidFill>
                <a:prstClr val="black"/>
              </a:solidFill>
              <a:latin typeface="Calibri" panose="020F0502020204030204"/>
            </a:endParaRPr>
          </a:p>
        </p:txBody>
      </p:sp>
      <p:sp>
        <p:nvSpPr>
          <p:cNvPr id="13" name="Shape 10"/>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4" name="Shape 11"/>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5"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6" name="Text 12"/>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7" name="Text 13"/>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Projeto de TCC formalmente vinculado à universidade e ao orientador, com dados anonimizados sempre que tecnicamente viável.</a:t>
            </a:r>
            <a:endParaRPr lang="en-US" sz="1150" dirty="0">
              <a:solidFill>
                <a:prstClr val="black"/>
              </a:solidFill>
              <a:latin typeface="Calibri" panose="020F0502020204030204"/>
            </a:endParaRPr>
          </a:p>
        </p:txBody>
      </p:sp>
      <p:sp>
        <p:nvSpPr>
          <p:cNvPr id="18" name="Text 14"/>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9" name="Text 15"/>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Normalmente exige vínculo institucional formal — dificilmente um estudante isolado se enquadra sozinho como “órgão de pesquisa”.</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A lei exige anonimização “sempre que possível” — se não anonimizar, é preciso justificar tecnicamente.</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Divulgação de resultados deve, sempre que possível, ocorrer de forma agregada/anonimizada (art. 7º, §4º).</a:t>
            </a:r>
            <a:endParaRPr lang="en-US" sz="1150" dirty="0">
              <a:solidFill>
                <a:prstClr val="black"/>
              </a:solidFill>
              <a:latin typeface="Calibri" panose="020F0502020204030204"/>
            </a:endParaRPr>
          </a:p>
        </p:txBody>
      </p:sp>
      <p:sp>
        <p:nvSpPr>
          <p:cNvPr id="20" name="Text 16"/>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21" name="Text 17"/>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06</a:t>
            </a:r>
            <a:endParaRPr lang="en-US" sz="900" dirty="0">
              <a:solidFill>
                <a:prstClr val="black"/>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V</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Execução de contrato</a:t>
            </a:r>
            <a:endParaRPr lang="en-US" sz="2600" dirty="0">
              <a:solidFill>
                <a:prstClr val="black"/>
              </a:solidFill>
              <a:latin typeface="Calibri" panose="020F0502020204030204"/>
            </a:endParaRPr>
          </a:p>
        </p:txBody>
      </p:sp>
      <p:sp>
        <p:nvSpPr>
          <p:cNvPr id="9" name="Shape 6"/>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10" name="Text 7"/>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“Quando necessário para a execução de contrato ou de procedimentos preliminares relacionados a contrato do qual seja parte o titular, a pedido do titular” (art. 7º, V)</a:t>
            </a:r>
            <a:endParaRPr lang="en-US" sz="1250" dirty="0">
              <a:solidFill>
                <a:prstClr val="black"/>
              </a:solidFill>
              <a:latin typeface="Calibri" panose="020F0502020204030204"/>
            </a:endParaRPr>
          </a:p>
        </p:txBody>
      </p:sp>
      <p:sp>
        <p:nvSpPr>
          <p:cNvPr id="11" name="Text 8"/>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2" name="Text 9"/>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Dados tratados originalmente para prestar um serviço ou produto contratado pelo próprio titular (ex.: histórico de compras, uso de plataforma).</a:t>
            </a:r>
            <a:endParaRPr lang="en-US" sz="1250" dirty="0">
              <a:solidFill>
                <a:prstClr val="black"/>
              </a:solidFill>
              <a:latin typeface="Calibri" panose="020F0502020204030204"/>
            </a:endParaRPr>
          </a:p>
        </p:txBody>
      </p:sp>
      <p:sp>
        <p:nvSpPr>
          <p:cNvPr id="13" name="Shape 10"/>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4" name="Shape 11"/>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5"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6" name="Text 12"/>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7" name="Text 13"/>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Dados transacionais de clientes da empresa, coletados para viabilizar a relação comercial (pedidos, pagamentos, uso do app).</a:t>
            </a:r>
            <a:endParaRPr lang="en-US" sz="1150" dirty="0">
              <a:solidFill>
                <a:prstClr val="black"/>
              </a:solidFill>
              <a:latin typeface="Calibri" panose="020F0502020204030204"/>
            </a:endParaRPr>
          </a:p>
        </p:txBody>
      </p:sp>
      <p:sp>
        <p:nvSpPr>
          <p:cNvPr id="18" name="Text 14"/>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9" name="Text 15"/>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Cobre apenas o uso original ligado ao contrato — não legitima automaticamente o reuso para fins de pesquisa acadêmica.</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err="1">
                <a:solidFill>
                  <a:srgbClr val="1B2340"/>
                </a:solidFill>
                <a:latin typeface="Calibri" pitchFamily="34" charset="0"/>
                <a:ea typeface="Calibri" pitchFamily="34" charset="-122"/>
                <a:cs typeface="Calibri" pitchFamily="34" charset="-120"/>
              </a:rPr>
              <a:t>Geralmente</a:t>
            </a:r>
            <a:r>
              <a:rPr lang="en-US" sz="1150" dirty="0">
                <a:solidFill>
                  <a:srgbClr val="1B2340"/>
                </a:solidFill>
                <a:latin typeface="Calibri" pitchFamily="34" charset="0"/>
                <a:ea typeface="Calibri" pitchFamily="34" charset="-122"/>
                <a:cs typeface="Calibri" pitchFamily="34" charset="-120"/>
              </a:rPr>
              <a:t> é necessário combinar com outra base (estudo por órgão de pesquisa ou legítimo interesse) ou anonimizar antes do uso.</a:t>
            </a:r>
            <a:endParaRPr lang="en-US" sz="1150" dirty="0">
              <a:solidFill>
                <a:prstClr val="black"/>
              </a:solidFill>
              <a:latin typeface="Calibri" panose="020F0502020204030204"/>
            </a:endParaRPr>
          </a:p>
        </p:txBody>
      </p:sp>
      <p:sp>
        <p:nvSpPr>
          <p:cNvPr id="20" name="Text 16"/>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21" name="Text 17"/>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07</a:t>
            </a:r>
            <a:endParaRPr lang="en-US" sz="900" dirty="0">
              <a:solidFill>
                <a:prstClr val="black"/>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VI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Exercício regular de direitos em processo</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o exercício regular de direitos em processo judicial, administrativo ou arbitral” (art. 7º, VI)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Quando a empresa precisa tratar dados para se defender ou fazer valer direitos em litígios.</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Manutenção de dados contratuais como prova em uma ação judicial.</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Hipótese ligada a contencioso — não aplicável ao contexto de um TCC de ciência de dados.</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08</a:t>
            </a:r>
            <a:endParaRPr lang="en-US" sz="900" dirty="0">
              <a:solidFill>
                <a:prstClr val="black"/>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VII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Proteção da vida ou incolumidade física</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a proteção da vida ou da incolumidade física do titular ou de terceiro” (art. 7º, VII)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Situações emergenciais, de risco concreto e iminente à vida ou integridade física de alguém.</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Compartilhamento de dados de saúde em uma situação de resgate ou emergência médica.</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Hipótese excepcional e emergencial — não se aplica a projetos de análise de dados de negócio.</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09</a:t>
            </a:r>
            <a:endParaRPr lang="en-US" sz="900" dirty="0">
              <a:solidFill>
                <a:prstClr val="black"/>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VIII</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Tutela da saúde</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a tutela da saúde, exclusivamente, em procedimento realizado por profissionais de saúde, serviços de saúde ou autoridade sanitária” (art. 7º, VIII)</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Contexto clínico/assistencial, conduzido por profissional ou serviço de saúde.</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Prontuário eletrônico tratado por um hospital para cuidado do paciente.</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Não se aplica a dados comerciais comuns.</a:t>
            </a:r>
            <a:endParaRPr lang="en-US" sz="1150" dirty="0">
              <a:solidFill>
                <a:prstClr val="black"/>
              </a:solidFill>
              <a:latin typeface="Calibri" panose="020F0502020204030204"/>
            </a:endParaRPr>
          </a:p>
          <a:p>
            <a:pPr>
              <a:lnSpc>
                <a:spcPct val="110000"/>
              </a:lnSpc>
              <a:spcAft>
                <a:spcPts val="800"/>
              </a:spcAft>
              <a:buSzPct val="100000"/>
            </a:pP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10</a:t>
            </a:r>
            <a:endParaRPr lang="en-US" sz="900" dirty="0">
              <a:solidFill>
                <a:prstClr val="black"/>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IX</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Legítimo interesse</a:t>
            </a:r>
            <a:endParaRPr lang="en-US" sz="2600" dirty="0">
              <a:solidFill>
                <a:prstClr val="black"/>
              </a:solidFill>
              <a:latin typeface="Calibri" panose="020F0502020204030204"/>
            </a:endParaRPr>
          </a:p>
        </p:txBody>
      </p:sp>
      <p:sp>
        <p:nvSpPr>
          <p:cNvPr id="7" name="Shape 4"/>
          <p:cNvSpPr/>
          <p:nvPr/>
        </p:nvSpPr>
        <p:spPr>
          <a:xfrm>
            <a:off x="10197148" y="457200"/>
            <a:ext cx="1554480" cy="384048"/>
          </a:xfrm>
          <a:prstGeom prst="roundRect">
            <a:avLst>
              <a:gd name="adj" fmla="val 14286"/>
            </a:avLst>
          </a:prstGeom>
          <a:solidFill>
            <a:srgbClr val="0E7C7B"/>
          </a:solidFill>
          <a:ln/>
        </p:spPr>
        <p:txBody>
          <a:bodyPr/>
          <a:lstStyle/>
          <a:p>
            <a:endParaRPr lang="pt-BR">
              <a:solidFill>
                <a:prstClr val="black"/>
              </a:solidFill>
              <a:latin typeface="Calibri" panose="020F0502020204030204"/>
            </a:endParaRPr>
          </a:p>
        </p:txBody>
      </p:sp>
      <p:sp>
        <p:nvSpPr>
          <p:cNvPr id="8" name="Text 5"/>
          <p:cNvSpPr/>
          <p:nvPr/>
        </p:nvSpPr>
        <p:spPr>
          <a:xfrm>
            <a:off x="10197148" y="457200"/>
            <a:ext cx="1554480" cy="384048"/>
          </a:xfrm>
          <a:prstGeom prst="rect">
            <a:avLst/>
          </a:prstGeom>
          <a:noFill/>
          <a:ln/>
        </p:spPr>
        <p:txBody>
          <a:bodyPr wrap="square" rtlCol="0" anchor="ctr"/>
          <a:lstStyle/>
          <a:p>
            <a:pPr algn="ctr">
              <a:lnSpc>
                <a:spcPct val="95000"/>
              </a:lnSpc>
            </a:pPr>
            <a:r>
              <a:rPr lang="en-US" sz="800" b="1" dirty="0">
                <a:solidFill>
                  <a:srgbClr val="FFFFFF"/>
                </a:solidFill>
                <a:latin typeface="Calibri" pitchFamily="34" charset="0"/>
                <a:ea typeface="Calibri" pitchFamily="34" charset="-122"/>
                <a:cs typeface="Calibri" pitchFamily="34" charset="-120"/>
              </a:rPr>
              <a:t>RELEVANTE</a:t>
            </a:r>
            <a:endParaRPr lang="en-US" sz="800" dirty="0">
              <a:solidFill>
                <a:prstClr val="black"/>
              </a:solidFill>
              <a:latin typeface="Calibri" panose="020F0502020204030204"/>
            </a:endParaRPr>
          </a:p>
          <a:p>
            <a:pPr algn="ctr">
              <a:lnSpc>
                <a:spcPct val="95000"/>
              </a:lnSpc>
            </a:pPr>
            <a:r>
              <a:rPr lang="en-US" sz="800" b="1" dirty="0">
                <a:solidFill>
                  <a:srgbClr val="FFFFFF"/>
                </a:solidFill>
                <a:latin typeface="Calibri" pitchFamily="34" charset="0"/>
                <a:ea typeface="Calibri" pitchFamily="34" charset="-122"/>
                <a:cs typeface="Calibri" pitchFamily="34" charset="-120"/>
              </a:rPr>
              <a:t>PARA O TCC</a:t>
            </a:r>
            <a:endParaRPr lang="en-US" sz="800" dirty="0">
              <a:solidFill>
                <a:prstClr val="black"/>
              </a:solidFill>
              <a:latin typeface="Calibri" panose="020F0502020204030204"/>
            </a:endParaRPr>
          </a:p>
        </p:txBody>
      </p:sp>
      <p:sp>
        <p:nvSpPr>
          <p:cNvPr id="9" name="Shape 6"/>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10" name="Text 7"/>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“Quando necessário para atender aos interesses legítimos do controlador ou de terceiro, exceto no caso de prevalecerem direitos e liberdades fundamentais do titular” (art. 7º, IX e §1º)</a:t>
            </a:r>
            <a:endParaRPr lang="en-US" sz="1250" dirty="0">
              <a:solidFill>
                <a:prstClr val="black"/>
              </a:solidFill>
              <a:latin typeface="Calibri" panose="020F0502020204030204"/>
            </a:endParaRPr>
          </a:p>
        </p:txBody>
      </p:sp>
      <p:sp>
        <p:nvSpPr>
          <p:cNvPr id="11" name="Text 8"/>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2" name="Text 9"/>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O interesse do controlador é legítimo, concreto e específico; o tratamento é necessário e proporcional; e não viola expectativas razoáveis do titular. Costuma exigir um teste de balanceamento (“legitimate interest assessment”) documentado.</a:t>
            </a:r>
            <a:endParaRPr lang="en-US" sz="1250" dirty="0">
              <a:solidFill>
                <a:prstClr val="black"/>
              </a:solidFill>
              <a:latin typeface="Calibri" panose="020F0502020204030204"/>
            </a:endParaRPr>
          </a:p>
        </p:txBody>
      </p:sp>
      <p:sp>
        <p:nvSpPr>
          <p:cNvPr id="13" name="Shape 10"/>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4" name="Shape 11"/>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5"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6" name="Text 12"/>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7" name="Text 13"/>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Empresa autoriza uso de dados já coletados para o negócio em projeto de </a:t>
            </a:r>
            <a:r>
              <a:rPr lang="en-US" sz="1150" dirty="0" err="1">
                <a:solidFill>
                  <a:srgbClr val="1B2340"/>
                </a:solidFill>
                <a:latin typeface="Calibri" pitchFamily="34" charset="0"/>
                <a:ea typeface="Calibri" pitchFamily="34" charset="-122"/>
                <a:cs typeface="Calibri" pitchFamily="34" charset="-120"/>
              </a:rPr>
              <a:t>pesquisa</a:t>
            </a:r>
            <a:r>
              <a:rPr lang="en-US" sz="1150" dirty="0">
                <a:solidFill>
                  <a:srgbClr val="1B2340"/>
                </a:solidFill>
                <a:latin typeface="Calibri" pitchFamily="34" charset="0"/>
                <a:ea typeface="Calibri" pitchFamily="34" charset="-122"/>
                <a:cs typeface="Calibri" pitchFamily="34" charset="-120"/>
              </a:rPr>
              <a:t> </a:t>
            </a:r>
            <a:r>
              <a:rPr lang="en-US" sz="1150" dirty="0" err="1">
                <a:solidFill>
                  <a:srgbClr val="1B2340"/>
                </a:solidFill>
                <a:latin typeface="Calibri" pitchFamily="34" charset="0"/>
                <a:ea typeface="Calibri" pitchFamily="34" charset="-122"/>
                <a:cs typeface="Calibri" pitchFamily="34" charset="-120"/>
              </a:rPr>
              <a:t>ou</a:t>
            </a:r>
            <a:r>
              <a:rPr lang="en-US" sz="1150" dirty="0">
                <a:solidFill>
                  <a:srgbClr val="1B2340"/>
                </a:solidFill>
                <a:latin typeface="Calibri" pitchFamily="34" charset="0"/>
                <a:ea typeface="Calibri" pitchFamily="34" charset="-122"/>
                <a:cs typeface="Calibri" pitchFamily="34" charset="-120"/>
              </a:rPr>
              <a:t> </a:t>
            </a:r>
            <a:r>
              <a:rPr lang="en-US" sz="1150" dirty="0" err="1">
                <a:solidFill>
                  <a:srgbClr val="1B2340"/>
                </a:solidFill>
                <a:latin typeface="Calibri" pitchFamily="34" charset="0"/>
                <a:ea typeface="Calibri" pitchFamily="34" charset="-122"/>
                <a:cs typeface="Calibri" pitchFamily="34" charset="-120"/>
              </a:rPr>
              <a:t>melhoria</a:t>
            </a:r>
            <a:r>
              <a:rPr lang="en-US" sz="1150" dirty="0">
                <a:solidFill>
                  <a:srgbClr val="1B2340"/>
                </a:solidFill>
                <a:latin typeface="Calibri" pitchFamily="34" charset="0"/>
                <a:ea typeface="Calibri" pitchFamily="34" charset="-122"/>
                <a:cs typeface="Calibri" pitchFamily="34" charset="-120"/>
              </a:rPr>
              <a:t> de processo, avaliando que o benefício supera o risco — sobretudo com dados anonimizados.</a:t>
            </a:r>
            <a:endParaRPr lang="en-US" sz="1150" dirty="0">
              <a:solidFill>
                <a:prstClr val="black"/>
              </a:solidFill>
              <a:latin typeface="Calibri" panose="020F0502020204030204"/>
            </a:endParaRPr>
          </a:p>
        </p:txBody>
      </p:sp>
      <p:sp>
        <p:nvSpPr>
          <p:cNvPr id="18" name="Text 14"/>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9" name="Text 15"/>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Base mais flexível, porém a mais escrutinada pela ANPD — exige documentação do teste de necessidade e proporcionalidade.</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Não pode ser usada para dados sensíveis, nem por órgãos públicos (art. 7º, §3º).</a:t>
            </a:r>
            <a:endParaRPr lang="en-US" sz="1150" dirty="0">
              <a:solidFill>
                <a:prstClr val="black"/>
              </a:solidFill>
              <a:latin typeface="Calibri" panose="020F0502020204030204"/>
            </a:endParaRPr>
          </a:p>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O titular tem direito de se opor a esse tratamento (art. 18, §2º).</a:t>
            </a:r>
            <a:endParaRPr lang="en-US" sz="1150" dirty="0">
              <a:solidFill>
                <a:prstClr val="black"/>
              </a:solidFill>
              <a:latin typeface="Calibri" panose="020F0502020204030204"/>
            </a:endParaRPr>
          </a:p>
        </p:txBody>
      </p:sp>
      <p:sp>
        <p:nvSpPr>
          <p:cNvPr id="20" name="Text 16"/>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21" name="Text 17"/>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11</a:t>
            </a:r>
            <a:endParaRPr lang="en-US" sz="900" dirty="0">
              <a:solidFill>
                <a:prstClr val="black"/>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23444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256032"/>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20624"/>
            <a:ext cx="402336" cy="402336"/>
          </a:xfrm>
          <a:prstGeom prst="rect">
            <a:avLst/>
          </a:prstGeom>
        </p:spPr>
      </p:pic>
      <p:sp>
        <p:nvSpPr>
          <p:cNvPr id="5" name="Text 2"/>
          <p:cNvSpPr/>
          <p:nvPr/>
        </p:nvSpPr>
        <p:spPr>
          <a:xfrm>
            <a:off x="1418908" y="246888"/>
            <a:ext cx="8686800" cy="274320"/>
          </a:xfrm>
          <a:prstGeom prst="rect">
            <a:avLst/>
          </a:prstGeom>
          <a:noFill/>
          <a:ln/>
        </p:spPr>
        <p:txBody>
          <a:bodyPr wrap="square" rtlCol="0" anchor="ctr"/>
          <a:lstStyle/>
          <a:p>
            <a:r>
              <a:rPr lang="en-US" sz="1200" b="1" kern="0" spc="150" dirty="0">
                <a:solidFill>
                  <a:srgbClr val="CADCFC"/>
                </a:solidFill>
                <a:latin typeface="Calibri" pitchFamily="34" charset="0"/>
                <a:ea typeface="Calibri" pitchFamily="34" charset="-122"/>
                <a:cs typeface="Calibri" pitchFamily="34" charset="-120"/>
              </a:rPr>
              <a:t>LEGÍTIMO INTERESSE — ART. 7º, IX, LGPD</a:t>
            </a:r>
            <a:endParaRPr lang="en-US" sz="1200" dirty="0">
              <a:solidFill>
                <a:prstClr val="black"/>
              </a:solidFill>
              <a:latin typeface="Calibri" panose="020F0502020204030204"/>
            </a:endParaRPr>
          </a:p>
        </p:txBody>
      </p:sp>
      <p:sp>
        <p:nvSpPr>
          <p:cNvPr id="6" name="Text 3"/>
          <p:cNvSpPr/>
          <p:nvPr/>
        </p:nvSpPr>
        <p:spPr>
          <a:xfrm>
            <a:off x="1418908" y="475488"/>
            <a:ext cx="9601200" cy="594360"/>
          </a:xfrm>
          <a:prstGeom prst="rect">
            <a:avLst/>
          </a:prstGeom>
          <a:noFill/>
          <a:ln/>
        </p:spPr>
        <p:txBody>
          <a:bodyPr wrap="square" rtlCol="0" anchor="ctr"/>
          <a:lstStyle/>
          <a:p>
            <a:r>
              <a:rPr lang="en-US" sz="2700" b="1" dirty="0">
                <a:solidFill>
                  <a:srgbClr val="FFFFFF"/>
                </a:solidFill>
                <a:latin typeface="Cambria" pitchFamily="34" charset="0"/>
                <a:ea typeface="Cambria" pitchFamily="34" charset="-122"/>
                <a:cs typeface="Cambria" pitchFamily="34" charset="-120"/>
              </a:rPr>
              <a:t>O que é o Teste de Proporcionalidade</a:t>
            </a:r>
            <a:endParaRPr lang="en-US" sz="2700" dirty="0">
              <a:solidFill>
                <a:prstClr val="black"/>
              </a:solidFill>
              <a:latin typeface="Calibri" panose="020F0502020204030204"/>
            </a:endParaRPr>
          </a:p>
        </p:txBody>
      </p:sp>
      <p:sp>
        <p:nvSpPr>
          <p:cNvPr id="7" name="Shape 4"/>
          <p:cNvSpPr/>
          <p:nvPr/>
        </p:nvSpPr>
        <p:spPr>
          <a:xfrm>
            <a:off x="458788" y="1417320"/>
            <a:ext cx="11274552" cy="713232"/>
          </a:xfrm>
          <a:prstGeom prst="roundRect">
            <a:avLst>
              <a:gd name="adj" fmla="val 7692"/>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687388" y="1417320"/>
            <a:ext cx="10835640" cy="713232"/>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Procedimento pelo qual o controlador demonstra que pode tratar dados com base no legítimo interesse sem violar os direitos do titular — também chamado de “legitimate interest assessment” ou teste de balanceamento.</a:t>
            </a:r>
            <a:endParaRPr lang="en-US" sz="1250" dirty="0">
              <a:solidFill>
                <a:prstClr val="black"/>
              </a:solidFill>
              <a:latin typeface="Calibri" panose="020F0502020204030204"/>
            </a:endParaRPr>
          </a:p>
        </p:txBody>
      </p:sp>
      <p:sp>
        <p:nvSpPr>
          <p:cNvPr id="9" name="Shape 6"/>
          <p:cNvSpPr/>
          <p:nvPr/>
        </p:nvSpPr>
        <p:spPr>
          <a:xfrm>
            <a:off x="458788" y="2331720"/>
            <a:ext cx="3611880" cy="3063240"/>
          </a:xfrm>
          <a:prstGeom prst="roundRect">
            <a:avLst>
              <a:gd name="adj" fmla="val 2687"/>
            </a:avLst>
          </a:prstGeom>
          <a:solidFill>
            <a:srgbClr val="EAF2FF"/>
          </a:solidFill>
          <a:ln/>
          <a:effectLst>
            <a:outerShdw blurRad="88900" dist="25400" dir="5400000" algn="bl" rotWithShape="0">
              <a:srgbClr val="1E2761">
                <a:alpha val="14000"/>
              </a:srgbClr>
            </a:outerShdw>
          </a:effectLst>
        </p:spPr>
        <p:txBody>
          <a:bodyPr/>
          <a:lstStyle/>
          <a:p>
            <a:endParaRPr lang="pt-BR">
              <a:solidFill>
                <a:prstClr val="black"/>
              </a:solidFill>
              <a:latin typeface="Calibri" panose="020F0502020204030204"/>
            </a:endParaRPr>
          </a:p>
        </p:txBody>
      </p:sp>
      <p:sp>
        <p:nvSpPr>
          <p:cNvPr id="10" name="Shape 7"/>
          <p:cNvSpPr/>
          <p:nvPr/>
        </p:nvSpPr>
        <p:spPr>
          <a:xfrm>
            <a:off x="714820" y="2587752"/>
            <a:ext cx="566928" cy="566928"/>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1" name="Image 1" descr="preencoded.png"/>
          <p:cNvPicPr>
            <a:picLocks noChangeAspect="1"/>
          </p:cNvPicPr>
          <p:nvPr/>
        </p:nvPicPr>
        <p:blipFill>
          <a:blip r:embed="rId4"/>
          <a:stretch>
            <a:fillRect/>
          </a:stretch>
        </p:blipFill>
        <p:spPr>
          <a:xfrm>
            <a:off x="842379" y="2715311"/>
            <a:ext cx="311810" cy="311810"/>
          </a:xfrm>
          <a:prstGeom prst="rect">
            <a:avLst/>
          </a:prstGeom>
        </p:spPr>
      </p:pic>
      <p:sp>
        <p:nvSpPr>
          <p:cNvPr id="12" name="Text 8"/>
          <p:cNvSpPr/>
          <p:nvPr/>
        </p:nvSpPr>
        <p:spPr>
          <a:xfrm>
            <a:off x="1418908" y="2624328"/>
            <a:ext cx="2514600" cy="256032"/>
          </a:xfrm>
          <a:prstGeom prst="rect">
            <a:avLst/>
          </a:prstGeom>
          <a:noFill/>
          <a:ln/>
        </p:spPr>
        <p:txBody>
          <a:bodyPr wrap="square" rtlCol="0" anchor="ctr"/>
          <a:lstStyle/>
          <a:p>
            <a:r>
              <a:rPr lang="en-US" sz="1050" b="1" kern="0" spc="100" dirty="0">
                <a:solidFill>
                  <a:srgbClr val="0E7C7B"/>
                </a:solidFill>
                <a:latin typeface="Calibri" pitchFamily="34" charset="0"/>
                <a:ea typeface="Calibri" pitchFamily="34" charset="-122"/>
                <a:cs typeface="Calibri" pitchFamily="34" charset="-120"/>
              </a:rPr>
              <a:t>PASSO 1</a:t>
            </a:r>
            <a:endParaRPr lang="en-US" sz="1050" dirty="0">
              <a:solidFill>
                <a:prstClr val="black"/>
              </a:solidFill>
              <a:latin typeface="Calibri" panose="020F0502020204030204"/>
            </a:endParaRPr>
          </a:p>
        </p:txBody>
      </p:sp>
      <p:sp>
        <p:nvSpPr>
          <p:cNvPr id="13" name="Text 9"/>
          <p:cNvSpPr/>
          <p:nvPr/>
        </p:nvSpPr>
        <p:spPr>
          <a:xfrm>
            <a:off x="1418908" y="2862072"/>
            <a:ext cx="2514600" cy="365760"/>
          </a:xfrm>
          <a:prstGeom prst="rect">
            <a:avLst/>
          </a:prstGeom>
          <a:noFill/>
          <a:ln/>
        </p:spPr>
        <p:txBody>
          <a:bodyPr wrap="square" rtlCol="0" anchor="ctr"/>
          <a:lstStyle/>
          <a:p>
            <a:r>
              <a:rPr lang="en-US" sz="1700" b="1" dirty="0">
                <a:solidFill>
                  <a:srgbClr val="1B2340"/>
                </a:solidFill>
                <a:latin typeface="Cambria" pitchFamily="34" charset="0"/>
                <a:ea typeface="Cambria" pitchFamily="34" charset="-122"/>
                <a:cs typeface="Cambria" pitchFamily="34" charset="-120"/>
              </a:rPr>
              <a:t>Finalidade legítima</a:t>
            </a:r>
            <a:endParaRPr lang="en-US" sz="1700" dirty="0">
              <a:solidFill>
                <a:prstClr val="black"/>
              </a:solidFill>
              <a:latin typeface="Calibri" panose="020F0502020204030204"/>
            </a:endParaRPr>
          </a:p>
        </p:txBody>
      </p:sp>
      <p:sp>
        <p:nvSpPr>
          <p:cNvPr id="14" name="Text 10"/>
          <p:cNvSpPr/>
          <p:nvPr/>
        </p:nvSpPr>
        <p:spPr>
          <a:xfrm>
            <a:off x="714820" y="3383280"/>
            <a:ext cx="3099816" cy="1097280"/>
          </a:xfrm>
          <a:prstGeom prst="rect">
            <a:avLst/>
          </a:prstGeom>
          <a:noFill/>
          <a:ln/>
        </p:spPr>
        <p:txBody>
          <a:bodyPr wrap="square" rtlCol="0" anchor="t"/>
          <a:lstStyle/>
          <a:p>
            <a:pPr>
              <a:lnSpc>
                <a:spcPct val="115000"/>
              </a:lnSpc>
            </a:pPr>
            <a:r>
              <a:rPr lang="en-US" sz="1150" dirty="0">
                <a:solidFill>
                  <a:srgbClr val="1B2340"/>
                </a:solidFill>
                <a:latin typeface="Calibri" pitchFamily="34" charset="0"/>
                <a:ea typeface="Calibri" pitchFamily="34" charset="-122"/>
                <a:cs typeface="Calibri" pitchFamily="34" charset="-120"/>
              </a:rPr>
              <a:t>Existe um interesse real, concreto e específico por trás do tratamento — não uma justificativa vaga ou genérica.</a:t>
            </a:r>
            <a:endParaRPr lang="en-US" sz="1150" dirty="0">
              <a:solidFill>
                <a:prstClr val="black"/>
              </a:solidFill>
              <a:latin typeface="Calibri" panose="020F0502020204030204"/>
            </a:endParaRPr>
          </a:p>
        </p:txBody>
      </p:sp>
      <p:sp>
        <p:nvSpPr>
          <p:cNvPr id="15" name="Shape 11"/>
          <p:cNvSpPr/>
          <p:nvPr/>
        </p:nvSpPr>
        <p:spPr>
          <a:xfrm>
            <a:off x="714820" y="4544568"/>
            <a:ext cx="3099816" cy="0"/>
          </a:xfrm>
          <a:prstGeom prst="line">
            <a:avLst/>
          </a:prstGeom>
          <a:noFill/>
          <a:ln w="12700">
            <a:solidFill>
              <a:srgbClr val="C7D3EE"/>
            </a:solidFill>
            <a:prstDash val="solid"/>
          </a:ln>
        </p:spPr>
        <p:txBody>
          <a:bodyPr/>
          <a:lstStyle/>
          <a:p>
            <a:endParaRPr lang="pt-BR">
              <a:solidFill>
                <a:prstClr val="black"/>
              </a:solidFill>
              <a:latin typeface="Calibri" panose="020F0502020204030204"/>
            </a:endParaRPr>
          </a:p>
        </p:txBody>
      </p:sp>
      <p:sp>
        <p:nvSpPr>
          <p:cNvPr id="16" name="Text 12"/>
          <p:cNvSpPr/>
          <p:nvPr/>
        </p:nvSpPr>
        <p:spPr>
          <a:xfrm>
            <a:off x="714820" y="4636008"/>
            <a:ext cx="3099816" cy="685800"/>
          </a:xfrm>
          <a:prstGeom prst="rect">
            <a:avLst/>
          </a:prstGeom>
          <a:noFill/>
          <a:ln/>
        </p:spPr>
        <p:txBody>
          <a:bodyPr wrap="square" rtlCol="0" anchor="t"/>
          <a:lstStyle/>
          <a:p>
            <a:pPr>
              <a:lnSpc>
                <a:spcPct val="110000"/>
              </a:lnSpc>
            </a:pPr>
            <a:r>
              <a:rPr lang="en-US" sz="1000" i="1" dirty="0">
                <a:solidFill>
                  <a:srgbClr val="5B6B8C"/>
                </a:solidFill>
                <a:latin typeface="Calibri" pitchFamily="34" charset="0"/>
                <a:ea typeface="Calibri" pitchFamily="34" charset="-122"/>
                <a:cs typeface="Calibri" pitchFamily="34" charset="-120"/>
              </a:rPr>
              <a:t>Ex.: treinar modelo de previsão de demanda para reduzir desperdício de estoque.</a:t>
            </a:r>
            <a:endParaRPr lang="en-US" sz="1000" dirty="0">
              <a:solidFill>
                <a:prstClr val="black"/>
              </a:solidFill>
              <a:latin typeface="Calibri" panose="020F0502020204030204"/>
            </a:endParaRPr>
          </a:p>
        </p:txBody>
      </p:sp>
      <p:sp>
        <p:nvSpPr>
          <p:cNvPr id="17" name="Shape 13"/>
          <p:cNvSpPr/>
          <p:nvPr/>
        </p:nvSpPr>
        <p:spPr>
          <a:xfrm>
            <a:off x="4290124" y="2331720"/>
            <a:ext cx="3611880" cy="3063240"/>
          </a:xfrm>
          <a:prstGeom prst="roundRect">
            <a:avLst>
              <a:gd name="adj" fmla="val 2687"/>
            </a:avLst>
          </a:prstGeom>
          <a:solidFill>
            <a:srgbClr val="EAF2FF"/>
          </a:solidFill>
          <a:ln/>
          <a:effectLst>
            <a:outerShdw blurRad="88900" dist="25400" dir="5400000" algn="bl" rotWithShape="0">
              <a:srgbClr val="1E2761">
                <a:alpha val="14000"/>
              </a:srgbClr>
            </a:outerShdw>
          </a:effectLst>
        </p:spPr>
        <p:txBody>
          <a:bodyPr/>
          <a:lstStyle/>
          <a:p>
            <a:endParaRPr lang="pt-BR">
              <a:solidFill>
                <a:prstClr val="black"/>
              </a:solidFill>
              <a:latin typeface="Calibri" panose="020F0502020204030204"/>
            </a:endParaRPr>
          </a:p>
        </p:txBody>
      </p:sp>
      <p:sp>
        <p:nvSpPr>
          <p:cNvPr id="18" name="Shape 14"/>
          <p:cNvSpPr/>
          <p:nvPr/>
        </p:nvSpPr>
        <p:spPr>
          <a:xfrm>
            <a:off x="4546156" y="2587752"/>
            <a:ext cx="566928" cy="566928"/>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9" name="Image 2" descr="preencoded.png"/>
          <p:cNvPicPr>
            <a:picLocks noChangeAspect="1"/>
          </p:cNvPicPr>
          <p:nvPr/>
        </p:nvPicPr>
        <p:blipFill>
          <a:blip r:embed="rId5"/>
          <a:stretch>
            <a:fillRect/>
          </a:stretch>
        </p:blipFill>
        <p:spPr>
          <a:xfrm>
            <a:off x="4673715" y="2715311"/>
            <a:ext cx="311810" cy="311810"/>
          </a:xfrm>
          <a:prstGeom prst="rect">
            <a:avLst/>
          </a:prstGeom>
        </p:spPr>
      </p:pic>
      <p:sp>
        <p:nvSpPr>
          <p:cNvPr id="20" name="Text 15"/>
          <p:cNvSpPr/>
          <p:nvPr/>
        </p:nvSpPr>
        <p:spPr>
          <a:xfrm>
            <a:off x="5250244" y="2624328"/>
            <a:ext cx="2514600" cy="256032"/>
          </a:xfrm>
          <a:prstGeom prst="rect">
            <a:avLst/>
          </a:prstGeom>
          <a:noFill/>
          <a:ln/>
        </p:spPr>
        <p:txBody>
          <a:bodyPr wrap="square" rtlCol="0" anchor="ctr"/>
          <a:lstStyle/>
          <a:p>
            <a:r>
              <a:rPr lang="en-US" sz="1050" b="1" kern="0" spc="100" dirty="0">
                <a:solidFill>
                  <a:srgbClr val="0E7C7B"/>
                </a:solidFill>
                <a:latin typeface="Calibri" pitchFamily="34" charset="0"/>
                <a:ea typeface="Calibri" pitchFamily="34" charset="-122"/>
                <a:cs typeface="Calibri" pitchFamily="34" charset="-120"/>
              </a:rPr>
              <a:t>PASSO 2</a:t>
            </a:r>
            <a:endParaRPr lang="en-US" sz="1050" dirty="0">
              <a:solidFill>
                <a:prstClr val="black"/>
              </a:solidFill>
              <a:latin typeface="Calibri" panose="020F0502020204030204"/>
            </a:endParaRPr>
          </a:p>
        </p:txBody>
      </p:sp>
      <p:sp>
        <p:nvSpPr>
          <p:cNvPr id="21" name="Text 16"/>
          <p:cNvSpPr/>
          <p:nvPr/>
        </p:nvSpPr>
        <p:spPr>
          <a:xfrm>
            <a:off x="5250244" y="2862072"/>
            <a:ext cx="2514600" cy="365760"/>
          </a:xfrm>
          <a:prstGeom prst="rect">
            <a:avLst/>
          </a:prstGeom>
          <a:noFill/>
          <a:ln/>
        </p:spPr>
        <p:txBody>
          <a:bodyPr wrap="square" rtlCol="0" anchor="ctr"/>
          <a:lstStyle/>
          <a:p>
            <a:r>
              <a:rPr lang="en-US" sz="1700" b="1" dirty="0">
                <a:solidFill>
                  <a:srgbClr val="1B2340"/>
                </a:solidFill>
                <a:latin typeface="Cambria" pitchFamily="34" charset="0"/>
                <a:ea typeface="Cambria" pitchFamily="34" charset="-122"/>
                <a:cs typeface="Cambria" pitchFamily="34" charset="-120"/>
              </a:rPr>
              <a:t>Necessidade</a:t>
            </a:r>
            <a:endParaRPr lang="en-US" sz="1700" dirty="0">
              <a:solidFill>
                <a:prstClr val="black"/>
              </a:solidFill>
              <a:latin typeface="Calibri" panose="020F0502020204030204"/>
            </a:endParaRPr>
          </a:p>
        </p:txBody>
      </p:sp>
      <p:sp>
        <p:nvSpPr>
          <p:cNvPr id="22" name="Text 17"/>
          <p:cNvSpPr/>
          <p:nvPr/>
        </p:nvSpPr>
        <p:spPr>
          <a:xfrm>
            <a:off x="4546156" y="3383280"/>
            <a:ext cx="3099816" cy="1097280"/>
          </a:xfrm>
          <a:prstGeom prst="rect">
            <a:avLst/>
          </a:prstGeom>
          <a:noFill/>
          <a:ln/>
        </p:spPr>
        <p:txBody>
          <a:bodyPr wrap="square" rtlCol="0" anchor="t"/>
          <a:lstStyle/>
          <a:p>
            <a:pPr>
              <a:lnSpc>
                <a:spcPct val="115000"/>
              </a:lnSpc>
            </a:pPr>
            <a:r>
              <a:rPr lang="en-US" sz="1150" dirty="0">
                <a:solidFill>
                  <a:srgbClr val="1B2340"/>
                </a:solidFill>
                <a:latin typeface="Calibri" pitchFamily="34" charset="0"/>
                <a:ea typeface="Calibri" pitchFamily="34" charset="-122"/>
                <a:cs typeface="Calibri" pitchFamily="34" charset="-120"/>
              </a:rPr>
              <a:t>O tratamento desses dados específicos é realmente indispensável para atingir a finalidade — não há forma menos invasiva de chegar ao mesmo resultado.</a:t>
            </a:r>
            <a:endParaRPr lang="en-US" sz="1150" dirty="0">
              <a:solidFill>
                <a:prstClr val="black"/>
              </a:solidFill>
              <a:latin typeface="Calibri" panose="020F0502020204030204"/>
            </a:endParaRPr>
          </a:p>
        </p:txBody>
      </p:sp>
      <p:sp>
        <p:nvSpPr>
          <p:cNvPr id="23" name="Shape 18"/>
          <p:cNvSpPr/>
          <p:nvPr/>
        </p:nvSpPr>
        <p:spPr>
          <a:xfrm>
            <a:off x="4546156" y="4544568"/>
            <a:ext cx="3099816" cy="0"/>
          </a:xfrm>
          <a:prstGeom prst="line">
            <a:avLst/>
          </a:prstGeom>
          <a:noFill/>
          <a:ln w="12700">
            <a:solidFill>
              <a:srgbClr val="C7D3EE"/>
            </a:solidFill>
            <a:prstDash val="solid"/>
          </a:ln>
        </p:spPr>
        <p:txBody>
          <a:bodyPr/>
          <a:lstStyle/>
          <a:p>
            <a:endParaRPr lang="pt-BR">
              <a:solidFill>
                <a:prstClr val="black"/>
              </a:solidFill>
              <a:latin typeface="Calibri" panose="020F0502020204030204"/>
            </a:endParaRPr>
          </a:p>
        </p:txBody>
      </p:sp>
      <p:sp>
        <p:nvSpPr>
          <p:cNvPr id="24" name="Text 19"/>
          <p:cNvSpPr/>
          <p:nvPr/>
        </p:nvSpPr>
        <p:spPr>
          <a:xfrm>
            <a:off x="4546156" y="4636008"/>
            <a:ext cx="3099816" cy="685800"/>
          </a:xfrm>
          <a:prstGeom prst="rect">
            <a:avLst/>
          </a:prstGeom>
          <a:noFill/>
          <a:ln/>
        </p:spPr>
        <p:txBody>
          <a:bodyPr wrap="square" rtlCol="0" anchor="t"/>
          <a:lstStyle/>
          <a:p>
            <a:pPr>
              <a:lnSpc>
                <a:spcPct val="110000"/>
              </a:lnSpc>
            </a:pPr>
            <a:r>
              <a:rPr lang="en-US" sz="1000" i="1" dirty="0">
                <a:solidFill>
                  <a:srgbClr val="5B6B8C"/>
                </a:solidFill>
                <a:latin typeface="Calibri" pitchFamily="34" charset="0"/>
                <a:ea typeface="Calibri" pitchFamily="34" charset="-122"/>
                <a:cs typeface="Calibri" pitchFamily="34" charset="-120"/>
              </a:rPr>
              <a:t>Se dados agregados/anonimizados bastam, o uso de dados identificáveis deixa de ser “necessário”.</a:t>
            </a:r>
            <a:endParaRPr lang="en-US" sz="1000" dirty="0">
              <a:solidFill>
                <a:prstClr val="black"/>
              </a:solidFill>
              <a:latin typeface="Calibri" panose="020F0502020204030204"/>
            </a:endParaRPr>
          </a:p>
        </p:txBody>
      </p:sp>
      <p:sp>
        <p:nvSpPr>
          <p:cNvPr id="25" name="Shape 20"/>
          <p:cNvSpPr/>
          <p:nvPr/>
        </p:nvSpPr>
        <p:spPr>
          <a:xfrm>
            <a:off x="8121460" y="2331720"/>
            <a:ext cx="3611880" cy="3063240"/>
          </a:xfrm>
          <a:prstGeom prst="roundRect">
            <a:avLst>
              <a:gd name="adj" fmla="val 2687"/>
            </a:avLst>
          </a:prstGeom>
          <a:solidFill>
            <a:srgbClr val="1E2761"/>
          </a:solidFill>
          <a:ln/>
          <a:effectLst>
            <a:outerShdw blurRad="88900" dist="25400" dir="5400000" algn="bl" rotWithShape="0">
              <a:srgbClr val="1E2761">
                <a:alpha val="14000"/>
              </a:srgbClr>
            </a:outerShdw>
          </a:effectLst>
        </p:spPr>
        <p:txBody>
          <a:bodyPr/>
          <a:lstStyle/>
          <a:p>
            <a:endParaRPr lang="pt-BR">
              <a:solidFill>
                <a:prstClr val="black"/>
              </a:solidFill>
              <a:latin typeface="Calibri" panose="020F0502020204030204"/>
            </a:endParaRPr>
          </a:p>
        </p:txBody>
      </p:sp>
      <p:sp>
        <p:nvSpPr>
          <p:cNvPr id="26" name="Shape 21"/>
          <p:cNvSpPr/>
          <p:nvPr/>
        </p:nvSpPr>
        <p:spPr>
          <a:xfrm>
            <a:off x="8377492" y="2587752"/>
            <a:ext cx="566928" cy="566928"/>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27" name="Image 3" descr="preencoded.png"/>
          <p:cNvPicPr>
            <a:picLocks noChangeAspect="1"/>
          </p:cNvPicPr>
          <p:nvPr/>
        </p:nvPicPr>
        <p:blipFill>
          <a:blip r:embed="rId6"/>
          <a:stretch>
            <a:fillRect/>
          </a:stretch>
        </p:blipFill>
        <p:spPr>
          <a:xfrm>
            <a:off x="8505051" y="2715311"/>
            <a:ext cx="311810" cy="311810"/>
          </a:xfrm>
          <a:prstGeom prst="rect">
            <a:avLst/>
          </a:prstGeom>
        </p:spPr>
      </p:pic>
      <p:sp>
        <p:nvSpPr>
          <p:cNvPr id="28" name="Text 22"/>
          <p:cNvSpPr/>
          <p:nvPr/>
        </p:nvSpPr>
        <p:spPr>
          <a:xfrm>
            <a:off x="9081580" y="2624328"/>
            <a:ext cx="2514600" cy="256032"/>
          </a:xfrm>
          <a:prstGeom prst="rect">
            <a:avLst/>
          </a:prstGeom>
          <a:noFill/>
          <a:ln/>
        </p:spPr>
        <p:txBody>
          <a:bodyPr wrap="square" rtlCol="0" anchor="ctr"/>
          <a:lstStyle/>
          <a:p>
            <a:r>
              <a:rPr lang="en-US" sz="1050" b="1" kern="0" spc="100" dirty="0">
                <a:solidFill>
                  <a:srgbClr val="CADCFC"/>
                </a:solidFill>
                <a:latin typeface="Calibri" pitchFamily="34" charset="0"/>
                <a:ea typeface="Calibri" pitchFamily="34" charset="-122"/>
                <a:cs typeface="Calibri" pitchFamily="34" charset="-120"/>
              </a:rPr>
              <a:t>PASSO 3</a:t>
            </a:r>
            <a:endParaRPr lang="en-US" sz="1050" dirty="0">
              <a:solidFill>
                <a:prstClr val="black"/>
              </a:solidFill>
              <a:latin typeface="Calibri" panose="020F0502020204030204"/>
            </a:endParaRPr>
          </a:p>
        </p:txBody>
      </p:sp>
      <p:sp>
        <p:nvSpPr>
          <p:cNvPr id="29" name="Text 23"/>
          <p:cNvSpPr/>
          <p:nvPr/>
        </p:nvSpPr>
        <p:spPr>
          <a:xfrm>
            <a:off x="9081580" y="2862072"/>
            <a:ext cx="2514600" cy="365760"/>
          </a:xfrm>
          <a:prstGeom prst="rect">
            <a:avLst/>
          </a:prstGeom>
          <a:noFill/>
          <a:ln/>
        </p:spPr>
        <p:txBody>
          <a:bodyPr wrap="square" rtlCol="0" anchor="ctr"/>
          <a:lstStyle/>
          <a:p>
            <a:r>
              <a:rPr lang="en-US" sz="1700" b="1" dirty="0">
                <a:solidFill>
                  <a:srgbClr val="FFFFFF"/>
                </a:solidFill>
                <a:latin typeface="Cambria" pitchFamily="34" charset="0"/>
                <a:ea typeface="Cambria" pitchFamily="34" charset="-122"/>
                <a:cs typeface="Cambria" pitchFamily="34" charset="-120"/>
              </a:rPr>
              <a:t>Balanceamento</a:t>
            </a:r>
            <a:endParaRPr lang="en-US" sz="1700" dirty="0">
              <a:solidFill>
                <a:prstClr val="black"/>
              </a:solidFill>
              <a:latin typeface="Calibri" panose="020F0502020204030204"/>
            </a:endParaRPr>
          </a:p>
        </p:txBody>
      </p:sp>
      <p:sp>
        <p:nvSpPr>
          <p:cNvPr id="30" name="Text 24"/>
          <p:cNvSpPr/>
          <p:nvPr/>
        </p:nvSpPr>
        <p:spPr>
          <a:xfrm>
            <a:off x="8377492" y="3383280"/>
            <a:ext cx="3099816" cy="1097280"/>
          </a:xfrm>
          <a:prstGeom prst="rect">
            <a:avLst/>
          </a:prstGeom>
          <a:noFill/>
          <a:ln/>
        </p:spPr>
        <p:txBody>
          <a:bodyPr wrap="square" rtlCol="0" anchor="t"/>
          <a:lstStyle/>
          <a:p>
            <a:pPr>
              <a:lnSpc>
                <a:spcPct val="115000"/>
              </a:lnSpc>
            </a:pPr>
            <a:r>
              <a:rPr lang="en-US" sz="1150" dirty="0">
                <a:solidFill>
                  <a:srgbClr val="CADCFC"/>
                </a:solidFill>
                <a:latin typeface="Calibri" pitchFamily="34" charset="0"/>
                <a:ea typeface="Calibri" pitchFamily="34" charset="-122"/>
                <a:cs typeface="Calibri" pitchFamily="34" charset="-120"/>
              </a:rPr>
              <a:t>Pesar o interesse do controlador contra os direitos e expectativas razoáveis do titular (art. 7º, §1º).</a:t>
            </a:r>
            <a:endParaRPr lang="en-US" sz="1150" dirty="0">
              <a:solidFill>
                <a:prstClr val="black"/>
              </a:solidFill>
              <a:latin typeface="Calibri" panose="020F0502020204030204"/>
            </a:endParaRPr>
          </a:p>
        </p:txBody>
      </p:sp>
      <p:sp>
        <p:nvSpPr>
          <p:cNvPr id="31" name="Shape 25"/>
          <p:cNvSpPr/>
          <p:nvPr/>
        </p:nvSpPr>
        <p:spPr>
          <a:xfrm>
            <a:off x="8377492" y="4544568"/>
            <a:ext cx="3099816" cy="0"/>
          </a:xfrm>
          <a:prstGeom prst="line">
            <a:avLst/>
          </a:prstGeom>
          <a:noFill/>
          <a:ln w="12700">
            <a:solidFill>
              <a:srgbClr val="3A4680"/>
            </a:solidFill>
            <a:prstDash val="solid"/>
          </a:ln>
        </p:spPr>
        <p:txBody>
          <a:bodyPr/>
          <a:lstStyle/>
          <a:p>
            <a:endParaRPr lang="pt-BR">
              <a:solidFill>
                <a:prstClr val="black"/>
              </a:solidFill>
              <a:latin typeface="Calibri" panose="020F0502020204030204"/>
            </a:endParaRPr>
          </a:p>
        </p:txBody>
      </p:sp>
      <p:sp>
        <p:nvSpPr>
          <p:cNvPr id="32" name="Text 26"/>
          <p:cNvSpPr/>
          <p:nvPr/>
        </p:nvSpPr>
        <p:spPr>
          <a:xfrm>
            <a:off x="8377492" y="4636008"/>
            <a:ext cx="3099816" cy="685800"/>
          </a:xfrm>
          <a:prstGeom prst="rect">
            <a:avLst/>
          </a:prstGeom>
          <a:noFill/>
          <a:ln/>
        </p:spPr>
        <p:txBody>
          <a:bodyPr wrap="square" rtlCol="0" anchor="t"/>
          <a:lstStyle/>
          <a:p>
            <a:pPr>
              <a:lnSpc>
                <a:spcPct val="110000"/>
              </a:lnSpc>
            </a:pPr>
            <a:r>
              <a:rPr lang="en-US" sz="1000" i="1" dirty="0">
                <a:solidFill>
                  <a:srgbClr val="9FB0DE"/>
                </a:solidFill>
                <a:latin typeface="Calibri" pitchFamily="34" charset="0"/>
                <a:ea typeface="Calibri" pitchFamily="34" charset="-122"/>
                <a:cs typeface="Calibri" pitchFamily="34" charset="-120"/>
              </a:rPr>
              <a:t>O titular esperaria esse uso? O impacto sobre ele é mínimo ou significativo? Há salvaguardas (anonimização, controle de acesso)?</a:t>
            </a:r>
            <a:endParaRPr lang="en-US" sz="1000" dirty="0">
              <a:solidFill>
                <a:prstClr val="black"/>
              </a:solidFill>
              <a:latin typeface="Calibri" panose="020F0502020204030204"/>
            </a:endParaRPr>
          </a:p>
        </p:txBody>
      </p:sp>
      <p:sp>
        <p:nvSpPr>
          <p:cNvPr id="33" name="Shape 27"/>
          <p:cNvSpPr/>
          <p:nvPr/>
        </p:nvSpPr>
        <p:spPr>
          <a:xfrm>
            <a:off x="458788" y="5623560"/>
            <a:ext cx="11274552" cy="777240"/>
          </a:xfrm>
          <a:prstGeom prst="roundRect">
            <a:avLst>
              <a:gd name="adj" fmla="val 7059"/>
            </a:avLst>
          </a:prstGeom>
          <a:solidFill>
            <a:srgbClr val="FBEAEA"/>
          </a:solidFill>
          <a:ln/>
        </p:spPr>
        <p:txBody>
          <a:bodyPr/>
          <a:lstStyle/>
          <a:p>
            <a:endParaRPr lang="pt-BR">
              <a:solidFill>
                <a:prstClr val="black"/>
              </a:solidFill>
              <a:latin typeface="Calibri" panose="020F0502020204030204"/>
            </a:endParaRPr>
          </a:p>
        </p:txBody>
      </p:sp>
      <p:sp>
        <p:nvSpPr>
          <p:cNvPr id="34" name="Shape 28"/>
          <p:cNvSpPr/>
          <p:nvPr/>
        </p:nvSpPr>
        <p:spPr>
          <a:xfrm>
            <a:off x="623380" y="5742432"/>
            <a:ext cx="457200" cy="457200"/>
          </a:xfrm>
          <a:prstGeom prst="ellipse">
            <a:avLst/>
          </a:prstGeom>
          <a:solidFill>
            <a:srgbClr val="B23A48"/>
          </a:solidFill>
          <a:ln/>
        </p:spPr>
        <p:txBody>
          <a:bodyPr/>
          <a:lstStyle/>
          <a:p>
            <a:endParaRPr lang="pt-BR">
              <a:solidFill>
                <a:prstClr val="black"/>
              </a:solidFill>
              <a:latin typeface="Calibri" panose="020F0502020204030204"/>
            </a:endParaRPr>
          </a:p>
        </p:txBody>
      </p:sp>
      <p:pic>
        <p:nvPicPr>
          <p:cNvPr id="35" name="Image 4" descr="preencoded.png"/>
          <p:cNvPicPr>
            <a:picLocks noChangeAspect="1"/>
          </p:cNvPicPr>
          <p:nvPr/>
        </p:nvPicPr>
        <p:blipFill>
          <a:blip r:embed="rId7"/>
          <a:stretch>
            <a:fillRect/>
          </a:stretch>
        </p:blipFill>
        <p:spPr>
          <a:xfrm>
            <a:off x="726250" y="5845302"/>
            <a:ext cx="251460" cy="251460"/>
          </a:xfrm>
          <a:prstGeom prst="rect">
            <a:avLst/>
          </a:prstGeom>
        </p:spPr>
      </p:pic>
      <p:sp>
        <p:nvSpPr>
          <p:cNvPr id="36" name="Text 29"/>
          <p:cNvSpPr/>
          <p:nvPr/>
        </p:nvSpPr>
        <p:spPr>
          <a:xfrm>
            <a:off x="1236028" y="5623560"/>
            <a:ext cx="10332720" cy="777240"/>
          </a:xfrm>
          <a:prstGeom prst="rect">
            <a:avLst/>
          </a:prstGeom>
          <a:noFill/>
          <a:ln/>
        </p:spPr>
        <p:txBody>
          <a:bodyPr wrap="square" rtlCol="0" anchor="ctr"/>
          <a:lstStyle/>
          <a:p>
            <a:r>
              <a:rPr lang="en-US" sz="1200" b="1" dirty="0">
                <a:solidFill>
                  <a:srgbClr val="7A2530"/>
                </a:solidFill>
                <a:latin typeface="Calibri" pitchFamily="34" charset="0"/>
                <a:ea typeface="Calibri" pitchFamily="34" charset="-122"/>
                <a:cs typeface="Calibri" pitchFamily="34" charset="-120"/>
              </a:rPr>
              <a:t>Se o risco ao titular superar o benefício ao controlador, o legítimo interesse não pode ser usado — é preciso buscar outra base legal (ex.: consentimento).</a:t>
            </a:r>
            <a:endParaRPr lang="en-US" sz="1200" dirty="0">
              <a:solidFill>
                <a:prstClr val="black"/>
              </a:solidFill>
              <a:latin typeface="Calibri" panose="020F0502020204030204"/>
            </a:endParaRPr>
          </a:p>
        </p:txBody>
      </p:sp>
      <p:sp>
        <p:nvSpPr>
          <p:cNvPr id="37" name="Text 30"/>
          <p:cNvSpPr/>
          <p:nvPr/>
        </p:nvSpPr>
        <p:spPr>
          <a:xfrm>
            <a:off x="458788" y="6492240"/>
            <a:ext cx="10972800" cy="274320"/>
          </a:xfrm>
          <a:prstGeom prst="rect">
            <a:avLst/>
          </a:prstGeom>
          <a:noFill/>
          <a:ln/>
        </p:spPr>
        <p:txBody>
          <a:bodyPr wrap="square" rtlCol="0" anchor="ctr"/>
          <a:lstStyle/>
          <a:p>
            <a:r>
              <a:rPr lang="en-US" sz="950" i="1" dirty="0">
                <a:solidFill>
                  <a:srgbClr val="5B6B8C"/>
                </a:solidFill>
                <a:latin typeface="Calibri" pitchFamily="34" charset="0"/>
                <a:ea typeface="Calibri" pitchFamily="34" charset="-122"/>
                <a:cs typeface="Calibri" pitchFamily="34" charset="-120"/>
              </a:rPr>
              <a:t>Recomendação: a empresa deve registrar esse teste </a:t>
            </a:r>
            <a:r>
              <a:rPr lang="en-US" sz="950" i="1" dirty="0" err="1">
                <a:solidFill>
                  <a:srgbClr val="5B6B8C"/>
                </a:solidFill>
                <a:latin typeface="Calibri" pitchFamily="34" charset="0"/>
                <a:ea typeface="Calibri" pitchFamily="34" charset="-122"/>
                <a:cs typeface="Calibri" pitchFamily="34" charset="-120"/>
              </a:rPr>
              <a:t>por</a:t>
            </a:r>
            <a:r>
              <a:rPr lang="en-US" sz="950" i="1" dirty="0">
                <a:solidFill>
                  <a:srgbClr val="5B6B8C"/>
                </a:solidFill>
                <a:latin typeface="Calibri" pitchFamily="34" charset="0"/>
                <a:ea typeface="Calibri" pitchFamily="34" charset="-122"/>
                <a:cs typeface="Calibri" pitchFamily="34" charset="-120"/>
              </a:rPr>
              <a:t> </a:t>
            </a:r>
            <a:r>
              <a:rPr lang="en-US" sz="950" i="1" dirty="0" err="1">
                <a:solidFill>
                  <a:srgbClr val="5B6B8C"/>
                </a:solidFill>
                <a:latin typeface="Calibri" pitchFamily="34" charset="0"/>
                <a:ea typeface="Calibri" pitchFamily="34" charset="-122"/>
                <a:cs typeface="Calibri" pitchFamily="34" charset="-120"/>
              </a:rPr>
              <a:t>escrito</a:t>
            </a:r>
            <a:r>
              <a:rPr lang="en-US" sz="950" i="1" dirty="0">
                <a:solidFill>
                  <a:srgbClr val="5B6B8C"/>
                </a:solidFill>
                <a:latin typeface="Calibri" pitchFamily="34" charset="0"/>
                <a:ea typeface="Calibri" pitchFamily="34" charset="-122"/>
                <a:cs typeface="Calibri" pitchFamily="34" charset="-120"/>
              </a:rPr>
              <a:t> – </a:t>
            </a:r>
            <a:r>
              <a:rPr lang="en-US" sz="950" i="1" dirty="0" err="1">
                <a:solidFill>
                  <a:srgbClr val="5B6B8C"/>
                </a:solidFill>
                <a:latin typeface="Calibri" pitchFamily="34" charset="0"/>
                <a:ea typeface="Calibri" pitchFamily="34" charset="-122"/>
                <a:cs typeface="Calibri" pitchFamily="34" charset="-120"/>
              </a:rPr>
              <a:t>evidência</a:t>
            </a:r>
            <a:r>
              <a:rPr lang="en-US" sz="950" i="1" dirty="0">
                <a:solidFill>
                  <a:srgbClr val="5B6B8C"/>
                </a:solidFill>
                <a:latin typeface="Calibri" pitchFamily="34" charset="0"/>
                <a:ea typeface="Calibri" pitchFamily="34" charset="-122"/>
                <a:cs typeface="Calibri" pitchFamily="34" charset="-120"/>
              </a:rPr>
              <a:t>. </a:t>
            </a:r>
            <a:r>
              <a:rPr lang="en-US" sz="950" i="1" dirty="0" err="1">
                <a:solidFill>
                  <a:srgbClr val="5B6B8C"/>
                </a:solidFill>
                <a:latin typeface="Calibri" pitchFamily="34" charset="0"/>
                <a:ea typeface="Calibri" pitchFamily="34" charset="-122"/>
                <a:cs typeface="Calibri" pitchFamily="34" charset="-120"/>
              </a:rPr>
              <a:t>Provas</a:t>
            </a:r>
            <a:r>
              <a:rPr lang="en-US" sz="950" i="1" dirty="0">
                <a:solidFill>
                  <a:srgbClr val="5B6B8C"/>
                </a:solidFill>
                <a:latin typeface="Calibri" pitchFamily="34" charset="0"/>
                <a:ea typeface="Calibri" pitchFamily="34" charset="-122"/>
                <a:cs typeface="Calibri" pitchFamily="34" charset="-120"/>
              </a:rPr>
              <a:t>. </a:t>
            </a:r>
            <a:endParaRPr lang="en-US" sz="950" dirty="0">
              <a:solidFill>
                <a:prstClr val="black"/>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37160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320040"/>
            <a:ext cx="731520" cy="731520"/>
          </a:xfrm>
          <a:prstGeom prst="ellipse">
            <a:avLst/>
          </a:prstGeom>
          <a:solidFill>
            <a:srgbClr val="141A47"/>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84632"/>
            <a:ext cx="402336" cy="402336"/>
          </a:xfrm>
          <a:prstGeom prst="rect">
            <a:avLst/>
          </a:prstGeom>
        </p:spPr>
      </p:pic>
      <p:sp>
        <p:nvSpPr>
          <p:cNvPr id="5" name="Text 2"/>
          <p:cNvSpPr/>
          <p:nvPr/>
        </p:nvSpPr>
        <p:spPr>
          <a:xfrm>
            <a:off x="1418908" y="301752"/>
            <a:ext cx="54864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INCISO X</a:t>
            </a:r>
            <a:endParaRPr lang="en-US" sz="1300" dirty="0">
              <a:solidFill>
                <a:prstClr val="black"/>
              </a:solidFill>
              <a:latin typeface="Calibri" panose="020F0502020204030204"/>
            </a:endParaRPr>
          </a:p>
        </p:txBody>
      </p:sp>
      <p:sp>
        <p:nvSpPr>
          <p:cNvPr id="6" name="Text 3"/>
          <p:cNvSpPr/>
          <p:nvPr/>
        </p:nvSpPr>
        <p:spPr>
          <a:xfrm>
            <a:off x="1418908" y="566928"/>
            <a:ext cx="8686800" cy="64008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Proteção do crédito</a:t>
            </a:r>
            <a:endParaRPr lang="en-US" sz="2600" dirty="0">
              <a:solidFill>
                <a:prstClr val="black"/>
              </a:solidFill>
              <a:latin typeface="Calibri" panose="020F0502020204030204"/>
            </a:endParaRPr>
          </a:p>
        </p:txBody>
      </p:sp>
      <p:sp>
        <p:nvSpPr>
          <p:cNvPr id="7" name="Shape 4"/>
          <p:cNvSpPr/>
          <p:nvPr/>
        </p:nvSpPr>
        <p:spPr>
          <a:xfrm>
            <a:off x="504508" y="1600200"/>
            <a:ext cx="11155680" cy="777240"/>
          </a:xfrm>
          <a:prstGeom prst="roundRect">
            <a:avLst>
              <a:gd name="adj" fmla="val 7059"/>
            </a:avLst>
          </a:prstGeom>
          <a:solidFill>
            <a:srgbClr val="F4F6FB"/>
          </a:solidFill>
          <a:ln/>
        </p:spPr>
        <p:txBody>
          <a:bodyPr/>
          <a:lstStyle/>
          <a:p>
            <a:endParaRPr lang="pt-BR">
              <a:solidFill>
                <a:prstClr val="black"/>
              </a:solidFill>
              <a:latin typeface="Calibri" panose="020F0502020204030204"/>
            </a:endParaRPr>
          </a:p>
        </p:txBody>
      </p:sp>
      <p:sp>
        <p:nvSpPr>
          <p:cNvPr id="8" name="Text 5"/>
          <p:cNvSpPr/>
          <p:nvPr/>
        </p:nvSpPr>
        <p:spPr>
          <a:xfrm>
            <a:off x="733108" y="1600200"/>
            <a:ext cx="10698480" cy="777240"/>
          </a:xfrm>
          <a:prstGeom prst="rect">
            <a:avLst/>
          </a:prstGeom>
          <a:noFill/>
          <a:ln/>
        </p:spPr>
        <p:txBody>
          <a:bodyPr wrap="square" rtlCol="0" anchor="ctr"/>
          <a:lstStyle/>
          <a:p>
            <a:r>
              <a:rPr lang="en-US" sz="1250" i="1" dirty="0">
                <a:solidFill>
                  <a:srgbClr val="1B2340"/>
                </a:solidFill>
                <a:latin typeface="Calibri" pitchFamily="34" charset="0"/>
                <a:ea typeface="Calibri" pitchFamily="34" charset="-122"/>
                <a:cs typeface="Calibri" pitchFamily="34" charset="-120"/>
              </a:rPr>
              <a:t>“Para a proteção do crédito, inclusive quanto ao disposto na legislação pertinente” (art. 7º, X)</a:t>
            </a:r>
            <a:endParaRPr lang="en-US" sz="1250" dirty="0">
              <a:solidFill>
                <a:prstClr val="black"/>
              </a:solidFill>
              <a:latin typeface="Calibri" panose="020F0502020204030204"/>
            </a:endParaRPr>
          </a:p>
        </p:txBody>
      </p:sp>
      <p:sp>
        <p:nvSpPr>
          <p:cNvPr id="9" name="Text 6"/>
          <p:cNvSpPr/>
          <p:nvPr/>
        </p:nvSpPr>
        <p:spPr>
          <a:xfrm>
            <a:off x="504508" y="2606040"/>
            <a:ext cx="5394960" cy="274320"/>
          </a:xfrm>
          <a:prstGeom prst="rect">
            <a:avLst/>
          </a:prstGeom>
          <a:noFill/>
          <a:ln/>
        </p:spPr>
        <p:txBody>
          <a:bodyPr wrap="square" rtlCol="0" anchor="ctr"/>
          <a:lstStyle/>
          <a:p>
            <a:r>
              <a:rPr lang="en-US" sz="1200" b="1" kern="0" spc="100" dirty="0">
                <a:solidFill>
                  <a:srgbClr val="1E2761"/>
                </a:solidFill>
                <a:latin typeface="Calibri" pitchFamily="34" charset="0"/>
                <a:ea typeface="Calibri" pitchFamily="34" charset="-122"/>
                <a:cs typeface="Calibri" pitchFamily="34" charset="-120"/>
              </a:rPr>
              <a:t>QUANDO SE APLICA</a:t>
            </a:r>
            <a:endParaRPr lang="en-US" sz="1200" dirty="0">
              <a:solidFill>
                <a:prstClr val="black"/>
              </a:solidFill>
              <a:latin typeface="Calibri" panose="020F0502020204030204"/>
            </a:endParaRPr>
          </a:p>
        </p:txBody>
      </p:sp>
      <p:sp>
        <p:nvSpPr>
          <p:cNvPr id="10" name="Text 7"/>
          <p:cNvSpPr/>
          <p:nvPr/>
        </p:nvSpPr>
        <p:spPr>
          <a:xfrm>
            <a:off x="504508" y="2926080"/>
            <a:ext cx="5394960" cy="1554480"/>
          </a:xfrm>
          <a:prstGeom prst="rect">
            <a:avLst/>
          </a:prstGeom>
          <a:noFill/>
          <a:ln/>
        </p:spPr>
        <p:txBody>
          <a:bodyPr wrap="square" rtlCol="0" anchor="ctr"/>
          <a:lstStyle/>
          <a:p>
            <a:pPr>
              <a:lnSpc>
                <a:spcPct val="115000"/>
              </a:lnSpc>
            </a:pPr>
            <a:r>
              <a:rPr lang="en-US" sz="1250" dirty="0">
                <a:solidFill>
                  <a:srgbClr val="1B2340"/>
                </a:solidFill>
                <a:latin typeface="Calibri" pitchFamily="34" charset="0"/>
                <a:ea typeface="Calibri" pitchFamily="34" charset="-122"/>
                <a:cs typeface="Calibri" pitchFamily="34" charset="-120"/>
              </a:rPr>
              <a:t>Birôs e análises de risco de crédito, score, cadastro positivo.</a:t>
            </a:r>
            <a:endParaRPr lang="en-US" sz="1250" dirty="0">
              <a:solidFill>
                <a:prstClr val="black"/>
              </a:solidFill>
              <a:latin typeface="Calibri" panose="020F0502020204030204"/>
            </a:endParaRPr>
          </a:p>
        </p:txBody>
      </p:sp>
      <p:sp>
        <p:nvSpPr>
          <p:cNvPr id="11" name="Shape 8"/>
          <p:cNvSpPr/>
          <p:nvPr/>
        </p:nvSpPr>
        <p:spPr>
          <a:xfrm>
            <a:off x="6173788" y="2606040"/>
            <a:ext cx="5486400" cy="1600200"/>
          </a:xfrm>
          <a:prstGeom prst="roundRect">
            <a:avLst>
              <a:gd name="adj" fmla="val 4571"/>
            </a:avLst>
          </a:prstGeom>
          <a:solidFill>
            <a:srgbClr val="EAF2FF"/>
          </a:solidFill>
          <a:ln/>
        </p:spPr>
        <p:txBody>
          <a:bodyPr/>
          <a:lstStyle/>
          <a:p>
            <a:endParaRPr lang="pt-BR">
              <a:solidFill>
                <a:prstClr val="black"/>
              </a:solidFill>
              <a:latin typeface="Calibri" panose="020F0502020204030204"/>
            </a:endParaRPr>
          </a:p>
        </p:txBody>
      </p:sp>
      <p:sp>
        <p:nvSpPr>
          <p:cNvPr id="12" name="Shape 9"/>
          <p:cNvSpPr/>
          <p:nvPr/>
        </p:nvSpPr>
        <p:spPr>
          <a:xfrm>
            <a:off x="6356668" y="2761488"/>
            <a:ext cx="365760" cy="36576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429820" y="2834640"/>
            <a:ext cx="219456" cy="219456"/>
          </a:xfrm>
          <a:prstGeom prst="rect">
            <a:avLst/>
          </a:prstGeom>
        </p:spPr>
      </p:pic>
      <p:sp>
        <p:nvSpPr>
          <p:cNvPr id="14" name="Text 10"/>
          <p:cNvSpPr/>
          <p:nvPr/>
        </p:nvSpPr>
        <p:spPr>
          <a:xfrm>
            <a:off x="6813868" y="2743200"/>
            <a:ext cx="4663440" cy="274320"/>
          </a:xfrm>
          <a:prstGeom prst="rect">
            <a:avLst/>
          </a:prstGeom>
          <a:noFill/>
          <a:ln/>
        </p:spPr>
        <p:txBody>
          <a:bodyPr wrap="square" rtlCol="0" anchor="ctr"/>
          <a:lstStyle/>
          <a:p>
            <a:r>
              <a:rPr lang="en-US" sz="1100" b="1" kern="0" spc="100" dirty="0">
                <a:solidFill>
                  <a:srgbClr val="1E2761"/>
                </a:solidFill>
                <a:latin typeface="Calibri" pitchFamily="34" charset="0"/>
                <a:ea typeface="Calibri" pitchFamily="34" charset="-122"/>
                <a:cs typeface="Calibri" pitchFamily="34" charset="-120"/>
              </a:rPr>
              <a:t>EXEMPLO PRÁTICO</a:t>
            </a:r>
            <a:endParaRPr lang="en-US" sz="1100" dirty="0">
              <a:solidFill>
                <a:prstClr val="black"/>
              </a:solidFill>
              <a:latin typeface="Calibri" panose="020F0502020204030204"/>
            </a:endParaRPr>
          </a:p>
        </p:txBody>
      </p:sp>
      <p:sp>
        <p:nvSpPr>
          <p:cNvPr id="15" name="Text 11"/>
          <p:cNvSpPr/>
          <p:nvPr/>
        </p:nvSpPr>
        <p:spPr>
          <a:xfrm>
            <a:off x="6356668" y="3127248"/>
            <a:ext cx="5120640" cy="1005840"/>
          </a:xfrm>
          <a:prstGeom prst="rect">
            <a:avLst/>
          </a:prstGeom>
          <a:noFill/>
          <a:ln/>
        </p:spPr>
        <p:txBody>
          <a:bodyPr wrap="square" rtlCol="0" anchor="ctr"/>
          <a:lstStyle/>
          <a:p>
            <a:pPr>
              <a:lnSpc>
                <a:spcPct val="110000"/>
              </a:lnSpc>
            </a:pPr>
            <a:r>
              <a:rPr lang="en-US" sz="1150" dirty="0">
                <a:solidFill>
                  <a:srgbClr val="1B2340"/>
                </a:solidFill>
                <a:latin typeface="Calibri" pitchFamily="34" charset="0"/>
                <a:ea typeface="Calibri" pitchFamily="34" charset="-122"/>
                <a:cs typeface="Calibri" pitchFamily="34" charset="-120"/>
              </a:rPr>
              <a:t>Serasa/SPC tratando dados para cálculo de score de crédito.</a:t>
            </a:r>
            <a:endParaRPr lang="en-US" sz="1150" dirty="0">
              <a:solidFill>
                <a:prstClr val="black"/>
              </a:solidFill>
              <a:latin typeface="Calibri" panose="020F0502020204030204"/>
            </a:endParaRPr>
          </a:p>
        </p:txBody>
      </p:sp>
      <p:sp>
        <p:nvSpPr>
          <p:cNvPr id="16" name="Text 12"/>
          <p:cNvSpPr/>
          <p:nvPr/>
        </p:nvSpPr>
        <p:spPr>
          <a:xfrm>
            <a:off x="504508" y="4572000"/>
            <a:ext cx="5486400" cy="274320"/>
          </a:xfrm>
          <a:prstGeom prst="rect">
            <a:avLst/>
          </a:prstGeom>
          <a:noFill/>
          <a:ln/>
        </p:spPr>
        <p:txBody>
          <a:bodyPr wrap="square" rtlCol="0" anchor="ctr"/>
          <a:lstStyle/>
          <a:p>
            <a:r>
              <a:rPr lang="en-US" sz="1200" b="1" kern="0" spc="100" dirty="0">
                <a:solidFill>
                  <a:srgbClr val="B23A48"/>
                </a:solidFill>
                <a:latin typeface="Calibri" pitchFamily="34" charset="0"/>
                <a:ea typeface="Calibri" pitchFamily="34" charset="-122"/>
                <a:cs typeface="Calibri" pitchFamily="34" charset="-120"/>
              </a:rPr>
              <a:t>PONTOS DE ATENÇÃO</a:t>
            </a:r>
            <a:endParaRPr lang="en-US" sz="1200" dirty="0">
              <a:solidFill>
                <a:prstClr val="black"/>
              </a:solidFill>
              <a:latin typeface="Calibri" panose="020F0502020204030204"/>
            </a:endParaRPr>
          </a:p>
        </p:txBody>
      </p:sp>
      <p:sp>
        <p:nvSpPr>
          <p:cNvPr id="17" name="Text 13"/>
          <p:cNvSpPr/>
          <p:nvPr/>
        </p:nvSpPr>
        <p:spPr>
          <a:xfrm>
            <a:off x="641668" y="4892040"/>
            <a:ext cx="10881360" cy="1508760"/>
          </a:xfrm>
          <a:prstGeom prst="rect">
            <a:avLst/>
          </a:prstGeom>
          <a:noFill/>
          <a:ln/>
        </p:spPr>
        <p:txBody>
          <a:bodyPr wrap="square" rtlCol="0" anchor="t"/>
          <a:lstStyle/>
          <a:p>
            <a:pPr marL="177800" indent="-177800">
              <a:lnSpc>
                <a:spcPct val="110000"/>
              </a:lnSpc>
              <a:spcAft>
                <a:spcPts val="800"/>
              </a:spcAft>
              <a:buSzPct val="100000"/>
              <a:buFontTx/>
              <a:buChar char="•"/>
            </a:pPr>
            <a:r>
              <a:rPr lang="en-US" sz="1150" dirty="0">
                <a:solidFill>
                  <a:srgbClr val="1B2340"/>
                </a:solidFill>
                <a:latin typeface="Calibri" pitchFamily="34" charset="0"/>
                <a:ea typeface="Calibri" pitchFamily="34" charset="-122"/>
                <a:cs typeface="Calibri" pitchFamily="34" charset="-120"/>
              </a:rPr>
              <a:t>Regida também por lei específica (Cadastro Positivo).</a:t>
            </a:r>
            <a:endParaRPr lang="en-US" sz="1150" dirty="0">
              <a:solidFill>
                <a:prstClr val="black"/>
              </a:solidFill>
              <a:latin typeface="Calibri" panose="020F0502020204030204"/>
            </a:endParaRPr>
          </a:p>
        </p:txBody>
      </p:sp>
      <p:sp>
        <p:nvSpPr>
          <p:cNvPr id="18" name="Text 14"/>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Art. 7º da LGPD — Hipóteses legais para tratamento de dados pessoais</a:t>
            </a:r>
            <a:endParaRPr lang="en-US" sz="900" dirty="0">
              <a:solidFill>
                <a:prstClr val="black"/>
              </a:solidFill>
              <a:latin typeface="Calibri" panose="020F0502020204030204"/>
            </a:endParaRPr>
          </a:p>
        </p:txBody>
      </p:sp>
      <p:sp>
        <p:nvSpPr>
          <p:cNvPr id="19" name="Text 15"/>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12</a:t>
            </a:r>
            <a:endParaRPr lang="en-US" sz="900" dirty="0">
              <a:solidFill>
                <a:prstClr val="black"/>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erBand"/>
          <p:cNvSpPr/>
          <p:nvPr/>
        </p:nvSpPr>
        <p:spPr>
          <a:xfrm>
            <a:off x="1588" y="0"/>
            <a:ext cx="12188952" cy="1371600"/>
          </a:xfrm>
          <a:prstGeom prst="rect">
            <a:avLst/>
          </a:prstGeom>
          <a:solidFill>
            <a:srgbClr val="1E2761"/>
          </a:solidFill>
          <a:ln>
            <a:noFill/>
          </a:ln>
        </p:spPr>
        <p:txBody>
          <a:bodyPr/>
          <a:lstStyle/>
          <a:p>
            <a:endParaRPr lang="pt-BR"/>
          </a:p>
        </p:txBody>
      </p:sp>
      <p:sp>
        <p:nvSpPr>
          <p:cNvPr id="6" name="HeaderIcon"/>
          <p:cNvSpPr/>
          <p:nvPr/>
        </p:nvSpPr>
        <p:spPr>
          <a:xfrm>
            <a:off x="504508" y="320040"/>
            <a:ext cx="731520" cy="731520"/>
          </a:xfrm>
          <a:prstGeom prst="ellipse">
            <a:avLst/>
          </a:prstGeom>
          <a:solidFill>
            <a:srgbClr val="1B2340"/>
          </a:solidFill>
          <a:ln>
            <a:noFill/>
          </a:ln>
        </p:spPr>
        <p:txBody>
          <a:bodyPr/>
          <a:lstStyle/>
          <a:p>
            <a:endParaRPr lang="pt-BR"/>
          </a:p>
        </p:txBody>
      </p:sp>
      <p:sp>
        <p:nvSpPr>
          <p:cNvPr id="5" name="BodyCard"/>
          <p:cNvSpPr/>
          <p:nvPr/>
        </p:nvSpPr>
        <p:spPr>
          <a:xfrm>
            <a:off x="504508" y="1600200"/>
            <a:ext cx="11155680" cy="4800000"/>
          </a:xfrm>
          <a:prstGeom prst="roundRect">
            <a:avLst>
              <a:gd name="adj" fmla="val 1500"/>
            </a:avLst>
          </a:prstGeom>
          <a:solidFill>
            <a:srgbClr val="F4F6FB"/>
          </a:solidFill>
          <a:ln>
            <a:noFill/>
          </a:ln>
        </p:spPr>
        <p:txBody>
          <a:bodyPr/>
          <a:lstStyle/>
          <a:p>
            <a:endParaRPr lang="pt-BR"/>
          </a:p>
        </p:txBody>
      </p:sp>
      <p:sp>
        <p:nvSpPr>
          <p:cNvPr id="4" name="TitleInHeader"/>
          <p:cNvSpPr txBox="1"/>
          <p:nvPr/>
        </p:nvSpPr>
        <p:spPr>
          <a:xfrm>
            <a:off x="1418908" y="450000"/>
            <a:ext cx="9686800" cy="640080"/>
          </a:xfrm>
          <a:prstGeom prst="rect">
            <a:avLst/>
          </a:prstGeom>
          <a:noFill/>
        </p:spPr>
        <p:txBody>
          <a:bodyPr anchor="ctr"/>
          <a:lstStyle/>
          <a:p>
            <a:r>
              <a:rPr lang="pt-BR" sz="2400" b="1" dirty="0">
                <a:solidFill>
                  <a:srgbClr val="FFFFFF"/>
                </a:solidFill>
                <a:latin typeface="Cambria"/>
                <a:ea typeface="Cambria"/>
                <a:cs typeface="Cambria"/>
              </a:rPr>
              <a:t>A QUESTÃO DA CONFIDENCIALIDADE </a:t>
            </a:r>
          </a:p>
        </p:txBody>
      </p:sp>
      <p:sp>
        <p:nvSpPr>
          <p:cNvPr id="2" name="CaixaDeTexto 1">
            <a:extLst>
              <a:ext uri="{FF2B5EF4-FFF2-40B4-BE49-F238E27FC236}">
                <a16:creationId xmlns:a16="http://schemas.microsoft.com/office/drawing/2014/main" id="{48EA0FA9-10DA-F023-BC5F-8D27575A5827}"/>
              </a:ext>
            </a:extLst>
          </p:cNvPr>
          <p:cNvSpPr txBox="1"/>
          <p:nvPr/>
        </p:nvSpPr>
        <p:spPr>
          <a:xfrm>
            <a:off x="1013927" y="1868040"/>
            <a:ext cx="10164106" cy="4260000"/>
          </a:xfrm>
          <a:prstGeom prst="rect">
            <a:avLst/>
          </a:prstGeom>
          <a:noFill/>
        </p:spPr>
        <p:txBody>
          <a:bodyPr wrap="square" rtlCol="0">
            <a:spAutoFit/>
          </a:bodyPr>
          <a:lstStyle/>
          <a:p>
            <a:endParaRPr lang="pt-BR" dirty="0"/>
          </a:p>
          <a:p>
            <a:r>
              <a:rPr lang="pt-BR" dirty="0">
                <a:solidFill>
                  <a:srgbClr val="1B2340"/>
                </a:solidFill>
              </a:rPr>
              <a:t>A confidencialidade é parte importante, pois parte do princípio da segurança (art. 6º, VII). </a:t>
            </a:r>
          </a:p>
          <a:p>
            <a:endParaRPr lang="pt-BR" dirty="0"/>
          </a:p>
          <a:p>
            <a:r>
              <a:rPr lang="pt-BR" dirty="0">
                <a:solidFill>
                  <a:srgbClr val="1B2340"/>
                </a:solidFill>
              </a:rPr>
              <a:t>O texto do inciso VII prevê a "utilização de medidas técnicas e administrativas aptas a proteger os dados pessoais de acessos não autorizados e de situações acidentais ou ilícitas de destruição, perda, alteração, comunicação ou difusão". Impedir "comunicação ou difusão" não autorizada é, na prática, a confidencialidade.</a:t>
            </a:r>
          </a:p>
          <a:p>
            <a:endParaRPr lang="pt-BR" dirty="0"/>
          </a:p>
          <a:p>
            <a:r>
              <a:rPr lang="pt-BR" dirty="0">
                <a:solidFill>
                  <a:srgbClr val="1B2340"/>
                </a:solidFill>
              </a:rPr>
              <a:t>O art. 46 determina que controladores e operadores adotem medidas de segurança técnicas e administrativas capazes de proteger os dados de acessos não autorizados, e situações de destruição, perda, alteração ou comunicação indevida — reforçando o mesmo núcleo do art. 6º, VII, mas como obrigação concreta. </a:t>
            </a:r>
          </a:p>
          <a:p>
            <a:endParaRPr lang="pt-BR" dirty="0"/>
          </a:p>
        </p:txBody>
      </p:sp>
    </p:spTree>
    <p:extLst>
      <p:ext uri="{BB962C8B-B14F-4D97-AF65-F5344CB8AC3E}">
        <p14:creationId xmlns:p14="http://schemas.microsoft.com/office/powerpoint/2010/main" val="1286597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erBand"/>
          <p:cNvSpPr/>
          <p:nvPr/>
        </p:nvSpPr>
        <p:spPr>
          <a:xfrm>
            <a:off x="1588" y="0"/>
            <a:ext cx="12188952" cy="1097280"/>
          </a:xfrm>
          <a:prstGeom prst="rect">
            <a:avLst/>
          </a:prstGeom>
          <a:solidFill>
            <a:srgbClr val="1E2761"/>
          </a:solidFill>
          <a:ln>
            <a:noFill/>
          </a:ln>
        </p:spPr>
        <p:txBody>
          <a:bodyPr/>
          <a:lstStyle/>
          <a:p>
            <a:endParaRPr lang="pt-BR"/>
          </a:p>
        </p:txBody>
      </p:sp>
      <p:sp>
        <p:nvSpPr>
          <p:cNvPr id="2" name="HeaderIcon"/>
          <p:cNvSpPr/>
          <p:nvPr/>
        </p:nvSpPr>
        <p:spPr>
          <a:xfrm>
            <a:off x="504508" y="228600"/>
            <a:ext cx="640080" cy="640080"/>
          </a:xfrm>
          <a:prstGeom prst="ellipse">
            <a:avLst/>
          </a:prstGeom>
          <a:solidFill>
            <a:srgbClr val="1B2340"/>
          </a:solidFill>
          <a:ln>
            <a:noFill/>
          </a:ln>
        </p:spPr>
        <p:txBody>
          <a:bodyPr/>
          <a:lstStyle/>
          <a:p>
            <a:endParaRPr lang="pt-BR"/>
          </a:p>
        </p:txBody>
      </p:sp>
      <p:sp>
        <p:nvSpPr>
          <p:cNvPr id="4" name="TitleInHeader"/>
          <p:cNvSpPr txBox="1"/>
          <p:nvPr/>
        </p:nvSpPr>
        <p:spPr>
          <a:xfrm>
            <a:off x="1418908" y="274320"/>
            <a:ext cx="9686800" cy="548640"/>
          </a:xfrm>
          <a:prstGeom prst="rect">
            <a:avLst/>
          </a:prstGeom>
          <a:noFill/>
        </p:spPr>
        <p:txBody>
          <a:bodyPr anchor="ctr"/>
          <a:lstStyle/>
          <a:p>
            <a:r>
              <a:rPr lang="pt-BR" sz="2200" b="1" dirty="0">
                <a:solidFill>
                  <a:srgbClr val="FFFFFF"/>
                </a:solidFill>
                <a:latin typeface="Cambria"/>
                <a:ea typeface="Cambria"/>
                <a:cs typeface="Cambria"/>
              </a:rPr>
              <a:t>CONFIDENCIALIDADE: PARTE PRÁTICA</a:t>
            </a:r>
          </a:p>
        </p:txBody>
      </p:sp>
      <p:sp>
        <p:nvSpPr>
          <p:cNvPr id="5" name="RowCard0"/>
          <p:cNvSpPr/>
          <p:nvPr/>
        </p:nvSpPr>
        <p:spPr>
          <a:xfrm>
            <a:off x="411480" y="1300000"/>
            <a:ext cx="5577840" cy="1790000"/>
          </a:xfrm>
          <a:prstGeom prst="roundRect">
            <a:avLst>
              <a:gd name="adj" fmla="val 3000"/>
            </a:avLst>
          </a:prstGeom>
          <a:solidFill>
            <a:srgbClr val="F4F6FB"/>
          </a:solidFill>
          <a:ln>
            <a:noFill/>
          </a:ln>
        </p:spPr>
        <p:txBody>
          <a:bodyPr/>
          <a:lstStyle/>
          <a:p>
            <a:endParaRPr lang="pt-BR"/>
          </a:p>
        </p:txBody>
      </p:sp>
      <p:sp>
        <p:nvSpPr>
          <p:cNvPr id="6" name="NumCirc0"/>
          <p:cNvSpPr/>
          <p:nvPr/>
        </p:nvSpPr>
        <p:spPr>
          <a:xfrm>
            <a:off x="591480" y="1480000"/>
            <a:ext cx="470000" cy="470000"/>
          </a:xfrm>
          <a:prstGeom prst="ellipse">
            <a:avLst/>
          </a:prstGeom>
          <a:solidFill>
            <a:srgbClr val="0E7C7B"/>
          </a:solidFill>
          <a:ln>
            <a:noFill/>
          </a:ln>
        </p:spPr>
        <p:txBody>
          <a:bodyPr/>
          <a:lstStyle/>
          <a:p>
            <a:endParaRPr lang="pt-BR"/>
          </a:p>
        </p:txBody>
      </p:sp>
      <p:sp>
        <p:nvSpPr>
          <p:cNvPr id="7" name="NumText0"/>
          <p:cNvSpPr txBox="1"/>
          <p:nvPr/>
        </p:nvSpPr>
        <p:spPr>
          <a:xfrm>
            <a:off x="591480" y="148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1</a:t>
            </a:r>
          </a:p>
        </p:txBody>
      </p:sp>
      <p:sp>
        <p:nvSpPr>
          <p:cNvPr id="8" name="RowText0"/>
          <p:cNvSpPr txBox="1"/>
          <p:nvPr/>
        </p:nvSpPr>
        <p:spPr>
          <a:xfrm>
            <a:off x="1191480" y="1390000"/>
            <a:ext cx="4617840" cy="1610000"/>
          </a:xfrm>
          <a:prstGeom prst="rect">
            <a:avLst/>
          </a:prstGeom>
          <a:noFill/>
        </p:spPr>
        <p:txBody>
          <a:bodyPr wrap="square" anchor="ctr"/>
          <a:lstStyle/>
          <a:p>
            <a:pPr marL="0" indent="0">
              <a:buNone/>
            </a:pPr>
            <a:r>
              <a:rPr lang="pt-BR" sz="1000" dirty="0">
                <a:solidFill>
                  <a:srgbClr val="1B2340"/>
                </a:solidFill>
              </a:rPr>
              <a:t>Acesso as dados: somente pessoas autorizadas deveriam acessar os dados e de acordo com a </a:t>
            </a:r>
            <a:r>
              <a:rPr lang="pt-BR" sz="1000" u="sng" dirty="0">
                <a:solidFill>
                  <a:srgbClr val="1B2340"/>
                </a:solidFill>
              </a:rPr>
              <a:t>necessidade, ou seja, somente dentro do necessário. Princípio da finalidade. </a:t>
            </a:r>
          </a:p>
        </p:txBody>
      </p:sp>
      <p:sp>
        <p:nvSpPr>
          <p:cNvPr id="9" name="RowCard1"/>
          <p:cNvSpPr/>
          <p:nvPr/>
        </p:nvSpPr>
        <p:spPr>
          <a:xfrm>
            <a:off x="6203280" y="1300000"/>
            <a:ext cx="5577840" cy="1790000"/>
          </a:xfrm>
          <a:prstGeom prst="roundRect">
            <a:avLst>
              <a:gd name="adj" fmla="val 3000"/>
            </a:avLst>
          </a:prstGeom>
          <a:solidFill>
            <a:srgbClr val="F4F6FB"/>
          </a:solidFill>
          <a:ln>
            <a:noFill/>
          </a:ln>
        </p:spPr>
        <p:txBody>
          <a:bodyPr/>
          <a:lstStyle/>
          <a:p>
            <a:endParaRPr lang="pt-BR"/>
          </a:p>
        </p:txBody>
      </p:sp>
      <p:sp>
        <p:nvSpPr>
          <p:cNvPr id="10" name="NumCirc1"/>
          <p:cNvSpPr/>
          <p:nvPr/>
        </p:nvSpPr>
        <p:spPr>
          <a:xfrm>
            <a:off x="6383280" y="1480000"/>
            <a:ext cx="470000" cy="470000"/>
          </a:xfrm>
          <a:prstGeom prst="ellipse">
            <a:avLst/>
          </a:prstGeom>
          <a:solidFill>
            <a:srgbClr val="0E7C7B"/>
          </a:solidFill>
          <a:ln>
            <a:noFill/>
          </a:ln>
        </p:spPr>
        <p:txBody>
          <a:bodyPr/>
          <a:lstStyle/>
          <a:p>
            <a:endParaRPr lang="pt-BR"/>
          </a:p>
        </p:txBody>
      </p:sp>
      <p:sp>
        <p:nvSpPr>
          <p:cNvPr id="11" name="NumText1"/>
          <p:cNvSpPr txBox="1"/>
          <p:nvPr/>
        </p:nvSpPr>
        <p:spPr>
          <a:xfrm>
            <a:off x="6383280" y="148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2</a:t>
            </a:r>
          </a:p>
        </p:txBody>
      </p:sp>
      <p:sp>
        <p:nvSpPr>
          <p:cNvPr id="12" name="RowText1"/>
          <p:cNvSpPr txBox="1"/>
          <p:nvPr/>
        </p:nvSpPr>
        <p:spPr>
          <a:xfrm>
            <a:off x="6983280" y="1390000"/>
            <a:ext cx="4617840" cy="1610000"/>
          </a:xfrm>
          <a:prstGeom prst="rect">
            <a:avLst/>
          </a:prstGeom>
          <a:noFill/>
        </p:spPr>
        <p:txBody>
          <a:bodyPr wrap="square" anchor="ctr"/>
          <a:lstStyle/>
          <a:p>
            <a:pPr marL="0" indent="0">
              <a:buNone/>
            </a:pPr>
            <a:r>
              <a:rPr lang="pt-BR" sz="1000" dirty="0">
                <a:solidFill>
                  <a:srgbClr val="1B2340"/>
                </a:solidFill>
              </a:rPr>
              <a:t> Anonimização ou </a:t>
            </a:r>
            <a:r>
              <a:rPr lang="pt-BR" sz="1000" dirty="0" err="1">
                <a:solidFill>
                  <a:srgbClr val="1B2340"/>
                </a:solidFill>
              </a:rPr>
              <a:t>Pseudonimização</a:t>
            </a:r>
            <a:r>
              <a:rPr lang="pt-BR" sz="1000" dirty="0">
                <a:solidFill>
                  <a:srgbClr val="1B2340"/>
                </a:solidFill>
              </a:rPr>
              <a:t> dos dados. Dados brutos ou identificáveis não deverão aparecer. Mascare qualquer dado pessoal antes de iniciar os treinamentos com modelos. Se ele for anonimizado, ele deixa de ser da esfera da LGPD. </a:t>
            </a:r>
          </a:p>
        </p:txBody>
      </p:sp>
      <p:sp>
        <p:nvSpPr>
          <p:cNvPr id="13" name="RowCard2"/>
          <p:cNvSpPr/>
          <p:nvPr/>
        </p:nvSpPr>
        <p:spPr>
          <a:xfrm>
            <a:off x="411480" y="3210000"/>
            <a:ext cx="5577840" cy="1790000"/>
          </a:xfrm>
          <a:prstGeom prst="roundRect">
            <a:avLst>
              <a:gd name="adj" fmla="val 3000"/>
            </a:avLst>
          </a:prstGeom>
          <a:solidFill>
            <a:srgbClr val="F4F6FB"/>
          </a:solidFill>
          <a:ln>
            <a:noFill/>
          </a:ln>
        </p:spPr>
        <p:txBody>
          <a:bodyPr/>
          <a:lstStyle/>
          <a:p>
            <a:endParaRPr lang="pt-BR"/>
          </a:p>
        </p:txBody>
      </p:sp>
      <p:sp>
        <p:nvSpPr>
          <p:cNvPr id="14" name="NumCirc2"/>
          <p:cNvSpPr/>
          <p:nvPr/>
        </p:nvSpPr>
        <p:spPr>
          <a:xfrm>
            <a:off x="591480" y="3390000"/>
            <a:ext cx="470000" cy="470000"/>
          </a:xfrm>
          <a:prstGeom prst="ellipse">
            <a:avLst/>
          </a:prstGeom>
          <a:solidFill>
            <a:srgbClr val="0E7C7B"/>
          </a:solidFill>
          <a:ln>
            <a:noFill/>
          </a:ln>
        </p:spPr>
        <p:txBody>
          <a:bodyPr/>
          <a:lstStyle/>
          <a:p>
            <a:endParaRPr lang="pt-BR"/>
          </a:p>
        </p:txBody>
      </p:sp>
      <p:sp>
        <p:nvSpPr>
          <p:cNvPr id="15" name="NumText2"/>
          <p:cNvSpPr txBox="1"/>
          <p:nvPr/>
        </p:nvSpPr>
        <p:spPr>
          <a:xfrm>
            <a:off x="591480" y="339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3</a:t>
            </a:r>
          </a:p>
        </p:txBody>
      </p:sp>
      <p:sp>
        <p:nvSpPr>
          <p:cNvPr id="16" name="RowText2"/>
          <p:cNvSpPr txBox="1"/>
          <p:nvPr/>
        </p:nvSpPr>
        <p:spPr>
          <a:xfrm>
            <a:off x="1191480" y="3300000"/>
            <a:ext cx="4617840" cy="1610000"/>
          </a:xfrm>
          <a:prstGeom prst="rect">
            <a:avLst/>
          </a:prstGeom>
          <a:noFill/>
        </p:spPr>
        <p:txBody>
          <a:bodyPr wrap="square" anchor="ctr"/>
          <a:lstStyle/>
          <a:p>
            <a:pPr marL="0" indent="0">
              <a:buNone/>
            </a:pPr>
            <a:r>
              <a:rPr lang="pt-BR" sz="1000" dirty="0">
                <a:solidFill>
                  <a:srgbClr val="1B2340"/>
                </a:solidFill>
              </a:rPr>
              <a:t>Dever de sigilo após uso, respeitando o princípio da finalidade novamente. </a:t>
            </a:r>
          </a:p>
        </p:txBody>
      </p:sp>
      <p:sp>
        <p:nvSpPr>
          <p:cNvPr id="17" name="RowCard3"/>
          <p:cNvSpPr/>
          <p:nvPr/>
        </p:nvSpPr>
        <p:spPr>
          <a:xfrm>
            <a:off x="6203280" y="3210000"/>
            <a:ext cx="5577840" cy="1790000"/>
          </a:xfrm>
          <a:prstGeom prst="roundRect">
            <a:avLst>
              <a:gd name="adj" fmla="val 3000"/>
            </a:avLst>
          </a:prstGeom>
          <a:solidFill>
            <a:srgbClr val="F4F6FB"/>
          </a:solidFill>
          <a:ln>
            <a:noFill/>
          </a:ln>
        </p:spPr>
        <p:txBody>
          <a:bodyPr/>
          <a:lstStyle/>
          <a:p>
            <a:endParaRPr lang="pt-BR"/>
          </a:p>
        </p:txBody>
      </p:sp>
      <p:sp>
        <p:nvSpPr>
          <p:cNvPr id="18" name="NumCirc3"/>
          <p:cNvSpPr/>
          <p:nvPr/>
        </p:nvSpPr>
        <p:spPr>
          <a:xfrm>
            <a:off x="6383280" y="3390000"/>
            <a:ext cx="470000" cy="470000"/>
          </a:xfrm>
          <a:prstGeom prst="ellipse">
            <a:avLst/>
          </a:prstGeom>
          <a:solidFill>
            <a:srgbClr val="0E7C7B"/>
          </a:solidFill>
          <a:ln>
            <a:noFill/>
          </a:ln>
        </p:spPr>
        <p:txBody>
          <a:bodyPr/>
          <a:lstStyle/>
          <a:p>
            <a:endParaRPr lang="pt-BR"/>
          </a:p>
        </p:txBody>
      </p:sp>
      <p:sp>
        <p:nvSpPr>
          <p:cNvPr id="19" name="NumText3"/>
          <p:cNvSpPr txBox="1"/>
          <p:nvPr/>
        </p:nvSpPr>
        <p:spPr>
          <a:xfrm>
            <a:off x="6383280" y="339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4</a:t>
            </a:r>
          </a:p>
        </p:txBody>
      </p:sp>
      <p:sp>
        <p:nvSpPr>
          <p:cNvPr id="20" name="RowText3"/>
          <p:cNvSpPr txBox="1"/>
          <p:nvPr/>
        </p:nvSpPr>
        <p:spPr>
          <a:xfrm>
            <a:off x="6983280" y="3300000"/>
            <a:ext cx="4617840" cy="1610000"/>
          </a:xfrm>
          <a:prstGeom prst="rect">
            <a:avLst/>
          </a:prstGeom>
          <a:noFill/>
        </p:spPr>
        <p:txBody>
          <a:bodyPr wrap="square" anchor="ctr"/>
          <a:lstStyle/>
          <a:p>
            <a:pPr marL="0" indent="0">
              <a:buNone/>
            </a:pPr>
            <a:r>
              <a:rPr lang="pt-BR" sz="1000" dirty="0">
                <a:solidFill>
                  <a:srgbClr val="1B2340"/>
                </a:solidFill>
              </a:rPr>
              <a:t>Ambiente controlado (SANDBOX) máquina específica ou ambiente de nuvem para não sair do perímetro de segurança. </a:t>
            </a:r>
          </a:p>
        </p:txBody>
      </p:sp>
      <p:sp>
        <p:nvSpPr>
          <p:cNvPr id="21" name="RowCard4"/>
          <p:cNvSpPr/>
          <p:nvPr/>
        </p:nvSpPr>
        <p:spPr>
          <a:xfrm>
            <a:off x="411480" y="5120000"/>
            <a:ext cx="5577840" cy="1790000"/>
          </a:xfrm>
          <a:prstGeom prst="roundRect">
            <a:avLst>
              <a:gd name="adj" fmla="val 3000"/>
            </a:avLst>
          </a:prstGeom>
          <a:solidFill>
            <a:srgbClr val="F4F6FB"/>
          </a:solidFill>
          <a:ln>
            <a:noFill/>
          </a:ln>
        </p:spPr>
        <p:txBody>
          <a:bodyPr/>
          <a:lstStyle/>
          <a:p>
            <a:endParaRPr lang="pt-BR"/>
          </a:p>
        </p:txBody>
      </p:sp>
      <p:sp>
        <p:nvSpPr>
          <p:cNvPr id="22" name="NumCirc4"/>
          <p:cNvSpPr/>
          <p:nvPr/>
        </p:nvSpPr>
        <p:spPr>
          <a:xfrm>
            <a:off x="591480" y="5300000"/>
            <a:ext cx="470000" cy="470000"/>
          </a:xfrm>
          <a:prstGeom prst="ellipse">
            <a:avLst/>
          </a:prstGeom>
          <a:solidFill>
            <a:srgbClr val="0E7C7B"/>
          </a:solidFill>
          <a:ln>
            <a:noFill/>
          </a:ln>
        </p:spPr>
        <p:txBody>
          <a:bodyPr/>
          <a:lstStyle/>
          <a:p>
            <a:endParaRPr lang="pt-BR"/>
          </a:p>
        </p:txBody>
      </p:sp>
      <p:sp>
        <p:nvSpPr>
          <p:cNvPr id="23" name="NumText4"/>
          <p:cNvSpPr txBox="1"/>
          <p:nvPr/>
        </p:nvSpPr>
        <p:spPr>
          <a:xfrm>
            <a:off x="591480" y="530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5</a:t>
            </a:r>
          </a:p>
        </p:txBody>
      </p:sp>
      <p:sp>
        <p:nvSpPr>
          <p:cNvPr id="24" name="RowText4"/>
          <p:cNvSpPr txBox="1"/>
          <p:nvPr/>
        </p:nvSpPr>
        <p:spPr>
          <a:xfrm>
            <a:off x="1191480" y="5210000"/>
            <a:ext cx="4617840" cy="1610000"/>
          </a:xfrm>
          <a:prstGeom prst="rect">
            <a:avLst/>
          </a:prstGeom>
          <a:noFill/>
        </p:spPr>
        <p:txBody>
          <a:bodyPr wrap="square" anchor="ctr"/>
          <a:lstStyle/>
          <a:p>
            <a:pPr marL="0" indent="0">
              <a:buNone/>
            </a:pPr>
            <a:r>
              <a:rPr lang="pt-BR" sz="1000" dirty="0">
                <a:solidFill>
                  <a:srgbClr val="1B2340"/>
                </a:solidFill>
              </a:rPr>
              <a:t>Vedação de envio, upload ou armazenamento dos dados (mesmo anonimizados) em repositórios públicos, plataformas de código aberto, serviços de nuvem pessoal ou ferramentas de terceiros não homologadas pela Empresa..</a:t>
            </a:r>
          </a:p>
        </p:txBody>
      </p:sp>
      <p:sp>
        <p:nvSpPr>
          <p:cNvPr id="25" name="RowCard5"/>
          <p:cNvSpPr/>
          <p:nvPr/>
        </p:nvSpPr>
        <p:spPr>
          <a:xfrm>
            <a:off x="6203280" y="5120000"/>
            <a:ext cx="5577840" cy="1790000"/>
          </a:xfrm>
          <a:prstGeom prst="roundRect">
            <a:avLst>
              <a:gd name="adj" fmla="val 3000"/>
            </a:avLst>
          </a:prstGeom>
          <a:solidFill>
            <a:srgbClr val="F4F6FB"/>
          </a:solidFill>
          <a:ln>
            <a:noFill/>
          </a:ln>
        </p:spPr>
        <p:txBody>
          <a:bodyPr/>
          <a:lstStyle/>
          <a:p>
            <a:endParaRPr lang="pt-BR"/>
          </a:p>
        </p:txBody>
      </p:sp>
      <p:sp>
        <p:nvSpPr>
          <p:cNvPr id="26" name="NumCirc5"/>
          <p:cNvSpPr/>
          <p:nvPr/>
        </p:nvSpPr>
        <p:spPr>
          <a:xfrm>
            <a:off x="6383280" y="5300000"/>
            <a:ext cx="470000" cy="470000"/>
          </a:xfrm>
          <a:prstGeom prst="ellipse">
            <a:avLst/>
          </a:prstGeom>
          <a:solidFill>
            <a:srgbClr val="0E7C7B"/>
          </a:solidFill>
          <a:ln>
            <a:noFill/>
          </a:ln>
        </p:spPr>
        <p:txBody>
          <a:bodyPr/>
          <a:lstStyle/>
          <a:p>
            <a:endParaRPr lang="pt-BR"/>
          </a:p>
        </p:txBody>
      </p:sp>
      <p:sp>
        <p:nvSpPr>
          <p:cNvPr id="27" name="NumText5"/>
          <p:cNvSpPr txBox="1"/>
          <p:nvPr/>
        </p:nvSpPr>
        <p:spPr>
          <a:xfrm>
            <a:off x="6383280" y="5300000"/>
            <a:ext cx="470000" cy="470000"/>
          </a:xfrm>
          <a:prstGeom prst="rect">
            <a:avLst/>
          </a:prstGeom>
          <a:noFill/>
        </p:spPr>
        <p:txBody>
          <a:bodyPr wrap="square" rtlCol="0" anchor="ctr"/>
          <a:lstStyle/>
          <a:p>
            <a:pPr marL="0" indent="0" algn="ctr">
              <a:buNone/>
            </a:pPr>
            <a:r>
              <a:rPr lang="pt-BR" sz="1600" b="1" dirty="0">
                <a:solidFill>
                  <a:srgbClr val="FFFFFF"/>
                </a:solidFill>
                <a:latin typeface="Calibri"/>
                <a:ea typeface="Calibri"/>
                <a:cs typeface="Calibri"/>
              </a:rPr>
              <a:t>6</a:t>
            </a:r>
          </a:p>
        </p:txBody>
      </p:sp>
      <p:sp>
        <p:nvSpPr>
          <p:cNvPr id="28" name="RowText5"/>
          <p:cNvSpPr txBox="1"/>
          <p:nvPr/>
        </p:nvSpPr>
        <p:spPr>
          <a:xfrm>
            <a:off x="6983280" y="5210000"/>
            <a:ext cx="4617840" cy="1610000"/>
          </a:xfrm>
          <a:prstGeom prst="rect">
            <a:avLst/>
          </a:prstGeom>
          <a:noFill/>
        </p:spPr>
        <p:txBody>
          <a:bodyPr wrap="square" anchor="ctr"/>
          <a:lstStyle/>
          <a:p>
            <a:pPr marL="0" indent="0">
              <a:buFontTx/>
              <a:buNone/>
            </a:pPr>
            <a:r>
              <a:rPr lang="pt-BR" sz="1000" dirty="0">
                <a:solidFill>
                  <a:srgbClr val="1B2340"/>
                </a:solidFill>
              </a:rPr>
              <a:t>Documentar e controlar as técnicas razoáveis de segurança (senha, criptografia, controle de acesso) em qualquer ambiente autorizado de trabalho de dados cedidos. </a:t>
            </a:r>
          </a:p>
        </p:txBody>
      </p:sp>
    </p:spTree>
    <p:extLst>
      <p:ext uri="{BB962C8B-B14F-4D97-AF65-F5344CB8AC3E}">
        <p14:creationId xmlns:p14="http://schemas.microsoft.com/office/powerpoint/2010/main" val="482394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rd1"/>
          <p:cNvSpPr/>
          <p:nvPr/>
        </p:nvSpPr>
        <p:spPr>
          <a:xfrm>
            <a:off x="411480" y="411480"/>
            <a:ext cx="5486400" cy="5760000"/>
          </a:xfrm>
          <a:prstGeom prst="roundRect">
            <a:avLst>
              <a:gd name="adj" fmla="val 1500"/>
            </a:avLst>
          </a:prstGeom>
          <a:solidFill>
            <a:srgbClr val="EAF2FF"/>
          </a:solidFill>
          <a:ln>
            <a:noFill/>
          </a:ln>
        </p:spPr>
        <p:txBody>
          <a:bodyPr/>
          <a:lstStyle/>
          <a:p>
            <a:endParaRPr lang="pt-BR"/>
          </a:p>
        </p:txBody>
      </p:sp>
      <p:sp>
        <p:nvSpPr>
          <p:cNvPr id="5" name="Icon1"/>
          <p:cNvSpPr/>
          <p:nvPr/>
        </p:nvSpPr>
        <p:spPr>
          <a:xfrm>
            <a:off x="685800" y="685800"/>
            <a:ext cx="640080" cy="640080"/>
          </a:xfrm>
          <a:prstGeom prst="roundRect">
            <a:avLst>
              <a:gd name="adj" fmla="val 44118"/>
            </a:avLst>
          </a:prstGeom>
          <a:solidFill>
            <a:srgbClr val="0E7C7B"/>
          </a:solidFill>
          <a:ln>
            <a:noFill/>
          </a:ln>
        </p:spPr>
        <p:txBody>
          <a:bodyPr/>
          <a:lstStyle/>
          <a:p>
            <a:endParaRPr lang="pt-BR"/>
          </a:p>
        </p:txBody>
      </p:sp>
      <p:sp>
        <p:nvSpPr>
          <p:cNvPr id="6" name="Card2"/>
          <p:cNvSpPr/>
          <p:nvPr/>
        </p:nvSpPr>
        <p:spPr>
          <a:xfrm>
            <a:off x="6294120" y="411480"/>
            <a:ext cx="5486400" cy="5760000"/>
          </a:xfrm>
          <a:prstGeom prst="roundRect">
            <a:avLst>
              <a:gd name="adj" fmla="val 1500"/>
            </a:avLst>
          </a:prstGeom>
          <a:solidFill>
            <a:srgbClr val="F4F6FB"/>
          </a:solidFill>
          <a:ln>
            <a:noFill/>
          </a:ln>
        </p:spPr>
        <p:txBody>
          <a:bodyPr/>
          <a:lstStyle/>
          <a:p>
            <a:endParaRPr lang="pt-BR"/>
          </a:p>
        </p:txBody>
      </p:sp>
      <p:sp>
        <p:nvSpPr>
          <p:cNvPr id="7" name="Icon2"/>
          <p:cNvSpPr/>
          <p:nvPr/>
        </p:nvSpPr>
        <p:spPr>
          <a:xfrm>
            <a:off x="6568440" y="685800"/>
            <a:ext cx="640080" cy="640080"/>
          </a:xfrm>
          <a:prstGeom prst="roundRect">
            <a:avLst>
              <a:gd name="adj" fmla="val 44118"/>
            </a:avLst>
          </a:prstGeom>
          <a:solidFill>
            <a:srgbClr val="1E2761"/>
          </a:solidFill>
          <a:ln>
            <a:noFill/>
          </a:ln>
        </p:spPr>
        <p:txBody>
          <a:bodyPr/>
          <a:lstStyle/>
          <a:p>
            <a:endParaRPr lang="pt-BR"/>
          </a:p>
        </p:txBody>
      </p:sp>
      <p:sp>
        <p:nvSpPr>
          <p:cNvPr id="2" name="CaixaDeTexto 1">
            <a:extLst>
              <a:ext uri="{FF2B5EF4-FFF2-40B4-BE49-F238E27FC236}">
                <a16:creationId xmlns:a16="http://schemas.microsoft.com/office/drawing/2014/main" id="{284FAAED-7463-AB8A-347B-D66AB0A4D4AF}"/>
              </a:ext>
            </a:extLst>
          </p:cNvPr>
          <p:cNvSpPr txBox="1"/>
          <p:nvPr/>
        </p:nvSpPr>
        <p:spPr>
          <a:xfrm>
            <a:off x="731520" y="1554480"/>
            <a:ext cx="4937760" cy="4389120"/>
          </a:xfrm>
          <a:prstGeom prst="rect">
            <a:avLst/>
          </a:prstGeom>
          <a:noFill/>
        </p:spPr>
        <p:txBody>
          <a:bodyPr wrap="square" rtlCol="0">
            <a:spAutoFit/>
          </a:bodyPr>
          <a:lstStyle/>
          <a:p>
            <a:r>
              <a:rPr lang="pt-BR" sz="1200" dirty="0">
                <a:solidFill>
                  <a:srgbClr val="1B2340"/>
                </a:solidFill>
              </a:rPr>
              <a:t>Anonimização (art. 5º, XI)"Utilização de meios técnicos razoáveis e disponíveis no momento do tratamento, por meio dos quais um dado perde a possibilidade de associação, direta ou indireta, a um indivíduo.“</a:t>
            </a:r>
          </a:p>
          <a:p>
            <a:endParaRPr lang="pt-BR" dirty="0"/>
          </a:p>
          <a:p>
            <a:r>
              <a:rPr lang="pt-BR" sz="1200" dirty="0">
                <a:solidFill>
                  <a:srgbClr val="1B2340"/>
                </a:solidFill>
              </a:rPr>
              <a:t>Depois de anonimizado, o dado deixa de ser dado pessoal — a LGPD, em regra, deixa de se aplicar a ele (art. 12), exceto se a reidentificação for possível por meios razoáveis..</a:t>
            </a:r>
          </a:p>
        </p:txBody>
      </p:sp>
      <p:sp>
        <p:nvSpPr>
          <p:cNvPr id="3" name="CaixaDeTexto 2">
            <a:extLst>
              <a:ext uri="{FF2B5EF4-FFF2-40B4-BE49-F238E27FC236}">
                <a16:creationId xmlns:a16="http://schemas.microsoft.com/office/drawing/2014/main" id="{5D097D23-C078-A2AC-1757-36B9E1288E51}"/>
              </a:ext>
            </a:extLst>
          </p:cNvPr>
          <p:cNvSpPr txBox="1"/>
          <p:nvPr/>
        </p:nvSpPr>
        <p:spPr>
          <a:xfrm>
            <a:off x="6614160" y="1554480"/>
            <a:ext cx="4937760" cy="4389120"/>
          </a:xfrm>
          <a:prstGeom prst="rect">
            <a:avLst/>
          </a:prstGeom>
          <a:noFill/>
        </p:spPr>
        <p:txBody>
          <a:bodyPr wrap="square" rtlCol="0">
            <a:spAutoFit/>
          </a:bodyPr>
          <a:lstStyle/>
          <a:p>
            <a:r>
              <a:rPr lang="pt-BR" sz="1200" dirty="0" err="1">
                <a:solidFill>
                  <a:srgbClr val="1B2340"/>
                </a:solidFill>
              </a:rPr>
              <a:t>Pseudonimização</a:t>
            </a:r>
            <a:r>
              <a:rPr lang="pt-BR" sz="1200" dirty="0">
                <a:solidFill>
                  <a:srgbClr val="1B2340"/>
                </a:solidFill>
              </a:rPr>
              <a:t> (art. 13, §4º)"Tratamento por meio do qual um dado perde a possibilidade de associação, direta ou indireta, a um indivíduo, senão pelo uso de informação adicional mantida separadamente pelo controlador em ambiente controlado e seguro.“</a:t>
            </a:r>
          </a:p>
          <a:p>
            <a:r>
              <a:rPr lang="pt-BR" sz="1200" dirty="0">
                <a:solidFill>
                  <a:srgbClr val="1B2340"/>
                </a:solidFill>
              </a:rPr>
              <a:t>O dado só "parece" anônimo, mas existe uma chave/tabela de mapeamento guardada à parte que permite reverter a operação. </a:t>
            </a:r>
          </a:p>
          <a:p>
            <a:r>
              <a:rPr lang="pt-BR" sz="1200" dirty="0">
                <a:solidFill>
                  <a:srgbClr val="1B2340"/>
                </a:solidFill>
              </a:rPr>
              <a:t>Por isso, dado </a:t>
            </a:r>
            <a:r>
              <a:rPr lang="pt-BR" sz="1200" dirty="0" err="1">
                <a:solidFill>
                  <a:srgbClr val="1B2340"/>
                </a:solidFill>
              </a:rPr>
              <a:t>pseudonimizado</a:t>
            </a:r>
            <a:r>
              <a:rPr lang="pt-BR" sz="1200" dirty="0">
                <a:solidFill>
                  <a:srgbClr val="1B2340"/>
                </a:solidFill>
              </a:rPr>
              <a:t> continua sendo dado pessoal para efeitos legais — só que com proteção adicional.</a:t>
            </a:r>
          </a:p>
        </p:txBody>
      </p:sp>
    </p:spTree>
    <p:extLst>
      <p:ext uri="{BB962C8B-B14F-4D97-AF65-F5344CB8AC3E}">
        <p14:creationId xmlns:p14="http://schemas.microsoft.com/office/powerpoint/2010/main" val="3735635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1668" y="640080"/>
            <a:ext cx="914400" cy="91440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870268" y="868680"/>
            <a:ext cx="457200" cy="457200"/>
          </a:xfrm>
          <a:prstGeom prst="rect">
            <a:avLst/>
          </a:prstGeom>
        </p:spPr>
      </p:pic>
      <p:sp>
        <p:nvSpPr>
          <p:cNvPr id="4" name="Text 1"/>
          <p:cNvSpPr/>
          <p:nvPr/>
        </p:nvSpPr>
        <p:spPr>
          <a:xfrm>
            <a:off x="641668" y="1783080"/>
            <a:ext cx="9144000" cy="320040"/>
          </a:xfrm>
          <a:prstGeom prst="rect">
            <a:avLst/>
          </a:prstGeom>
          <a:noFill/>
          <a:ln/>
        </p:spPr>
        <p:txBody>
          <a:bodyPr wrap="square" rtlCol="0" anchor="ctr"/>
          <a:lstStyle/>
          <a:p>
            <a:r>
              <a:rPr lang="en-US" sz="1300" b="1" kern="0" spc="150" dirty="0">
                <a:solidFill>
                  <a:srgbClr val="CADCFC"/>
                </a:solidFill>
                <a:latin typeface="Calibri" pitchFamily="34" charset="0"/>
                <a:ea typeface="Calibri" pitchFamily="34" charset="-122"/>
                <a:cs typeface="Calibri" pitchFamily="34" charset="-120"/>
              </a:rPr>
              <a:t>ART. 16, CAPUT, LGPD</a:t>
            </a:r>
            <a:endParaRPr lang="en-US" sz="1300" dirty="0">
              <a:solidFill>
                <a:prstClr val="black"/>
              </a:solidFill>
              <a:latin typeface="Calibri" panose="020F0502020204030204"/>
            </a:endParaRPr>
          </a:p>
        </p:txBody>
      </p:sp>
      <p:sp>
        <p:nvSpPr>
          <p:cNvPr id="5" name="Text 2"/>
          <p:cNvSpPr/>
          <p:nvPr/>
        </p:nvSpPr>
        <p:spPr>
          <a:xfrm>
            <a:off x="641668" y="2103120"/>
            <a:ext cx="10058400" cy="640080"/>
          </a:xfrm>
          <a:prstGeom prst="rect">
            <a:avLst/>
          </a:prstGeom>
          <a:noFill/>
          <a:ln/>
        </p:spPr>
        <p:txBody>
          <a:bodyPr wrap="square" rtlCol="0" anchor="ctr"/>
          <a:lstStyle/>
          <a:p>
            <a:r>
              <a:rPr lang="en-US" sz="3000" b="1" dirty="0">
                <a:solidFill>
                  <a:srgbClr val="FFFFFF"/>
                </a:solidFill>
                <a:latin typeface="Cambria" pitchFamily="34" charset="0"/>
                <a:ea typeface="Cambria" pitchFamily="34" charset="-122"/>
                <a:cs typeface="Cambria" pitchFamily="34" charset="-120"/>
              </a:rPr>
              <a:t>A regra geral: eliminação obrigatória</a:t>
            </a:r>
            <a:endParaRPr lang="en-US" sz="3000" dirty="0">
              <a:solidFill>
                <a:prstClr val="black"/>
              </a:solidFill>
              <a:latin typeface="Calibri" panose="020F0502020204030204"/>
            </a:endParaRPr>
          </a:p>
        </p:txBody>
      </p:sp>
      <p:sp>
        <p:nvSpPr>
          <p:cNvPr id="6" name="Shape 3"/>
          <p:cNvSpPr/>
          <p:nvPr/>
        </p:nvSpPr>
        <p:spPr>
          <a:xfrm>
            <a:off x="641668" y="2971800"/>
            <a:ext cx="10881360" cy="1371600"/>
          </a:xfrm>
          <a:prstGeom prst="roundRect">
            <a:avLst>
              <a:gd name="adj" fmla="val 5333"/>
            </a:avLst>
          </a:prstGeom>
          <a:solidFill>
            <a:srgbClr val="141A47"/>
          </a:solidFill>
          <a:ln/>
        </p:spPr>
        <p:txBody>
          <a:bodyPr/>
          <a:lstStyle/>
          <a:p>
            <a:endParaRPr lang="pt-BR">
              <a:solidFill>
                <a:prstClr val="black"/>
              </a:solidFill>
              <a:latin typeface="Calibri" panose="020F0502020204030204"/>
            </a:endParaRPr>
          </a:p>
        </p:txBody>
      </p:sp>
      <p:sp>
        <p:nvSpPr>
          <p:cNvPr id="7" name="Text 4"/>
          <p:cNvSpPr/>
          <p:nvPr/>
        </p:nvSpPr>
        <p:spPr>
          <a:xfrm>
            <a:off x="915988" y="2971800"/>
            <a:ext cx="10332720" cy="1371600"/>
          </a:xfrm>
          <a:prstGeom prst="rect">
            <a:avLst/>
          </a:prstGeom>
          <a:noFill/>
          <a:ln/>
        </p:spPr>
        <p:txBody>
          <a:bodyPr wrap="square" rtlCol="0" anchor="ctr"/>
          <a:lstStyle/>
          <a:p>
            <a:pPr>
              <a:lnSpc>
                <a:spcPct val="120000"/>
              </a:lnSpc>
            </a:pPr>
            <a:r>
              <a:rPr lang="en-US" sz="1500" i="1" dirty="0">
                <a:solidFill>
                  <a:srgbClr val="FFFFFF"/>
                </a:solidFill>
                <a:latin typeface="Calibri" pitchFamily="34" charset="0"/>
                <a:ea typeface="Calibri" pitchFamily="34" charset="-122"/>
                <a:cs typeface="Calibri" pitchFamily="34" charset="-120"/>
              </a:rPr>
              <a:t>“Os dados pessoais serão eliminados após o término de seu tratamento, no âmbito e nos limites técnicos das atividades, autorizada a conservação para as seguintes finalidades…”</a:t>
            </a:r>
            <a:endParaRPr lang="en-US" sz="1500" dirty="0">
              <a:solidFill>
                <a:prstClr val="black"/>
              </a:solidFill>
              <a:latin typeface="Calibri" panose="020F0502020204030204"/>
            </a:endParaRPr>
          </a:p>
        </p:txBody>
      </p:sp>
      <p:sp>
        <p:nvSpPr>
          <p:cNvPr id="8" name="Text 5"/>
          <p:cNvSpPr/>
          <p:nvPr/>
        </p:nvSpPr>
        <p:spPr>
          <a:xfrm>
            <a:off x="641668" y="4572000"/>
            <a:ext cx="10515600" cy="548640"/>
          </a:xfrm>
          <a:prstGeom prst="rect">
            <a:avLst/>
          </a:prstGeom>
          <a:noFill/>
          <a:ln/>
        </p:spPr>
        <p:txBody>
          <a:bodyPr wrap="square" rtlCol="0" anchor="ctr"/>
          <a:lstStyle/>
          <a:p>
            <a:r>
              <a:rPr lang="en-US" sz="1300" i="1" dirty="0">
                <a:solidFill>
                  <a:srgbClr val="CADCFC"/>
                </a:solidFill>
                <a:latin typeface="Calibri" pitchFamily="34" charset="0"/>
                <a:ea typeface="Calibri" pitchFamily="34" charset="-122"/>
                <a:cs typeface="Calibri" pitchFamily="34" charset="-120"/>
              </a:rPr>
              <a:t>Ou seja: a eliminação é a regra. A retenção só é permitida nas 4 exceções específicas do art. 16 — vistas no próximo slide.</a:t>
            </a:r>
            <a:endParaRPr lang="en-US" sz="1300" dirty="0">
              <a:solidFill>
                <a:prstClr val="black"/>
              </a:solidFill>
              <a:latin typeface="Calibri" panose="020F0502020204030204"/>
            </a:endParaRPr>
          </a:p>
        </p:txBody>
      </p:sp>
      <p:sp>
        <p:nvSpPr>
          <p:cNvPr id="9" name="Shape 6"/>
          <p:cNvSpPr/>
          <p:nvPr/>
        </p:nvSpPr>
        <p:spPr>
          <a:xfrm>
            <a:off x="641668" y="5349240"/>
            <a:ext cx="10881360" cy="868680"/>
          </a:xfrm>
          <a:prstGeom prst="roundRect">
            <a:avLst>
              <a:gd name="adj" fmla="val 8421"/>
            </a:avLst>
          </a:prstGeom>
          <a:solidFill>
            <a:srgbClr val="2A3470"/>
          </a:solidFill>
          <a:ln/>
        </p:spPr>
        <p:txBody>
          <a:bodyPr/>
          <a:lstStyle/>
          <a:p>
            <a:endParaRPr lang="pt-BR">
              <a:solidFill>
                <a:prstClr val="black"/>
              </a:solidFill>
              <a:latin typeface="Calibri" panose="020F0502020204030204"/>
            </a:endParaRPr>
          </a:p>
        </p:txBody>
      </p:sp>
      <p:sp>
        <p:nvSpPr>
          <p:cNvPr id="10" name="Shape 7"/>
          <p:cNvSpPr/>
          <p:nvPr/>
        </p:nvSpPr>
        <p:spPr>
          <a:xfrm>
            <a:off x="870268" y="5532120"/>
            <a:ext cx="502920" cy="502920"/>
          </a:xfrm>
          <a:prstGeom prst="ellipse">
            <a:avLst/>
          </a:prstGeom>
          <a:solidFill>
            <a:srgbClr val="B23A48"/>
          </a:solidFill>
          <a:ln/>
        </p:spPr>
        <p:txBody>
          <a:bodyPr/>
          <a:lstStyle/>
          <a:p>
            <a:endParaRPr lang="pt-BR">
              <a:solidFill>
                <a:prstClr val="black"/>
              </a:solidFill>
              <a:latin typeface="Calibri" panose="020F0502020204030204"/>
            </a:endParaRPr>
          </a:p>
        </p:txBody>
      </p:sp>
      <p:pic>
        <p:nvPicPr>
          <p:cNvPr id="11" name="Image 1" descr="preencoded.png"/>
          <p:cNvPicPr>
            <a:picLocks noChangeAspect="1"/>
          </p:cNvPicPr>
          <p:nvPr/>
        </p:nvPicPr>
        <p:blipFill>
          <a:blip r:embed="rId4"/>
          <a:stretch>
            <a:fillRect/>
          </a:stretch>
        </p:blipFill>
        <p:spPr>
          <a:xfrm>
            <a:off x="983425" y="5645277"/>
            <a:ext cx="276606" cy="276606"/>
          </a:xfrm>
          <a:prstGeom prst="rect">
            <a:avLst/>
          </a:prstGeom>
        </p:spPr>
      </p:pic>
      <p:sp>
        <p:nvSpPr>
          <p:cNvPr id="12" name="Text 8"/>
          <p:cNvSpPr/>
          <p:nvPr/>
        </p:nvSpPr>
        <p:spPr>
          <a:xfrm>
            <a:off x="1510348" y="5349240"/>
            <a:ext cx="9784080" cy="86868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Note que a lei não fala em prazo fixo (“5 anos”, “10 anos”) — o critério é a necessidade ligada à finalidade do tratamento.</a:t>
            </a:r>
            <a:endParaRPr lang="en-US" sz="1200" dirty="0">
              <a:solidFill>
                <a:prstClr val="black"/>
              </a:solidFill>
              <a:latin typeface="Calibri" panose="020F0502020204030204"/>
            </a:endParaRPr>
          </a:p>
        </p:txBody>
      </p:sp>
      <p:sp>
        <p:nvSpPr>
          <p:cNvPr id="13" name="Text 9"/>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Exclusão dos dados na LGPD — Arts. 15 e 16</a:t>
            </a:r>
            <a:endParaRPr lang="en-US" sz="900" dirty="0">
              <a:solidFill>
                <a:prstClr val="black"/>
              </a:solidFill>
              <a:latin typeface="Calibri" panose="020F0502020204030204"/>
            </a:endParaRPr>
          </a:p>
        </p:txBody>
      </p:sp>
      <p:sp>
        <p:nvSpPr>
          <p:cNvPr id="14" name="Text 10"/>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03</a:t>
            </a:r>
            <a:endParaRPr lang="en-US" sz="900" dirty="0">
              <a:solidFill>
                <a:prstClr val="black"/>
              </a:solidFill>
              <a:latin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23444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256032"/>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20624"/>
            <a:ext cx="402336" cy="402336"/>
          </a:xfrm>
          <a:prstGeom prst="rect">
            <a:avLst/>
          </a:prstGeom>
        </p:spPr>
      </p:pic>
      <p:sp>
        <p:nvSpPr>
          <p:cNvPr id="5" name="Text 2"/>
          <p:cNvSpPr/>
          <p:nvPr/>
        </p:nvSpPr>
        <p:spPr>
          <a:xfrm>
            <a:off x="1418908" y="246888"/>
            <a:ext cx="8229600" cy="274320"/>
          </a:xfrm>
          <a:prstGeom prst="rect">
            <a:avLst/>
          </a:prstGeom>
          <a:noFill/>
          <a:ln/>
        </p:spPr>
        <p:txBody>
          <a:bodyPr wrap="square" rtlCol="0" anchor="ctr"/>
          <a:lstStyle/>
          <a:p>
            <a:r>
              <a:rPr lang="en-US" sz="1200" b="1" kern="0" spc="150" dirty="0">
                <a:solidFill>
                  <a:srgbClr val="CADCFC"/>
                </a:solidFill>
                <a:latin typeface="Calibri" pitchFamily="34" charset="0"/>
                <a:ea typeface="Calibri" pitchFamily="34" charset="-122"/>
                <a:cs typeface="Calibri" pitchFamily="34" charset="-120"/>
              </a:rPr>
              <a:t>ART. 15, LGPD</a:t>
            </a:r>
            <a:endParaRPr lang="en-US" sz="1200" dirty="0">
              <a:solidFill>
                <a:prstClr val="black"/>
              </a:solidFill>
              <a:latin typeface="Calibri" panose="020F0502020204030204"/>
            </a:endParaRPr>
          </a:p>
        </p:txBody>
      </p:sp>
      <p:sp>
        <p:nvSpPr>
          <p:cNvPr id="6" name="Text 3"/>
          <p:cNvSpPr/>
          <p:nvPr/>
        </p:nvSpPr>
        <p:spPr>
          <a:xfrm>
            <a:off x="1418908" y="475488"/>
            <a:ext cx="9144000" cy="59436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Quando o tratamento de dados termina</a:t>
            </a:r>
            <a:endParaRPr lang="en-US" sz="2600" dirty="0">
              <a:solidFill>
                <a:prstClr val="black"/>
              </a:solidFill>
              <a:latin typeface="Calibri" panose="020F0502020204030204"/>
            </a:endParaRPr>
          </a:p>
        </p:txBody>
      </p:sp>
      <p:sp>
        <p:nvSpPr>
          <p:cNvPr id="7" name="Text 4"/>
          <p:cNvSpPr/>
          <p:nvPr/>
        </p:nvSpPr>
        <p:spPr>
          <a:xfrm>
            <a:off x="458788" y="1417320"/>
            <a:ext cx="11247120" cy="502920"/>
          </a:xfrm>
          <a:prstGeom prst="rect">
            <a:avLst/>
          </a:prstGeom>
          <a:noFill/>
          <a:ln/>
        </p:spPr>
        <p:txBody>
          <a:bodyPr wrap="square" rtlCol="0" anchor="ctr"/>
          <a:lstStyle/>
          <a:p>
            <a:r>
              <a:rPr lang="en-US" sz="1300" i="1" dirty="0">
                <a:solidFill>
                  <a:srgbClr val="5B6B8C"/>
                </a:solidFill>
                <a:latin typeface="Calibri" pitchFamily="34" charset="0"/>
                <a:ea typeface="Calibri" pitchFamily="34" charset="-122"/>
                <a:cs typeface="Calibri" pitchFamily="34" charset="-120"/>
              </a:rPr>
              <a:t>O art. 15 lista as hipóteses que encerram o tratamento de dados pessoais. Encerrado o tratamento, entra em cena a regra de eliminação do art. 16.</a:t>
            </a:r>
            <a:endParaRPr lang="en-US" sz="1300" dirty="0">
              <a:solidFill>
                <a:prstClr val="black"/>
              </a:solidFill>
              <a:latin typeface="Calibri" panose="020F0502020204030204"/>
            </a:endParaRPr>
          </a:p>
        </p:txBody>
      </p:sp>
      <p:sp>
        <p:nvSpPr>
          <p:cNvPr id="8" name="Shape 5"/>
          <p:cNvSpPr/>
          <p:nvPr/>
        </p:nvSpPr>
        <p:spPr>
          <a:xfrm>
            <a:off x="458788" y="2148840"/>
            <a:ext cx="5394960" cy="1965960"/>
          </a:xfrm>
          <a:prstGeom prst="roundRect">
            <a:avLst>
              <a:gd name="adj" fmla="val 3721"/>
            </a:avLst>
          </a:prstGeom>
          <a:solidFill>
            <a:srgbClr val="F4F6FB"/>
          </a:solidFill>
          <a:ln/>
          <a:effectLst>
            <a:outerShdw blurRad="63500" dist="25400" dir="5400000" algn="bl" rotWithShape="0">
              <a:srgbClr val="1E2761">
                <a:alpha val="10000"/>
              </a:srgbClr>
            </a:outerShdw>
          </a:effectLst>
        </p:spPr>
        <p:txBody>
          <a:bodyPr/>
          <a:lstStyle/>
          <a:p>
            <a:endParaRPr lang="pt-BR">
              <a:solidFill>
                <a:prstClr val="black"/>
              </a:solidFill>
              <a:latin typeface="Calibri" panose="020F0502020204030204"/>
            </a:endParaRPr>
          </a:p>
        </p:txBody>
      </p:sp>
      <p:sp>
        <p:nvSpPr>
          <p:cNvPr id="9" name="Shape 6"/>
          <p:cNvSpPr/>
          <p:nvPr/>
        </p:nvSpPr>
        <p:spPr>
          <a:xfrm>
            <a:off x="687388" y="2377440"/>
            <a:ext cx="530352" cy="530352"/>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0" name="Image 1" descr="preencoded.png"/>
          <p:cNvPicPr>
            <a:picLocks noChangeAspect="1"/>
          </p:cNvPicPr>
          <p:nvPr/>
        </p:nvPicPr>
        <p:blipFill>
          <a:blip r:embed="rId3"/>
          <a:stretch>
            <a:fillRect/>
          </a:stretch>
        </p:blipFill>
        <p:spPr>
          <a:xfrm>
            <a:off x="806717" y="2496769"/>
            <a:ext cx="291694" cy="291694"/>
          </a:xfrm>
          <a:prstGeom prst="rect">
            <a:avLst/>
          </a:prstGeom>
        </p:spPr>
      </p:pic>
      <p:sp>
        <p:nvSpPr>
          <p:cNvPr id="11" name="Text 7"/>
          <p:cNvSpPr/>
          <p:nvPr/>
        </p:nvSpPr>
        <p:spPr>
          <a:xfrm>
            <a:off x="1373188" y="2368296"/>
            <a:ext cx="548640" cy="274320"/>
          </a:xfrm>
          <a:prstGeom prst="rect">
            <a:avLst/>
          </a:prstGeom>
          <a:noFill/>
          <a:ln/>
        </p:spPr>
        <p:txBody>
          <a:bodyPr wrap="square" rtlCol="0" anchor="ctr"/>
          <a:lstStyle/>
          <a:p>
            <a:r>
              <a:rPr lang="en-US" sz="1100" b="1" dirty="0">
                <a:solidFill>
                  <a:srgbClr val="0E7C7B"/>
                </a:solidFill>
                <a:latin typeface="Calibri" pitchFamily="34" charset="0"/>
                <a:ea typeface="Calibri" pitchFamily="34" charset="-122"/>
                <a:cs typeface="Calibri" pitchFamily="34" charset="-120"/>
              </a:rPr>
              <a:t>I</a:t>
            </a:r>
            <a:endParaRPr lang="en-US" sz="1100" dirty="0">
              <a:solidFill>
                <a:prstClr val="black"/>
              </a:solidFill>
              <a:latin typeface="Calibri" panose="020F0502020204030204"/>
            </a:endParaRPr>
          </a:p>
        </p:txBody>
      </p:sp>
      <p:sp>
        <p:nvSpPr>
          <p:cNvPr id="12" name="Text 8"/>
          <p:cNvSpPr/>
          <p:nvPr/>
        </p:nvSpPr>
        <p:spPr>
          <a:xfrm>
            <a:off x="1373188" y="2606040"/>
            <a:ext cx="4297680" cy="411480"/>
          </a:xfrm>
          <a:prstGeom prst="rect">
            <a:avLst/>
          </a:prstGeom>
          <a:noFill/>
          <a:ln/>
        </p:spPr>
        <p:txBody>
          <a:bodyPr wrap="square" rtlCol="0" anchor="ctr"/>
          <a:lstStyle/>
          <a:p>
            <a:r>
              <a:rPr lang="en-US" sz="1500" b="1" dirty="0">
                <a:solidFill>
                  <a:srgbClr val="1B2340"/>
                </a:solidFill>
                <a:latin typeface="Cambria" pitchFamily="34" charset="0"/>
                <a:ea typeface="Cambria" pitchFamily="34" charset="-122"/>
                <a:cs typeface="Cambria" pitchFamily="34" charset="-120"/>
              </a:rPr>
              <a:t>Finalidade alcançada</a:t>
            </a:r>
            <a:endParaRPr lang="en-US" sz="1500" dirty="0">
              <a:solidFill>
                <a:prstClr val="black"/>
              </a:solidFill>
              <a:latin typeface="Calibri" panose="020F0502020204030204"/>
            </a:endParaRPr>
          </a:p>
        </p:txBody>
      </p:sp>
      <p:sp>
        <p:nvSpPr>
          <p:cNvPr id="13" name="Text 9"/>
          <p:cNvSpPr/>
          <p:nvPr/>
        </p:nvSpPr>
        <p:spPr>
          <a:xfrm>
            <a:off x="687388" y="3108960"/>
            <a:ext cx="4937760" cy="914400"/>
          </a:xfrm>
          <a:prstGeom prst="rect">
            <a:avLst/>
          </a:prstGeom>
          <a:noFill/>
          <a:ln/>
        </p:spPr>
        <p:txBody>
          <a:bodyPr wrap="square" rtlCol="0" anchor="t"/>
          <a:lstStyle/>
          <a:p>
            <a:pPr>
              <a:lnSpc>
                <a:spcPct val="115000"/>
              </a:lnSpc>
            </a:pPr>
            <a:r>
              <a:rPr lang="en-US" sz="1100" dirty="0">
                <a:solidFill>
                  <a:srgbClr val="1B2340"/>
                </a:solidFill>
                <a:latin typeface="Calibri" pitchFamily="34" charset="0"/>
                <a:ea typeface="Calibri" pitchFamily="34" charset="-122"/>
                <a:cs typeface="Calibri" pitchFamily="34" charset="-120"/>
              </a:rPr>
              <a:t>Os dados cumpriram o objetivo para o qual foram coletados, ou deixaram de ser necessários ao propósito do tratamento.</a:t>
            </a:r>
            <a:endParaRPr lang="en-US" sz="1100" dirty="0">
              <a:solidFill>
                <a:prstClr val="black"/>
              </a:solidFill>
              <a:latin typeface="Calibri" panose="020F0502020204030204"/>
            </a:endParaRPr>
          </a:p>
        </p:txBody>
      </p:sp>
      <p:sp>
        <p:nvSpPr>
          <p:cNvPr id="14" name="Shape 10"/>
          <p:cNvSpPr/>
          <p:nvPr/>
        </p:nvSpPr>
        <p:spPr>
          <a:xfrm>
            <a:off x="6128068" y="2148840"/>
            <a:ext cx="5394960" cy="1965960"/>
          </a:xfrm>
          <a:prstGeom prst="roundRect">
            <a:avLst>
              <a:gd name="adj" fmla="val 3721"/>
            </a:avLst>
          </a:prstGeom>
          <a:solidFill>
            <a:srgbClr val="F4F6FB"/>
          </a:solidFill>
          <a:ln/>
          <a:effectLst>
            <a:outerShdw blurRad="63500" dist="25400" dir="5400000" algn="bl" rotWithShape="0">
              <a:srgbClr val="1E2761">
                <a:alpha val="10000"/>
              </a:srgbClr>
            </a:outerShdw>
          </a:effectLst>
        </p:spPr>
        <p:txBody>
          <a:bodyPr/>
          <a:lstStyle/>
          <a:p>
            <a:endParaRPr lang="pt-BR">
              <a:solidFill>
                <a:prstClr val="black"/>
              </a:solidFill>
              <a:latin typeface="Calibri" panose="020F0502020204030204"/>
            </a:endParaRPr>
          </a:p>
        </p:txBody>
      </p:sp>
      <p:sp>
        <p:nvSpPr>
          <p:cNvPr id="15" name="Shape 11"/>
          <p:cNvSpPr/>
          <p:nvPr/>
        </p:nvSpPr>
        <p:spPr>
          <a:xfrm>
            <a:off x="6356668" y="2377440"/>
            <a:ext cx="530352" cy="530352"/>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6" name="Image 2" descr="preencoded.png"/>
          <p:cNvPicPr>
            <a:picLocks noChangeAspect="1"/>
          </p:cNvPicPr>
          <p:nvPr/>
        </p:nvPicPr>
        <p:blipFill>
          <a:blip r:embed="rId4"/>
          <a:stretch>
            <a:fillRect/>
          </a:stretch>
        </p:blipFill>
        <p:spPr>
          <a:xfrm>
            <a:off x="6475997" y="2496769"/>
            <a:ext cx="291694" cy="291694"/>
          </a:xfrm>
          <a:prstGeom prst="rect">
            <a:avLst/>
          </a:prstGeom>
        </p:spPr>
      </p:pic>
      <p:sp>
        <p:nvSpPr>
          <p:cNvPr id="17" name="Text 12"/>
          <p:cNvSpPr/>
          <p:nvPr/>
        </p:nvSpPr>
        <p:spPr>
          <a:xfrm>
            <a:off x="7042468" y="2368296"/>
            <a:ext cx="548640" cy="274320"/>
          </a:xfrm>
          <a:prstGeom prst="rect">
            <a:avLst/>
          </a:prstGeom>
          <a:noFill/>
          <a:ln/>
        </p:spPr>
        <p:txBody>
          <a:bodyPr wrap="square" rtlCol="0" anchor="ctr"/>
          <a:lstStyle/>
          <a:p>
            <a:r>
              <a:rPr lang="en-US" sz="1100" b="1" dirty="0">
                <a:solidFill>
                  <a:srgbClr val="0E7C7B"/>
                </a:solidFill>
                <a:latin typeface="Calibri" pitchFamily="34" charset="0"/>
                <a:ea typeface="Calibri" pitchFamily="34" charset="-122"/>
                <a:cs typeface="Calibri" pitchFamily="34" charset="-120"/>
              </a:rPr>
              <a:t>II</a:t>
            </a:r>
            <a:endParaRPr lang="en-US" sz="1100" dirty="0">
              <a:solidFill>
                <a:prstClr val="black"/>
              </a:solidFill>
              <a:latin typeface="Calibri" panose="020F0502020204030204"/>
            </a:endParaRPr>
          </a:p>
        </p:txBody>
      </p:sp>
      <p:sp>
        <p:nvSpPr>
          <p:cNvPr id="18" name="Text 13"/>
          <p:cNvSpPr/>
          <p:nvPr/>
        </p:nvSpPr>
        <p:spPr>
          <a:xfrm>
            <a:off x="7042468" y="2606040"/>
            <a:ext cx="4297680" cy="411480"/>
          </a:xfrm>
          <a:prstGeom prst="rect">
            <a:avLst/>
          </a:prstGeom>
          <a:noFill/>
          <a:ln/>
        </p:spPr>
        <p:txBody>
          <a:bodyPr wrap="square" rtlCol="0" anchor="ctr"/>
          <a:lstStyle/>
          <a:p>
            <a:r>
              <a:rPr lang="en-US" sz="1500" b="1" dirty="0">
                <a:solidFill>
                  <a:srgbClr val="1B2340"/>
                </a:solidFill>
                <a:latin typeface="Cambria" pitchFamily="34" charset="0"/>
                <a:ea typeface="Cambria" pitchFamily="34" charset="-122"/>
                <a:cs typeface="Cambria" pitchFamily="34" charset="-120"/>
              </a:rPr>
              <a:t>Fim do período de tratamento</a:t>
            </a:r>
            <a:endParaRPr lang="en-US" sz="1500" dirty="0">
              <a:solidFill>
                <a:prstClr val="black"/>
              </a:solidFill>
              <a:latin typeface="Calibri" panose="020F0502020204030204"/>
            </a:endParaRPr>
          </a:p>
        </p:txBody>
      </p:sp>
      <p:sp>
        <p:nvSpPr>
          <p:cNvPr id="19" name="Text 14"/>
          <p:cNvSpPr/>
          <p:nvPr/>
        </p:nvSpPr>
        <p:spPr>
          <a:xfrm>
            <a:off x="6356668" y="3108960"/>
            <a:ext cx="4937760" cy="914400"/>
          </a:xfrm>
          <a:prstGeom prst="rect">
            <a:avLst/>
          </a:prstGeom>
          <a:noFill/>
          <a:ln/>
        </p:spPr>
        <p:txBody>
          <a:bodyPr wrap="square" rtlCol="0" anchor="t"/>
          <a:lstStyle/>
          <a:p>
            <a:pPr>
              <a:lnSpc>
                <a:spcPct val="115000"/>
              </a:lnSpc>
            </a:pPr>
            <a:r>
              <a:rPr lang="en-US" sz="1100" dirty="0">
                <a:solidFill>
                  <a:srgbClr val="1B2340"/>
                </a:solidFill>
                <a:latin typeface="Calibri" pitchFamily="34" charset="0"/>
                <a:ea typeface="Calibri" pitchFamily="34" charset="-122"/>
                <a:cs typeface="Calibri" pitchFamily="34" charset="-120"/>
              </a:rPr>
              <a:t>Encerra-se o período previamente estipulado para aquele tratamento específico.</a:t>
            </a:r>
            <a:endParaRPr lang="en-US" sz="1100" dirty="0">
              <a:solidFill>
                <a:prstClr val="black"/>
              </a:solidFill>
              <a:latin typeface="Calibri" panose="020F0502020204030204"/>
            </a:endParaRPr>
          </a:p>
        </p:txBody>
      </p:sp>
      <p:sp>
        <p:nvSpPr>
          <p:cNvPr id="20" name="Shape 15"/>
          <p:cNvSpPr/>
          <p:nvPr/>
        </p:nvSpPr>
        <p:spPr>
          <a:xfrm>
            <a:off x="458788" y="4343400"/>
            <a:ext cx="5394960" cy="1965960"/>
          </a:xfrm>
          <a:prstGeom prst="roundRect">
            <a:avLst>
              <a:gd name="adj" fmla="val 3721"/>
            </a:avLst>
          </a:prstGeom>
          <a:solidFill>
            <a:srgbClr val="F4F6FB"/>
          </a:solidFill>
          <a:ln/>
          <a:effectLst>
            <a:outerShdw blurRad="63500" dist="25400" dir="5400000" algn="bl" rotWithShape="0">
              <a:srgbClr val="1E2761">
                <a:alpha val="10000"/>
              </a:srgbClr>
            </a:outerShdw>
          </a:effectLst>
        </p:spPr>
        <p:txBody>
          <a:bodyPr/>
          <a:lstStyle/>
          <a:p>
            <a:endParaRPr lang="pt-BR">
              <a:solidFill>
                <a:prstClr val="black"/>
              </a:solidFill>
              <a:latin typeface="Calibri" panose="020F0502020204030204"/>
            </a:endParaRPr>
          </a:p>
        </p:txBody>
      </p:sp>
      <p:sp>
        <p:nvSpPr>
          <p:cNvPr id="21" name="Shape 16"/>
          <p:cNvSpPr/>
          <p:nvPr/>
        </p:nvSpPr>
        <p:spPr>
          <a:xfrm>
            <a:off x="687388" y="4572000"/>
            <a:ext cx="530352" cy="530352"/>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22" name="Image 3" descr="preencoded.png"/>
          <p:cNvPicPr>
            <a:picLocks noChangeAspect="1"/>
          </p:cNvPicPr>
          <p:nvPr/>
        </p:nvPicPr>
        <p:blipFill>
          <a:blip r:embed="rId5"/>
          <a:stretch>
            <a:fillRect/>
          </a:stretch>
        </p:blipFill>
        <p:spPr>
          <a:xfrm>
            <a:off x="806717" y="4691329"/>
            <a:ext cx="291694" cy="291694"/>
          </a:xfrm>
          <a:prstGeom prst="rect">
            <a:avLst/>
          </a:prstGeom>
        </p:spPr>
      </p:pic>
      <p:sp>
        <p:nvSpPr>
          <p:cNvPr id="23" name="Text 17"/>
          <p:cNvSpPr/>
          <p:nvPr/>
        </p:nvSpPr>
        <p:spPr>
          <a:xfrm>
            <a:off x="1373188" y="4562856"/>
            <a:ext cx="548640" cy="274320"/>
          </a:xfrm>
          <a:prstGeom prst="rect">
            <a:avLst/>
          </a:prstGeom>
          <a:noFill/>
          <a:ln/>
        </p:spPr>
        <p:txBody>
          <a:bodyPr wrap="square" rtlCol="0" anchor="ctr"/>
          <a:lstStyle/>
          <a:p>
            <a:r>
              <a:rPr lang="en-US" sz="1100" b="1" dirty="0">
                <a:solidFill>
                  <a:srgbClr val="0E7C7B"/>
                </a:solidFill>
                <a:latin typeface="Calibri" pitchFamily="34" charset="0"/>
                <a:ea typeface="Calibri" pitchFamily="34" charset="-122"/>
                <a:cs typeface="Calibri" pitchFamily="34" charset="-120"/>
              </a:rPr>
              <a:t>III</a:t>
            </a:r>
            <a:endParaRPr lang="en-US" sz="1100" dirty="0">
              <a:solidFill>
                <a:prstClr val="black"/>
              </a:solidFill>
              <a:latin typeface="Calibri" panose="020F0502020204030204"/>
            </a:endParaRPr>
          </a:p>
        </p:txBody>
      </p:sp>
      <p:sp>
        <p:nvSpPr>
          <p:cNvPr id="24" name="Text 18"/>
          <p:cNvSpPr/>
          <p:nvPr/>
        </p:nvSpPr>
        <p:spPr>
          <a:xfrm>
            <a:off x="1373188" y="4800600"/>
            <a:ext cx="4297680" cy="411480"/>
          </a:xfrm>
          <a:prstGeom prst="rect">
            <a:avLst/>
          </a:prstGeom>
          <a:noFill/>
          <a:ln/>
        </p:spPr>
        <p:txBody>
          <a:bodyPr wrap="square" rtlCol="0" anchor="ctr"/>
          <a:lstStyle/>
          <a:p>
            <a:r>
              <a:rPr lang="en-US" sz="1500" b="1" dirty="0">
                <a:solidFill>
                  <a:srgbClr val="1B2340"/>
                </a:solidFill>
                <a:latin typeface="Cambria" pitchFamily="34" charset="0"/>
                <a:ea typeface="Cambria" pitchFamily="34" charset="-122"/>
                <a:cs typeface="Cambria" pitchFamily="34" charset="-120"/>
              </a:rPr>
              <a:t>Comunicação do titular</a:t>
            </a:r>
            <a:endParaRPr lang="en-US" sz="1500" dirty="0">
              <a:solidFill>
                <a:prstClr val="black"/>
              </a:solidFill>
              <a:latin typeface="Calibri" panose="020F0502020204030204"/>
            </a:endParaRPr>
          </a:p>
        </p:txBody>
      </p:sp>
      <p:sp>
        <p:nvSpPr>
          <p:cNvPr id="25" name="Text 19"/>
          <p:cNvSpPr/>
          <p:nvPr/>
        </p:nvSpPr>
        <p:spPr>
          <a:xfrm>
            <a:off x="687388" y="5303520"/>
            <a:ext cx="4937760" cy="914400"/>
          </a:xfrm>
          <a:prstGeom prst="rect">
            <a:avLst/>
          </a:prstGeom>
          <a:noFill/>
          <a:ln/>
        </p:spPr>
        <p:txBody>
          <a:bodyPr wrap="square" rtlCol="0" anchor="t"/>
          <a:lstStyle/>
          <a:p>
            <a:pPr>
              <a:lnSpc>
                <a:spcPct val="115000"/>
              </a:lnSpc>
            </a:pPr>
            <a:r>
              <a:rPr lang="en-US" sz="1100" dirty="0">
                <a:solidFill>
                  <a:srgbClr val="1B2340"/>
                </a:solidFill>
                <a:latin typeface="Calibri" pitchFamily="34" charset="0"/>
                <a:ea typeface="Calibri" pitchFamily="34" charset="-122"/>
                <a:cs typeface="Calibri" pitchFamily="34" charset="-120"/>
              </a:rPr>
              <a:t>O titular solicita o encerramento, ressalvadas as hipóteses de retenção legítima previstas no art. 16.</a:t>
            </a:r>
            <a:endParaRPr lang="en-US" sz="1100" dirty="0">
              <a:solidFill>
                <a:prstClr val="black"/>
              </a:solidFill>
              <a:latin typeface="Calibri" panose="020F0502020204030204"/>
            </a:endParaRPr>
          </a:p>
        </p:txBody>
      </p:sp>
      <p:sp>
        <p:nvSpPr>
          <p:cNvPr id="26" name="Shape 20"/>
          <p:cNvSpPr/>
          <p:nvPr/>
        </p:nvSpPr>
        <p:spPr>
          <a:xfrm>
            <a:off x="6128068" y="4343400"/>
            <a:ext cx="5394960" cy="1965960"/>
          </a:xfrm>
          <a:prstGeom prst="roundRect">
            <a:avLst>
              <a:gd name="adj" fmla="val 3721"/>
            </a:avLst>
          </a:prstGeom>
          <a:solidFill>
            <a:srgbClr val="F4F6FB"/>
          </a:solidFill>
          <a:ln/>
          <a:effectLst>
            <a:outerShdw blurRad="63500" dist="25400" dir="5400000" algn="bl" rotWithShape="0">
              <a:srgbClr val="1E2761">
                <a:alpha val="10000"/>
              </a:srgbClr>
            </a:outerShdw>
          </a:effectLst>
        </p:spPr>
        <p:txBody>
          <a:bodyPr/>
          <a:lstStyle/>
          <a:p>
            <a:endParaRPr lang="pt-BR">
              <a:solidFill>
                <a:prstClr val="black"/>
              </a:solidFill>
              <a:latin typeface="Calibri" panose="020F0502020204030204"/>
            </a:endParaRPr>
          </a:p>
        </p:txBody>
      </p:sp>
      <p:sp>
        <p:nvSpPr>
          <p:cNvPr id="27" name="Shape 21"/>
          <p:cNvSpPr/>
          <p:nvPr/>
        </p:nvSpPr>
        <p:spPr>
          <a:xfrm>
            <a:off x="6356668" y="4572000"/>
            <a:ext cx="530352" cy="530352"/>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28" name="Image 4" descr="preencoded.png"/>
          <p:cNvPicPr>
            <a:picLocks noChangeAspect="1"/>
          </p:cNvPicPr>
          <p:nvPr/>
        </p:nvPicPr>
        <p:blipFill>
          <a:blip r:embed="rId6"/>
          <a:stretch>
            <a:fillRect/>
          </a:stretch>
        </p:blipFill>
        <p:spPr>
          <a:xfrm>
            <a:off x="6475997" y="4691329"/>
            <a:ext cx="291694" cy="291694"/>
          </a:xfrm>
          <a:prstGeom prst="rect">
            <a:avLst/>
          </a:prstGeom>
        </p:spPr>
      </p:pic>
      <p:sp>
        <p:nvSpPr>
          <p:cNvPr id="29" name="Text 22"/>
          <p:cNvSpPr/>
          <p:nvPr/>
        </p:nvSpPr>
        <p:spPr>
          <a:xfrm>
            <a:off x="7042468" y="4562856"/>
            <a:ext cx="548640" cy="274320"/>
          </a:xfrm>
          <a:prstGeom prst="rect">
            <a:avLst/>
          </a:prstGeom>
          <a:noFill/>
          <a:ln/>
        </p:spPr>
        <p:txBody>
          <a:bodyPr wrap="square" rtlCol="0" anchor="ctr"/>
          <a:lstStyle/>
          <a:p>
            <a:r>
              <a:rPr lang="en-US" sz="1100" b="1" dirty="0">
                <a:solidFill>
                  <a:srgbClr val="0E7C7B"/>
                </a:solidFill>
                <a:latin typeface="Calibri" pitchFamily="34" charset="0"/>
                <a:ea typeface="Calibri" pitchFamily="34" charset="-122"/>
                <a:cs typeface="Calibri" pitchFamily="34" charset="-120"/>
              </a:rPr>
              <a:t>IV</a:t>
            </a:r>
            <a:endParaRPr lang="en-US" sz="1100" dirty="0">
              <a:solidFill>
                <a:prstClr val="black"/>
              </a:solidFill>
              <a:latin typeface="Calibri" panose="020F0502020204030204"/>
            </a:endParaRPr>
          </a:p>
        </p:txBody>
      </p:sp>
      <p:sp>
        <p:nvSpPr>
          <p:cNvPr id="30" name="Text 23"/>
          <p:cNvSpPr/>
          <p:nvPr/>
        </p:nvSpPr>
        <p:spPr>
          <a:xfrm>
            <a:off x="7042468" y="4800600"/>
            <a:ext cx="4297680" cy="411480"/>
          </a:xfrm>
          <a:prstGeom prst="rect">
            <a:avLst/>
          </a:prstGeom>
          <a:noFill/>
          <a:ln/>
        </p:spPr>
        <p:txBody>
          <a:bodyPr wrap="square" rtlCol="0" anchor="ctr"/>
          <a:lstStyle/>
          <a:p>
            <a:r>
              <a:rPr lang="en-US" sz="1500" b="1" dirty="0">
                <a:solidFill>
                  <a:srgbClr val="1B2340"/>
                </a:solidFill>
                <a:latin typeface="Cambria" pitchFamily="34" charset="0"/>
                <a:ea typeface="Cambria" pitchFamily="34" charset="-122"/>
                <a:cs typeface="Cambria" pitchFamily="34" charset="-120"/>
              </a:rPr>
              <a:t>Determinação da ANPD</a:t>
            </a:r>
            <a:endParaRPr lang="en-US" sz="1500" dirty="0">
              <a:solidFill>
                <a:prstClr val="black"/>
              </a:solidFill>
              <a:latin typeface="Calibri" panose="020F0502020204030204"/>
            </a:endParaRPr>
          </a:p>
        </p:txBody>
      </p:sp>
      <p:sp>
        <p:nvSpPr>
          <p:cNvPr id="31" name="Text 24"/>
          <p:cNvSpPr/>
          <p:nvPr/>
        </p:nvSpPr>
        <p:spPr>
          <a:xfrm>
            <a:off x="6356668" y="5303520"/>
            <a:ext cx="4937760" cy="914400"/>
          </a:xfrm>
          <a:prstGeom prst="rect">
            <a:avLst/>
          </a:prstGeom>
          <a:noFill/>
          <a:ln/>
        </p:spPr>
        <p:txBody>
          <a:bodyPr wrap="square" rtlCol="0" anchor="t"/>
          <a:lstStyle/>
          <a:p>
            <a:pPr>
              <a:lnSpc>
                <a:spcPct val="115000"/>
              </a:lnSpc>
            </a:pPr>
            <a:r>
              <a:rPr lang="en-US" sz="1100" dirty="0">
                <a:solidFill>
                  <a:srgbClr val="1B2340"/>
                </a:solidFill>
                <a:latin typeface="Calibri" pitchFamily="34" charset="0"/>
                <a:ea typeface="Calibri" pitchFamily="34" charset="-122"/>
                <a:cs typeface="Calibri" pitchFamily="34" charset="-120"/>
              </a:rPr>
              <a:t>Em caso de violação ao disposto na lei, mediante determinação da Autoridade Nacional de Proteção de Dados.</a:t>
            </a:r>
            <a:endParaRPr lang="en-US" sz="1100" dirty="0">
              <a:solidFill>
                <a:prstClr val="black"/>
              </a:solidFill>
              <a:latin typeface="Calibri" panose="020F0502020204030204"/>
            </a:endParaRPr>
          </a:p>
        </p:txBody>
      </p:sp>
      <p:sp>
        <p:nvSpPr>
          <p:cNvPr id="32" name="Text 25"/>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Exclusão dos dados na LGPD — Arts. 15 e 16</a:t>
            </a:r>
            <a:endParaRPr lang="en-US" sz="900" dirty="0">
              <a:solidFill>
                <a:prstClr val="black"/>
              </a:solidFill>
              <a:latin typeface="Calibri" panose="020F0502020204030204"/>
            </a:endParaRPr>
          </a:p>
        </p:txBody>
      </p:sp>
      <p:sp>
        <p:nvSpPr>
          <p:cNvPr id="33" name="Text 26"/>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02</a:t>
            </a:r>
            <a:endParaRPr lang="en-US" sz="900" dirty="0">
              <a:solidFill>
                <a:prstClr val="black"/>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88" y="0"/>
            <a:ext cx="12188952" cy="1234440"/>
          </a:xfrm>
          <a:prstGeom prst="rect">
            <a:avLst/>
          </a:prstGeom>
          <a:solidFill>
            <a:srgbClr val="1E2761"/>
          </a:solidFill>
          <a:ln/>
        </p:spPr>
        <p:txBody>
          <a:bodyPr/>
          <a:lstStyle/>
          <a:p>
            <a:endParaRPr lang="pt-BR">
              <a:solidFill>
                <a:prstClr val="black"/>
              </a:solidFill>
              <a:latin typeface="Calibri" panose="020F0502020204030204"/>
            </a:endParaRPr>
          </a:p>
        </p:txBody>
      </p:sp>
      <p:sp>
        <p:nvSpPr>
          <p:cNvPr id="3" name="Shape 1"/>
          <p:cNvSpPr/>
          <p:nvPr/>
        </p:nvSpPr>
        <p:spPr>
          <a:xfrm>
            <a:off x="504508" y="256032"/>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20624"/>
            <a:ext cx="402336" cy="402336"/>
          </a:xfrm>
          <a:prstGeom prst="rect">
            <a:avLst/>
          </a:prstGeom>
        </p:spPr>
      </p:pic>
      <p:sp>
        <p:nvSpPr>
          <p:cNvPr id="5" name="Text 2"/>
          <p:cNvSpPr/>
          <p:nvPr/>
        </p:nvSpPr>
        <p:spPr>
          <a:xfrm>
            <a:off x="1418908" y="246888"/>
            <a:ext cx="8229600" cy="274320"/>
          </a:xfrm>
          <a:prstGeom prst="rect">
            <a:avLst/>
          </a:prstGeom>
          <a:noFill/>
          <a:ln/>
        </p:spPr>
        <p:txBody>
          <a:bodyPr wrap="square" rtlCol="0" anchor="ctr"/>
          <a:lstStyle/>
          <a:p>
            <a:r>
              <a:rPr lang="en-US" sz="1200" b="1" kern="0" spc="150" dirty="0">
                <a:solidFill>
                  <a:srgbClr val="CADCFC"/>
                </a:solidFill>
                <a:latin typeface="Calibri" pitchFamily="34" charset="0"/>
                <a:ea typeface="Calibri" pitchFamily="34" charset="-122"/>
                <a:cs typeface="Calibri" pitchFamily="34" charset="-120"/>
              </a:rPr>
              <a:t>ART. 16, I A IV — LGPD</a:t>
            </a:r>
            <a:endParaRPr lang="en-US" sz="1200" dirty="0">
              <a:solidFill>
                <a:prstClr val="black"/>
              </a:solidFill>
              <a:latin typeface="Calibri" panose="020F0502020204030204"/>
            </a:endParaRPr>
          </a:p>
        </p:txBody>
      </p:sp>
      <p:sp>
        <p:nvSpPr>
          <p:cNvPr id="6" name="Text 3"/>
          <p:cNvSpPr/>
          <p:nvPr/>
        </p:nvSpPr>
        <p:spPr>
          <a:xfrm>
            <a:off x="1418908" y="475488"/>
            <a:ext cx="9144000" cy="594360"/>
          </a:xfrm>
          <a:prstGeom prst="rect">
            <a:avLst/>
          </a:prstGeom>
          <a:noFill/>
          <a:ln/>
        </p:spPr>
        <p:txBody>
          <a:bodyPr wrap="square" rtlCol="0" anchor="ctr"/>
          <a:lstStyle/>
          <a:p>
            <a:r>
              <a:rPr lang="en-US" sz="2600" b="1" dirty="0">
                <a:solidFill>
                  <a:srgbClr val="FFFFFF"/>
                </a:solidFill>
                <a:latin typeface="Cambria" pitchFamily="34" charset="0"/>
                <a:ea typeface="Cambria" pitchFamily="34" charset="-122"/>
                <a:cs typeface="Cambria" pitchFamily="34" charset="-120"/>
              </a:rPr>
              <a:t>Exceções: quando a retenção é permitida</a:t>
            </a:r>
            <a:endParaRPr lang="en-US" sz="2600" dirty="0">
              <a:solidFill>
                <a:prstClr val="black"/>
              </a:solidFill>
              <a:latin typeface="Calibri" panose="020F0502020204030204"/>
            </a:endParaRPr>
          </a:p>
        </p:txBody>
      </p:sp>
      <p:sp>
        <p:nvSpPr>
          <p:cNvPr id="7" name="Shape 4"/>
          <p:cNvSpPr/>
          <p:nvPr/>
        </p:nvSpPr>
        <p:spPr>
          <a:xfrm>
            <a:off x="458788" y="1920240"/>
            <a:ext cx="2606040" cy="3749040"/>
          </a:xfrm>
          <a:prstGeom prst="roundRect">
            <a:avLst>
              <a:gd name="adj" fmla="val 3158"/>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8" name="Shape 5"/>
          <p:cNvSpPr/>
          <p:nvPr/>
        </p:nvSpPr>
        <p:spPr>
          <a:xfrm>
            <a:off x="1487488" y="2176272"/>
            <a:ext cx="548640" cy="54864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9" name="Image 1" descr="preencoded.png"/>
          <p:cNvPicPr>
            <a:picLocks noChangeAspect="1"/>
          </p:cNvPicPr>
          <p:nvPr/>
        </p:nvPicPr>
        <p:blipFill>
          <a:blip r:embed="rId4"/>
          <a:stretch>
            <a:fillRect/>
          </a:stretch>
        </p:blipFill>
        <p:spPr>
          <a:xfrm>
            <a:off x="1610932" y="2299716"/>
            <a:ext cx="301752" cy="301752"/>
          </a:xfrm>
          <a:prstGeom prst="rect">
            <a:avLst/>
          </a:prstGeom>
        </p:spPr>
      </p:pic>
      <p:sp>
        <p:nvSpPr>
          <p:cNvPr id="10" name="Text 6"/>
          <p:cNvSpPr/>
          <p:nvPr/>
        </p:nvSpPr>
        <p:spPr>
          <a:xfrm>
            <a:off x="458788" y="2852928"/>
            <a:ext cx="2606040" cy="256032"/>
          </a:xfrm>
          <a:prstGeom prst="rect">
            <a:avLst/>
          </a:prstGeom>
          <a:noFill/>
          <a:ln/>
        </p:spPr>
        <p:txBody>
          <a:bodyPr wrap="square" rtlCol="0" anchor="ctr"/>
          <a:lstStyle/>
          <a:p>
            <a:pPr algn="ctr"/>
            <a:r>
              <a:rPr lang="en-US" sz="1050" b="1" kern="0" spc="100" dirty="0">
                <a:solidFill>
                  <a:srgbClr val="0E7C7B"/>
                </a:solidFill>
                <a:latin typeface="Calibri" pitchFamily="34" charset="0"/>
                <a:ea typeface="Calibri" pitchFamily="34" charset="-122"/>
                <a:cs typeface="Calibri" pitchFamily="34" charset="-120"/>
              </a:rPr>
              <a:t>INCISO I</a:t>
            </a:r>
            <a:endParaRPr lang="en-US" sz="1050" dirty="0">
              <a:solidFill>
                <a:prstClr val="black"/>
              </a:solidFill>
              <a:latin typeface="Calibri" panose="020F0502020204030204"/>
            </a:endParaRPr>
          </a:p>
        </p:txBody>
      </p:sp>
      <p:sp>
        <p:nvSpPr>
          <p:cNvPr id="11" name="Text 7"/>
          <p:cNvSpPr/>
          <p:nvPr/>
        </p:nvSpPr>
        <p:spPr>
          <a:xfrm>
            <a:off x="623380" y="3127248"/>
            <a:ext cx="2276856" cy="777240"/>
          </a:xfrm>
          <a:prstGeom prst="rect">
            <a:avLst/>
          </a:prstGeom>
          <a:noFill/>
          <a:ln/>
        </p:spPr>
        <p:txBody>
          <a:bodyPr wrap="square" rtlCol="0" anchor="t"/>
          <a:lstStyle/>
          <a:p>
            <a:pPr algn="ctr"/>
            <a:r>
              <a:rPr lang="en-US" sz="1350" b="1" dirty="0">
                <a:solidFill>
                  <a:srgbClr val="1B2340"/>
                </a:solidFill>
                <a:latin typeface="Cambria" pitchFamily="34" charset="0"/>
                <a:ea typeface="Cambria" pitchFamily="34" charset="-122"/>
                <a:cs typeface="Cambria" pitchFamily="34" charset="-120"/>
              </a:rPr>
              <a:t>Obrigação legal ou regulatória</a:t>
            </a:r>
            <a:endParaRPr lang="en-US" sz="1350" dirty="0">
              <a:solidFill>
                <a:prstClr val="black"/>
              </a:solidFill>
              <a:latin typeface="Calibri" panose="020F0502020204030204"/>
            </a:endParaRPr>
          </a:p>
        </p:txBody>
      </p:sp>
      <p:sp>
        <p:nvSpPr>
          <p:cNvPr id="12" name="Text 8"/>
          <p:cNvSpPr/>
          <p:nvPr/>
        </p:nvSpPr>
        <p:spPr>
          <a:xfrm>
            <a:off x="641668" y="3977640"/>
            <a:ext cx="2240280" cy="1554480"/>
          </a:xfrm>
          <a:prstGeom prst="rect">
            <a:avLst/>
          </a:prstGeom>
          <a:noFill/>
          <a:ln/>
        </p:spPr>
        <p:txBody>
          <a:bodyPr wrap="square" rtlCol="0" anchor="t"/>
          <a:lstStyle/>
          <a:p>
            <a:pPr algn="ctr">
              <a:lnSpc>
                <a:spcPct val="115000"/>
              </a:lnSpc>
            </a:pPr>
            <a:r>
              <a:rPr lang="en-US" sz="1050" dirty="0">
                <a:solidFill>
                  <a:srgbClr val="1B2340"/>
                </a:solidFill>
                <a:latin typeface="Calibri" pitchFamily="34" charset="0"/>
                <a:ea typeface="Calibri" pitchFamily="34" charset="-122"/>
                <a:cs typeface="Calibri" pitchFamily="34" charset="-120"/>
              </a:rPr>
              <a:t>Cumprimento de obrigação legal ou regulatória pelo controlador (ex.: guarda fiscal, trabalhista).</a:t>
            </a:r>
            <a:endParaRPr lang="en-US" sz="1050" dirty="0">
              <a:solidFill>
                <a:prstClr val="black"/>
              </a:solidFill>
              <a:latin typeface="Calibri" panose="020F0502020204030204"/>
            </a:endParaRPr>
          </a:p>
        </p:txBody>
      </p:sp>
      <p:sp>
        <p:nvSpPr>
          <p:cNvPr id="13" name="Shape 9"/>
          <p:cNvSpPr/>
          <p:nvPr/>
        </p:nvSpPr>
        <p:spPr>
          <a:xfrm>
            <a:off x="3265996" y="1920240"/>
            <a:ext cx="2606040" cy="3749040"/>
          </a:xfrm>
          <a:prstGeom prst="roundRect">
            <a:avLst>
              <a:gd name="adj" fmla="val 3158"/>
            </a:avLst>
          </a:prstGeom>
          <a:solidFill>
            <a:srgbClr val="1E2761"/>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14" name="Shape 10"/>
          <p:cNvSpPr/>
          <p:nvPr/>
        </p:nvSpPr>
        <p:spPr>
          <a:xfrm>
            <a:off x="4294696" y="2176272"/>
            <a:ext cx="548640" cy="54864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15" name="Image 2" descr="preencoded.png"/>
          <p:cNvPicPr>
            <a:picLocks noChangeAspect="1"/>
          </p:cNvPicPr>
          <p:nvPr/>
        </p:nvPicPr>
        <p:blipFill>
          <a:blip r:embed="rId5"/>
          <a:stretch>
            <a:fillRect/>
          </a:stretch>
        </p:blipFill>
        <p:spPr>
          <a:xfrm>
            <a:off x="4418140" y="2299716"/>
            <a:ext cx="301752" cy="301752"/>
          </a:xfrm>
          <a:prstGeom prst="rect">
            <a:avLst/>
          </a:prstGeom>
        </p:spPr>
      </p:pic>
      <p:sp>
        <p:nvSpPr>
          <p:cNvPr id="16" name="Text 11"/>
          <p:cNvSpPr/>
          <p:nvPr/>
        </p:nvSpPr>
        <p:spPr>
          <a:xfrm>
            <a:off x="3265996" y="2852928"/>
            <a:ext cx="2606040" cy="256032"/>
          </a:xfrm>
          <a:prstGeom prst="rect">
            <a:avLst/>
          </a:prstGeom>
          <a:noFill/>
          <a:ln/>
        </p:spPr>
        <p:txBody>
          <a:bodyPr wrap="square" rtlCol="0" anchor="ctr"/>
          <a:lstStyle/>
          <a:p>
            <a:pPr algn="ctr"/>
            <a:r>
              <a:rPr lang="en-US" sz="1050" b="1" kern="0" spc="100" dirty="0">
                <a:solidFill>
                  <a:srgbClr val="CADCFC"/>
                </a:solidFill>
                <a:latin typeface="Calibri" pitchFamily="34" charset="0"/>
                <a:ea typeface="Calibri" pitchFamily="34" charset="-122"/>
                <a:cs typeface="Calibri" pitchFamily="34" charset="-120"/>
              </a:rPr>
              <a:t>INCISO II</a:t>
            </a:r>
            <a:endParaRPr lang="en-US" sz="1050" dirty="0">
              <a:solidFill>
                <a:prstClr val="black"/>
              </a:solidFill>
              <a:latin typeface="Calibri" panose="020F0502020204030204"/>
            </a:endParaRPr>
          </a:p>
        </p:txBody>
      </p:sp>
      <p:sp>
        <p:nvSpPr>
          <p:cNvPr id="17" name="Text 12"/>
          <p:cNvSpPr/>
          <p:nvPr/>
        </p:nvSpPr>
        <p:spPr>
          <a:xfrm>
            <a:off x="3430588" y="3127248"/>
            <a:ext cx="2276856" cy="777240"/>
          </a:xfrm>
          <a:prstGeom prst="rect">
            <a:avLst/>
          </a:prstGeom>
          <a:noFill/>
          <a:ln/>
        </p:spPr>
        <p:txBody>
          <a:bodyPr wrap="square" rtlCol="0" anchor="t"/>
          <a:lstStyle/>
          <a:p>
            <a:pPr algn="ctr"/>
            <a:r>
              <a:rPr lang="en-US" sz="1350" b="1" dirty="0">
                <a:solidFill>
                  <a:srgbClr val="FFFFFF"/>
                </a:solidFill>
                <a:latin typeface="Cambria" pitchFamily="34" charset="0"/>
                <a:ea typeface="Cambria" pitchFamily="34" charset="-122"/>
                <a:cs typeface="Cambria" pitchFamily="34" charset="-120"/>
              </a:rPr>
              <a:t>Estudo por órgão de pesquisa</a:t>
            </a:r>
            <a:endParaRPr lang="en-US" sz="1350" dirty="0">
              <a:solidFill>
                <a:prstClr val="black"/>
              </a:solidFill>
              <a:latin typeface="Calibri" panose="020F0502020204030204"/>
            </a:endParaRPr>
          </a:p>
        </p:txBody>
      </p:sp>
      <p:sp>
        <p:nvSpPr>
          <p:cNvPr id="18" name="Text 13"/>
          <p:cNvSpPr/>
          <p:nvPr/>
        </p:nvSpPr>
        <p:spPr>
          <a:xfrm>
            <a:off x="3448876" y="3977640"/>
            <a:ext cx="2240280" cy="1554480"/>
          </a:xfrm>
          <a:prstGeom prst="rect">
            <a:avLst/>
          </a:prstGeom>
          <a:noFill/>
          <a:ln/>
        </p:spPr>
        <p:txBody>
          <a:bodyPr wrap="square" rtlCol="0" anchor="t"/>
          <a:lstStyle/>
          <a:p>
            <a:pPr algn="ctr">
              <a:lnSpc>
                <a:spcPct val="115000"/>
              </a:lnSpc>
            </a:pPr>
            <a:r>
              <a:rPr lang="en-US" sz="1050" dirty="0">
                <a:solidFill>
                  <a:srgbClr val="CADCFC"/>
                </a:solidFill>
                <a:latin typeface="Calibri" pitchFamily="34" charset="0"/>
                <a:ea typeface="Calibri" pitchFamily="34" charset="-122"/>
                <a:cs typeface="Calibri" pitchFamily="34" charset="-120"/>
              </a:rPr>
              <a:t>Garantida a anonimização dos dados pessoais sempre que possível — a mesma base do art. 7º, IV.</a:t>
            </a:r>
            <a:endParaRPr lang="en-US" sz="1050" dirty="0">
              <a:solidFill>
                <a:prstClr val="black"/>
              </a:solidFill>
              <a:latin typeface="Calibri" panose="020F0502020204030204"/>
            </a:endParaRPr>
          </a:p>
        </p:txBody>
      </p:sp>
      <p:sp>
        <p:nvSpPr>
          <p:cNvPr id="19" name="Shape 14"/>
          <p:cNvSpPr/>
          <p:nvPr/>
        </p:nvSpPr>
        <p:spPr>
          <a:xfrm>
            <a:off x="3586036" y="5212080"/>
            <a:ext cx="1965960" cy="320040"/>
          </a:xfrm>
          <a:prstGeom prst="roundRect">
            <a:avLst>
              <a:gd name="adj" fmla="val 17143"/>
            </a:avLst>
          </a:prstGeom>
          <a:solidFill>
            <a:srgbClr val="0E7C7B"/>
          </a:solidFill>
          <a:ln/>
        </p:spPr>
        <p:txBody>
          <a:bodyPr/>
          <a:lstStyle/>
          <a:p>
            <a:endParaRPr lang="pt-BR">
              <a:solidFill>
                <a:prstClr val="black"/>
              </a:solidFill>
              <a:latin typeface="Calibri" panose="020F0502020204030204"/>
            </a:endParaRPr>
          </a:p>
        </p:txBody>
      </p:sp>
      <p:sp>
        <p:nvSpPr>
          <p:cNvPr id="20" name="Text 15"/>
          <p:cNvSpPr/>
          <p:nvPr/>
        </p:nvSpPr>
        <p:spPr>
          <a:xfrm>
            <a:off x="3586036" y="5212080"/>
            <a:ext cx="1965960" cy="320040"/>
          </a:xfrm>
          <a:prstGeom prst="rect">
            <a:avLst/>
          </a:prstGeom>
          <a:noFill/>
          <a:ln/>
        </p:spPr>
        <p:txBody>
          <a:bodyPr wrap="square" rtlCol="0" anchor="ctr"/>
          <a:lstStyle/>
          <a:p>
            <a:pPr algn="ctr"/>
            <a:r>
              <a:rPr lang="en-US" sz="750" b="1" dirty="0">
                <a:solidFill>
                  <a:srgbClr val="FFFFFF"/>
                </a:solidFill>
                <a:latin typeface="Calibri" pitchFamily="34" charset="0"/>
                <a:ea typeface="Calibri" pitchFamily="34" charset="-122"/>
                <a:cs typeface="Calibri" pitchFamily="34" charset="-120"/>
              </a:rPr>
              <a:t>RELEVANTE AO TCC</a:t>
            </a:r>
            <a:endParaRPr lang="en-US" sz="750" dirty="0">
              <a:solidFill>
                <a:prstClr val="black"/>
              </a:solidFill>
              <a:latin typeface="Calibri" panose="020F0502020204030204"/>
            </a:endParaRPr>
          </a:p>
        </p:txBody>
      </p:sp>
      <p:sp>
        <p:nvSpPr>
          <p:cNvPr id="21" name="Shape 16"/>
          <p:cNvSpPr/>
          <p:nvPr/>
        </p:nvSpPr>
        <p:spPr>
          <a:xfrm>
            <a:off x="6073204" y="1920240"/>
            <a:ext cx="2606040" cy="3749040"/>
          </a:xfrm>
          <a:prstGeom prst="roundRect">
            <a:avLst>
              <a:gd name="adj" fmla="val 3158"/>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22" name="Shape 17"/>
          <p:cNvSpPr/>
          <p:nvPr/>
        </p:nvSpPr>
        <p:spPr>
          <a:xfrm>
            <a:off x="7101904" y="2176272"/>
            <a:ext cx="548640" cy="54864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23" name="Image 3" descr="preencoded.png"/>
          <p:cNvPicPr>
            <a:picLocks noChangeAspect="1"/>
          </p:cNvPicPr>
          <p:nvPr/>
        </p:nvPicPr>
        <p:blipFill>
          <a:blip r:embed="rId6"/>
          <a:stretch>
            <a:fillRect/>
          </a:stretch>
        </p:blipFill>
        <p:spPr>
          <a:xfrm>
            <a:off x="7225348" y="2299716"/>
            <a:ext cx="301752" cy="301752"/>
          </a:xfrm>
          <a:prstGeom prst="rect">
            <a:avLst/>
          </a:prstGeom>
        </p:spPr>
      </p:pic>
      <p:sp>
        <p:nvSpPr>
          <p:cNvPr id="24" name="Text 18"/>
          <p:cNvSpPr/>
          <p:nvPr/>
        </p:nvSpPr>
        <p:spPr>
          <a:xfrm>
            <a:off x="6073204" y="2852928"/>
            <a:ext cx="2606040" cy="256032"/>
          </a:xfrm>
          <a:prstGeom prst="rect">
            <a:avLst/>
          </a:prstGeom>
          <a:noFill/>
          <a:ln/>
        </p:spPr>
        <p:txBody>
          <a:bodyPr wrap="square" rtlCol="0" anchor="ctr"/>
          <a:lstStyle/>
          <a:p>
            <a:pPr algn="ctr"/>
            <a:r>
              <a:rPr lang="en-US" sz="1050" b="1" kern="0" spc="100" dirty="0">
                <a:solidFill>
                  <a:srgbClr val="0E7C7B"/>
                </a:solidFill>
                <a:latin typeface="Calibri" pitchFamily="34" charset="0"/>
                <a:ea typeface="Calibri" pitchFamily="34" charset="-122"/>
                <a:cs typeface="Calibri" pitchFamily="34" charset="-120"/>
              </a:rPr>
              <a:t>INCISO III</a:t>
            </a:r>
            <a:endParaRPr lang="en-US" sz="1050" dirty="0">
              <a:solidFill>
                <a:prstClr val="black"/>
              </a:solidFill>
              <a:latin typeface="Calibri" panose="020F0502020204030204"/>
            </a:endParaRPr>
          </a:p>
        </p:txBody>
      </p:sp>
      <p:sp>
        <p:nvSpPr>
          <p:cNvPr id="25" name="Text 19"/>
          <p:cNvSpPr/>
          <p:nvPr/>
        </p:nvSpPr>
        <p:spPr>
          <a:xfrm>
            <a:off x="6237796" y="3127248"/>
            <a:ext cx="2276856" cy="777240"/>
          </a:xfrm>
          <a:prstGeom prst="rect">
            <a:avLst/>
          </a:prstGeom>
          <a:noFill/>
          <a:ln/>
        </p:spPr>
        <p:txBody>
          <a:bodyPr wrap="square" rtlCol="0" anchor="t"/>
          <a:lstStyle/>
          <a:p>
            <a:pPr algn="ctr"/>
            <a:r>
              <a:rPr lang="en-US" sz="1350" b="1" dirty="0">
                <a:solidFill>
                  <a:srgbClr val="1B2340"/>
                </a:solidFill>
                <a:latin typeface="Cambria" pitchFamily="34" charset="0"/>
                <a:ea typeface="Cambria" pitchFamily="34" charset="-122"/>
                <a:cs typeface="Cambria" pitchFamily="34" charset="-120"/>
              </a:rPr>
              <a:t>Transferência a terceiro</a:t>
            </a:r>
            <a:endParaRPr lang="en-US" sz="1350" dirty="0">
              <a:solidFill>
                <a:prstClr val="black"/>
              </a:solidFill>
              <a:latin typeface="Calibri" panose="020F0502020204030204"/>
            </a:endParaRPr>
          </a:p>
        </p:txBody>
      </p:sp>
      <p:sp>
        <p:nvSpPr>
          <p:cNvPr id="26" name="Text 20"/>
          <p:cNvSpPr/>
          <p:nvPr/>
        </p:nvSpPr>
        <p:spPr>
          <a:xfrm>
            <a:off x="6256084" y="3977640"/>
            <a:ext cx="2240280" cy="1554480"/>
          </a:xfrm>
          <a:prstGeom prst="rect">
            <a:avLst/>
          </a:prstGeom>
          <a:noFill/>
          <a:ln/>
        </p:spPr>
        <p:txBody>
          <a:bodyPr wrap="square" rtlCol="0" anchor="t"/>
          <a:lstStyle/>
          <a:p>
            <a:pPr algn="ctr">
              <a:lnSpc>
                <a:spcPct val="115000"/>
              </a:lnSpc>
            </a:pPr>
            <a:r>
              <a:rPr lang="en-US" sz="1050" dirty="0">
                <a:solidFill>
                  <a:srgbClr val="1B2340"/>
                </a:solidFill>
                <a:latin typeface="Calibri" pitchFamily="34" charset="0"/>
                <a:ea typeface="Calibri" pitchFamily="34" charset="-122"/>
                <a:cs typeface="Calibri" pitchFamily="34" charset="-120"/>
              </a:rPr>
              <a:t>Desde que respeitados os requisitos de tratamento de dados dispostos na LGPD.</a:t>
            </a:r>
            <a:endParaRPr lang="en-US" sz="1050" dirty="0">
              <a:solidFill>
                <a:prstClr val="black"/>
              </a:solidFill>
              <a:latin typeface="Calibri" panose="020F0502020204030204"/>
            </a:endParaRPr>
          </a:p>
        </p:txBody>
      </p:sp>
      <p:sp>
        <p:nvSpPr>
          <p:cNvPr id="27" name="Shape 21"/>
          <p:cNvSpPr/>
          <p:nvPr/>
        </p:nvSpPr>
        <p:spPr>
          <a:xfrm>
            <a:off x="8880412" y="1920240"/>
            <a:ext cx="2606040" cy="3749040"/>
          </a:xfrm>
          <a:prstGeom prst="roundRect">
            <a:avLst>
              <a:gd name="adj" fmla="val 3158"/>
            </a:avLst>
          </a:prstGeom>
          <a:solidFill>
            <a:srgbClr val="F4F6FB"/>
          </a:solidFill>
          <a:ln/>
          <a:effectLst>
            <a:outerShdw blurRad="76200" dist="25400" dir="5400000" algn="bl" rotWithShape="0">
              <a:srgbClr val="1E2761">
                <a:alpha val="12000"/>
              </a:srgbClr>
            </a:outerShdw>
          </a:effectLst>
        </p:spPr>
        <p:txBody>
          <a:bodyPr/>
          <a:lstStyle/>
          <a:p>
            <a:endParaRPr lang="pt-BR">
              <a:solidFill>
                <a:prstClr val="black"/>
              </a:solidFill>
              <a:latin typeface="Calibri" panose="020F0502020204030204"/>
            </a:endParaRPr>
          </a:p>
        </p:txBody>
      </p:sp>
      <p:sp>
        <p:nvSpPr>
          <p:cNvPr id="28" name="Shape 22"/>
          <p:cNvSpPr/>
          <p:nvPr/>
        </p:nvSpPr>
        <p:spPr>
          <a:xfrm>
            <a:off x="9909112" y="2176272"/>
            <a:ext cx="548640" cy="54864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29" name="Image 4" descr="preencoded.png"/>
          <p:cNvPicPr>
            <a:picLocks noChangeAspect="1"/>
          </p:cNvPicPr>
          <p:nvPr/>
        </p:nvPicPr>
        <p:blipFill>
          <a:blip r:embed="rId7"/>
          <a:stretch>
            <a:fillRect/>
          </a:stretch>
        </p:blipFill>
        <p:spPr>
          <a:xfrm>
            <a:off x="10032556" y="2299716"/>
            <a:ext cx="301752" cy="301752"/>
          </a:xfrm>
          <a:prstGeom prst="rect">
            <a:avLst/>
          </a:prstGeom>
        </p:spPr>
      </p:pic>
      <p:sp>
        <p:nvSpPr>
          <p:cNvPr id="30" name="Text 23"/>
          <p:cNvSpPr/>
          <p:nvPr/>
        </p:nvSpPr>
        <p:spPr>
          <a:xfrm>
            <a:off x="8880412" y="2852928"/>
            <a:ext cx="2606040" cy="256032"/>
          </a:xfrm>
          <a:prstGeom prst="rect">
            <a:avLst/>
          </a:prstGeom>
          <a:noFill/>
          <a:ln/>
        </p:spPr>
        <p:txBody>
          <a:bodyPr wrap="square" rtlCol="0" anchor="ctr"/>
          <a:lstStyle/>
          <a:p>
            <a:pPr algn="ctr"/>
            <a:r>
              <a:rPr lang="en-US" sz="1050" b="1" kern="0" spc="100" dirty="0">
                <a:solidFill>
                  <a:srgbClr val="0E7C7B"/>
                </a:solidFill>
                <a:latin typeface="Calibri" pitchFamily="34" charset="0"/>
                <a:ea typeface="Calibri" pitchFamily="34" charset="-122"/>
                <a:cs typeface="Calibri" pitchFamily="34" charset="-120"/>
              </a:rPr>
              <a:t>INCISO IV</a:t>
            </a:r>
            <a:endParaRPr lang="en-US" sz="1050" dirty="0">
              <a:solidFill>
                <a:prstClr val="black"/>
              </a:solidFill>
              <a:latin typeface="Calibri" panose="020F0502020204030204"/>
            </a:endParaRPr>
          </a:p>
        </p:txBody>
      </p:sp>
      <p:sp>
        <p:nvSpPr>
          <p:cNvPr id="31" name="Text 24"/>
          <p:cNvSpPr/>
          <p:nvPr/>
        </p:nvSpPr>
        <p:spPr>
          <a:xfrm>
            <a:off x="9045004" y="3127248"/>
            <a:ext cx="2276856" cy="777240"/>
          </a:xfrm>
          <a:prstGeom prst="rect">
            <a:avLst/>
          </a:prstGeom>
          <a:noFill/>
          <a:ln/>
        </p:spPr>
        <p:txBody>
          <a:bodyPr wrap="square" rtlCol="0" anchor="t"/>
          <a:lstStyle/>
          <a:p>
            <a:pPr algn="ctr"/>
            <a:r>
              <a:rPr lang="en-US" sz="1350" b="1" dirty="0">
                <a:solidFill>
                  <a:srgbClr val="1B2340"/>
                </a:solidFill>
                <a:latin typeface="Cambria" pitchFamily="34" charset="0"/>
                <a:ea typeface="Cambria" pitchFamily="34" charset="-122"/>
                <a:cs typeface="Cambria" pitchFamily="34" charset="-120"/>
              </a:rPr>
              <a:t>Uso exclusivo do controlador</a:t>
            </a:r>
            <a:endParaRPr lang="en-US" sz="1350" dirty="0">
              <a:solidFill>
                <a:prstClr val="black"/>
              </a:solidFill>
              <a:latin typeface="Calibri" panose="020F0502020204030204"/>
            </a:endParaRPr>
          </a:p>
        </p:txBody>
      </p:sp>
      <p:sp>
        <p:nvSpPr>
          <p:cNvPr id="32" name="Text 25"/>
          <p:cNvSpPr/>
          <p:nvPr/>
        </p:nvSpPr>
        <p:spPr>
          <a:xfrm>
            <a:off x="9063292" y="3977640"/>
            <a:ext cx="2240280" cy="1554480"/>
          </a:xfrm>
          <a:prstGeom prst="rect">
            <a:avLst/>
          </a:prstGeom>
          <a:noFill/>
          <a:ln/>
        </p:spPr>
        <p:txBody>
          <a:bodyPr wrap="square" rtlCol="0" anchor="t"/>
          <a:lstStyle/>
          <a:p>
            <a:pPr algn="ctr">
              <a:lnSpc>
                <a:spcPct val="115000"/>
              </a:lnSpc>
            </a:pPr>
            <a:r>
              <a:rPr lang="en-US" sz="1050" dirty="0">
                <a:solidFill>
                  <a:srgbClr val="1B2340"/>
                </a:solidFill>
                <a:latin typeface="Calibri" pitchFamily="34" charset="0"/>
                <a:ea typeface="Calibri" pitchFamily="34" charset="-122"/>
                <a:cs typeface="Calibri" pitchFamily="34" charset="-120"/>
              </a:rPr>
              <a:t>Vedado o acesso por terceiro, e desde que os dados sejam anonimizados.</a:t>
            </a:r>
            <a:endParaRPr lang="en-US" sz="1050" dirty="0">
              <a:solidFill>
                <a:prstClr val="black"/>
              </a:solidFill>
              <a:latin typeface="Calibri" panose="020F0502020204030204"/>
            </a:endParaRPr>
          </a:p>
        </p:txBody>
      </p:sp>
      <p:sp>
        <p:nvSpPr>
          <p:cNvPr id="33" name="Text 26"/>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Exclusão dos dados na LGPD — Arts. 15 e 16</a:t>
            </a:r>
            <a:endParaRPr lang="en-US" sz="900" dirty="0">
              <a:solidFill>
                <a:prstClr val="black"/>
              </a:solidFill>
              <a:latin typeface="Calibri" panose="020F0502020204030204"/>
            </a:endParaRPr>
          </a:p>
        </p:txBody>
      </p:sp>
      <p:sp>
        <p:nvSpPr>
          <p:cNvPr id="34" name="Text 27"/>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04</a:t>
            </a:r>
            <a:endParaRPr lang="en-US" sz="900" dirty="0">
              <a:solidFill>
                <a:prstClr val="black"/>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txBody>
          <a:bodyPr/>
          <a:lstStyle/>
          <a:p>
            <a:endParaRPr lang="pt-BR" dirty="0">
              <a:solidFill>
                <a:prstClr val="black"/>
              </a:solidFill>
              <a:latin typeface="Calibri" panose="020F0502020204030204"/>
            </a:endParaRPr>
          </a:p>
        </p:txBody>
      </p:sp>
      <p:sp>
        <p:nvSpPr>
          <p:cNvPr id="3" name="Shape 1"/>
          <p:cNvSpPr/>
          <p:nvPr/>
        </p:nvSpPr>
        <p:spPr>
          <a:xfrm>
            <a:off x="504508" y="256032"/>
            <a:ext cx="731520" cy="73152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9100" y="420624"/>
            <a:ext cx="402336" cy="402336"/>
          </a:xfrm>
          <a:prstGeom prst="rect">
            <a:avLst/>
          </a:prstGeom>
        </p:spPr>
      </p:pic>
      <p:sp>
        <p:nvSpPr>
          <p:cNvPr id="5" name="Text 2"/>
          <p:cNvSpPr/>
          <p:nvPr/>
        </p:nvSpPr>
        <p:spPr>
          <a:xfrm>
            <a:off x="1418908" y="246888"/>
            <a:ext cx="8229600" cy="274320"/>
          </a:xfrm>
          <a:prstGeom prst="rect">
            <a:avLst/>
          </a:prstGeom>
          <a:noFill/>
          <a:ln/>
        </p:spPr>
        <p:txBody>
          <a:bodyPr wrap="square" rtlCol="0" anchor="ctr"/>
          <a:lstStyle/>
          <a:p>
            <a:endParaRPr lang="en-US" sz="1200" dirty="0">
              <a:solidFill>
                <a:prstClr val="black"/>
              </a:solidFill>
              <a:latin typeface="Calibri" panose="020F0502020204030204"/>
            </a:endParaRPr>
          </a:p>
        </p:txBody>
      </p:sp>
      <p:sp>
        <p:nvSpPr>
          <p:cNvPr id="6" name="Text 3"/>
          <p:cNvSpPr/>
          <p:nvPr/>
        </p:nvSpPr>
        <p:spPr>
          <a:xfrm>
            <a:off x="1418908" y="475488"/>
            <a:ext cx="9144000" cy="594360"/>
          </a:xfrm>
          <a:prstGeom prst="rect">
            <a:avLst/>
          </a:prstGeom>
          <a:noFill/>
          <a:ln/>
        </p:spPr>
        <p:txBody>
          <a:bodyPr wrap="square" rtlCol="0" anchor="ctr"/>
          <a:lstStyle/>
          <a:p>
            <a:r>
              <a:rPr lang="en-US" sz="2600" dirty="0">
                <a:solidFill>
                  <a:prstClr val="black"/>
                </a:solidFill>
                <a:latin typeface="Calibri" panose="020F0502020204030204"/>
              </a:rPr>
              <a:t>PRAZOS CONCRETOS DE RETENÇÃO</a:t>
            </a:r>
          </a:p>
        </p:txBody>
      </p:sp>
      <p:sp>
        <p:nvSpPr>
          <p:cNvPr id="7" name="Text 4"/>
          <p:cNvSpPr/>
          <p:nvPr/>
        </p:nvSpPr>
        <p:spPr>
          <a:xfrm>
            <a:off x="458788" y="1417320"/>
            <a:ext cx="11247120" cy="502920"/>
          </a:xfrm>
          <a:prstGeom prst="rect">
            <a:avLst/>
          </a:prstGeom>
          <a:noFill/>
          <a:ln/>
        </p:spPr>
        <p:txBody>
          <a:bodyPr wrap="square" rtlCol="0" anchor="ctr"/>
          <a:lstStyle/>
          <a:p>
            <a:r>
              <a:rPr lang="en-US" sz="1300" i="1" dirty="0">
                <a:solidFill>
                  <a:srgbClr val="5B6B8C"/>
                </a:solidFill>
                <a:latin typeface="Calibri" pitchFamily="34" charset="0"/>
                <a:ea typeface="Calibri" pitchFamily="34" charset="-122"/>
                <a:cs typeface="Calibri" pitchFamily="34" charset="-120"/>
              </a:rPr>
              <a:t>A LGPD não fixa um número de anos — ele normalmente vem de uma lei setorial específica que se encaixa na exceção do art. 16, I (obrigação legal ou regulatória).</a:t>
            </a:r>
            <a:endParaRPr lang="en-US" sz="1300" dirty="0">
              <a:solidFill>
                <a:prstClr val="black"/>
              </a:solidFill>
              <a:latin typeface="Calibri" panose="020F0502020204030204"/>
            </a:endParaRPr>
          </a:p>
        </p:txBody>
      </p:sp>
      <p:graphicFrame>
        <p:nvGraphicFramePr>
          <p:cNvPr id="8" name="Table 0"/>
          <p:cNvGraphicFramePr>
            <a:graphicFrameLocks noGrp="1"/>
          </p:cNvGraphicFramePr>
          <p:nvPr/>
        </p:nvGraphicFramePr>
        <p:xfrm>
          <a:off x="458788" y="2057400"/>
          <a:ext cx="11247120" cy="329184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rPr>
                        <a:t>Norma</a:t>
                      </a:r>
                      <a:endParaRPr lang="en-US" sz="1200" dirty="0"/>
                    </a:p>
                  </a:txBody>
                  <a:tcP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Prazo</a:t>
                      </a:r>
                      <a:endParaRPr lang="en-US" sz="1200" dirty="0"/>
                    </a:p>
                  </a:txBody>
                  <a:tcP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Fundamento</a:t>
                      </a:r>
                      <a:endParaRPr lang="en-US" sz="1200" dirty="0"/>
                    </a:p>
                  </a:txBody>
                  <a:tcP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Código Civil, art. 206, §5º, I</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b="1" dirty="0">
                          <a:solidFill>
                            <a:srgbClr val="1B2340"/>
                          </a:solidFill>
                          <a:latin typeface="Calibri" pitchFamily="34" charset="0"/>
                          <a:ea typeface="Calibri" pitchFamily="34" charset="-122"/>
                          <a:cs typeface="Calibri" pitchFamily="34" charset="-120"/>
                        </a:rPr>
                        <a:t>5 anos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Prescrição para cobrança de dívida líquida em instrumento público/particular</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Código Tributário Nacional, art. 173</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tc>
                  <a:txBody>
                    <a:bodyPr/>
                    <a:lstStyle/>
                    <a:p>
                      <a:pPr marL="0" indent="0">
                        <a:buNone/>
                      </a:pPr>
                      <a:r>
                        <a:rPr lang="en-US" sz="1100" b="1" dirty="0">
                          <a:solidFill>
                            <a:srgbClr val="1B2340"/>
                          </a:solidFill>
                          <a:latin typeface="Calibri" pitchFamily="34" charset="0"/>
                          <a:ea typeface="Calibri" pitchFamily="34" charset="-122"/>
                          <a:cs typeface="Calibri" pitchFamily="34" charset="-120"/>
                        </a:rPr>
                        <a:t>5 anos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Prazo decadencial para a Receita constituir crédito tributário</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48640">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Lei 9.613/1998, art. 10 (AML)</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b="1" dirty="0">
                          <a:solidFill>
                            <a:srgbClr val="1B2340"/>
                          </a:solidFill>
                          <a:latin typeface="Calibri" pitchFamily="34" charset="0"/>
                          <a:ea typeface="Calibri" pitchFamily="34" charset="-122"/>
                          <a:cs typeface="Calibri" pitchFamily="34" charset="-120"/>
                        </a:rPr>
                        <a:t>5 anos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Guarda de registros de operações por instituições financeiras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CLT, art. 11 / CF, art. 7º, XXIX</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tc>
                  <a:txBody>
                    <a:bodyPr/>
                    <a:lstStyle/>
                    <a:p>
                      <a:pPr marL="0" indent="0">
                        <a:buNone/>
                      </a:pPr>
                      <a:r>
                        <a:rPr lang="en-US" sz="1100" b="1" dirty="0">
                          <a:solidFill>
                            <a:srgbClr val="1B2340"/>
                          </a:solidFill>
                          <a:latin typeface="Calibri" pitchFamily="34" charset="0"/>
                          <a:ea typeface="Calibri" pitchFamily="34" charset="-122"/>
                          <a:cs typeface="Calibri" pitchFamily="34" charset="-120"/>
                        </a:rPr>
                        <a:t>5 anos (na vigência) / 2 anos (após)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Prescrição trabalhista</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548640">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CDC, art. 27</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b="1" dirty="0">
                          <a:solidFill>
                            <a:srgbClr val="1B2340"/>
                          </a:solidFill>
                          <a:latin typeface="Calibri" pitchFamily="34" charset="0"/>
                          <a:ea typeface="Calibri" pitchFamily="34" charset="-122"/>
                          <a:cs typeface="Calibri" pitchFamily="34" charset="-120"/>
                        </a:rPr>
                        <a:t>5 anos</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tc>
                  <a:txBody>
                    <a:bodyPr/>
                    <a:lstStyle/>
                    <a:p>
                      <a:pPr marL="0" indent="0">
                        <a:buNone/>
                      </a:pPr>
                      <a:r>
                        <a:rPr lang="en-US" sz="1100" dirty="0">
                          <a:solidFill>
                            <a:srgbClr val="1B2340"/>
                          </a:solidFill>
                          <a:latin typeface="Calibri" pitchFamily="34" charset="0"/>
                          <a:ea typeface="Calibri" pitchFamily="34" charset="-122"/>
                          <a:cs typeface="Calibri" pitchFamily="34" charset="-120"/>
                        </a:rPr>
                        <a:t>Prescrição para reparação por danos de produto/serviço</a:t>
                      </a:r>
                      <a:endParaRPr lang="en-US" sz="1100" dirty="0">
                        <a:latin typeface="Calibri" charset="0"/>
                        <a:ea typeface="Calibri" charset="0"/>
                        <a:cs typeface="Calibri" charset="0"/>
                      </a:endParaRPr>
                    </a:p>
                  </a:txBody>
                  <a:tcPr anchor="ctr">
                    <a:lnL w="9525" cap="flat" cmpd="sng" algn="ctr">
                      <a:solidFill>
                        <a:srgbClr val="E0E4EE"/>
                      </a:solidFill>
                      <a:prstDash val="solid"/>
                      <a:round/>
                      <a:headEnd type="none" w="med" len="med"/>
                      <a:tailEnd type="none" w="med" len="med"/>
                    </a:lnL>
                    <a:lnR w="9525" cap="flat" cmpd="sng" algn="ctr">
                      <a:solidFill>
                        <a:srgbClr val="E0E4EE"/>
                      </a:solidFill>
                      <a:prstDash val="solid"/>
                      <a:round/>
                      <a:headEnd type="none" w="med" len="med"/>
                      <a:tailEnd type="none" w="med" len="med"/>
                    </a:lnR>
                    <a:lnT w="9525" cap="flat" cmpd="sng" algn="ctr">
                      <a:solidFill>
                        <a:srgbClr val="E0E4EE"/>
                      </a:solidFill>
                      <a:prstDash val="solid"/>
                      <a:round/>
                      <a:headEnd type="none" w="med" len="med"/>
                      <a:tailEnd type="none" w="med" len="med"/>
                    </a:lnT>
                    <a:lnB w="9525" cap="flat" cmpd="sng" algn="ctr">
                      <a:solidFill>
                        <a:srgbClr val="E0E4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458788" y="5532120"/>
            <a:ext cx="11247120" cy="777240"/>
          </a:xfrm>
          <a:prstGeom prst="roundRect">
            <a:avLst>
              <a:gd name="adj" fmla="val 7059"/>
            </a:avLst>
          </a:prstGeom>
          <a:solidFill>
            <a:srgbClr val="EAF2FF"/>
          </a:solidFill>
          <a:ln/>
        </p:spPr>
        <p:txBody>
          <a:bodyPr/>
          <a:lstStyle/>
          <a:p>
            <a:endParaRPr lang="pt-BR">
              <a:solidFill>
                <a:prstClr val="black"/>
              </a:solidFill>
              <a:latin typeface="Calibri" panose="020F0502020204030204"/>
            </a:endParaRPr>
          </a:p>
        </p:txBody>
      </p:sp>
      <p:sp>
        <p:nvSpPr>
          <p:cNvPr id="10" name="Shape 6"/>
          <p:cNvSpPr/>
          <p:nvPr/>
        </p:nvSpPr>
        <p:spPr>
          <a:xfrm>
            <a:off x="623380" y="5650992"/>
            <a:ext cx="457200" cy="457200"/>
          </a:xfrm>
          <a:prstGeom prst="ellipse">
            <a:avLst/>
          </a:prstGeom>
          <a:solidFill>
            <a:srgbClr val="1E2761"/>
          </a:solidFill>
          <a:ln/>
        </p:spPr>
        <p:txBody>
          <a:bodyPr/>
          <a:lstStyle/>
          <a:p>
            <a:endParaRPr lang="pt-BR">
              <a:solidFill>
                <a:prstClr val="black"/>
              </a:solidFill>
              <a:latin typeface="Calibri" panose="020F0502020204030204"/>
            </a:endParaRPr>
          </a:p>
        </p:txBody>
      </p:sp>
      <p:pic>
        <p:nvPicPr>
          <p:cNvPr id="11" name="Image 1" descr="preencoded.png"/>
          <p:cNvPicPr>
            <a:picLocks noChangeAspect="1"/>
          </p:cNvPicPr>
          <p:nvPr/>
        </p:nvPicPr>
        <p:blipFill>
          <a:blip r:embed="rId4"/>
          <a:stretch>
            <a:fillRect/>
          </a:stretch>
        </p:blipFill>
        <p:spPr>
          <a:xfrm>
            <a:off x="726250" y="5753862"/>
            <a:ext cx="251460" cy="251460"/>
          </a:xfrm>
          <a:prstGeom prst="rect">
            <a:avLst/>
          </a:prstGeom>
        </p:spPr>
      </p:pic>
      <p:sp>
        <p:nvSpPr>
          <p:cNvPr id="12" name="Text 7"/>
          <p:cNvSpPr/>
          <p:nvPr/>
        </p:nvSpPr>
        <p:spPr>
          <a:xfrm>
            <a:off x="1236028" y="5532120"/>
            <a:ext cx="10332720" cy="777240"/>
          </a:xfrm>
          <a:prstGeom prst="rect">
            <a:avLst/>
          </a:prstGeom>
          <a:noFill/>
          <a:ln/>
        </p:spPr>
        <p:txBody>
          <a:bodyPr wrap="square" rtlCol="0" anchor="ctr"/>
          <a:lstStyle/>
          <a:p>
            <a:r>
              <a:rPr lang="en-US" sz="1150" dirty="0">
                <a:solidFill>
                  <a:srgbClr val="1B2340"/>
                </a:solidFill>
                <a:latin typeface="Calibri" pitchFamily="34" charset="0"/>
                <a:ea typeface="Calibri" pitchFamily="34" charset="-122"/>
                <a:cs typeface="Calibri" pitchFamily="34" charset="-120"/>
              </a:rPr>
              <a:t>A duração da confidencialidade em um NDA é diferente: decorre da liberdade contratual, não da LGPD — mas costuma refletir esses mesmos prazos de prescrição civil.</a:t>
            </a:r>
            <a:endParaRPr lang="en-US" sz="1150" dirty="0">
              <a:solidFill>
                <a:prstClr val="black"/>
              </a:solidFill>
              <a:latin typeface="Calibri" panose="020F0502020204030204"/>
            </a:endParaRPr>
          </a:p>
        </p:txBody>
      </p:sp>
      <p:sp>
        <p:nvSpPr>
          <p:cNvPr id="13" name="Text 8"/>
          <p:cNvSpPr/>
          <p:nvPr/>
        </p:nvSpPr>
        <p:spPr>
          <a:xfrm>
            <a:off x="458788" y="6537960"/>
            <a:ext cx="8686800" cy="274320"/>
          </a:xfrm>
          <a:prstGeom prst="rect">
            <a:avLst/>
          </a:prstGeom>
          <a:noFill/>
          <a:ln/>
        </p:spPr>
        <p:txBody>
          <a:bodyPr wrap="square" rtlCol="0" anchor="ctr"/>
          <a:lstStyle/>
          <a:p>
            <a:r>
              <a:rPr lang="en-US" sz="900" dirty="0">
                <a:solidFill>
                  <a:srgbClr val="5B6B8C"/>
                </a:solidFill>
                <a:latin typeface="Calibri" pitchFamily="34" charset="0"/>
                <a:ea typeface="Calibri" pitchFamily="34" charset="-122"/>
                <a:cs typeface="Calibri" pitchFamily="34" charset="-120"/>
              </a:rPr>
              <a:t>Exclusão dos dados na LGPD — Arts. 15 e 16</a:t>
            </a:r>
            <a:endParaRPr lang="en-US" sz="900" dirty="0">
              <a:solidFill>
                <a:prstClr val="black"/>
              </a:solidFill>
              <a:latin typeface="Calibri" panose="020F0502020204030204"/>
            </a:endParaRPr>
          </a:p>
        </p:txBody>
      </p:sp>
      <p:sp>
        <p:nvSpPr>
          <p:cNvPr id="14" name="Text 9"/>
          <p:cNvSpPr/>
          <p:nvPr/>
        </p:nvSpPr>
        <p:spPr>
          <a:xfrm>
            <a:off x="11248708" y="6537960"/>
            <a:ext cx="548640" cy="274320"/>
          </a:xfrm>
          <a:prstGeom prst="rect">
            <a:avLst/>
          </a:prstGeom>
          <a:noFill/>
          <a:ln/>
        </p:spPr>
        <p:txBody>
          <a:bodyPr wrap="square" rtlCol="0" anchor="ctr"/>
          <a:lstStyle/>
          <a:p>
            <a:pPr algn="r"/>
            <a:r>
              <a:rPr lang="en-US" sz="900" dirty="0">
                <a:solidFill>
                  <a:srgbClr val="5B6B8C"/>
                </a:solidFill>
                <a:latin typeface="Calibri" pitchFamily="34" charset="0"/>
                <a:ea typeface="Calibri" pitchFamily="34" charset="-122"/>
                <a:cs typeface="Calibri" pitchFamily="34" charset="-120"/>
              </a:rPr>
              <a:t>05</a:t>
            </a:r>
            <a:endParaRPr lang="en-US" sz="900" dirty="0">
              <a:solidFill>
                <a:prstClr val="black"/>
              </a:solidFill>
              <a:latin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1668" y="548640"/>
            <a:ext cx="10058400" cy="548640"/>
          </a:xfrm>
          <a:prstGeom prst="rect">
            <a:avLst/>
          </a:prstGeom>
          <a:noFill/>
          <a:ln/>
        </p:spPr>
        <p:txBody>
          <a:bodyPr wrap="square" rtlCol="0" anchor="ctr"/>
          <a:lstStyle/>
          <a:p>
            <a:r>
              <a:rPr lang="en-US" sz="2800" b="1" dirty="0" err="1">
                <a:solidFill>
                  <a:srgbClr val="FFFFFF"/>
                </a:solidFill>
                <a:latin typeface="Cambria" pitchFamily="34" charset="0"/>
                <a:ea typeface="Cambria" pitchFamily="34" charset="-122"/>
                <a:cs typeface="Cambria" pitchFamily="34" charset="-120"/>
              </a:rPr>
              <a:t>Aplicação</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prática</a:t>
            </a:r>
            <a:endParaRPr lang="en-US" sz="2800" dirty="0">
              <a:solidFill>
                <a:prstClr val="black"/>
              </a:solidFill>
              <a:latin typeface="Calibri" panose="020F0502020204030204"/>
            </a:endParaRPr>
          </a:p>
        </p:txBody>
      </p:sp>
      <p:sp>
        <p:nvSpPr>
          <p:cNvPr id="3" name="Text 1"/>
          <p:cNvSpPr/>
          <p:nvPr/>
        </p:nvSpPr>
        <p:spPr>
          <a:xfrm>
            <a:off x="641668" y="1143000"/>
            <a:ext cx="9601200" cy="365760"/>
          </a:xfrm>
          <a:prstGeom prst="rect">
            <a:avLst/>
          </a:prstGeom>
          <a:noFill/>
          <a:ln/>
        </p:spPr>
        <p:txBody>
          <a:bodyPr wrap="square" rtlCol="0" anchor="ctr"/>
          <a:lstStyle/>
          <a:p>
            <a:r>
              <a:rPr lang="en-US" sz="1300" i="1" dirty="0">
                <a:solidFill>
                  <a:srgbClr val="CADCFC"/>
                </a:solidFill>
                <a:latin typeface="Calibri" pitchFamily="34" charset="0"/>
                <a:ea typeface="Calibri" pitchFamily="34" charset="-122"/>
                <a:cs typeface="Calibri" pitchFamily="34" charset="-120"/>
              </a:rPr>
              <a:t>Como estruturar o prazo de guarda e exclusão dos dados usados na pesquisa</a:t>
            </a:r>
            <a:endParaRPr lang="en-US" sz="1300" dirty="0">
              <a:solidFill>
                <a:prstClr val="black"/>
              </a:solidFill>
              <a:latin typeface="Calibri" panose="020F0502020204030204"/>
            </a:endParaRPr>
          </a:p>
        </p:txBody>
      </p:sp>
      <p:sp>
        <p:nvSpPr>
          <p:cNvPr id="4" name="Shape 2"/>
          <p:cNvSpPr/>
          <p:nvPr/>
        </p:nvSpPr>
        <p:spPr>
          <a:xfrm>
            <a:off x="641668" y="1828800"/>
            <a:ext cx="5349240" cy="1234440"/>
          </a:xfrm>
          <a:prstGeom prst="roundRect">
            <a:avLst>
              <a:gd name="adj" fmla="val 5926"/>
            </a:avLst>
          </a:prstGeom>
          <a:solidFill>
            <a:srgbClr val="141A47"/>
          </a:solidFill>
          <a:ln/>
        </p:spPr>
        <p:txBody>
          <a:bodyPr/>
          <a:lstStyle/>
          <a:p>
            <a:endParaRPr lang="pt-BR">
              <a:solidFill>
                <a:prstClr val="black"/>
              </a:solidFill>
              <a:latin typeface="Calibri" panose="020F0502020204030204"/>
            </a:endParaRPr>
          </a:p>
        </p:txBody>
      </p:sp>
      <p:sp>
        <p:nvSpPr>
          <p:cNvPr id="5" name="Shape 3"/>
          <p:cNvSpPr/>
          <p:nvPr/>
        </p:nvSpPr>
        <p:spPr>
          <a:xfrm>
            <a:off x="824548" y="2148840"/>
            <a:ext cx="594360" cy="59436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958279" y="2282571"/>
            <a:ext cx="326898" cy="326898"/>
          </a:xfrm>
          <a:prstGeom prst="rect">
            <a:avLst/>
          </a:prstGeom>
        </p:spPr>
      </p:pic>
      <p:sp>
        <p:nvSpPr>
          <p:cNvPr id="7" name="Text 4"/>
          <p:cNvSpPr/>
          <p:nvPr/>
        </p:nvSpPr>
        <p:spPr>
          <a:xfrm>
            <a:off x="1556068" y="1938528"/>
            <a:ext cx="4251960" cy="457200"/>
          </a:xfrm>
          <a:prstGeom prst="rect">
            <a:avLst/>
          </a:prstGeom>
          <a:noFill/>
          <a:ln/>
        </p:spPr>
        <p:txBody>
          <a:bodyPr wrap="square" rtlCol="0" anchor="t"/>
          <a:lstStyle/>
          <a:p>
            <a:r>
              <a:rPr lang="en-US" sz="1200" b="1" dirty="0">
                <a:solidFill>
                  <a:srgbClr val="FFFFFF"/>
                </a:solidFill>
                <a:latin typeface="Calibri" pitchFamily="34" charset="0"/>
                <a:ea typeface="Calibri" pitchFamily="34" charset="-122"/>
                <a:cs typeface="Calibri" pitchFamily="34" charset="-120"/>
              </a:rPr>
              <a:t>Defina a finalidade e o marco de encerramento</a:t>
            </a:r>
            <a:endParaRPr lang="en-US" sz="1200" dirty="0">
              <a:solidFill>
                <a:prstClr val="black"/>
              </a:solidFill>
              <a:latin typeface="Calibri" panose="020F0502020204030204"/>
            </a:endParaRPr>
          </a:p>
        </p:txBody>
      </p:sp>
      <p:sp>
        <p:nvSpPr>
          <p:cNvPr id="8" name="Text 5"/>
          <p:cNvSpPr/>
          <p:nvPr/>
        </p:nvSpPr>
        <p:spPr>
          <a:xfrm>
            <a:off x="1556068" y="2359152"/>
            <a:ext cx="4251960" cy="658368"/>
          </a:xfrm>
          <a:prstGeom prst="rect">
            <a:avLst/>
          </a:prstGeom>
          <a:noFill/>
          <a:ln/>
        </p:spPr>
        <p:txBody>
          <a:bodyPr wrap="square" rtlCol="0" anchor="t"/>
          <a:lstStyle/>
          <a:p>
            <a:pPr>
              <a:lnSpc>
                <a:spcPct val="105000"/>
              </a:lnSpc>
            </a:pPr>
            <a:r>
              <a:rPr lang="en-US" sz="950" dirty="0">
                <a:solidFill>
                  <a:srgbClr val="CADCFC"/>
                </a:solidFill>
                <a:latin typeface="Calibri" pitchFamily="34" charset="0"/>
                <a:ea typeface="Calibri" pitchFamily="34" charset="-122"/>
                <a:cs typeface="Calibri" pitchFamily="34" charset="-120"/>
              </a:rPr>
              <a:t>O tratamento termina </a:t>
            </a:r>
            <a:r>
              <a:rPr lang="en-US" sz="950" dirty="0" err="1">
                <a:solidFill>
                  <a:srgbClr val="CADCFC"/>
                </a:solidFill>
                <a:latin typeface="Calibri" pitchFamily="34" charset="0"/>
                <a:ea typeface="Calibri" pitchFamily="34" charset="-122"/>
                <a:cs typeface="Calibri" pitchFamily="34" charset="-120"/>
              </a:rPr>
              <a:t>quando</a:t>
            </a:r>
            <a:r>
              <a:rPr lang="en-US" sz="950" dirty="0">
                <a:solidFill>
                  <a:srgbClr val="CADCFC"/>
                </a:solidFill>
                <a:latin typeface="Calibri" pitchFamily="34" charset="0"/>
                <a:ea typeface="Calibri" pitchFamily="34" charset="-122"/>
                <a:cs typeface="Calibri" pitchFamily="34" charset="-120"/>
              </a:rPr>
              <a:t> o </a:t>
            </a:r>
            <a:r>
              <a:rPr lang="en-US" sz="950" dirty="0" err="1">
                <a:solidFill>
                  <a:srgbClr val="CADCFC"/>
                </a:solidFill>
                <a:latin typeface="Calibri" pitchFamily="34" charset="0"/>
                <a:ea typeface="Calibri" pitchFamily="34" charset="-122"/>
                <a:cs typeface="Calibri" pitchFamily="34" charset="-120"/>
              </a:rPr>
              <a:t>objetivo</a:t>
            </a:r>
            <a:r>
              <a:rPr lang="en-US" sz="950" dirty="0">
                <a:solidFill>
                  <a:srgbClr val="CADCFC"/>
                </a:solidFill>
                <a:latin typeface="Calibri" pitchFamily="34" charset="0"/>
                <a:ea typeface="Calibri" pitchFamily="34" charset="-122"/>
                <a:cs typeface="Calibri" pitchFamily="34" charset="-120"/>
              </a:rPr>
              <a:t> termina (</a:t>
            </a:r>
            <a:r>
              <a:rPr lang="en-US" sz="950" dirty="0" err="1">
                <a:solidFill>
                  <a:srgbClr val="CADCFC"/>
                </a:solidFill>
                <a:latin typeface="Calibri" pitchFamily="34" charset="0"/>
                <a:ea typeface="Calibri" pitchFamily="34" charset="-122"/>
                <a:cs typeface="Calibri" pitchFamily="34" charset="-120"/>
              </a:rPr>
              <a:t>art.15</a:t>
            </a:r>
            <a:r>
              <a:rPr lang="en-US" sz="950" dirty="0">
                <a:solidFill>
                  <a:srgbClr val="CADCFC"/>
                </a:solidFill>
                <a:latin typeface="Calibri" pitchFamily="34" charset="0"/>
                <a:ea typeface="Calibri" pitchFamily="34" charset="-122"/>
                <a:cs typeface="Calibri" pitchFamily="34" charset="-120"/>
              </a:rPr>
              <a:t>, I – LGPD)</a:t>
            </a:r>
            <a:endParaRPr lang="en-US" sz="950" dirty="0">
              <a:solidFill>
                <a:prstClr val="black"/>
              </a:solidFill>
              <a:latin typeface="Calibri" panose="020F0502020204030204"/>
            </a:endParaRPr>
          </a:p>
        </p:txBody>
      </p:sp>
      <p:sp>
        <p:nvSpPr>
          <p:cNvPr id="9" name="Shape 6"/>
          <p:cNvSpPr/>
          <p:nvPr/>
        </p:nvSpPr>
        <p:spPr>
          <a:xfrm>
            <a:off x="6265228" y="1828800"/>
            <a:ext cx="5349240" cy="1234440"/>
          </a:xfrm>
          <a:prstGeom prst="roundRect">
            <a:avLst>
              <a:gd name="adj" fmla="val 5926"/>
            </a:avLst>
          </a:prstGeom>
          <a:solidFill>
            <a:srgbClr val="141A47"/>
          </a:solidFill>
          <a:ln/>
        </p:spPr>
        <p:txBody>
          <a:bodyPr/>
          <a:lstStyle/>
          <a:p>
            <a:endParaRPr lang="pt-BR">
              <a:solidFill>
                <a:prstClr val="black"/>
              </a:solidFill>
              <a:latin typeface="Calibri" panose="020F0502020204030204"/>
            </a:endParaRPr>
          </a:p>
        </p:txBody>
      </p:sp>
      <p:sp>
        <p:nvSpPr>
          <p:cNvPr id="10" name="Shape 7"/>
          <p:cNvSpPr/>
          <p:nvPr/>
        </p:nvSpPr>
        <p:spPr>
          <a:xfrm>
            <a:off x="6448108" y="2148840"/>
            <a:ext cx="594360" cy="59436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11" name="Image 1" descr="preencoded.png"/>
          <p:cNvPicPr>
            <a:picLocks noChangeAspect="1"/>
          </p:cNvPicPr>
          <p:nvPr/>
        </p:nvPicPr>
        <p:blipFill>
          <a:blip r:embed="rId4"/>
          <a:stretch>
            <a:fillRect/>
          </a:stretch>
        </p:blipFill>
        <p:spPr>
          <a:xfrm>
            <a:off x="6581839" y="2282571"/>
            <a:ext cx="326898" cy="326898"/>
          </a:xfrm>
          <a:prstGeom prst="rect">
            <a:avLst/>
          </a:prstGeom>
        </p:spPr>
      </p:pic>
      <p:sp>
        <p:nvSpPr>
          <p:cNvPr id="12" name="Text 8"/>
          <p:cNvSpPr/>
          <p:nvPr/>
        </p:nvSpPr>
        <p:spPr>
          <a:xfrm>
            <a:off x="7179628" y="1938528"/>
            <a:ext cx="4251960" cy="457200"/>
          </a:xfrm>
          <a:prstGeom prst="rect">
            <a:avLst/>
          </a:prstGeom>
          <a:noFill/>
          <a:ln/>
        </p:spPr>
        <p:txBody>
          <a:bodyPr wrap="square" rtlCol="0" anchor="t"/>
          <a:lstStyle/>
          <a:p>
            <a:r>
              <a:rPr lang="en-US" sz="1200" b="1" dirty="0">
                <a:solidFill>
                  <a:srgbClr val="FFFFFF"/>
                </a:solidFill>
                <a:latin typeface="Calibri" pitchFamily="34" charset="0"/>
                <a:ea typeface="Calibri" pitchFamily="34" charset="-122"/>
                <a:cs typeface="Calibri" pitchFamily="34" charset="-120"/>
              </a:rPr>
              <a:t>Retenha só o que a exceção do art. 16, II permitir</a:t>
            </a:r>
            <a:endParaRPr lang="en-US" sz="1200" dirty="0">
              <a:solidFill>
                <a:prstClr val="black"/>
              </a:solidFill>
              <a:latin typeface="Calibri" panose="020F0502020204030204"/>
            </a:endParaRPr>
          </a:p>
        </p:txBody>
      </p:sp>
      <p:sp>
        <p:nvSpPr>
          <p:cNvPr id="13" name="Text 9"/>
          <p:cNvSpPr/>
          <p:nvPr/>
        </p:nvSpPr>
        <p:spPr>
          <a:xfrm>
            <a:off x="7179628" y="2359152"/>
            <a:ext cx="4251960" cy="658368"/>
          </a:xfrm>
          <a:prstGeom prst="rect">
            <a:avLst/>
          </a:prstGeom>
          <a:noFill/>
          <a:ln/>
        </p:spPr>
        <p:txBody>
          <a:bodyPr wrap="square" rtlCol="0" anchor="t"/>
          <a:lstStyle/>
          <a:p>
            <a:pPr>
              <a:lnSpc>
                <a:spcPct val="105000"/>
              </a:lnSpc>
            </a:pPr>
            <a:r>
              <a:rPr lang="en-US" sz="950" dirty="0">
                <a:solidFill>
                  <a:srgbClr val="CADCFC"/>
                </a:solidFill>
                <a:latin typeface="Calibri" pitchFamily="34" charset="0"/>
                <a:ea typeface="Calibri" pitchFamily="34" charset="-122"/>
                <a:cs typeface="Calibri" pitchFamily="34" charset="-120"/>
              </a:rPr>
              <a:t>Como estudo por órgão de pesquisa, a manutenção de dados após esse marco só se justifica com anonimização garantida.</a:t>
            </a:r>
            <a:endParaRPr lang="en-US" sz="950" dirty="0">
              <a:solidFill>
                <a:prstClr val="black"/>
              </a:solidFill>
              <a:latin typeface="Calibri" panose="020F0502020204030204"/>
            </a:endParaRPr>
          </a:p>
        </p:txBody>
      </p:sp>
      <p:sp>
        <p:nvSpPr>
          <p:cNvPr id="14" name="Shape 10"/>
          <p:cNvSpPr/>
          <p:nvPr/>
        </p:nvSpPr>
        <p:spPr>
          <a:xfrm>
            <a:off x="641668" y="3291840"/>
            <a:ext cx="5349240" cy="1234440"/>
          </a:xfrm>
          <a:prstGeom prst="roundRect">
            <a:avLst>
              <a:gd name="adj" fmla="val 5926"/>
            </a:avLst>
          </a:prstGeom>
          <a:solidFill>
            <a:srgbClr val="141A47"/>
          </a:solidFill>
          <a:ln/>
        </p:spPr>
        <p:txBody>
          <a:bodyPr/>
          <a:lstStyle/>
          <a:p>
            <a:endParaRPr lang="pt-BR">
              <a:solidFill>
                <a:prstClr val="black"/>
              </a:solidFill>
              <a:latin typeface="Calibri" panose="020F0502020204030204"/>
            </a:endParaRPr>
          </a:p>
        </p:txBody>
      </p:sp>
      <p:sp>
        <p:nvSpPr>
          <p:cNvPr id="15" name="Shape 11"/>
          <p:cNvSpPr/>
          <p:nvPr/>
        </p:nvSpPr>
        <p:spPr>
          <a:xfrm>
            <a:off x="824548" y="3611880"/>
            <a:ext cx="594360" cy="59436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16" name="Image 2" descr="preencoded.png"/>
          <p:cNvPicPr>
            <a:picLocks noChangeAspect="1"/>
          </p:cNvPicPr>
          <p:nvPr/>
        </p:nvPicPr>
        <p:blipFill>
          <a:blip r:embed="rId5"/>
          <a:stretch>
            <a:fillRect/>
          </a:stretch>
        </p:blipFill>
        <p:spPr>
          <a:xfrm>
            <a:off x="958279" y="3745611"/>
            <a:ext cx="326898" cy="326898"/>
          </a:xfrm>
          <a:prstGeom prst="rect">
            <a:avLst/>
          </a:prstGeom>
        </p:spPr>
      </p:pic>
      <p:sp>
        <p:nvSpPr>
          <p:cNvPr id="17" name="Text 12"/>
          <p:cNvSpPr/>
          <p:nvPr/>
        </p:nvSpPr>
        <p:spPr>
          <a:xfrm>
            <a:off x="1556068" y="3401568"/>
            <a:ext cx="4251960" cy="457200"/>
          </a:xfrm>
          <a:prstGeom prst="rect">
            <a:avLst/>
          </a:prstGeom>
          <a:noFill/>
          <a:ln/>
        </p:spPr>
        <p:txBody>
          <a:bodyPr wrap="square" rtlCol="0" anchor="t"/>
          <a:lstStyle/>
          <a:p>
            <a:r>
              <a:rPr lang="en-US" sz="1200" b="1" dirty="0">
                <a:solidFill>
                  <a:srgbClr val="FFFFFF"/>
                </a:solidFill>
                <a:latin typeface="Calibri" pitchFamily="34" charset="0"/>
                <a:ea typeface="Calibri" pitchFamily="34" charset="-122"/>
                <a:cs typeface="Calibri" pitchFamily="34" charset="-120"/>
              </a:rPr>
              <a:t>Elimine (ou devolva) o restante de forma verificável</a:t>
            </a:r>
            <a:endParaRPr lang="en-US" sz="1200" dirty="0">
              <a:solidFill>
                <a:prstClr val="black"/>
              </a:solidFill>
              <a:latin typeface="Calibri" panose="020F0502020204030204"/>
            </a:endParaRPr>
          </a:p>
        </p:txBody>
      </p:sp>
      <p:sp>
        <p:nvSpPr>
          <p:cNvPr id="18" name="Text 13"/>
          <p:cNvSpPr/>
          <p:nvPr/>
        </p:nvSpPr>
        <p:spPr>
          <a:xfrm>
            <a:off x="1556068" y="3822192"/>
            <a:ext cx="4251960" cy="658368"/>
          </a:xfrm>
          <a:prstGeom prst="rect">
            <a:avLst/>
          </a:prstGeom>
          <a:noFill/>
          <a:ln/>
        </p:spPr>
        <p:txBody>
          <a:bodyPr wrap="square" rtlCol="0" anchor="t"/>
          <a:lstStyle/>
          <a:p>
            <a:pPr>
              <a:lnSpc>
                <a:spcPct val="105000"/>
              </a:lnSpc>
            </a:pPr>
            <a:r>
              <a:rPr lang="en-US" sz="950" dirty="0">
                <a:solidFill>
                  <a:srgbClr val="CADCFC"/>
                </a:solidFill>
                <a:latin typeface="Calibri" pitchFamily="34" charset="0"/>
                <a:ea typeface="Calibri" pitchFamily="34" charset="-122"/>
                <a:cs typeface="Calibri" pitchFamily="34" charset="-120"/>
              </a:rPr>
              <a:t>Dados que não se enquadrarem nas exceções devem ser eliminados de forma segura, com registro/comprovação, ao fim do prazo definido.</a:t>
            </a:r>
            <a:endParaRPr lang="en-US" sz="950" dirty="0">
              <a:solidFill>
                <a:prstClr val="black"/>
              </a:solidFill>
              <a:latin typeface="Calibri" panose="020F0502020204030204"/>
            </a:endParaRPr>
          </a:p>
        </p:txBody>
      </p:sp>
      <p:sp>
        <p:nvSpPr>
          <p:cNvPr id="19" name="Shape 14"/>
          <p:cNvSpPr/>
          <p:nvPr/>
        </p:nvSpPr>
        <p:spPr>
          <a:xfrm>
            <a:off x="6265228" y="3291840"/>
            <a:ext cx="5349240" cy="1234440"/>
          </a:xfrm>
          <a:prstGeom prst="roundRect">
            <a:avLst>
              <a:gd name="adj" fmla="val 5926"/>
            </a:avLst>
          </a:prstGeom>
          <a:solidFill>
            <a:srgbClr val="141A47"/>
          </a:solidFill>
          <a:ln/>
        </p:spPr>
        <p:txBody>
          <a:bodyPr/>
          <a:lstStyle/>
          <a:p>
            <a:endParaRPr lang="pt-BR">
              <a:solidFill>
                <a:prstClr val="black"/>
              </a:solidFill>
              <a:latin typeface="Calibri" panose="020F0502020204030204"/>
            </a:endParaRPr>
          </a:p>
        </p:txBody>
      </p:sp>
      <p:sp>
        <p:nvSpPr>
          <p:cNvPr id="20" name="Shape 15"/>
          <p:cNvSpPr/>
          <p:nvPr/>
        </p:nvSpPr>
        <p:spPr>
          <a:xfrm>
            <a:off x="6448108" y="3611880"/>
            <a:ext cx="594360" cy="594360"/>
          </a:xfrm>
          <a:prstGeom prst="ellipse">
            <a:avLst/>
          </a:prstGeom>
          <a:solidFill>
            <a:srgbClr val="0E7C7B"/>
          </a:solidFill>
          <a:ln/>
        </p:spPr>
        <p:txBody>
          <a:bodyPr/>
          <a:lstStyle/>
          <a:p>
            <a:endParaRPr lang="pt-BR">
              <a:solidFill>
                <a:prstClr val="black"/>
              </a:solidFill>
              <a:latin typeface="Calibri" panose="020F0502020204030204"/>
            </a:endParaRPr>
          </a:p>
        </p:txBody>
      </p:sp>
      <p:pic>
        <p:nvPicPr>
          <p:cNvPr id="21" name="Image 3" descr="preencoded.png"/>
          <p:cNvPicPr>
            <a:picLocks noChangeAspect="1"/>
          </p:cNvPicPr>
          <p:nvPr/>
        </p:nvPicPr>
        <p:blipFill>
          <a:blip r:embed="rId6"/>
          <a:stretch>
            <a:fillRect/>
          </a:stretch>
        </p:blipFill>
        <p:spPr>
          <a:xfrm>
            <a:off x="6581839" y="3745611"/>
            <a:ext cx="326898" cy="326898"/>
          </a:xfrm>
          <a:prstGeom prst="rect">
            <a:avLst/>
          </a:prstGeom>
        </p:spPr>
      </p:pic>
      <p:sp>
        <p:nvSpPr>
          <p:cNvPr id="22" name="Text 16"/>
          <p:cNvSpPr/>
          <p:nvPr/>
        </p:nvSpPr>
        <p:spPr>
          <a:xfrm>
            <a:off x="7179628" y="3401568"/>
            <a:ext cx="4251960" cy="457200"/>
          </a:xfrm>
          <a:prstGeom prst="rect">
            <a:avLst/>
          </a:prstGeom>
          <a:noFill/>
          <a:ln/>
        </p:spPr>
        <p:txBody>
          <a:bodyPr wrap="square" rtlCol="0" anchor="t"/>
          <a:lstStyle/>
          <a:p>
            <a:r>
              <a:rPr lang="en-US" sz="1200" b="1" dirty="0">
                <a:solidFill>
                  <a:srgbClr val="FFFFFF"/>
                </a:solidFill>
                <a:latin typeface="Calibri" pitchFamily="34" charset="0"/>
                <a:ea typeface="Calibri" pitchFamily="34" charset="-122"/>
                <a:cs typeface="Calibri" pitchFamily="34" charset="-120"/>
              </a:rPr>
              <a:t>Separe prazo de dados de prazo de confidencialidade</a:t>
            </a:r>
            <a:endParaRPr lang="en-US" sz="1200" dirty="0">
              <a:solidFill>
                <a:prstClr val="black"/>
              </a:solidFill>
              <a:latin typeface="Calibri" panose="020F0502020204030204"/>
            </a:endParaRPr>
          </a:p>
        </p:txBody>
      </p:sp>
      <p:sp>
        <p:nvSpPr>
          <p:cNvPr id="23" name="Text 17"/>
          <p:cNvSpPr/>
          <p:nvPr/>
        </p:nvSpPr>
        <p:spPr>
          <a:xfrm>
            <a:off x="7179628" y="3822192"/>
            <a:ext cx="4251960" cy="658368"/>
          </a:xfrm>
          <a:prstGeom prst="rect">
            <a:avLst/>
          </a:prstGeom>
          <a:noFill/>
          <a:ln/>
        </p:spPr>
        <p:txBody>
          <a:bodyPr wrap="square" rtlCol="0" anchor="t"/>
          <a:lstStyle/>
          <a:p>
            <a:pPr>
              <a:lnSpc>
                <a:spcPct val="105000"/>
              </a:lnSpc>
            </a:pPr>
            <a:r>
              <a:rPr lang="en-US" sz="950" dirty="0">
                <a:solidFill>
                  <a:srgbClr val="CADCFC"/>
                </a:solidFill>
                <a:latin typeface="Calibri" pitchFamily="34" charset="0"/>
                <a:ea typeface="Calibri" pitchFamily="34" charset="-122"/>
                <a:cs typeface="Calibri" pitchFamily="34" charset="-120"/>
              </a:rPr>
              <a:t>O prazo de guarda do dado (curto, ligado à finalidade) não precisa ser igual ao prazo de sigilo contratual (pode ser mais longo, por segurança jurídica).</a:t>
            </a:r>
            <a:endParaRPr lang="en-US" sz="950" dirty="0">
              <a:solidFill>
                <a:prstClr val="black"/>
              </a:solidFill>
              <a:latin typeface="Calibri" panose="020F0502020204030204"/>
            </a:endParaRPr>
          </a:p>
        </p:txBody>
      </p:sp>
      <p:sp>
        <p:nvSpPr>
          <p:cNvPr id="24" name="Text 18"/>
          <p:cNvSpPr/>
          <p:nvPr/>
        </p:nvSpPr>
        <p:spPr>
          <a:xfrm>
            <a:off x="641668" y="6263640"/>
            <a:ext cx="10789920" cy="365760"/>
          </a:xfrm>
          <a:prstGeom prst="rect">
            <a:avLst/>
          </a:prstGeom>
          <a:noFill/>
          <a:ln/>
        </p:spPr>
        <p:txBody>
          <a:bodyPr wrap="square" rtlCol="0" anchor="ctr"/>
          <a:lstStyle/>
          <a:p>
            <a:r>
              <a:rPr lang="en-US" sz="1000" i="1" dirty="0">
                <a:solidFill>
                  <a:srgbClr val="8FA3D6"/>
                </a:solidFill>
                <a:latin typeface="Calibri" pitchFamily="34" charset="0"/>
                <a:ea typeface="Calibri" pitchFamily="34" charset="-122"/>
                <a:cs typeface="Calibri" pitchFamily="34" charset="-120"/>
              </a:rPr>
              <a:t>A </a:t>
            </a:r>
            <a:r>
              <a:rPr lang="en-US" sz="1000" i="1" dirty="0" err="1">
                <a:solidFill>
                  <a:srgbClr val="8FA3D6"/>
                </a:solidFill>
                <a:latin typeface="Calibri" pitchFamily="34" charset="0"/>
                <a:ea typeface="Calibri" pitchFamily="34" charset="-122"/>
                <a:cs typeface="Calibri" pitchFamily="34" charset="-120"/>
              </a:rPr>
              <a:t>definição</a:t>
            </a:r>
            <a:r>
              <a:rPr lang="en-US" sz="1000" i="1" dirty="0">
                <a:solidFill>
                  <a:srgbClr val="8FA3D6"/>
                </a:solidFill>
                <a:latin typeface="Calibri" pitchFamily="34" charset="0"/>
                <a:ea typeface="Calibri" pitchFamily="34" charset="-122"/>
                <a:cs typeface="Calibri" pitchFamily="34" charset="-120"/>
              </a:rPr>
              <a:t> final dos prazos deve ser validada pelo encarregado de dados (DPO) da empresa.</a:t>
            </a:r>
            <a:endParaRPr lang="en-US" sz="1000" dirty="0">
              <a:solidFill>
                <a:prstClr val="black"/>
              </a:solidFill>
              <a:latin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B8962E"/>
                </a:solidFill>
                <a:latin typeface="Calibri" pitchFamily="34" charset="0"/>
                <a:ea typeface="Calibri" pitchFamily="34" charset="-122"/>
                <a:cs typeface="Calibri" pitchFamily="34" charset="-120"/>
              </a:rPr>
              <a:t>REFERENCIAS</a:t>
            </a:r>
            <a:endParaRPr lang="en-US" sz="1300" dirty="0"/>
          </a:p>
        </p:txBody>
      </p:sp>
      <p:sp>
        <p:nvSpPr>
          <p:cNvPr id="4" name="Text 2"/>
          <p:cNvSpPr/>
          <p:nvPr/>
        </p:nvSpPr>
        <p:spPr>
          <a:xfrm>
            <a:off x="548640" y="1508760"/>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ANPD APLICA A PRIMEIRA MULTA POR DESCUMPRIMENTO A LGPD. Autoridade Nacional de Protecao de Dados, Brasilia, 7 jul. 2023. Disponivel em: https://www.gov.br/anpd/pt-br/assuntos/noticias/anpd-aplica-a-primeira-multa-por-descumprimento-a-lgpd. Acesso em: 18 ago. 2026.</a:t>
            </a:r>
            <a:endParaRPr lang="en-US" sz="1050" dirty="0"/>
          </a:p>
        </p:txBody>
      </p:sp>
      <p:sp>
        <p:nvSpPr>
          <p:cNvPr id="5" name="Text 3"/>
          <p:cNvSpPr/>
          <p:nvPr/>
        </p:nvSpPr>
        <p:spPr>
          <a:xfrm>
            <a:off x="548640" y="2350008"/>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AUTORIDADE NACIONAL DE PROTECAO DE DADOS. Guia orientativo para definicoes dos agentes de tratamento de dados pessoais e do encarregado. Brasilia: ANPD, 2021.</a:t>
            </a:r>
            <a:endParaRPr lang="en-US" sz="1050" dirty="0"/>
          </a:p>
        </p:txBody>
      </p:sp>
      <p:sp>
        <p:nvSpPr>
          <p:cNvPr id="6" name="Text 4"/>
          <p:cNvSpPr/>
          <p:nvPr/>
        </p:nvSpPr>
        <p:spPr>
          <a:xfrm>
            <a:off x="548640" y="3191256"/>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BRASIL. Lei no 13.709, de 14 de agosto de 2018. Lei Geral de Protecao de Dados Pessoais (LGPD). Diario Oficial da Uniao, Brasilia, 15 ago. 2018. Disponivel em: https://www.planalto.gov.br/ccivil_03/_ato2015-2018/2018/lei/l13709.htm. Acesso em: 18 ago. 2026.</a:t>
            </a:r>
            <a:endParaRPr lang="en-US" sz="1050" dirty="0"/>
          </a:p>
        </p:txBody>
      </p:sp>
      <p:sp>
        <p:nvSpPr>
          <p:cNvPr id="7" name="Text 5"/>
          <p:cNvSpPr/>
          <p:nvPr/>
        </p:nvSpPr>
        <p:spPr>
          <a:xfrm>
            <a:off x="548640" y="4032504"/>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BRASIL. Autoridade Nacional de Protecao de Dados. Resolucao CD/ANPD no 2, de 27 de janeiro de 2022. Aprova o Regulamento de aplicacao da LGPD para agentes de tratamento de pequeno porte. Diario Oficial da Uniao, Brasilia, 2022.</a:t>
            </a:r>
            <a:endParaRPr lang="en-US" sz="1050" dirty="0"/>
          </a:p>
        </p:txBody>
      </p:sp>
      <p:sp>
        <p:nvSpPr>
          <p:cNvPr id="8" name="Text 6"/>
          <p:cNvSpPr/>
          <p:nvPr/>
        </p:nvSpPr>
        <p:spPr>
          <a:xfrm>
            <a:off x="548640" y="4873752"/>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BRASIL. Congresso Nacional. Medida Provisoria no 1.317, de 17 de setembro de 2025. Altera a Lei no 13.709, de 14 de agosto de 2018, para tratar da Agencia Nacional de Protecao de Dados. Diario Oficial da Uniao, Brasilia, 2025. Disponivel em: https://www.congressonacional.leg.br/materias/medidas-provisorias/-/mpv/170520. Acesso em: 18 ago. 2026.</a:t>
            </a:r>
            <a:endParaRPr lang="en-US" sz="1050" dirty="0"/>
          </a:p>
        </p:txBody>
      </p:sp>
      <p:sp>
        <p:nvSpPr>
          <p:cNvPr id="9" name="Text 7"/>
          <p:cNvSpPr/>
          <p:nvPr/>
        </p:nvSpPr>
        <p:spPr>
          <a:xfrm>
            <a:off x="548640" y="5715000"/>
            <a:ext cx="11064240" cy="777240"/>
          </a:xfrm>
          <a:prstGeom prst="rect">
            <a:avLst/>
          </a:prstGeom>
          <a:noFill/>
          <a:ln/>
        </p:spPr>
        <p:txBody>
          <a:bodyPr wrap="square" rtlCol="0" anchor="t"/>
          <a:lstStyle/>
          <a:p>
            <a:pPr marL="0" indent="0">
              <a:lnSpc>
                <a:spcPct val="105000"/>
              </a:lnSpc>
              <a:buNone/>
            </a:pPr>
            <a:r>
              <a:rPr lang="en-US" sz="1050" dirty="0">
                <a:solidFill>
                  <a:srgbClr val="2B2B2E"/>
                </a:solidFill>
                <a:latin typeface="Calibri" pitchFamily="34" charset="0"/>
                <a:ea typeface="Calibri" pitchFamily="34" charset="-122"/>
                <a:cs typeface="Calibri" pitchFamily="34" charset="-120"/>
              </a:rPr>
              <a:t>SENADO APROVA MP QUE TRANSFORMA ANPD EM AGENCIA REGULADORA. Agencia Brasil, Brasilia, 24 fev. 2026. Disponivel em: https://agenciabrasil.ebc.com.br/politica/noticia/2026-02/senado-aprova-mp-que-transforma-anpd-em-agencia-reguladora. Acesso em: 18 ago. 2026.</a:t>
            </a:r>
            <a:endParaRPr lang="en-US" sz="1050" dirty="0"/>
          </a:p>
        </p:txBody>
      </p:sp>
      <p:sp>
        <p:nvSpPr>
          <p:cNvPr id="11" name="Text 9"/>
          <p:cNvSpPr/>
          <p:nvPr/>
        </p:nvSpPr>
        <p:spPr>
          <a:xfrm>
            <a:off x="11002975" y="6473952"/>
            <a:ext cx="731520" cy="274320"/>
          </a:xfrm>
          <a:prstGeom prst="rect">
            <a:avLst/>
          </a:prstGeom>
          <a:noFill/>
          <a:ln/>
        </p:spPr>
        <p:txBody>
          <a:bodyPr wrap="square" rtlCol="0" anchor="ctr"/>
          <a:lstStyle/>
          <a:p>
            <a:pPr marL="0" indent="0" algn="r">
              <a:buNone/>
            </a:pPr>
            <a:r>
              <a:rPr lang="en-US" sz="900" dirty="0">
                <a:solidFill>
                  <a:srgbClr val="5A5A5E"/>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8A2D2C2733B7342A34F941B973AA6E6" ma:contentTypeVersion="3" ma:contentTypeDescription="Crie um novo documento." ma:contentTypeScope="" ma:versionID="5550be8f1cf58693e992f8ea7bfb4f2b">
  <xsd:schema xmlns:xsd="http://www.w3.org/2001/XMLSchema" xmlns:xs="http://www.w3.org/2001/XMLSchema" xmlns:p="http://schemas.microsoft.com/office/2006/metadata/properties" xmlns:ns2="f534e9f2-b7ec-4ccc-a69c-51d3e3635b48" targetNamespace="http://schemas.microsoft.com/office/2006/metadata/properties" ma:root="true" ma:fieldsID="723e5ea99451f57ad090176ed3370c4a" ns2:_="">
    <xsd:import namespace="f534e9f2-b7ec-4ccc-a69c-51d3e3635b4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34e9f2-b7ec-4ccc-a69c-51d3e3635b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1EB157-C53D-4A0A-8BCA-0B14F3D68D93}"/>
</file>

<file path=customXml/itemProps2.xml><?xml version="1.0" encoding="utf-8"?>
<ds:datastoreItem xmlns:ds="http://schemas.openxmlformats.org/officeDocument/2006/customXml" ds:itemID="{9DE7C15E-5CBE-499E-BD61-C5A98949858E}"/>
</file>

<file path=customXml/itemProps3.xml><?xml version="1.0" encoding="utf-8"?>
<ds:datastoreItem xmlns:ds="http://schemas.openxmlformats.org/officeDocument/2006/customXml" ds:itemID="{2D02FA93-5509-4CF2-9E87-621CC117828D}"/>
</file>

<file path=docProps/app.xml><?xml version="1.0" encoding="utf-8"?>
<Properties xmlns="http://schemas.openxmlformats.org/officeDocument/2006/extended-properties" xmlns:vt="http://schemas.openxmlformats.org/officeDocument/2006/docPropsVTypes">
  <TotalTime>71</TotalTime>
  <Words>5743</Words>
  <PresentationFormat>Widescreen</PresentationFormat>
  <Paragraphs>497</Paragraphs>
  <Slides>36</Slides>
  <Notes>29</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36</vt:i4>
      </vt:variant>
    </vt:vector>
  </HeadingPairs>
  <TitlesOfParts>
    <vt:vector size="41" baseType="lpstr">
      <vt:lpstr>Aptos</vt: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2026-08-19T09:56:22Z</dcterms:created>
  <dcterms:modified xsi:type="dcterms:W3CDTF">2026-08-22T14:03:32Z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0x01010078A2D2C2733B7342A34F941B973AA6E6</vt:lpwstr>
  </property>
</Properties>
</file>