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0" r:id="rId4"/>
    <p:sldId id="258" r:id="rId5"/>
    <p:sldId id="271" r:id="rId6"/>
    <p:sldId id="272" r:id="rId7"/>
    <p:sldId id="274" r:id="rId8"/>
    <p:sldId id="275" r:id="rId9"/>
    <p:sldId id="276" r:id="rId10"/>
    <p:sldId id="273" r:id="rId11"/>
    <p:sldId id="277" r:id="rId12"/>
    <p:sldId id="259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628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contextualizar que a aula cruza três campos: direito, ética e ciência de dados. Todos os exemplos e decisões citados são reais, com fonte indicada no rodapé de cada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roteiro em voz alta, deixando claro que a lógica é: primeiro entender o problema técnico (ciência de dados), depois a resposta jurídica (LGPD, GDPR, tribunais) e por fim a camada ética que vai além da lei.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a EC 115/2022 elevou a proteção de dados a direito fundamental autônomo no Brasil, equiparando o país, em status normativo, ao tratamento dado pela União Europeia desde o GDPR (2016/2018).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esclarece as principais questões de Ciência de Dados exigidas pelo tema da aula. Vale pedir aos alunos exemplos do dia a dia para cada um dos seis pontos antes de avançar para os princípios legais.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Percorrer os dez princípios do art. 6º da LGPD. Destacar que eles não são meramente decorativos: cada um deles reaparece nos casos concretos e nas decisões judiciais mostradas nos próximos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os 5 Vs do Big Data com o motivo pelo qual a escala cria um problema ético novo. A ética da informação, na linha de Floridi, propõe pensar o dado como parte da identidade da pessoa, não como recurso neutro.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Percorrer a linha do tempo destacando que o STF trata a proteção de dados em contextos muito diferentes: dados administrativos, material genético, cooperação penal internacional e prova digital, mostrando a transversalidade do tema.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caso REsp 2.135.783 é um bom gancho para o slide do COMPAS mais adiante: em ambos, uma decisão automatizada afeta o meio de vida de alguém e a Justiça reconhece o direito de revisão humana.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Cambridge Analytica é o caso mais didático para introduzir o tema porque combina três camadas: consentimento mal desenhado, uso secundário de dados e impacto em processos democráticos.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os valores para dimensionar o risco financeiro real da não conformidade, útil para discutir compliance de dados como investimento, não apenas como custo burocrático.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Importante frisar a nuance técnica: a empresa por trás do COMPAS (Northpointe) contestou a metodologia da ProPublica. Ambas as leituras usam definições diferentes de 'justiça estatística', ótimo gancho para discutir que ciência de dados envolve escolhas normativas, não só matemática.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seis práticas resumem o que uma organização deveria implementar para não repetir os casos vistos anteriormente. Pode-se pedir aos alunos para relacionar cada prática a um dos casos estudados na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quadro é o resumo conceitual da aula: a lei estabelece o piso obrigatório, mas a ética da informação convida a ir além. Bom momento para abrir a discussão em grupo antes da conclusão.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retomando os fios condutores da aula: princípios legais (LGPD/GDPR), jurisprudência (STF/STJ) e ética da informação (Big Data, viés algorítmico). As três perguntas finais servem como checklist prático para qualquer projeto de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tj.jus.br/sites/portalp/Paginas/Comunicacao/Noticias/2024/15072024-Motorista-de-aplicativo-pode-ser-suspenso-imediatamente-por-ato-grave--mas-plataforma-deve-garantir-defesa.aspx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457200" y="205740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457200" y="365760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525780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2148840" y="45720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148840" y="205740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2148840" y="365760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148840" y="525780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840480" y="45720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840480" y="205740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3840480" y="365760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840480" y="525780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5532120" y="45720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5532120" y="205740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532120" y="365760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5532120" y="525780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7223760" y="45720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7223760" y="205740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223760" y="365760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7223760" y="525780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8915400" y="45720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8915400" y="205740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8915400" y="365760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8915400" y="525780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10607040" y="45720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10607040" y="205740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10607040" y="365760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10607040" y="525780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982980" y="40462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DRA. EVELYN SANTINON SOLA 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1810605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Princípios Legais e Éticos</a:t>
            </a:r>
            <a:endParaRPr lang="en-US" sz="46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Era dos Dados</a:t>
            </a:r>
            <a:endParaRPr lang="en-US" sz="4600" dirty="0"/>
          </a:p>
        </p:txBody>
      </p:sp>
      <p:sp>
        <p:nvSpPr>
          <p:cNvPr id="33" name="Shape 31"/>
          <p:cNvSpPr/>
          <p:nvPr/>
        </p:nvSpPr>
        <p:spPr>
          <a:xfrm>
            <a:off x="822960" y="5623560"/>
            <a:ext cx="2743200" cy="0"/>
          </a:xfrm>
          <a:prstGeom prst="line">
            <a:avLst/>
          </a:prstGeom>
          <a:noFill/>
          <a:ln w="25400">
            <a:solidFill>
              <a:srgbClr val="C9982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82296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Digital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AULA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construir juntos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7282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dados exigem regras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0" y="1746504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da ciência de dados e os riscos que justificam regulação.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41448"/>
            <a:ext cx="11064240" cy="0"/>
          </a:xfrm>
          <a:prstGeom prst="line">
            <a:avLst/>
          </a:prstGeom>
          <a:noFill/>
          <a:ln w="12700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48640" y="2679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6243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Princípios legais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0" y="2642616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fundamentos da LGPD e do GDPR aplicados à coleta e ao uso de dados.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11064240" cy="0"/>
          </a:xfrm>
          <a:prstGeom prst="line">
            <a:avLst/>
          </a:prstGeom>
          <a:noFill/>
          <a:ln w="12700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548640" y="357530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48640" y="35753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520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jurisprudência em ação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0" y="353872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reais do STF e do STJ que moldam o direito de dados no Brasil.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233672"/>
            <a:ext cx="11064240" cy="0"/>
          </a:xfrm>
          <a:prstGeom prst="line">
            <a:avLst/>
          </a:prstGeom>
          <a:noFill/>
          <a:ln w="12700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548640" y="447141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48640" y="4471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34440" y="44165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que viraram referência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443484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Analytica, multas bilionárias e o algoritmo COMPAS.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129784"/>
            <a:ext cx="11064240" cy="0"/>
          </a:xfrm>
          <a:prstGeom prst="line">
            <a:avLst/>
          </a:prstGeom>
          <a:noFill/>
          <a:ln w="12700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548640" y="53675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48640" y="5367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34440" y="531266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Ética da informação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0" y="5330952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no manuseio de Big Data e governança algorítmica.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PRINCÍPIO AO STATUS CONSTITUCIONAL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direito fundamental no Brasil e na Europa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6868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Emenda Constitucional nº 115/2022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02996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Incluiu no art. 5º, inciso LXXIX, da Constituição a proteção de dados pessoais como direito e garantia fundamental </a:t>
            </a:r>
            <a:r>
              <a:rPr lang="en-US" sz="125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autônomo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inclusive nos meios digitais.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5349240" cy="316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68680" y="308152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3337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LGPD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377647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nº 13.709/2018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4160520"/>
            <a:ext cx="4709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 para tratamento: consentimento, cumprimento de obrigação legal, execução de contrato, entre outras (art. 7º/11).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 responsável: ANPD (Autoridade Nacional de Proteção de Dados).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Sanções administrativas de até 2% do faturamento, limitadas a R$ 50 milhões por infração.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2880360"/>
            <a:ext cx="5349240" cy="316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583680" y="308152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UNIÃO EUROPEIA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83680" y="3337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83680" y="377647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Regulamento (UE) 2016/679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0" y="4160520"/>
            <a:ext cx="4709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Princípios equivalentes: licitude, limitação de finalidade, minimização, exatidão, limitação de conservação, integridade e confidencialidade.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 responsável: autoridades nacionais de proteção de dados (ex.: DPC na Irlanda, CNPD em Luxemburgo).</a:t>
            </a:r>
            <a:endParaRPr lang="en-US" sz="115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Multas de até 4% do faturamento global anual da empresa, já aplicadas na casa dos bilhões de euros.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EC 115/2022; Lei nº 13.709/2018; Regulamento (UE) 2016/679 (GDPR).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6094095"/>
            <a:ext cx="11064240" cy="3298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ANPD oficializou a equivalência de proteção de dados entre a LGPD e o GDPR europeu (Resolução nº 32), facilitando o fluxo de dados internacionais entre o Brasil e a União Europeia sem burocracias adicionais.</a:t>
            </a:r>
            <a:endParaRPr lang="pt-BR" sz="1050" i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questões centrais da Ciência de Dados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falar em lei e ética, é preciso entender o que a Ciência de Dados de </a:t>
            </a:r>
            <a:r>
              <a:rPr lang="en-US" sz="1350" dirty="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</a:t>
            </a: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</a:t>
            </a: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350" dirty="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</a:t>
            </a: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</a:t>
            </a: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jurídicos.</a:t>
            </a: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blurRad="76200" dist="25400" dir="5400000" algn="bl" rotWithShape="0">
              <a:srgbClr val="9AA5C4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49808" y="2350008"/>
            <a:ext cx="365760" cy="365760"/>
          </a:xfrm>
          <a:prstGeom prst="ellipse">
            <a:avLst/>
          </a:prstGeom>
          <a:solidFill>
            <a:srgbClr val="C9982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49808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23042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 e origem dos dados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808" y="283464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incompletos, desatualizados ou coletados sem consentimento comprometem qualquer análise, e violam o princípio da qualidade previsto na LGPD (art. 6º, V).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21488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blurRad="76200" dist="25400" dir="5400000" algn="bl" rotWithShape="0">
              <a:srgbClr val="9AA5C4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498848" y="2350008"/>
            <a:ext cx="365760" cy="365760"/>
          </a:xfrm>
          <a:prstGeom prst="ellipse">
            <a:avLst/>
          </a:prstGeom>
          <a:solidFill>
            <a:srgbClr val="C9982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498848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23042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Viés algorítmico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498848" y="283464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treinados em dados históricos podem reproduzir desigualdades sociais existentes, como discriminação racial, de gênero ou socioeconômica.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46720" y="214884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blurRad="76200" dist="25400" dir="5400000" algn="bl" rotWithShape="0">
              <a:srgbClr val="9AA5C4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247888" y="2350008"/>
            <a:ext cx="365760" cy="365760"/>
          </a:xfrm>
          <a:prstGeom prst="ellipse">
            <a:avLst/>
          </a:prstGeom>
          <a:solidFill>
            <a:srgbClr val="C9982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247888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732520" y="23042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Anonimização e reidentificação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47888" y="283464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Cruzar bases de dados 'anonimizadas' com outras fontes públicas pode reidentificar pessoas: um risco central em Big Data.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blurRad="76200" dist="25400" dir="5400000" algn="bl" rotWithShape="0">
              <a:srgbClr val="9AA5C4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749808" y="4270248"/>
            <a:ext cx="365760" cy="365760"/>
          </a:xfrm>
          <a:prstGeom prst="ellipse">
            <a:avLst/>
          </a:prstGeom>
          <a:solidFill>
            <a:srgbClr val="C9982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49808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34440" y="42245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Explicabilidade (XAI)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49808" y="475488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automatizadas de crédito, seguro ou Justiça exigem que seja possível explicar por que o algoritmo chegou àquele resultado.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97680" y="40690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blurRad="76200" dist="25400" dir="5400000" algn="bl" rotWithShape="0">
              <a:srgbClr val="9AA5C4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498848" y="4270248"/>
            <a:ext cx="365760" cy="365760"/>
          </a:xfrm>
          <a:prstGeom prst="ellipse">
            <a:avLst/>
          </a:prstGeom>
          <a:solidFill>
            <a:srgbClr val="C9982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498848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83480" y="42245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 e vazamento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498848" y="475488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volumes concentrados em poucos bancos de dados tornam vazamentos mais raros, porém muito mais graves quando ocorrem.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046720" y="406908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blurRad="76200" dist="25400" dir="5400000" algn="bl" rotWithShape="0">
              <a:srgbClr val="9AA5C4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8247888" y="4270248"/>
            <a:ext cx="365760" cy="365760"/>
          </a:xfrm>
          <a:prstGeom prst="ellipse">
            <a:avLst/>
          </a:prstGeom>
          <a:solidFill>
            <a:srgbClr val="C9982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8247888" y="4270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732520" y="42245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Governança e responsabilização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8247888" y="4754880"/>
            <a:ext cx="31181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responde quando um modelo erra? A LGPD e o GDPR respondem com o princípio da accountability.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48640" y="647395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10896" cy="310896"/>
          </a:xfrm>
          <a:prstGeom prst="ellipse">
            <a:avLst/>
          </a:prstGeom>
          <a:solidFill>
            <a:srgbClr val="C9982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9264" y="384048"/>
            <a:ext cx="106737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APROFUNDAMENTO DO TEMA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 dos dados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se o dado está apto a cumprir a finalidade para a qual será usado.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94415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22960" y="203911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DIMENSÕES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377440"/>
            <a:ext cx="509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Exatidão: </a:t>
            </a: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dado corresponde à realidade que descreve.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78728" y="2377440"/>
            <a:ext cx="509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Completude: </a:t>
            </a: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faltam informações relevantes para a análise.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2761488"/>
            <a:ext cx="509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Consistência: </a:t>
            </a: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dado não aparece de formas contraditórias em bases diferentes.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78728" y="2761488"/>
            <a:ext cx="509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Atualidade: </a:t>
            </a: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dado reflete o estado mais recente possível da realidade.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3145536"/>
            <a:ext cx="509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Relevância: </a:t>
            </a: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dado coletado tem relação direta com a finalidade declarada.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22960" y="3941064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4233672"/>
            <a:ext cx="1054577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LGPD trata a qualidade dos dados como princípio autônomo no art. 6º, V, exigindo exatidão, clareza, relevância e atualização, de acordo com a necessidade e a finalidade do tratamento. O GDPR traz previsão equivalente no art. 5º(1)(d), o princípio da exatidão ("accuracy").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 w="12700">
            <a:solidFill>
              <a:srgbClr val="DDE3F2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22960" y="519379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548640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6º </a:t>
            </a:r>
            <a:r>
              <a:rPr lang="en-US" sz="10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atividades de tratamento de dados pessoais deverão observar a boa-fé e os seguintes princípios </a:t>
            </a:r>
            <a:r>
              <a:rPr lang="en-US" sz="1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- qualidade dos dados: </a:t>
            </a:r>
            <a:r>
              <a:rPr lang="en-US" sz="10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garantia, aos titulares, de exatidão, clareza, relevância e atualização dos dados, de acordo com a necessidade e para o cumprimento da finalidade de seu tratamento.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Lei nº 13.709/2018 (LGPD), art. 6º, V; Regulamento (UE) 2016/679 (GDPR), art. 5º(1)(d).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10896" cy="310896"/>
          </a:xfrm>
          <a:prstGeom prst="ellipse">
            <a:avLst/>
          </a:prstGeom>
          <a:solidFill>
            <a:srgbClr val="C9982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9264" y="384048"/>
            <a:ext cx="106737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APROFUNDAMENTO DO TEMA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Viés algorítmico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sistemático (não aleatório) que faz um modelo produzir resultados desfavoráveis a determinados grupos de pessoas, geralmente definidos por raça, gênero, idade, renda ou território, penalizando pessoas reais.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22960" y="2478024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10545775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LGPD proíbe o tratamento de dados para fins discriminatórios ilícitos ou abusivos (art. 6º, IX), o que pode gerar dever de indenizar. No Brasil, o STJ já aplicou essa lógica no REsp 2.135.783 (2024), ao reconhecer que motoristas de aplicativo descredenciados por decisão automatizada têm direito à revisão humana da decisão, com base no art. 20 da LGPD.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7F8FC"/>
          </a:solidFill>
          <a:ln w="12700">
            <a:solidFill>
              <a:srgbClr val="DDE3F2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22960" y="409651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38912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6º, IX - </a:t>
            </a:r>
            <a:r>
              <a:rPr lang="en-US" sz="10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discriminação: impossibilidade de realização do tratamento para fins discriminatórios ilícitos ou abusivos.
</a:t>
            </a:r>
            <a:r>
              <a:rPr lang="en-US" sz="1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20. </a:t>
            </a:r>
            <a:r>
              <a:rPr lang="en-US" sz="10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titular dos dados tem direito a solicitar a revisão de decisões tomadas unicamente com base em tratamento automatizado de dados pessoais que afetem seus interesses, incluídas as decisões destinadas a definir o seu perfil pessoal, profissional, de consumo e de crédito ou os aspectos de sua personalidade.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5623560"/>
            <a:ext cx="11094415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77240" y="5623560"/>
            <a:ext cx="106372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Precedente: </a:t>
            </a:r>
            <a:r>
              <a:rPr lang="en-US" sz="1050" u="sng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REsp 2.135.783/STJ (2024): motoristas de aplicativo e revisão humana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Lei nº 13.709/2018 (LGPD), arts. 6º e 20; STJ, REsp 2.135.783 (2024).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10896" cy="310896"/>
          </a:xfrm>
          <a:prstGeom prst="ellipse">
            <a:avLst/>
          </a:prstGeom>
          <a:solidFill>
            <a:srgbClr val="C9982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9264" y="384048"/>
            <a:ext cx="106737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APROFUNDAMENTO DO TEMA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Anonimização do dado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Alterar o dado de forma que deixe de ser possível associá-lo, direta ou indiretamente, a uma pessoa identificada ou identificável, inclusive quando cruzado com outras informações disponíveis.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BF3E2"/>
          </a:solidFill>
          <a:ln w="12700">
            <a:solidFill>
              <a:srgbClr val="FBF3E2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confundir com pseudonimização: </a:t>
            </a: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em que o identificador direto (como o nome) é substituído por um código, mas a reversão à identidade original ainda é tecnicamente possível para quem detém a chave de correspondência.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9718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mais usadas: </a:t>
            </a: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remoção de identificadores diretos (nome, CPF, endereço) e generalização de atributos (substituir idade exata por faixa etária, CEP completo por região).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22960" y="3712464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005072"/>
            <a:ext cx="105457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maior risco em Big Data não é o dado isolado, mas o cruzamento de bases: o que é anônimo pode se tornar identificável quando combinado com outra fonte pública ou vazada (ataque de vinculação, ou linkage attack).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47091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541004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77240" y="5193792"/>
            <a:ext cx="4952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AOL, 2006
</a:t>
            </a: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empresa divulgou publicamente cerca de 20 milhões de buscas de 650 mil usuários, trocando nomes por números. O New York Times rastreou o histórico do usuário nº 4417749 e a identificou como uma senhora da Geórgia.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33008" y="5029200"/>
            <a:ext cx="541004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461608" y="5193792"/>
            <a:ext cx="4952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Netflix, 2006
</a:t>
            </a: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Netflix divulgou avaliações anonimizadas de 500 mil assinantes para uma competição pública. Pesquisadores da Universidade do Texas as cruzaram com avaliações públicas do IMDb e reidentificaram boa parte dos usuários.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10896" cy="310896"/>
          </a:xfrm>
          <a:prstGeom prst="ellipse">
            <a:avLst/>
          </a:prstGeom>
          <a:solidFill>
            <a:srgbClr val="C9982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9264" y="384048"/>
            <a:ext cx="106737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APROFUNDAMENTO DO TEMA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Anonimização: base legal na LGPD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LGPD define dado anonimizado no art. 5º, III, e o exclui, em regra, do seu âmbito de aplicação (art. 12), desde que o processo de anonimização seja irreversível.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7F8FC"/>
          </a:solidFill>
          <a:ln w="12700">
            <a:solidFill>
              <a:srgbClr val="DDE3F2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22960" y="222199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 5º: DEFINIÇÕES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105457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- </a:t>
            </a:r>
            <a:r>
              <a:rPr lang="en-US" sz="11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pessoal: informação relacionada a pessoa natural identificada ou identificável;
</a:t>
            </a: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- </a:t>
            </a:r>
            <a:r>
              <a:rPr lang="en-US" sz="11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pessoal sensível: dado sobre origem racial ou étnica, convicção religiosa, opinião política, filiação sindical, saúde, vida sexual, dado genético ou biométrico;
</a:t>
            </a: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 - dado anonimizado: dado relativo a titular que não possa ser identificado, considerando a utilização de meios técnicos razoáveis e disponíveis na ocasião de seu tratamento.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11094415" cy="1691640"/>
          </a:xfrm>
          <a:prstGeom prst="roundRect">
            <a:avLst>
              <a:gd name="adj" fmla="val 4324"/>
            </a:avLst>
          </a:prstGeom>
          <a:solidFill>
            <a:srgbClr val="F7F8FC"/>
          </a:solidFill>
          <a:ln w="12700">
            <a:solidFill>
              <a:srgbClr val="DDE3F2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22960" y="395935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 12: EFEITOS DA ANONIMIZAÇÃO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251960"/>
            <a:ext cx="105457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anonimizados não serão considerados dados pessoais para os fins desta Lei, salvo quando o processo de anonimização ao qual foram submetidos for revertido, utilizando exclusivamente meios próprios, ou quando, com esforços razoáveis, puder ser revertido.
</a:t>
            </a:r>
            <a:r>
              <a:rPr lang="en-US" sz="1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 1º </a:t>
            </a:r>
            <a:r>
              <a:rPr lang="en-US" sz="11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determinação do que seja razoável deve levar em consideração fatores objetivos, tais como custo e tempo necessários para reverter o processo de anonimização, de acordo com as tecnologias disponíveis, e a utilização exclusiva de meios próprios.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Lei nº 13.709/2018 (LGPD), arts. 5º e 12.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10896" cy="310896"/>
          </a:xfrm>
          <a:prstGeom prst="ellipse">
            <a:avLst/>
          </a:prstGeom>
          <a:solidFill>
            <a:srgbClr val="C9982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9264" y="384048"/>
            <a:ext cx="106737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APROFUNDAMENTO DO TEMA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Explicabilidade (XAI)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Artificial Intelligence: a justificativa apresentada por um sistema, a um ser humano, sobre por que chegou a determinado resultado. O problema é que nem toda decisão automatizada é fácil de explicar.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94415" cy="1691640"/>
          </a:xfrm>
          <a:prstGeom prst="roundRect">
            <a:avLst>
              <a:gd name="adj" fmla="val 43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22960" y="2340864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633472"/>
            <a:ext cx="10545775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um algoritmo nega um crédito, rejeita um currículo, ajusta o valor de um seguro ou influencia uma sentença penal, a pessoa afetada tem interesse legítimo em entender o porquê; sem isso, a decisão pode ser considerada discriminatória. O art. 20 da LGPD garante ao titular o direito de revisão de decisões automatizadas e obriga o controlador a fornecer informações claras sobre os critérios usados. No GDPR, o art. 22 trata decisões automatizadas como exceção, e o considerando 71 reconhece o direito à intervenção humana e a uma explicação.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F7F8FC"/>
          </a:solidFill>
          <a:ln w="12700">
            <a:solidFill>
              <a:srgbClr val="DDE3F2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22960" y="432511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61772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20. </a:t>
            </a: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titular dos dados tem direito a solicitar a revisão de decisões tomadas unicamente com base em tratamento automatizado de dados pessoais que afetem seus interesses, incluídas as decisões destinadas a definir o seu perfil pessoal, profissional, de consumo e de crédito ou os aspectos de sua personalidade.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Lei nº 13.709/2018 (LGPD), art. 20; Regulamento (UE) 2016/679 (GDPR), art. 22 e considerando 71.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10896" cy="310896"/>
          </a:xfrm>
          <a:prstGeom prst="ellipse">
            <a:avLst/>
          </a:prstGeom>
          <a:solidFill>
            <a:srgbClr val="C9982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9264" y="384048"/>
            <a:ext cx="106737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APROFUNDAMENTO DO TEMA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 da informação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CIA: confidencialidade (só quem deveria ter acesso o tem), integridade (o dado não é alterado indevidamente) e disponibilidade (o dado está acessível a quem de direito, quando necessário).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1094415" cy="1143000"/>
          </a:xfrm>
          <a:prstGeom prst="roundRect">
            <a:avLst>
              <a:gd name="adj" fmla="val 64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22960" y="2249424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542032"/>
            <a:ext cx="1054577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Concentrar grandes volumes de dados em poucas bases é prático, mas compromete dados sensíveis se algo falha. A LGPD dedica um capítulo inteiro à segurança (arts. 46 a 49), exigindo medidas técnicas e administrativas contra acessos não autorizados e destruição, perda ou alteração indevidas. O GDPR traz regra equivalente nos arts. 32 a 34, com prazo de 72 horas para notificar a autoridade.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11094415" cy="2697480"/>
          </a:xfrm>
          <a:prstGeom prst="roundRect">
            <a:avLst>
              <a:gd name="adj" fmla="val 2712"/>
            </a:avLst>
          </a:prstGeom>
          <a:solidFill>
            <a:srgbClr val="F7F8FC"/>
          </a:solidFill>
          <a:ln w="12700">
            <a:solidFill>
              <a:srgbClr val="DDE3F2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22960" y="354787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 48: COMUNICAÇÃO DE INCIDENTE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84048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controlador deverá comunicar à autoridade nacional e ao titular a ocorrência de incidente de segurança que possa acarretar risco ou dano relevante aos titulares. A comunicação deverá mencionar, no mínimo: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4434840"/>
            <a:ext cx="513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</a:t>
            </a:r>
            <a:r>
              <a:rPr lang="en-US" sz="97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descrição da natureza dos dados pessoais afetados;</a:t>
            </a: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6233008" y="4434840"/>
            <a:ext cx="513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</a:t>
            </a:r>
            <a:r>
              <a:rPr lang="en-US" sz="97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informações sobre os titulares envolvidos;</a:t>
            </a:r>
            <a:endParaRPr lang="en-US" sz="970" dirty="0"/>
          </a:p>
        </p:txBody>
      </p:sp>
      <p:sp>
        <p:nvSpPr>
          <p:cNvPr id="15" name="Text 13"/>
          <p:cNvSpPr/>
          <p:nvPr/>
        </p:nvSpPr>
        <p:spPr>
          <a:xfrm>
            <a:off x="822960" y="4892040"/>
            <a:ext cx="513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</a:t>
            </a:r>
            <a:r>
              <a:rPr lang="en-US" sz="97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medidas técnicas e de segurança utilizadas;</a:t>
            </a:r>
            <a:endParaRPr lang="en-US" sz="970" dirty="0"/>
          </a:p>
        </p:txBody>
      </p:sp>
      <p:sp>
        <p:nvSpPr>
          <p:cNvPr id="16" name="Text 14"/>
          <p:cNvSpPr/>
          <p:nvPr/>
        </p:nvSpPr>
        <p:spPr>
          <a:xfrm>
            <a:off x="6233008" y="4892040"/>
            <a:ext cx="513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</a:t>
            </a:r>
            <a:r>
              <a:rPr lang="en-US" sz="97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riscos relacionados ao incidente;</a:t>
            </a: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822960" y="5349240"/>
            <a:ext cx="513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</a:t>
            </a:r>
            <a:r>
              <a:rPr lang="en-US" sz="97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motivos da demora, se a comunicação não foi imediata; e</a:t>
            </a:r>
            <a:endParaRPr lang="en-US" sz="970" dirty="0"/>
          </a:p>
        </p:txBody>
      </p:sp>
      <p:sp>
        <p:nvSpPr>
          <p:cNvPr id="18" name="Text 16"/>
          <p:cNvSpPr/>
          <p:nvPr/>
        </p:nvSpPr>
        <p:spPr>
          <a:xfrm>
            <a:off x="6233008" y="5349240"/>
            <a:ext cx="513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7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VI. </a:t>
            </a:r>
            <a:r>
              <a:rPr lang="en-US" sz="97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medidas adotadas ou a adotar para reverter ou mitigar os efeitos.</a:t>
            </a:r>
            <a:endParaRPr lang="en-US" sz="97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Lei nº 13.709/2018 (LGPD), arts. 46 a 49; Regulamento (UE) 2016/679 (GDPR), arts. 32 a 34.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10896" cy="310896"/>
          </a:xfrm>
          <a:prstGeom prst="ellipse">
            <a:avLst/>
          </a:prstGeom>
          <a:solidFill>
            <a:srgbClr val="C9982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9264" y="384048"/>
            <a:ext cx="106737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APROFUNDAMENTO DO TEMA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Governança e responsabilização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Obrigatoriedade de que o tratamento de dados siga princípios legais e éticos de forma contínua, não apenas no momento de uma auditoria. Essa exigência é operacionalizada pelo princípio da responsabilização (accountability): não basta cumprir a lei, é preciso conseguir demonstrar, a qualquer momento, que se está cumprindo.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22960" y="254203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816352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Nomeação de um encarregado pelo tratamento de dados (DPO), relatórios de impacto à proteção de dados antes de iniciativas de alto risco, auditorias periódicas de conformidade e políticas claras de retenção e descarte de dados.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22960" y="3758184"/>
            <a:ext cx="10545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050792"/>
            <a:ext cx="1054577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falhas de governança: decisões tomadas sem avaliação prévia de risco, ausência de supervisão sobre o que terceiros fazem com dados compartilhados, ou controles internos insuficientes diante do volume de dados tratado (art. 6º, X, da LGPD).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  <a:ln w="12700">
            <a:solidFill>
              <a:srgbClr val="DDE3F2"/>
            </a:solidFill>
            <a:prstDash val="solid"/>
          </a:ln>
          <a:effectLst>
            <a:outerShdw blurRad="76200" dist="25400" dir="5400000" algn="bl" rotWithShape="0">
              <a:srgbClr val="1E2761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22960" y="501091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530352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6º, X - </a:t>
            </a:r>
            <a:r>
              <a:rPr lang="en-US" sz="10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responsabilização e prestação de contas: demonstração, pelo agente, da adoção de medidas eficazes e capazes de comprovar a observância e o cumprimento das normas de proteção de dados pessoais, e da eficácia dessas medidas.
</a:t>
            </a:r>
            <a:r>
              <a:rPr lang="en-US" sz="1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41. </a:t>
            </a:r>
            <a:r>
              <a:rPr lang="en-US" sz="10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controlador deverá indicar encarregado pelo tratamento de dados pessoais.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Lei nº 13.709/2018 (LGPD), arts. 6º, X, e 41.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 NO BRASIL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dez princípios do artigo 6º da LGPD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nº 13.709/2018 (Lei Geral de Proteção de Dados Pessoais)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084832" cy="1965960"/>
          </a:xfrm>
          <a:prstGeom prst="roundRect">
            <a:avLst>
              <a:gd name="adj" fmla="val 3256"/>
            </a:avLst>
          </a:prstGeom>
          <a:solidFill>
            <a:srgbClr val="EEF3FC"/>
          </a:solidFill>
          <a:ln w="12700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1371600" y="2167128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371600" y="2167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15768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Finalidade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76656" y="3108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para propósitos legítimos, específicos e informados.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79776" y="1965960"/>
            <a:ext cx="2084832" cy="1965960"/>
          </a:xfrm>
          <a:prstGeom prst="roundRect">
            <a:avLst>
              <a:gd name="adj" fmla="val 3256"/>
            </a:avLst>
          </a:prstGeom>
          <a:solidFill>
            <a:srgbClr val="EEF3FC"/>
          </a:solidFill>
          <a:ln w="12700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602736" y="2167128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3602736" y="2167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71216" y="2715768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Adequação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907792" y="3108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Compatibilidade entre o tratamento e as finalidades informadas.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10912" y="1965960"/>
            <a:ext cx="2084832" cy="1965960"/>
          </a:xfrm>
          <a:prstGeom prst="roundRect">
            <a:avLst>
              <a:gd name="adj" fmla="val 3256"/>
            </a:avLst>
          </a:prstGeom>
          <a:solidFill>
            <a:srgbClr val="EEF3FC"/>
          </a:solidFill>
          <a:ln w="12700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833872" y="2167128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833872" y="2167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02352" y="2715768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Necessidade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138928" y="3108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limitado ao mínimo necessário para a finalidade.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42048" y="1965960"/>
            <a:ext cx="2084832" cy="1965960"/>
          </a:xfrm>
          <a:prstGeom prst="roundRect">
            <a:avLst>
              <a:gd name="adj" fmla="val 3256"/>
            </a:avLst>
          </a:prstGeom>
          <a:solidFill>
            <a:srgbClr val="EEF3FC"/>
          </a:solidFill>
          <a:ln w="12700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8065008" y="2167128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8065008" y="2167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33488" y="2715768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Livre acesso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370064" y="3108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facilitada sobre forma e duração do tratamento.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473184" y="1965960"/>
            <a:ext cx="2084832" cy="1965960"/>
          </a:xfrm>
          <a:prstGeom prst="roundRect">
            <a:avLst>
              <a:gd name="adj" fmla="val 3256"/>
            </a:avLst>
          </a:prstGeom>
          <a:solidFill>
            <a:srgbClr val="EEF3FC"/>
          </a:solidFill>
          <a:ln w="12700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10296144" y="2167128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10296144" y="2167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564624" y="2715768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 dos dados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601200" y="3108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Exatidão, clareza e atualização das informações.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4133088"/>
            <a:ext cx="2084832" cy="1965960"/>
          </a:xfrm>
          <a:prstGeom prst="roundRect">
            <a:avLst>
              <a:gd name="adj" fmla="val 3256"/>
            </a:avLst>
          </a:prstGeom>
          <a:solidFill>
            <a:srgbClr val="F7F8FC"/>
          </a:solidFill>
          <a:ln w="12700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1371600" y="4334256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1371600" y="4334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" y="4882896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Transparência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76656" y="527608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Informações claras sobre agentes de tratamento.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79776" y="4133088"/>
            <a:ext cx="2084832" cy="1965960"/>
          </a:xfrm>
          <a:prstGeom prst="roundRect">
            <a:avLst>
              <a:gd name="adj" fmla="val 3256"/>
            </a:avLst>
          </a:prstGeom>
          <a:solidFill>
            <a:srgbClr val="F7F8FC"/>
          </a:solidFill>
          <a:ln w="12700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3602736" y="4334256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3602736" y="4334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871216" y="4882896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2907792" y="527608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técnicas contra acessos e vazamentos indevidos.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10912" y="4133088"/>
            <a:ext cx="2084832" cy="1965960"/>
          </a:xfrm>
          <a:prstGeom prst="roundRect">
            <a:avLst>
              <a:gd name="adj" fmla="val 3256"/>
            </a:avLst>
          </a:prstGeom>
          <a:solidFill>
            <a:srgbClr val="F7F8FC"/>
          </a:solidFill>
          <a:ln w="12700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5833872" y="4334256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5833872" y="4334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102352" y="4882896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Prevenção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138928" y="527608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para evitar danos em razão do tratamento.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242048" y="4133088"/>
            <a:ext cx="2084832" cy="1965960"/>
          </a:xfrm>
          <a:prstGeom prst="roundRect">
            <a:avLst>
              <a:gd name="adj" fmla="val 3256"/>
            </a:avLst>
          </a:prstGeom>
          <a:solidFill>
            <a:srgbClr val="F7F8FC"/>
          </a:solidFill>
          <a:ln w="12700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8065008" y="4334256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8065008" y="4334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333488" y="4882896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discriminação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7370064" y="527608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Vedado o uso para fins discriminatórios ilícitos.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473184" y="4133088"/>
            <a:ext cx="2084832" cy="1965960"/>
          </a:xfrm>
          <a:prstGeom prst="roundRect">
            <a:avLst>
              <a:gd name="adj" fmla="val 3256"/>
            </a:avLst>
          </a:prstGeom>
          <a:solidFill>
            <a:srgbClr val="F7F8FC"/>
          </a:solidFill>
          <a:ln w="12700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1" name="Shape 49"/>
          <p:cNvSpPr/>
          <p:nvPr/>
        </p:nvSpPr>
        <p:spPr>
          <a:xfrm>
            <a:off x="10296144" y="4334256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10296144" y="43342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9564624" y="4882896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Responsabilização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9601200" y="5276088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Prestação de contas e comprovação de conformidade.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48640" y="647395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Lei nº 13.709/2018 (LGPD), art. 6º (Portal Planalto).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 DA INFORMAÇÃO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Responsabilidade no manuseio do Big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costuma ser descrito por características que, tomadas juntas, explicam por que o volume de dados cria um problema ético novo, não apenas quantitativo.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084832" cy="1737360"/>
          </a:xfrm>
          <a:prstGeom prst="roundRect">
            <a:avLst>
              <a:gd name="adj" fmla="val 368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58368" y="2313432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2715768"/>
            <a:ext cx="1865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dados gerados a cada segundo, hoje medida em zettabytes.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70632" y="2148840"/>
            <a:ext cx="2084832" cy="1737360"/>
          </a:xfrm>
          <a:prstGeom prst="roundRect">
            <a:avLst>
              <a:gd name="adj" fmla="val 368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2880360" y="2313432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Velocidade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880360" y="2715768"/>
            <a:ext cx="1865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e processamento em tempo real, muitas vezes sem intervenção humana.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92624" y="2148840"/>
            <a:ext cx="2084832" cy="1737360"/>
          </a:xfrm>
          <a:prstGeom prst="roundRect">
            <a:avLst>
              <a:gd name="adj" fmla="val 368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5102352" y="2313432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Variedade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02352" y="2715768"/>
            <a:ext cx="1865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Combinação de dados estruturados, textos, imagens, geolocalização e comportamento.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214616" y="2148840"/>
            <a:ext cx="2084832" cy="1737360"/>
          </a:xfrm>
          <a:prstGeom prst="roundRect">
            <a:avLst>
              <a:gd name="adj" fmla="val 3684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324344" y="2313432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Veracidade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24344" y="2715768"/>
            <a:ext cx="1865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todo dado coletado é confiável, atualizado ou correto.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436608" y="2148840"/>
            <a:ext cx="2084832" cy="1737360"/>
          </a:xfrm>
          <a:prstGeom prst="roundRect">
            <a:avLst>
              <a:gd name="adj" fmla="val 368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9546336" y="2313432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9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546336" y="2715768"/>
            <a:ext cx="1865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dado só tem sentido ético e econômico quando gera uma decisão real sobre pessoas.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F7F8FC"/>
          </a:solidFill>
          <a:ln w="12700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868680" y="43434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ética da informação exige além da lei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47548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Minimizar o dano informacional: tratar dados mesmo lícitos com cautela quando o impacto sobre a pessoa é desproporcional.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Assumir responsabilidade proativa (accountability) mesmo diante de brechas técnicas na legislação vigente.</a:t>
            </a:r>
            <a:endParaRPr lang="en-US" sz="12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a pessoa titular dos dados como sujeito de direitos, não apenas como fonte de valor comercial.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dos "5 Vs" do Big Data; framework de ética da informação (macroética de Luciano Floridi).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JURISPRUDÊNCIA NO STF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Supremo Tribunal Federal e o novo direito fundamental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17320" y="1920240"/>
            <a:ext cx="0" cy="4133088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1280160" y="1856232"/>
            <a:ext cx="274320" cy="274320"/>
          </a:xfrm>
          <a:prstGeom prst="ellipse">
            <a:avLst/>
          </a:prstGeom>
          <a:solidFill>
            <a:srgbClr val="C9982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82880" y="17647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Set. 2022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74520" y="1737360"/>
            <a:ext cx="973836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103120" y="1801368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ADI 6649 e ADPF (</a:t>
            </a:r>
            <a:r>
              <a:rPr lang="en-US" sz="13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Ação</a:t>
            </a: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lang="en-US" sz="13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descumprimento</a:t>
            </a: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lang="en-US" sz="13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Preceito</a:t>
            </a: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Fundamental) 695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03120" y="2075688"/>
            <a:ext cx="9326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Compartilhamento de dados entre órgãos públicos deve se restringir ao mínimo necessário à finalidade e observar controle de acesso e responsabilidade civil por uso indevido.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280160" y="2935224"/>
            <a:ext cx="274320" cy="274320"/>
          </a:xfrm>
          <a:prstGeom prst="ellipse">
            <a:avLst/>
          </a:prstGeom>
          <a:solidFill>
            <a:srgbClr val="C9982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82880" y="28437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Abr. 2023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874520" y="2816352"/>
            <a:ext cx="973836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103120" y="2880360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 genético do Rio de Janeiro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03120" y="3154680"/>
            <a:ext cx="9326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STF invalidou lei estadual que previa coleta compulsória de material genético de mães e bebês no parto para formar banco de dados genético.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280160" y="4014216"/>
            <a:ext cx="274320" cy="274320"/>
          </a:xfrm>
          <a:prstGeom prst="ellipse">
            <a:avLst/>
          </a:prstGeom>
          <a:solidFill>
            <a:srgbClr val="C9982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82880" y="392277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874520" y="3895344"/>
            <a:ext cx="973836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8" name="Text 16"/>
          <p:cNvSpPr/>
          <p:nvPr/>
        </p:nvSpPr>
        <p:spPr>
          <a:xfrm>
            <a:off x="2103120" y="395935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ADC (</a:t>
            </a:r>
            <a:r>
              <a:rPr lang="en-US" sz="13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ação</a:t>
            </a: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declaratória</a:t>
            </a: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lang="en-US" sz="13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constitucionalidade</a:t>
            </a: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51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03120" y="4233672"/>
            <a:ext cx="9326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Autoridades brasileiras podem requisitar dados diretamente a provedores estrangeiros que operam no Brasil, com base no Marco Civil da Internet e na Convenção de </a:t>
            </a:r>
            <a:r>
              <a:rPr lang="en-US" sz="1050" dirty="0" err="1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Budapeste</a:t>
            </a: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pt-BR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Julgado Plenário do Supremo Tribunal Federal (STF) em fevereiro de 2023. Sob a relatoria do Ministro Gilmar Mendes, a ação validou o poder de juízes e delegados brasileiros de requisitar dados diretamente a filiais de empresas estrangeiras de tecnologia instaladas no Brasil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280160" y="5093208"/>
            <a:ext cx="274320" cy="274320"/>
          </a:xfrm>
          <a:prstGeom prst="ellipse">
            <a:avLst/>
          </a:prstGeom>
          <a:solidFill>
            <a:srgbClr val="C9982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82880" y="500176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Fev. 2024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874520" y="4974336"/>
            <a:ext cx="9738360" cy="87782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2103120" y="5038344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HC 222.141 (2ª </a:t>
            </a:r>
            <a:r>
              <a:rPr lang="en-US" sz="13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Turma</a:t>
            </a: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 </a:t>
            </a:r>
            <a:r>
              <a:rPr lang="en-US" sz="1300" b="1" dirty="0" err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Oriundo</a:t>
            </a: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do PR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103120" y="5312664"/>
            <a:ext cx="93268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00"/>
              </a:lnSpc>
            </a:pPr>
            <a:r>
              <a:rPr lang="en-US" sz="1050" dirty="0">
                <a:solidFill>
                  <a:schemeClr val="tx1">
                    <a:lumMod val="50000"/>
                    <a:lumOff val="50000"/>
                  </a:schemeClr>
                </a:solidFill>
                <a:ea typeface="Calibri" pitchFamily="34" charset="-122"/>
                <a:cs typeface="Calibri" pitchFamily="34" charset="-120"/>
              </a:rPr>
              <a:t>Provas obtidas sem autorização judicial, a partir de dados preservados em contas de internet, são nulas em investigação criminal. O </a:t>
            </a:r>
            <a:r>
              <a:rPr lang="pt-BR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MP/PR enviou ordens diretas (ofícios extrajudiciais) a provedores de internet e plataformas de tecnologia. O órgão exigiu o congelamento e a guarda preventiva de todo o conteúdo eletrônico como histórico de localização, buscas, fotos, e-mails e mensagens de </a:t>
            </a:r>
            <a:r>
              <a:rPr lang="pt-BR" sz="105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iMessage</a:t>
            </a:r>
            <a:r>
              <a:rPr lang="pt-BR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 contas de usuários investigados por supostas fraudes no Detran-PR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STF, "STF e proteção de dados pessoais", Notícias STF, ago./2024.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JURISPRUDÊNCIA NO STJ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anos de LGPD: os precedentes do STJ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36673" y="1700784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7F8FC"/>
          </a:solidFill>
          <a:ln w="12700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04672" y="185623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 55.819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754880" y="187452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C9982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754880" y="18745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4672" y="2221992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patrimonial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04672" y="2532888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Validada a exigência de agentes públicos divulgarem informações patrimoniais: a proteção de dados pessoais não é absoluta e deve conviver com a responsabilidade administrativa.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7F8FC"/>
          </a:solidFill>
          <a:ln w="12700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473952" y="185623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 2.135.783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424160" y="187452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C9982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0424160" y="18745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73952" y="2221992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Perfilamento por Inteligência Artificial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73952" y="2532888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usados para descredenciar motoristas de aplicativo são dados pessoais protegidos pela LGPD; o titular pode pedir revisão de decisões automatizadas (art. 20 da LGPD).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7F8FC"/>
          </a:solidFill>
          <a:ln w="12700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04672" y="405079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AREsp 2.130.619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754880" y="406908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C9982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754880" y="40690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04672" y="4416552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Vazamento de dados: caso Enel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4672" y="4727448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 de privacidade envolvendo dados não sensíveis não gera dano moral presumido automaticamente: é preciso comprovar o prejuízo efetivo.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388620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7F8FC"/>
          </a:solidFill>
          <a:ln w="12700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73952" y="405079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 1.914.596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0424160" y="406908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C9982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10424160" y="40690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73952" y="4416552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Remoção de conteúdo ofensivo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73952" y="4727448"/>
            <a:ext cx="48371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Provedores de internet devem fornecer dados de usuários responsáveis por publicações ofensivas sobre pessoa falecida.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STJ, "Os precedentes do STJ em quatro anos de vigência da LGPD", 27/10/2024; Migalhas.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36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Facebook e Cambridge Analytica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2018, veio à tona que a consultoria britânica Cambridge Analytica coletou dados de usuários do Facebook por meio de um aplicativo de teste de personalidade e os usou para direcionar propaganda política, inclusive na eleição presidencial dos EUA de 2016.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252C60"/>
          </a:solidFill>
          <a:ln w="12700">
            <a:solidFill>
              <a:srgbClr val="343B7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9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 milhões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perfis afetados globalmente, segundo apuração da FTC (dos EUA)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26060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252C60"/>
          </a:solidFill>
          <a:ln w="12700">
            <a:solidFill>
              <a:srgbClr val="343B7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520440" y="2834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9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443 mil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20440" y="34747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 brasileiros tiveram dados compartilhados de forma indevida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26060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252C60"/>
          </a:solidFill>
          <a:ln w="12700">
            <a:solidFill>
              <a:srgbClr val="343B7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309360" y="2834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9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US$ 5 bi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309360" y="34747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 aplicada pela FTC ao Facebook, recorde histórico à época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915400" y="26060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252C60"/>
          </a:solidFill>
          <a:ln w="12700">
            <a:solidFill>
              <a:srgbClr val="343B7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098280" y="2834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9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R$ 6,6 mi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098280" y="347472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 aplicada no Brasil pelo Ministério da Justiça (Senacon/MJSP)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47091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Brasil, a decisão do Departamento de Proteção e Defesa do Consumidor (dez./2019) responsabilizou o Facebook por violar o Código de Defesa do Consumidor e o Marco Civil da Internet: o padrão de compartilhamento automático de dados foi considerado prática abusiva.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Agência Brasil (31/12/2019); Migalhas; TecMundo; Jusbrasil (escândalo Cambridge Analytica).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INTERNACIONAL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maiores multas da história do GDPR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Regulamento europeu prevê multas de até 4% do faturamento global, e os dois maiores casos até hoje envolvem gigantes da tecnologia.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7F8FC"/>
          </a:solidFill>
          <a:ln w="12700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€ 1,2 bilhão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(Facebook)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 de 2023, Comissão Irlandesa de Proteção de Dados (DPC)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multa já aplicada por violação ao GDPR. Motivo: transferência continuada de dados pessoais de usuários europeus para os Estados Unidos sem garantias equivalentes de proteção previstas no Regulamento.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210312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7F8FC"/>
          </a:solidFill>
          <a:ln w="12700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583680" y="237744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€ 746 milhões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583680" y="30632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34290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Julho de 2021, Comissão Nacional de Proteção de Dados de Luxemburgo (CNPD)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83680" y="3977640"/>
            <a:ext cx="4709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então, a maior multa da história do GDPR. Motivo: tratamento de dados pessoais para publicidade direcionada sem base legal e consentimento adequados dos usuários.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CISO Advisor (23/05/2023); Migalhas; Exame (30/07/2021); decisões da DPC (Irlanda) e da CNPD (Luxemburgo).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CASO: VIÉS ALGORÍTMICO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algoritmo COMPAS e a Justiça criminal nos EUA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126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Tribunais de diversos estados dos EUA passaram a usar o software COMPAS para estimar o risco de reincidência de réus, influenciando decisões sobre fiança e sentença.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2016, a organização de jornalismo investigativo ProPublica analisou notas de risco de mais de 7 mil réus do condado de Broward, na Flórida.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Réus negros foram classificados como "alto risco" a uma taxa quase duas vezes maior que réus brancos, mesmo quando não reincidiam.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sentido inverso, réus brancos que voltaram a cometer crimes foram mais rotulados como "baixo risco" pelo algoritmo.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caso Loomis (Wisconsin, 2013-2016), a pontuação do COMPAS foi usada para fundamentar uma condenação a seis anos de prisão.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995160" y="1417320"/>
            <a:ext cx="4617720" cy="4572000"/>
          </a:xfrm>
          <a:prstGeom prst="roundRect">
            <a:avLst>
              <a:gd name="adj" fmla="val 16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269480" y="164592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C99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este caso ensina sobre Ciência de Dados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269480" y="2286000"/>
            <a:ext cx="4069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históricos de prisão e condenação carregam desigualdades estruturais preexistentes, o algoritmo aprende e repete esse padrão.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"Precisão estatística" e "justiça" (fairness) podem ser objetivos matematicamente incompatíveis entre si.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automatizadas que afetam a liberdade de alguém exigem explicabilidade e possibilidade de revisão humana.</a:t>
            </a:r>
            <a:endParaRPr lang="en-US" sz="1100" dirty="0"/>
          </a:p>
          <a:p>
            <a:pPr marL="342900" indent="-3429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mesmo princípio que o STJ aplicou no caso dos motoristas de aplicativo (REsp 2.135.783): revisão de decisões automatizadas.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ProPublica, investigação de 2016 (Angwin et al.); Agência Pública; Columbia Human Rights Law Review.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TEORIA À PRÁTICA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Governança de dados: o que se espera na prática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EF3FC"/>
          </a:solidFill>
          <a:ln w="12700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68096" y="18653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68096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" y="2395728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Privacy by design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68096" y="2816352"/>
            <a:ext cx="3081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 incorporada desde a concepção do produto ou sistema, não como correção posterior.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EF3FC"/>
          </a:solidFill>
          <a:ln w="12700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517136" y="18653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17136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17136" y="2395728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Minimização de dados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17136" y="2816352"/>
            <a:ext cx="3081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Coletar apenas o estritamente necessário para a finalidade declarada.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0" y="164592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EEF3FC"/>
          </a:solidFill>
          <a:ln w="12700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266176" y="18653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266176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66176" y="2395728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 de impacto (DPIA)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66176" y="2816352"/>
            <a:ext cx="3081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prévia de riscos antes de tratamentos que envolvam alto risco às liberdades individuais.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 w="12700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68096" y="39684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68096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8096" y="4498848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Anonimização real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8096" y="4919472"/>
            <a:ext cx="3081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que resistam à reidentificação por cruzamento com outras bases, não apenas remoção de nome.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97680" y="37490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 w="12700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517136" y="39684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517136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17136" y="4498848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Auditoria algorítmica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17136" y="4919472"/>
            <a:ext cx="3081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periódicos para detectar viés discriminatório em modelos preditivos.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46720" y="37490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F7F8FC"/>
          </a:solidFill>
          <a:ln w="12700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8266176" y="39684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8266176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66176" y="4498848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Explicabilidade e revisão humana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66176" y="4919472"/>
            <a:ext cx="3081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titular de solicitar revisão de decisões tomadas unicamente por sistemas automatizados (art. 20, LGPD).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nos princípios da LGPD (art. 6º) e do GDPR (art. 5º) e nos casos apresentados nesta aula.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a lei termina e a ética continua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Cumprir a lei é o piso, não o teto. Muitos dos casos vistos nesta aula só se tornaram escândalos porque algo era tecnicamente legal, mas eticamente questionável.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6424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Dimensão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200400" y="1920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LEI exige (mínimo)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086600" y="19202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ÉTICA (além da lei)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1106424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24231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Consentimento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00400" y="24231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uma caixa de aceite marcada.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086600" y="24231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titular compreendeu de fato o que estava autorizando?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11064240" cy="0"/>
          </a:xfrm>
          <a:prstGeom prst="line">
            <a:avLst/>
          </a:prstGeom>
          <a:noFill/>
          <a:ln w="9525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77240" y="33375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Finalidade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0" y="33375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uso declarado está descrito em contrato.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86600" y="33375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dado está sendo usado só para o que foi prometido?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11064240" cy="0"/>
          </a:xfrm>
          <a:prstGeom prst="line">
            <a:avLst/>
          </a:prstGeom>
          <a:noFill/>
          <a:ln w="9525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11064240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77240" y="4251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Segurança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200400" y="42519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criptografia e controle de acesso mínimos.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086600" y="42519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cultura de prevenção, ou apenas resposta a incidentes?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166360"/>
            <a:ext cx="11064240" cy="0"/>
          </a:xfrm>
          <a:prstGeom prst="line">
            <a:avLst/>
          </a:prstGeom>
          <a:noFill/>
          <a:ln w="9525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777240" y="51663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Decisão automatizada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200400" y="51663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tem boa acurácia estatística.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86600" y="516636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é justo entre diferentes grupos sociais?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6080760"/>
            <a:ext cx="11064240" cy="0"/>
          </a:xfrm>
          <a:prstGeom prst="line">
            <a:avLst/>
          </a:prstGeom>
          <a:noFill/>
          <a:ln w="9525">
            <a:solidFill>
              <a:srgbClr val="DDE3F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457200" y="498348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457200" y="576072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148840" y="420624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2148840" y="498348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148840" y="576072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3840480" y="420624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840480" y="498348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840480" y="576072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5532120" y="420624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5532120" y="498348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532120" y="576072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7223760" y="420624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223760" y="498348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223760" y="576072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915400" y="420624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8915400" y="498348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8915400" y="576072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10607040" y="420624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10607040" y="498348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10607040" y="5760720"/>
            <a:ext cx="45720" cy="45720"/>
          </a:xfrm>
          <a:prstGeom prst="ellipse">
            <a:avLst/>
          </a:prstGeom>
          <a:solidFill>
            <a:srgbClr val="2A3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48640" y="685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ENCERRAR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10515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Grandes </a:t>
            </a: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poderes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pedem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grandes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2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responsabilidades</a:t>
            </a: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822960" y="219456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STF ao STJ, da Cambridge Analytica ao COMPAS, um fio conecta todos os casos: dados sobre pessoas carregam poder de decisão sobre suas vidas. A LGPD e o GDPR dão o piso jurídico. A ética da informação pede o compromisso de ir além do mínimo exigido, tratando cada titular de dados como sujeito de direitos, não como matéria-prima.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822960" y="3977640"/>
            <a:ext cx="2743200" cy="0"/>
          </a:xfrm>
          <a:prstGeom prst="line">
            <a:avLst/>
          </a:prstGeom>
          <a:noFill/>
          <a:ln w="25400">
            <a:solidFill>
              <a:srgbClr val="C9982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82296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C99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perguntas para levar da aula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2960" y="457200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dado precisa mesmo ser coletado para o que estou fazendo?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essa decisão automatizada errar, existe alguém revisando e alguém responsável?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explicaria este uso de dados abertamente ao titular, sem constrangimento?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 utilizadas nesta aula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492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50"/>
              </a:lnSpc>
              <a:spcAft>
                <a:spcPts val="1100"/>
              </a:spcAft>
              <a:buSzPct val="100000"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BRASIL. Ministério multa Facebook por abuso no compartilhamento de dados. </a:t>
            </a:r>
            <a:r>
              <a:rPr lang="en-US" sz="10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Brasil</a:t>
            </a: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Brasília, DF, 31 dez. 2019.</a:t>
            </a:r>
            <a:endParaRPr lang="en-US" sz="1050" dirty="0"/>
          </a:p>
          <a:p>
            <a:pPr>
              <a:lnSpc>
                <a:spcPts val="1350"/>
              </a:lnSpc>
              <a:spcAft>
                <a:spcPts val="1100"/>
              </a:spcAft>
              <a:buSzPct val="100000"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ANGWIN, Julia et al. Investigação sobre o software COMPAS. </a:t>
            </a:r>
            <a:r>
              <a:rPr lang="en-US" sz="10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ProPublica</a:t>
            </a: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2016. Reproduzido por </a:t>
            </a:r>
            <a:r>
              <a:rPr lang="en-US" sz="10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Agência Pública</a:t>
            </a: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2016.</a:t>
            </a:r>
            <a:endParaRPr lang="en-US" sz="1050" dirty="0"/>
          </a:p>
          <a:p>
            <a:pPr>
              <a:lnSpc>
                <a:spcPts val="1350"/>
              </a:lnSpc>
              <a:spcAft>
                <a:spcPts val="1100"/>
              </a:spcAft>
              <a:buSzPct val="100000"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BRASIL. [Constituição (1988)]. </a:t>
            </a:r>
            <a:r>
              <a:rPr lang="en-US" sz="10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Constituição da República Federativa do Brasil de 1988</a:t>
            </a: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Art. 5º, inciso LXXIX (redação dada pela Emenda Constitucional nº 115/2022). Brasília, DF: Senado Federal, 1988.</a:t>
            </a:r>
            <a:endParaRPr lang="en-US" sz="1050" dirty="0"/>
          </a:p>
          <a:p>
            <a:pPr>
              <a:lnSpc>
                <a:spcPts val="1350"/>
              </a:lnSpc>
              <a:spcAft>
                <a:spcPts val="1100"/>
              </a:spcAft>
              <a:buSzPct val="100000"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BRASIL. Lei nº 13.709, de 14 de agosto de 2018. Lei Geral de Proteção de Dados Pessoais (LGPD). </a:t>
            </a:r>
            <a:r>
              <a:rPr lang="en-US" sz="10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Diário Oficial da União</a:t>
            </a: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Brasília, DF, 15 ago. 2018.</a:t>
            </a:r>
            <a:endParaRPr lang="en-US" sz="1050" dirty="0"/>
          </a:p>
          <a:p>
            <a:pPr>
              <a:lnSpc>
                <a:spcPts val="1350"/>
              </a:lnSpc>
              <a:spcAft>
                <a:spcPts val="1100"/>
              </a:spcAft>
              <a:buSzPct val="100000"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 ADVISOR. Meta é multada em €1,2 bilhão pela UE por violar o GDPR. </a:t>
            </a:r>
            <a:r>
              <a:rPr lang="en-US" sz="10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 Advisor</a:t>
            </a: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23 maio 2023.</a:t>
            </a:r>
            <a:endParaRPr lang="en-US" sz="1050" dirty="0"/>
          </a:p>
          <a:p>
            <a:pPr>
              <a:lnSpc>
                <a:spcPts val="1350"/>
              </a:lnSpc>
              <a:spcAft>
                <a:spcPts val="1100"/>
              </a:spcAft>
              <a:buSzPct val="100000"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EXAME. Amazon recebe multa recorde de US$ 887 milhões da União Europeia. </a:t>
            </a:r>
            <a:r>
              <a:rPr lang="en-US" sz="10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</a:t>
            </a: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São Paulo, 30 jul. 2021.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263640" y="1600200"/>
            <a:ext cx="53492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50"/>
              </a:lnSpc>
              <a:spcAft>
                <a:spcPts val="1100"/>
              </a:spcAft>
              <a:buSzPct val="100000"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HUMERICK, Jacob D. Reprogramming fairness: affirmative action in algorithmic criminal sentencing. </a:t>
            </a:r>
            <a:r>
              <a:rPr lang="en-US" sz="10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Human Rights Law Review Online</a:t>
            </a: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Nova York, v. 4, p. 213-240, 2020.</a:t>
            </a:r>
            <a:endParaRPr lang="en-US" sz="1050" dirty="0"/>
          </a:p>
          <a:p>
            <a:pPr>
              <a:lnSpc>
                <a:spcPts val="1350"/>
              </a:lnSpc>
              <a:spcAft>
                <a:spcPts val="1100"/>
              </a:spcAft>
              <a:buSzPct val="100000"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JUSBRASIL. O maior escândalo de “vazamento” de dados: o caso Facebook-Cambridge Analytica e a importância da LGPD no Brasil. </a:t>
            </a:r>
            <a:r>
              <a:rPr lang="en-US" sz="10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Jusbrasil</a:t>
            </a: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[2023].</a:t>
            </a:r>
            <a:endParaRPr lang="en-US" sz="1050" dirty="0"/>
          </a:p>
          <a:p>
            <a:pPr>
              <a:lnSpc>
                <a:spcPts val="1350"/>
              </a:lnSpc>
              <a:spcAft>
                <a:spcPts val="1100"/>
              </a:spcAft>
              <a:buSzPct val="100000"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MIGALHAS. O STJ ratifica o compliance digital pela LGPD. </a:t>
            </a:r>
            <a:r>
              <a:rPr lang="en-US" sz="10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Migalhas</a:t>
            </a: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2024.</a:t>
            </a:r>
            <a:endParaRPr lang="en-US" sz="1050" dirty="0"/>
          </a:p>
          <a:p>
            <a:pPr>
              <a:lnSpc>
                <a:spcPts val="1350"/>
              </a:lnSpc>
              <a:spcAft>
                <a:spcPts val="1100"/>
              </a:spcAft>
              <a:buSzPct val="100000"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REGULAMENTO (UE) 2016/679 do Parlamento Europeu e do Conselho, de 27 de abril de 2016. Regulamento Geral sobre a Proteção de Dados. </a:t>
            </a:r>
            <a:r>
              <a:rPr lang="en-US" sz="10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Jornal Oficial da União Europeia</a:t>
            </a: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Bruxelas, 4 maio 2016. Art. 5º.</a:t>
            </a:r>
            <a:endParaRPr lang="en-US" sz="1050" dirty="0"/>
          </a:p>
          <a:p>
            <a:pPr>
              <a:lnSpc>
                <a:spcPts val="1350"/>
              </a:lnSpc>
              <a:spcAft>
                <a:spcPts val="1100"/>
              </a:spcAft>
              <a:buSzPct val="100000"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STF - SUPREMO TRIBUNAL FEDERAL. STF e proteção de dados pessoais: decisões da Corte marcaram a evolução de um novo direito fundamental. </a:t>
            </a:r>
            <a:r>
              <a:rPr lang="en-US" sz="10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Notícias STF</a:t>
            </a: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Brasília, DF, ago. 2024.</a:t>
            </a:r>
            <a:endParaRPr lang="en-US" sz="1050" dirty="0"/>
          </a:p>
          <a:p>
            <a:pPr>
              <a:lnSpc>
                <a:spcPts val="1350"/>
              </a:lnSpc>
              <a:spcAft>
                <a:spcPts val="1100"/>
              </a:spcAft>
              <a:buSzPct val="100000"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STJ - SUPERIOR TRIBUNAL DE JUSTIÇA. Os precedentes do STJ em quatro anos de vigência da LGPD. </a:t>
            </a:r>
            <a:r>
              <a:rPr lang="en-US" sz="1050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STJ</a:t>
            </a: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Brasília, DF, 27 out. 2024.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fontes acima são de acesso público e foram consultadas para a elaboração deste material.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8A2D2C2733B7342A34F941B973AA6E6" ma:contentTypeVersion="3" ma:contentTypeDescription="Crie um novo documento." ma:contentTypeScope="" ma:versionID="5550be8f1cf58693e992f8ea7bfb4f2b">
  <xsd:schema xmlns:xsd="http://www.w3.org/2001/XMLSchema" xmlns:xs="http://www.w3.org/2001/XMLSchema" xmlns:p="http://schemas.microsoft.com/office/2006/metadata/properties" xmlns:ns2="f534e9f2-b7ec-4ccc-a69c-51d3e3635b48" targetNamespace="http://schemas.microsoft.com/office/2006/metadata/properties" ma:root="true" ma:fieldsID="723e5ea99451f57ad090176ed3370c4a" ns2:_="">
    <xsd:import namespace="f534e9f2-b7ec-4ccc-a69c-51d3e3635b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34e9f2-b7ec-4ccc-a69c-51d3e3635b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FD52ABF-8035-434D-8D05-74E47ED23F70}"/>
</file>

<file path=customXml/itemProps2.xml><?xml version="1.0" encoding="utf-8"?>
<ds:datastoreItem xmlns:ds="http://schemas.openxmlformats.org/officeDocument/2006/customXml" ds:itemID="{C43CBB03-9280-4B0F-B81D-810F19674D2C}"/>
</file>

<file path=customXml/itemProps3.xml><?xml version="1.0" encoding="utf-8"?>
<ds:datastoreItem xmlns:ds="http://schemas.openxmlformats.org/officeDocument/2006/customXml" ds:itemID="{F603BEAE-5087-4015-902E-9EADA337DDE0}"/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4899</Words>
  <Application>Microsoft Office PowerPoint</Application>
  <PresentationFormat>Widescreen</PresentationFormat>
  <Paragraphs>365</Paragraphs>
  <Slides>22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EVELYN S</dc:creator>
  <cp:lastModifiedBy>Eve Santinon</cp:lastModifiedBy>
  <cp:revision>6</cp:revision>
  <dcterms:created xsi:type="dcterms:W3CDTF">2026-08-06T15:48:10Z</dcterms:created>
  <dcterms:modified xsi:type="dcterms:W3CDTF">2026-08-10T20:07:54Z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0x01010078A2D2C2733B7342A34F941B973AA6E6</vt:lpwstr>
  </property>
</Properties>
</file>